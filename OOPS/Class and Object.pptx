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82"/>
  </p:handoutMasterIdLst>
  <p:sldIdLst>
    <p:sldId id="256" r:id="rId3"/>
    <p:sldId id="257" r:id="rId4"/>
    <p:sldId id="258" r:id="rId5"/>
    <p:sldId id="259" r:id="rId7"/>
    <p:sldId id="261" r:id="rId8"/>
    <p:sldId id="289" r:id="rId9"/>
    <p:sldId id="260" r:id="rId10"/>
    <p:sldId id="262" r:id="rId11"/>
    <p:sldId id="263" r:id="rId12"/>
    <p:sldId id="264" r:id="rId13"/>
    <p:sldId id="265" r:id="rId14"/>
    <p:sldId id="266" r:id="rId15"/>
    <p:sldId id="267" r:id="rId16"/>
    <p:sldId id="268" r:id="rId17"/>
    <p:sldId id="269" r:id="rId18"/>
    <p:sldId id="270" r:id="rId19"/>
    <p:sldId id="287" r:id="rId20"/>
    <p:sldId id="288"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332" r:id="rId36"/>
    <p:sldId id="285" r:id="rId37"/>
    <p:sldId id="286" r:id="rId38"/>
    <p:sldId id="298" r:id="rId39"/>
    <p:sldId id="299" r:id="rId40"/>
    <p:sldId id="300" r:id="rId41"/>
    <p:sldId id="302" r:id="rId42"/>
    <p:sldId id="301" r:id="rId43"/>
    <p:sldId id="305" r:id="rId44"/>
    <p:sldId id="304" r:id="rId45"/>
    <p:sldId id="306" r:id="rId46"/>
    <p:sldId id="307" r:id="rId47"/>
    <p:sldId id="308" r:id="rId48"/>
    <p:sldId id="309" r:id="rId49"/>
    <p:sldId id="310" r:id="rId50"/>
    <p:sldId id="313" r:id="rId51"/>
    <p:sldId id="312" r:id="rId52"/>
    <p:sldId id="311" r:id="rId53"/>
    <p:sldId id="314" r:id="rId54"/>
    <p:sldId id="315" r:id="rId55"/>
    <p:sldId id="316" r:id="rId56"/>
    <p:sldId id="317" r:id="rId57"/>
    <p:sldId id="318" r:id="rId58"/>
    <p:sldId id="320" r:id="rId59"/>
    <p:sldId id="321" r:id="rId60"/>
    <p:sldId id="322" r:id="rId61"/>
    <p:sldId id="325" r:id="rId62"/>
    <p:sldId id="326" r:id="rId63"/>
    <p:sldId id="328" r:id="rId64"/>
    <p:sldId id="319" r:id="rId65"/>
    <p:sldId id="323" r:id="rId66"/>
    <p:sldId id="324" r:id="rId67"/>
    <p:sldId id="329" r:id="rId68"/>
    <p:sldId id="330" r:id="rId69"/>
    <p:sldId id="333" r:id="rId70"/>
    <p:sldId id="335" r:id="rId71"/>
    <p:sldId id="334" r:id="rId72"/>
    <p:sldId id="290" r:id="rId73"/>
    <p:sldId id="291" r:id="rId74"/>
    <p:sldId id="292" r:id="rId75"/>
    <p:sldId id="293" r:id="rId76"/>
    <p:sldId id="294" r:id="rId77"/>
    <p:sldId id="295" r:id="rId78"/>
    <p:sldId id="296" r:id="rId79"/>
    <p:sldId id="297" r:id="rId80"/>
    <p:sldId id="303"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55"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0D88A3-EA73-472D-BA4F-5E7EB221A1B7}"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871DF-15EE-4F46-8917-0362005578E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A2871DF-15EE-4F46-8917-0362005578E2}"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73C39EA-46D3-405A-83ED-BC5CDF78AC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873C39EA-46D3-405A-83ED-BC5CDF78AC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873C39EA-46D3-405A-83ED-BC5CDF78AC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873C39EA-46D3-405A-83ED-BC5CDF78AC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873C39EA-46D3-405A-83ED-BC5CDF78AC7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73C39EA-46D3-405A-83ED-BC5CDF78AC7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C39EA-46D3-405A-83ED-BC5CDF78AC7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73C39EA-46D3-405A-83ED-BC5CDF78AC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73C39EA-46D3-405A-83ED-BC5CDF78AC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873C39EA-46D3-405A-83ED-BC5CDF78AC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873C39EA-46D3-405A-83ED-BC5CDF78AC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FD011-FEFB-441E-9F3D-11AA65E5394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3C39EA-46D3-405A-83ED-BC5CDF78AC72}"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FD011-FEFB-441E-9F3D-11AA65E5394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Class and Object</a:t>
            </a:r>
            <a:endParaRPr lang="en-IN" dirty="0"/>
          </a:p>
        </p:txBody>
      </p:sp>
      <p:sp>
        <p:nvSpPr>
          <p:cNvPr id="3" name="Subtitle 2"/>
          <p:cNvSpPr>
            <a:spLocks noGrp="1"/>
          </p:cNvSpPr>
          <p:nvPr>
            <p:ph type="subTitle" idx="1"/>
          </p:nvPr>
        </p:nvSpPr>
        <p:spPr/>
        <p:txBody>
          <a:bodyP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Class &amp; Object</a:t>
            </a:r>
            <a:endParaRPr lang="en-IN" dirty="0"/>
          </a:p>
        </p:txBody>
      </p:sp>
      <p:sp>
        <p:nvSpPr>
          <p:cNvPr id="3" name="Content Placeholder 2"/>
          <p:cNvSpPr>
            <a:spLocks noGrp="1"/>
          </p:cNvSpPr>
          <p:nvPr>
            <p:ph idx="1"/>
          </p:nvPr>
        </p:nvSpPr>
        <p:spPr>
          <a:xfrm>
            <a:off x="838199" y="1825625"/>
            <a:ext cx="11113655" cy="4351338"/>
          </a:xfrm>
        </p:spPr>
        <p:txBody>
          <a:bodyPr>
            <a:normAutofit fontScale="92500" lnSpcReduction="10000"/>
          </a:bodyPr>
          <a:lstStyle/>
          <a:p>
            <a:r>
              <a:rPr lang="en-US" dirty="0"/>
              <a:t>Everything in Java is associated with classes and objects, along with its attributes and methods</a:t>
            </a:r>
            <a:r>
              <a:rPr lang="en-US" dirty="0" smtClean="0"/>
              <a:t>.</a:t>
            </a:r>
            <a:endParaRPr lang="en-US" dirty="0" smtClean="0"/>
          </a:p>
          <a:p>
            <a:r>
              <a:rPr lang="en-US" dirty="0"/>
              <a:t>For example: in real life, a car is an object. The car has </a:t>
            </a:r>
            <a:r>
              <a:rPr lang="en-US" b="1" dirty="0"/>
              <a:t>attributes</a:t>
            </a:r>
            <a:r>
              <a:rPr lang="en-US" dirty="0"/>
              <a:t>, such as weight and color, and </a:t>
            </a:r>
            <a:r>
              <a:rPr lang="en-US" b="1" dirty="0"/>
              <a:t>methods</a:t>
            </a:r>
            <a:r>
              <a:rPr lang="en-US" dirty="0"/>
              <a:t>, such as drive and brake</a:t>
            </a:r>
            <a:r>
              <a:rPr lang="en-US" dirty="0" smtClean="0"/>
              <a:t>.</a:t>
            </a:r>
            <a:endParaRPr lang="en-US" dirty="0" smtClean="0"/>
          </a:p>
          <a:p>
            <a:r>
              <a:rPr lang="en-US" dirty="0"/>
              <a:t>It is a user-defined blueprint or prototype from which objects are created</a:t>
            </a:r>
            <a:r>
              <a:rPr lang="en-US" dirty="0" smtClean="0"/>
              <a:t>. E.g. Student is a class while a particular student named Ravi is an object.</a:t>
            </a:r>
            <a:endParaRPr lang="en-US" dirty="0" smtClean="0"/>
          </a:p>
          <a:p>
            <a:r>
              <a:rPr lang="en-US" dirty="0" smtClean="0"/>
              <a:t>A Class in Java may contain: </a:t>
            </a:r>
            <a:endParaRPr lang="en-US" dirty="0" smtClean="0"/>
          </a:p>
          <a:p>
            <a:pPr lvl="1"/>
            <a:r>
              <a:rPr lang="en-US" dirty="0" smtClean="0"/>
              <a:t>Data member,     Method,	Constructor,	Nested Class,	    Interface</a:t>
            </a:r>
            <a:endParaRPr lang="en-US" dirty="0" smtClean="0"/>
          </a:p>
          <a:p>
            <a:r>
              <a:rPr lang="en-US" dirty="0" smtClean="0"/>
              <a:t>Objects are the instances of a class that are created to use the attributes and methods of a class.</a:t>
            </a:r>
            <a:endParaRPr lang="en-US" dirty="0" smtClean="0"/>
          </a:p>
          <a:p>
            <a:r>
              <a:rPr lang="en-US" dirty="0" smtClean="0"/>
              <a:t>When </a:t>
            </a:r>
            <a:r>
              <a:rPr lang="en-US" dirty="0"/>
              <a:t>an object of a class is created, the class is said to be </a:t>
            </a:r>
            <a:r>
              <a:rPr lang="en-US" b="1" dirty="0" smtClean="0"/>
              <a:t>instantiated.</a:t>
            </a:r>
            <a:endParaRPr lang="en-US" b="1"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80"/>
            <a:ext cx="10515600" cy="364548"/>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780472" y="942109"/>
            <a:ext cx="10919691" cy="5735782"/>
          </a:xfrm>
        </p:spPr>
        <p:txBody>
          <a:bodyPr>
            <a:normAutofit/>
          </a:bodyPr>
          <a:lstStyle/>
          <a:p>
            <a:pPr marL="0" indent="0">
              <a:buNone/>
            </a:pPr>
            <a:r>
              <a:rPr lang="en-IN" dirty="0" smtClean="0"/>
              <a:t>class Student {</a:t>
            </a:r>
            <a:endParaRPr lang="en-IN" dirty="0" smtClean="0"/>
          </a:p>
          <a:p>
            <a:pPr marL="0" indent="0">
              <a:buNone/>
            </a:pPr>
            <a:r>
              <a:rPr lang="en-IN" dirty="0" err="1" smtClean="0"/>
              <a:t>int</a:t>
            </a:r>
            <a:r>
              <a:rPr lang="en-IN" dirty="0" smtClean="0"/>
              <a:t> id;</a:t>
            </a:r>
            <a:endParaRPr lang="en-IN" dirty="0" smtClean="0"/>
          </a:p>
          <a:p>
            <a:pPr marL="0" indent="0">
              <a:buNone/>
            </a:pPr>
            <a:r>
              <a:rPr lang="en-IN" dirty="0" smtClean="0"/>
              <a:t>String name;</a:t>
            </a:r>
            <a:endParaRPr lang="en-IN" dirty="0" smtClean="0"/>
          </a:p>
          <a:p>
            <a:pPr marL="0" indent="0">
              <a:buNone/>
            </a:pPr>
            <a:r>
              <a:rPr lang="en-IN" dirty="0" smtClean="0"/>
              <a:t>    public static void main(String </a:t>
            </a:r>
            <a:r>
              <a:rPr lang="en-IN" dirty="0" err="1" smtClean="0"/>
              <a:t>args</a:t>
            </a:r>
            <a:r>
              <a:rPr lang="en-IN" dirty="0" smtClean="0"/>
              <a:t>[])</a:t>
            </a:r>
            <a:endParaRPr lang="en-IN" dirty="0" smtClean="0"/>
          </a:p>
          <a:p>
            <a:pPr marL="0" indent="0">
              <a:buNone/>
            </a:pPr>
            <a:r>
              <a:rPr lang="en-IN" dirty="0" smtClean="0"/>
              <a:t>    {</a:t>
            </a:r>
            <a:endParaRPr lang="en-IN" dirty="0" smtClean="0"/>
          </a:p>
          <a:p>
            <a:pPr marL="0" indent="0">
              <a:buNone/>
            </a:pPr>
            <a:r>
              <a:rPr lang="en-IN" dirty="0"/>
              <a:t> </a:t>
            </a:r>
            <a:r>
              <a:rPr lang="en-IN" dirty="0" smtClean="0"/>
              <a:t>       Student s1;			//Declaration</a:t>
            </a:r>
            <a:endParaRPr lang="en-IN" dirty="0" smtClean="0"/>
          </a:p>
          <a:p>
            <a:pPr marL="0" indent="0">
              <a:buNone/>
            </a:pPr>
            <a:r>
              <a:rPr lang="en-IN" dirty="0"/>
              <a:t> </a:t>
            </a:r>
            <a:r>
              <a:rPr lang="en-IN" dirty="0" smtClean="0"/>
              <a:t>       s1 = new Student();	          //Instantiate</a:t>
            </a:r>
            <a:endParaRPr lang="en-IN" dirty="0" smtClean="0"/>
          </a:p>
          <a:p>
            <a:pPr marL="0" indent="0">
              <a:buNone/>
            </a:pPr>
            <a:r>
              <a:rPr lang="en-IN" dirty="0" smtClean="0"/>
              <a:t>        </a:t>
            </a:r>
            <a:r>
              <a:rPr lang="en-IN" dirty="0" err="1" smtClean="0"/>
              <a:t>System.out.println</a:t>
            </a:r>
            <a:r>
              <a:rPr lang="en-IN" dirty="0" smtClean="0"/>
              <a:t>(s1.id);</a:t>
            </a:r>
            <a:endParaRPr lang="en-IN" dirty="0" smtClean="0"/>
          </a:p>
          <a:p>
            <a:pPr marL="0" indent="0">
              <a:buNone/>
            </a:pPr>
            <a:r>
              <a:rPr lang="en-IN" dirty="0" smtClean="0"/>
              <a:t>        </a:t>
            </a:r>
            <a:r>
              <a:rPr lang="en-IN" dirty="0" err="1" smtClean="0"/>
              <a:t>System.out.println</a:t>
            </a:r>
            <a:r>
              <a:rPr lang="en-IN" dirty="0" smtClean="0"/>
              <a:t>(s1.name);</a:t>
            </a:r>
            <a:endParaRPr lang="en-IN" dirty="0" smtClean="0"/>
          </a:p>
          <a:p>
            <a:pPr marL="0" indent="0">
              <a:buNone/>
            </a:pPr>
            <a:r>
              <a:rPr lang="en-IN" dirty="0" smtClean="0"/>
              <a:t>    }</a:t>
            </a:r>
            <a:endParaRPr lang="en-IN" dirty="0" smtClean="0"/>
          </a:p>
          <a:p>
            <a:pPr marL="0" indent="0">
              <a:buNone/>
            </a:pPr>
            <a:r>
              <a:rPr lang="en-IN" dirty="0" smtClean="0"/>
              <a:t>}</a:t>
            </a:r>
            <a:endParaRPr lang="en-IN" dirty="0" smtClean="0"/>
          </a:p>
          <a:p>
            <a:pPr marL="0" indent="0">
              <a:buNone/>
            </a:pPr>
            <a:endParaRPr lang="en-IN" dirty="0"/>
          </a:p>
        </p:txBody>
      </p:sp>
      <p:sp>
        <p:nvSpPr>
          <p:cNvPr id="4" name="Rectangle 3"/>
          <p:cNvSpPr/>
          <p:nvPr/>
        </p:nvSpPr>
        <p:spPr>
          <a:xfrm>
            <a:off x="8377382" y="3500582"/>
            <a:ext cx="942109" cy="406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smtClean="0"/>
              <a:t>null</a:t>
            </a:r>
            <a:endParaRPr lang="en-IN" sz="2000" dirty="0"/>
          </a:p>
        </p:txBody>
      </p:sp>
      <p:sp>
        <p:nvSpPr>
          <p:cNvPr id="6" name="Rectangle 5"/>
          <p:cNvSpPr/>
          <p:nvPr/>
        </p:nvSpPr>
        <p:spPr>
          <a:xfrm>
            <a:off x="8508999" y="3131128"/>
            <a:ext cx="604982" cy="27709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smtClean="0"/>
              <a:t>s1</a:t>
            </a:r>
            <a:endParaRPr lang="en-IN" sz="2000" dirty="0"/>
          </a:p>
        </p:txBody>
      </p:sp>
      <p:sp>
        <p:nvSpPr>
          <p:cNvPr id="7" name="Rectangle 6"/>
          <p:cNvSpPr/>
          <p:nvPr/>
        </p:nvSpPr>
        <p:spPr>
          <a:xfrm>
            <a:off x="8377382" y="4525819"/>
            <a:ext cx="942109" cy="406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2000" dirty="0"/>
          </a:p>
        </p:txBody>
      </p:sp>
      <p:sp>
        <p:nvSpPr>
          <p:cNvPr id="8" name="Rectangle 7"/>
          <p:cNvSpPr/>
          <p:nvPr/>
        </p:nvSpPr>
        <p:spPr>
          <a:xfrm>
            <a:off x="8508999" y="4156365"/>
            <a:ext cx="604982" cy="27709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smtClean="0"/>
              <a:t>s1</a:t>
            </a:r>
            <a:endParaRPr lang="en-IN" sz="2000" dirty="0"/>
          </a:p>
        </p:txBody>
      </p:sp>
      <p:sp>
        <p:nvSpPr>
          <p:cNvPr id="9" name="Rectangle 8"/>
          <p:cNvSpPr/>
          <p:nvPr/>
        </p:nvSpPr>
        <p:spPr>
          <a:xfrm>
            <a:off x="10123055" y="4442692"/>
            <a:ext cx="1230745" cy="5726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Student Object</a:t>
            </a:r>
            <a:endParaRPr lang="en-IN" dirty="0"/>
          </a:p>
        </p:txBody>
      </p:sp>
      <p:cxnSp>
        <p:nvCxnSpPr>
          <p:cNvPr id="11" name="Straight Arrow Connector 10"/>
          <p:cNvCxnSpPr>
            <a:endCxn id="9" idx="1"/>
          </p:cNvCxnSpPr>
          <p:nvPr/>
        </p:nvCxnSpPr>
        <p:spPr>
          <a:xfrm>
            <a:off x="8848436" y="4729018"/>
            <a:ext cx="127461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p:cNvSpPr/>
          <p:nvPr/>
        </p:nvSpPr>
        <p:spPr>
          <a:xfrm>
            <a:off x="8805394" y="4703163"/>
            <a:ext cx="45719" cy="608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Create multiple objects:</a:t>
            </a:r>
            <a:endParaRPr lang="en-IN" dirty="0" smtClean="0"/>
          </a:p>
          <a:p>
            <a:pPr marL="457200" lvl="1" indent="0">
              <a:buNone/>
            </a:pPr>
            <a:r>
              <a:rPr lang="en-IN" dirty="0" smtClean="0"/>
              <a:t>Student S1=new Student();</a:t>
            </a:r>
            <a:endParaRPr lang="en-IN" dirty="0" smtClean="0"/>
          </a:p>
          <a:p>
            <a:pPr marL="457200" lvl="1" indent="0">
              <a:buNone/>
            </a:pPr>
            <a:r>
              <a:rPr lang="en-IN" dirty="0" smtClean="0"/>
              <a:t>Student S2=new Student();</a:t>
            </a:r>
            <a:endParaRPr lang="en-IN" dirty="0" smtClean="0"/>
          </a:p>
          <a:p>
            <a:pPr marL="457200" lvl="1" indent="0">
              <a:buNone/>
            </a:pPr>
            <a:r>
              <a:rPr lang="en-IN" dirty="0" smtClean="0"/>
              <a:t>…. So on</a:t>
            </a:r>
            <a:endParaRPr lang="en-IN" dirty="0" smtClean="0"/>
          </a:p>
          <a:p>
            <a:r>
              <a:rPr lang="en-IN" dirty="0" smtClean="0"/>
              <a:t>It is possible to create multiple objects share the same reference.</a:t>
            </a:r>
            <a:endParaRPr lang="en-IN" dirty="0" smtClean="0"/>
          </a:p>
          <a:p>
            <a:pPr marL="457200" lvl="1" indent="0">
              <a:buNone/>
            </a:pPr>
            <a:r>
              <a:rPr lang="en-IN" dirty="0" smtClean="0"/>
              <a:t>Student S1=new Student();</a:t>
            </a:r>
            <a:endParaRPr lang="en-IN" dirty="0" smtClean="0"/>
          </a:p>
          <a:p>
            <a:pPr marL="457200" lvl="1" indent="0">
              <a:buNone/>
            </a:pPr>
            <a:r>
              <a:rPr lang="en-IN" dirty="0" smtClean="0"/>
              <a:t>Student S2=S1;</a:t>
            </a:r>
            <a:endParaRPr lang="en-IN" dirty="0"/>
          </a:p>
        </p:txBody>
      </p:sp>
      <p:sp>
        <p:nvSpPr>
          <p:cNvPr id="5" name="Rectangle 4"/>
          <p:cNvSpPr/>
          <p:nvPr/>
        </p:nvSpPr>
        <p:spPr>
          <a:xfrm>
            <a:off x="8377382" y="4525819"/>
            <a:ext cx="942109" cy="406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2000" dirty="0"/>
          </a:p>
        </p:txBody>
      </p:sp>
      <p:sp>
        <p:nvSpPr>
          <p:cNvPr id="6" name="Rectangle 5"/>
          <p:cNvSpPr/>
          <p:nvPr/>
        </p:nvSpPr>
        <p:spPr>
          <a:xfrm>
            <a:off x="10123055" y="4442692"/>
            <a:ext cx="1230745" cy="5726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Student Object</a:t>
            </a:r>
            <a:endParaRPr lang="en-IN" dirty="0"/>
          </a:p>
        </p:txBody>
      </p:sp>
      <p:cxnSp>
        <p:nvCxnSpPr>
          <p:cNvPr id="7" name="Straight Arrow Connector 6"/>
          <p:cNvCxnSpPr>
            <a:endCxn id="6" idx="1"/>
          </p:cNvCxnSpPr>
          <p:nvPr/>
        </p:nvCxnSpPr>
        <p:spPr>
          <a:xfrm>
            <a:off x="8848436" y="4729018"/>
            <a:ext cx="127461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p:cNvSpPr/>
          <p:nvPr/>
        </p:nvSpPr>
        <p:spPr>
          <a:xfrm>
            <a:off x="8508999" y="4156365"/>
            <a:ext cx="604982" cy="27709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t>S</a:t>
            </a:r>
            <a:r>
              <a:rPr lang="en-IN" sz="2000" dirty="0" smtClean="0"/>
              <a:t>1</a:t>
            </a:r>
            <a:endParaRPr lang="en-IN" sz="2000" dirty="0"/>
          </a:p>
        </p:txBody>
      </p:sp>
      <p:sp>
        <p:nvSpPr>
          <p:cNvPr id="9" name="Oval 8"/>
          <p:cNvSpPr/>
          <p:nvPr/>
        </p:nvSpPr>
        <p:spPr>
          <a:xfrm>
            <a:off x="8805394" y="4703163"/>
            <a:ext cx="45719" cy="608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Rectangle 9"/>
          <p:cNvSpPr/>
          <p:nvPr/>
        </p:nvSpPr>
        <p:spPr>
          <a:xfrm>
            <a:off x="8334339" y="5603334"/>
            <a:ext cx="942109" cy="406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2000" dirty="0"/>
          </a:p>
        </p:txBody>
      </p:sp>
      <p:sp>
        <p:nvSpPr>
          <p:cNvPr id="11" name="Rectangle 10"/>
          <p:cNvSpPr/>
          <p:nvPr/>
        </p:nvSpPr>
        <p:spPr>
          <a:xfrm>
            <a:off x="8465956" y="5233880"/>
            <a:ext cx="604982" cy="27709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smtClean="0"/>
              <a:t>S</a:t>
            </a:r>
            <a:r>
              <a:rPr lang="en-IN" sz="2000" dirty="0"/>
              <a:t>2</a:t>
            </a:r>
            <a:endParaRPr lang="en-IN" sz="2000" dirty="0"/>
          </a:p>
        </p:txBody>
      </p:sp>
      <p:cxnSp>
        <p:nvCxnSpPr>
          <p:cNvPr id="13" name="Straight Arrow Connector 12"/>
          <p:cNvCxnSpPr/>
          <p:nvPr/>
        </p:nvCxnSpPr>
        <p:spPr>
          <a:xfrm flipV="1">
            <a:off x="8805394" y="4858327"/>
            <a:ext cx="1317661" cy="9421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Oval 13"/>
          <p:cNvSpPr/>
          <p:nvPr/>
        </p:nvSpPr>
        <p:spPr>
          <a:xfrm>
            <a:off x="8782307" y="5760727"/>
            <a:ext cx="45719" cy="608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182" y="160338"/>
            <a:ext cx="10515600" cy="724908"/>
          </a:xfrm>
        </p:spPr>
        <p:txBody>
          <a:bodyPr/>
          <a:lstStyle/>
          <a:p>
            <a:r>
              <a:rPr lang="en-IN" dirty="0" smtClean="0"/>
              <a:t>Access Modifier</a:t>
            </a:r>
            <a:endParaRPr lang="en-IN" dirty="0"/>
          </a:p>
        </p:txBody>
      </p:sp>
      <p:sp>
        <p:nvSpPr>
          <p:cNvPr id="3" name="Content Placeholder 2"/>
          <p:cNvSpPr>
            <a:spLocks noGrp="1"/>
          </p:cNvSpPr>
          <p:nvPr>
            <p:ph idx="1"/>
          </p:nvPr>
        </p:nvSpPr>
        <p:spPr>
          <a:xfrm>
            <a:off x="838200" y="1136073"/>
            <a:ext cx="10515600" cy="5040890"/>
          </a:xfrm>
        </p:spPr>
        <p:txBody>
          <a:bodyPr/>
          <a:lstStyle/>
          <a:p>
            <a:r>
              <a:rPr lang="en-US" dirty="0"/>
              <a:t>Access modifiers help to restrict the scope of a class, constructor, variable, method, or data member</a:t>
            </a:r>
            <a:r>
              <a:rPr lang="en-US" dirty="0" smtClean="0"/>
              <a:t>.</a:t>
            </a:r>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smtClean="0"/>
          </a:p>
          <a:p>
            <a:endParaRPr lang="en-IN" dirty="0"/>
          </a:p>
        </p:txBody>
      </p:sp>
      <p:sp>
        <p:nvSpPr>
          <p:cNvPr id="4" name="AutoShape 2" descr="Java Access Modifier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6" name="Picture 5"/>
          <p:cNvPicPr>
            <a:picLocks noChangeAspect="1"/>
          </p:cNvPicPr>
          <p:nvPr/>
        </p:nvPicPr>
        <p:blipFill>
          <a:blip r:embed="rId1"/>
          <a:stretch>
            <a:fillRect/>
          </a:stretch>
        </p:blipFill>
        <p:spPr>
          <a:xfrm>
            <a:off x="3186544" y="1906170"/>
            <a:ext cx="6059055" cy="2186998"/>
          </a:xfrm>
          <a:prstGeom prst="rect">
            <a:avLst/>
          </a:prstGeom>
        </p:spPr>
      </p:pic>
      <p:graphicFrame>
        <p:nvGraphicFramePr>
          <p:cNvPr id="7" name="Table 6"/>
          <p:cNvGraphicFramePr>
            <a:graphicFrameLocks noGrp="1"/>
          </p:cNvGraphicFramePr>
          <p:nvPr/>
        </p:nvGraphicFramePr>
        <p:xfrm>
          <a:off x="570778" y="4093168"/>
          <a:ext cx="10736408" cy="2255520"/>
        </p:xfrm>
        <a:graphic>
          <a:graphicData uri="http://schemas.openxmlformats.org/drawingml/2006/table">
            <a:tbl>
              <a:tblPr/>
              <a:tblGrid>
                <a:gridCol w="2136794"/>
                <a:gridCol w="8599614"/>
              </a:tblGrid>
              <a:tr h="0">
                <a:tc>
                  <a:txBody>
                    <a:bodyPr/>
                    <a:lstStyle/>
                    <a:p>
                      <a:pPr algn="l" fontAlgn="t"/>
                      <a:r>
                        <a:rPr lang="en-IN" b="1" dirty="0">
                          <a:effectLst/>
                        </a:rPr>
                        <a:t>Modifier</a:t>
                      </a:r>
                      <a:endParaRPr lang="en-IN" b="1"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b="1" dirty="0">
                          <a:effectLst/>
                        </a:rPr>
                        <a:t>Description</a:t>
                      </a:r>
                      <a:endParaRPr lang="en-IN" b="1" dirty="0">
                        <a:effectLst/>
                      </a:endParaRP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b="0" dirty="0">
                          <a:effectLst/>
                        </a:rPr>
                        <a:t>public</a:t>
                      </a:r>
                      <a:endParaRPr lang="en-IN" b="0"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dirty="0">
                          <a:effectLst/>
                        </a:rPr>
                        <a:t>The code is accessible for all classes</a:t>
                      </a:r>
                      <a:endParaRPr lang="en-US" dirty="0">
                        <a:effectLst/>
                      </a:endParaRP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b="0" dirty="0">
                          <a:effectLst/>
                        </a:rPr>
                        <a:t>private</a:t>
                      </a:r>
                      <a:endParaRPr lang="en-IN" b="0"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effectLst/>
                        </a:rPr>
                        <a:t>The code is only accessible within the declared class</a:t>
                      </a:r>
                      <a:endParaRPr lang="en-US" dirty="0">
                        <a:effectLst/>
                      </a:endParaRP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b="0" i="1" dirty="0">
                          <a:effectLst/>
                        </a:rPr>
                        <a:t>default</a:t>
                      </a:r>
                      <a:endParaRPr lang="en-IN" b="0"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dirty="0">
                          <a:effectLst/>
                        </a:rPr>
                        <a:t>The code is only accessible in the same package. This is used when you don't specify a modifier. </a:t>
                      </a:r>
                      <a:endParaRPr lang="en-US" dirty="0">
                        <a:effectLst/>
                      </a:endParaRP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b="0" dirty="0">
                          <a:effectLst/>
                        </a:rPr>
                        <a:t>protected</a:t>
                      </a:r>
                      <a:endParaRPr lang="en-IN" b="0" dirty="0">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The code is accessible in the same package and </a:t>
                      </a:r>
                      <a:r>
                        <a:rPr lang="en-US" b="1" dirty="0">
                          <a:effectLst/>
                        </a:rPr>
                        <a:t>subclasses</a:t>
                      </a:r>
                      <a:r>
                        <a:rPr lang="en-US" dirty="0">
                          <a:effectLst/>
                        </a:rPr>
                        <a:t>. </a:t>
                      </a:r>
                      <a:endParaRPr lang="en-US" dirty="0">
                        <a:effectLst/>
                      </a:endParaRPr>
                    </a:p>
                  </a:txBody>
                  <a:tcPr marL="60960" marR="60960" marT="60960" marB="60960">
                    <a:lnL w="7620" cap="flat" cmpd="sng" algn="ctr">
                      <a:solidFill>
                        <a:srgbClr val="CCCCCC"/>
                      </a:solidFill>
                      <a:prstDash val="solid"/>
                      <a:round/>
                      <a:headEnd type="none" w="med" len="med"/>
                      <a:tailEnd type="none" w="med" len="med"/>
                    </a:lnL>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Access Modifier</a:t>
            </a:r>
            <a:endParaRPr lang="en-IN" dirty="0"/>
          </a:p>
        </p:txBody>
      </p:sp>
      <p:pic>
        <p:nvPicPr>
          <p:cNvPr id="8" name="Content Placeholder 7"/>
          <p:cNvPicPr>
            <a:picLocks noGrp="1" noChangeAspect="1"/>
          </p:cNvPicPr>
          <p:nvPr>
            <p:ph idx="1"/>
          </p:nvPr>
        </p:nvPicPr>
        <p:blipFill>
          <a:blip r:embed="rId1"/>
          <a:stretch>
            <a:fillRect/>
          </a:stretch>
        </p:blipFill>
        <p:spPr>
          <a:xfrm>
            <a:off x="1333500" y="2124869"/>
            <a:ext cx="9525000" cy="375285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472" y="424873"/>
            <a:ext cx="4786745" cy="6169891"/>
          </a:xfrm>
        </p:spPr>
        <p:txBody>
          <a:bodyPr>
            <a:normAutofit fontScale="70000" lnSpcReduction="20000"/>
          </a:bodyPr>
          <a:lstStyle/>
          <a:p>
            <a:pPr marL="0" indent="0">
              <a:buNone/>
            </a:pPr>
            <a:r>
              <a:rPr lang="en-US" dirty="0" smtClean="0"/>
              <a:t>class Book {</a:t>
            </a:r>
            <a:endParaRPr lang="en-US" dirty="0" smtClean="0"/>
          </a:p>
          <a:p>
            <a:pPr marL="0" indent="0">
              <a:buNone/>
            </a:pPr>
            <a:r>
              <a:rPr lang="en-US" dirty="0" smtClean="0"/>
              <a:t>String title;</a:t>
            </a:r>
            <a:endParaRPr lang="en-US" dirty="0" smtClean="0"/>
          </a:p>
          <a:p>
            <a:pPr marL="0" indent="0">
              <a:buNone/>
            </a:pPr>
            <a:r>
              <a:rPr lang="en-US" dirty="0" smtClean="0"/>
              <a:t>    String author;</a:t>
            </a:r>
            <a:endParaRPr lang="en-US" dirty="0" smtClean="0"/>
          </a:p>
          <a:p>
            <a:pPr marL="0" indent="0">
              <a:buNone/>
            </a:pPr>
            <a:endParaRPr lang="en-US" dirty="0"/>
          </a:p>
          <a:p>
            <a:pPr marL="0" indent="0">
              <a:buNone/>
            </a:pPr>
            <a:r>
              <a:rPr lang="en-US" dirty="0" smtClean="0"/>
              <a:t>public void </a:t>
            </a:r>
            <a:r>
              <a:rPr lang="en-US" dirty="0" err="1" smtClean="0"/>
              <a:t>setTitle</a:t>
            </a:r>
            <a:r>
              <a:rPr lang="en-US" dirty="0" smtClean="0"/>
              <a:t>(String </a:t>
            </a:r>
            <a:r>
              <a:rPr lang="en-US" dirty="0" err="1" smtClean="0"/>
              <a:t>bookTitle</a:t>
            </a:r>
            <a:r>
              <a:rPr lang="en-US" dirty="0" smtClean="0"/>
              <a:t>) {</a:t>
            </a:r>
            <a:endParaRPr lang="en-US" dirty="0" smtClean="0"/>
          </a:p>
          <a:p>
            <a:pPr marL="0" indent="0">
              <a:buNone/>
            </a:pPr>
            <a:r>
              <a:rPr lang="en-US" dirty="0" smtClean="0"/>
              <a:t>        title = </a:t>
            </a:r>
            <a:r>
              <a:rPr lang="en-US" dirty="0" err="1" smtClean="0"/>
              <a:t>bookTitle</a:t>
            </a:r>
            <a:r>
              <a:rPr lang="en-US" dirty="0" smtClean="0"/>
              <a:t>;</a:t>
            </a:r>
            <a:endParaRPr lang="en-US" dirty="0" smtClean="0"/>
          </a:p>
          <a:p>
            <a:pPr marL="0" indent="0">
              <a:buNone/>
            </a:pPr>
            <a:r>
              <a:rPr lang="en-US" dirty="0" smtClean="0"/>
              <a:t>    }</a:t>
            </a:r>
            <a:endParaRPr lang="en-US" dirty="0" smtClean="0"/>
          </a:p>
          <a:p>
            <a:pPr marL="0" indent="0">
              <a:buNone/>
            </a:pPr>
            <a:endParaRPr lang="en-US" dirty="0" smtClean="0"/>
          </a:p>
          <a:p>
            <a:pPr marL="0" indent="0">
              <a:buNone/>
            </a:pPr>
            <a:r>
              <a:rPr lang="en-US" dirty="0" smtClean="0"/>
              <a:t>public void </a:t>
            </a:r>
            <a:r>
              <a:rPr lang="en-US" dirty="0" err="1" smtClean="0"/>
              <a:t>setAuthor</a:t>
            </a:r>
            <a:r>
              <a:rPr lang="en-US" dirty="0" smtClean="0"/>
              <a:t>(String </a:t>
            </a:r>
            <a:r>
              <a:rPr lang="en-US" dirty="0" err="1" smtClean="0"/>
              <a:t>bookAuthor</a:t>
            </a:r>
            <a:r>
              <a:rPr lang="en-US" dirty="0" smtClean="0"/>
              <a:t>) {</a:t>
            </a:r>
            <a:endParaRPr lang="en-US" dirty="0" smtClean="0"/>
          </a:p>
          <a:p>
            <a:pPr marL="0" indent="0">
              <a:buNone/>
            </a:pPr>
            <a:r>
              <a:rPr lang="en-US" dirty="0" smtClean="0"/>
              <a:t>        author = </a:t>
            </a:r>
            <a:r>
              <a:rPr lang="en-US" dirty="0" err="1" smtClean="0"/>
              <a:t>bookAuthor</a:t>
            </a:r>
            <a:r>
              <a:rPr lang="en-US" dirty="0" smtClean="0"/>
              <a:t>;</a:t>
            </a:r>
            <a:endParaRPr lang="en-US" dirty="0" smtClean="0"/>
          </a:p>
          <a:p>
            <a:pPr marL="0" indent="0">
              <a:buNone/>
            </a:pPr>
            <a:r>
              <a:rPr lang="en-US" dirty="0" smtClean="0"/>
              <a:t>    }</a:t>
            </a:r>
            <a:endParaRPr lang="en-US" dirty="0" smtClean="0"/>
          </a:p>
          <a:p>
            <a:pPr marL="0" indent="0">
              <a:buNone/>
            </a:pPr>
            <a:endParaRPr lang="en-US" dirty="0"/>
          </a:p>
          <a:p>
            <a:pPr marL="0" indent="0">
              <a:buNone/>
            </a:pPr>
            <a:r>
              <a:rPr lang="en-US" dirty="0" smtClean="0"/>
              <a:t>public void </a:t>
            </a:r>
            <a:r>
              <a:rPr lang="en-US" dirty="0" err="1" smtClean="0"/>
              <a:t>displayDetails</a:t>
            </a:r>
            <a:r>
              <a:rPr lang="en-US" dirty="0" smtClean="0"/>
              <a:t>() {</a:t>
            </a:r>
            <a:endParaRPr lang="en-US" dirty="0" smtClean="0"/>
          </a:p>
          <a:p>
            <a:pPr marL="0" indent="0">
              <a:buNone/>
            </a:pPr>
            <a:r>
              <a:rPr lang="en-US" dirty="0" smtClean="0"/>
              <a:t>        </a:t>
            </a:r>
            <a:r>
              <a:rPr lang="en-US" dirty="0" err="1" smtClean="0"/>
              <a:t>System.out.println</a:t>
            </a:r>
            <a:r>
              <a:rPr lang="en-US" dirty="0" smtClean="0"/>
              <a:t>("Title: " + title);</a:t>
            </a:r>
            <a:endParaRPr lang="en-US" dirty="0" smtClean="0"/>
          </a:p>
          <a:p>
            <a:pPr marL="0" indent="0">
              <a:buNone/>
            </a:pPr>
            <a:r>
              <a:rPr lang="en-US" dirty="0" smtClean="0"/>
              <a:t>        </a:t>
            </a:r>
            <a:r>
              <a:rPr lang="en-US" dirty="0" err="1" smtClean="0"/>
              <a:t>System.out.println</a:t>
            </a:r>
            <a:r>
              <a:rPr lang="en-US" dirty="0" smtClean="0"/>
              <a:t>("Author: " + author);</a:t>
            </a:r>
            <a:endParaRPr lang="en-US" dirty="0" smtClean="0"/>
          </a:p>
          <a:p>
            <a:pPr marL="0" indent="0">
              <a:buNone/>
            </a:pPr>
            <a:r>
              <a:rPr lang="en-US" dirty="0" smtClean="0"/>
              <a:t>    }</a:t>
            </a:r>
            <a:endParaRPr lang="en-US" dirty="0" smtClean="0"/>
          </a:p>
          <a:p>
            <a:pPr marL="0" indent="0">
              <a:buNone/>
            </a:pPr>
            <a:r>
              <a:rPr lang="en-US" dirty="0" smtClean="0"/>
              <a:t>}</a:t>
            </a:r>
            <a:endParaRPr lang="en-US" dirty="0" smtClean="0"/>
          </a:p>
          <a:p>
            <a:pPr marL="0" indent="0">
              <a:buNone/>
            </a:pPr>
            <a:endParaRPr lang="en-US" dirty="0" smtClean="0"/>
          </a:p>
        </p:txBody>
      </p:sp>
      <p:sp>
        <p:nvSpPr>
          <p:cNvPr id="4" name="Content Placeholder 2"/>
          <p:cNvSpPr txBox="1"/>
          <p:nvPr/>
        </p:nvSpPr>
        <p:spPr>
          <a:xfrm>
            <a:off x="6319982" y="249382"/>
            <a:ext cx="5474854" cy="64562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sz="1800" dirty="0" smtClean="0"/>
              <a:t>public class </a:t>
            </a:r>
            <a:r>
              <a:rPr lang="en-US" sz="1800" dirty="0" err="1" smtClean="0"/>
              <a:t>BookDemo</a:t>
            </a:r>
            <a:r>
              <a:rPr lang="en-US" sz="1800" dirty="0" smtClean="0"/>
              <a:t> {</a:t>
            </a:r>
            <a:endParaRPr lang="en-US" sz="1800" dirty="0" smtClean="0"/>
          </a:p>
          <a:p>
            <a:pPr marL="0" indent="0">
              <a:buNone/>
            </a:pPr>
            <a:r>
              <a:rPr lang="en-US" sz="1800" dirty="0" smtClean="0"/>
              <a:t>    public static void main(String[] </a:t>
            </a:r>
            <a:r>
              <a:rPr lang="en-US" sz="1800" dirty="0" err="1" smtClean="0"/>
              <a:t>args</a:t>
            </a:r>
            <a:r>
              <a:rPr lang="en-US" sz="1800" dirty="0" smtClean="0"/>
              <a:t>) {</a:t>
            </a:r>
            <a:endParaRPr lang="en-US" sz="1800" dirty="0" smtClean="0"/>
          </a:p>
          <a:p>
            <a:pPr marL="0" indent="0">
              <a:buNone/>
            </a:pPr>
            <a:r>
              <a:rPr lang="en-US" sz="1800" dirty="0" smtClean="0"/>
              <a:t>	</a:t>
            </a:r>
            <a:endParaRPr lang="en-US" sz="1800" dirty="0" smtClean="0"/>
          </a:p>
          <a:p>
            <a:pPr marL="0" indent="0">
              <a:buNone/>
            </a:pPr>
            <a:r>
              <a:rPr lang="en-US" sz="1800" dirty="0"/>
              <a:t> </a:t>
            </a:r>
            <a:r>
              <a:rPr lang="en-US" sz="1800" dirty="0" smtClean="0"/>
              <a:t>     Book book1 = new Book();</a:t>
            </a:r>
            <a:endParaRPr lang="en-US" sz="1800" dirty="0" smtClean="0"/>
          </a:p>
          <a:p>
            <a:pPr marL="0" indent="0">
              <a:buNone/>
            </a:pPr>
            <a:r>
              <a:rPr lang="en-US" sz="1800" dirty="0" smtClean="0"/>
              <a:t>        Book book2 = new Book();</a:t>
            </a:r>
            <a:endParaRPr lang="en-US" sz="1800" dirty="0" smtClean="0"/>
          </a:p>
          <a:p>
            <a:pPr marL="0" indent="0">
              <a:buNone/>
            </a:pPr>
            <a:r>
              <a:rPr lang="en-US" sz="1800" dirty="0"/>
              <a:t> </a:t>
            </a:r>
            <a:r>
              <a:rPr lang="en-US" sz="1800" dirty="0" smtClean="0"/>
              <a:t>      book1.setTitle(“</a:t>
            </a:r>
            <a:r>
              <a:rPr lang="en-IN" sz="1800" dirty="0" smtClean="0"/>
              <a:t>Java: The Complete Reference</a:t>
            </a:r>
            <a:r>
              <a:rPr lang="en-US" sz="1800" dirty="0" smtClean="0"/>
              <a:t>");</a:t>
            </a:r>
            <a:endParaRPr lang="en-US" sz="1800" dirty="0" smtClean="0"/>
          </a:p>
          <a:p>
            <a:pPr marL="0" indent="0">
              <a:buNone/>
            </a:pPr>
            <a:r>
              <a:rPr lang="en-US" sz="1800" dirty="0" smtClean="0"/>
              <a:t>        book1.setAuthor("</a:t>
            </a:r>
            <a:r>
              <a:rPr lang="en-IN" sz="1800" dirty="0" smtClean="0"/>
              <a:t>Herbert </a:t>
            </a:r>
            <a:r>
              <a:rPr lang="en-IN" sz="1800" dirty="0" err="1" smtClean="0"/>
              <a:t>Schildt</a:t>
            </a:r>
            <a:r>
              <a:rPr lang="en-US" sz="1800" dirty="0" smtClean="0"/>
              <a:t>");</a:t>
            </a:r>
            <a:endParaRPr lang="en-US" sz="1800" dirty="0" smtClean="0"/>
          </a:p>
          <a:p>
            <a:pPr marL="0" indent="0">
              <a:buNone/>
            </a:pPr>
            <a:r>
              <a:rPr lang="en-US" sz="1800" dirty="0" smtClean="0"/>
              <a:t>        book2.setTitle("</a:t>
            </a:r>
            <a:r>
              <a:rPr lang="en-IN" sz="1800" dirty="0"/>
              <a:t>Head First Java</a:t>
            </a:r>
            <a:r>
              <a:rPr lang="en-US" sz="1800" dirty="0" smtClean="0"/>
              <a:t>");</a:t>
            </a:r>
            <a:endParaRPr lang="en-US" sz="1800" dirty="0" smtClean="0"/>
          </a:p>
          <a:p>
            <a:pPr marL="0" indent="0">
              <a:buNone/>
            </a:pPr>
            <a:r>
              <a:rPr lang="en-US" sz="1800" dirty="0" smtClean="0"/>
              <a:t>        book2.setAuthor("</a:t>
            </a:r>
            <a:r>
              <a:rPr lang="en-IN" sz="1800" dirty="0"/>
              <a:t>Kathy Sierra</a:t>
            </a:r>
            <a:r>
              <a:rPr lang="en-US" sz="1800" dirty="0" smtClean="0"/>
              <a:t>");</a:t>
            </a:r>
            <a:endParaRPr lang="en-US" sz="1800" dirty="0" smtClean="0"/>
          </a:p>
          <a:p>
            <a:pPr marL="0" indent="0">
              <a:buNone/>
            </a:pPr>
            <a:r>
              <a:rPr lang="en-US" sz="1800" dirty="0"/>
              <a:t> </a:t>
            </a:r>
            <a:r>
              <a:rPr lang="en-US" sz="1800" dirty="0" smtClean="0"/>
              <a:t>      </a:t>
            </a:r>
            <a:r>
              <a:rPr lang="en-US" sz="1800" dirty="0" err="1" smtClean="0"/>
              <a:t>System.out.println</a:t>
            </a:r>
            <a:r>
              <a:rPr lang="en-US" sz="1800" dirty="0" smtClean="0"/>
              <a:t>("Details of book1:");</a:t>
            </a:r>
            <a:endParaRPr lang="en-US" sz="1800" dirty="0" smtClean="0"/>
          </a:p>
          <a:p>
            <a:pPr marL="0" indent="0">
              <a:buNone/>
            </a:pPr>
            <a:r>
              <a:rPr lang="en-US" sz="1800" dirty="0" smtClean="0"/>
              <a:t>        book1.displayDetails();</a:t>
            </a:r>
            <a:endParaRPr lang="en-US" sz="1800" dirty="0" smtClean="0"/>
          </a:p>
          <a:p>
            <a:pPr marL="0" indent="0">
              <a:buNone/>
            </a:pPr>
            <a:endParaRPr lang="en-US" sz="1800" dirty="0" smtClean="0"/>
          </a:p>
          <a:p>
            <a:pPr marL="0" indent="0">
              <a:buNone/>
            </a:pPr>
            <a:r>
              <a:rPr lang="en-US" sz="1800" dirty="0" smtClean="0"/>
              <a:t>        </a:t>
            </a:r>
            <a:r>
              <a:rPr lang="en-US" sz="1800" dirty="0" err="1" smtClean="0"/>
              <a:t>System.out.println</a:t>
            </a:r>
            <a:r>
              <a:rPr lang="en-US" sz="1800" dirty="0" smtClean="0"/>
              <a:t>("\</a:t>
            </a:r>
            <a:r>
              <a:rPr lang="en-US" sz="1800" dirty="0" err="1" smtClean="0"/>
              <a:t>nDetails</a:t>
            </a:r>
            <a:r>
              <a:rPr lang="en-US" sz="1800" dirty="0" smtClean="0"/>
              <a:t> of book2:");</a:t>
            </a:r>
            <a:endParaRPr lang="en-US" sz="1800" dirty="0" smtClean="0"/>
          </a:p>
          <a:p>
            <a:pPr marL="0" indent="0">
              <a:buNone/>
            </a:pPr>
            <a:r>
              <a:rPr lang="en-US" sz="1800" dirty="0" smtClean="0"/>
              <a:t>        book2.displayDetails();</a:t>
            </a:r>
            <a:endParaRPr lang="en-US" sz="1800" dirty="0" smtClean="0"/>
          </a:p>
          <a:p>
            <a:pPr marL="0" indent="0">
              <a:buNone/>
            </a:pPr>
            <a:r>
              <a:rPr lang="en-US" sz="1800" dirty="0" smtClean="0"/>
              <a:t>    }</a:t>
            </a:r>
            <a:endParaRPr lang="en-US" sz="1800" dirty="0" smtClean="0"/>
          </a:p>
          <a:p>
            <a:pPr marL="0" indent="0">
              <a:buNone/>
            </a:pPr>
            <a:r>
              <a:rPr lang="en-US" sz="1800" dirty="0" smtClean="0"/>
              <a:t>}</a:t>
            </a:r>
            <a:endParaRPr lang="en-US" sz="1800" dirty="0" smtClean="0"/>
          </a:p>
          <a:p>
            <a:pPr marL="0" indent="0">
              <a:buNone/>
            </a:pPr>
            <a:endParaRPr lang="en-IN" sz="1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3166"/>
          </a:xfrm>
        </p:spPr>
        <p:txBody>
          <a:bodyPr>
            <a:normAutofit fontScale="90000"/>
          </a:bodyPr>
          <a:lstStyle/>
          <a:p>
            <a:r>
              <a:rPr lang="en-IN" dirty="0" smtClean="0"/>
              <a:t>Method overloading</a:t>
            </a:r>
            <a:endParaRPr lang="en-IN" dirty="0"/>
          </a:p>
        </p:txBody>
      </p:sp>
      <p:sp>
        <p:nvSpPr>
          <p:cNvPr id="3" name="Content Placeholder 2"/>
          <p:cNvSpPr>
            <a:spLocks noGrp="1"/>
          </p:cNvSpPr>
          <p:nvPr>
            <p:ph idx="1"/>
          </p:nvPr>
        </p:nvSpPr>
        <p:spPr>
          <a:xfrm>
            <a:off x="838200" y="1089891"/>
            <a:ext cx="10515600" cy="5087072"/>
          </a:xfrm>
        </p:spPr>
        <p:txBody>
          <a:bodyPr>
            <a:normAutofit fontScale="92500" lnSpcReduction="10000"/>
          </a:bodyPr>
          <a:lstStyle/>
          <a:p>
            <a:r>
              <a:rPr lang="en-US" b="1" dirty="0" smtClean="0"/>
              <a:t>Method overloading</a:t>
            </a:r>
            <a:r>
              <a:rPr lang="en-US" dirty="0" smtClean="0"/>
              <a:t> allows a class to have more than one method with the same name, but different parameter lists (i.e., different number or types of parameters).</a:t>
            </a:r>
            <a:endParaRPr lang="en-US" dirty="0" smtClean="0"/>
          </a:p>
          <a:p>
            <a:r>
              <a:rPr lang="en-US" dirty="0" smtClean="0"/>
              <a:t>It is</a:t>
            </a:r>
            <a:r>
              <a:rPr lang="en-US" b="1" i="1" dirty="0"/>
              <a:t> </a:t>
            </a:r>
            <a:r>
              <a:rPr lang="en-US" b="1" i="1" u="sng" dirty="0"/>
              <a:t>Compile-time Polymorphism</a:t>
            </a:r>
            <a:r>
              <a:rPr lang="en-US" b="1" i="1" dirty="0"/>
              <a:t>, Static Polymorphism, or </a:t>
            </a:r>
            <a:r>
              <a:rPr lang="en-US" b="1" i="1" u="sng" dirty="0"/>
              <a:t>Early binding</a:t>
            </a:r>
            <a:r>
              <a:rPr lang="en-US" dirty="0"/>
              <a:t>.</a:t>
            </a:r>
            <a:endParaRPr lang="en-US" dirty="0" smtClean="0"/>
          </a:p>
          <a:p>
            <a:pPr fontAlgn="base"/>
            <a:r>
              <a:rPr lang="en-US" b="1" dirty="0"/>
              <a:t>Different Ways of Method Overloading in Java</a:t>
            </a:r>
            <a:endParaRPr lang="en-US" b="1" dirty="0"/>
          </a:p>
          <a:p>
            <a:pPr lvl="1" fontAlgn="base"/>
            <a:r>
              <a:rPr lang="en-US" dirty="0"/>
              <a:t>Changing the Number of Parameters.</a:t>
            </a:r>
            <a:endParaRPr lang="en-US" dirty="0"/>
          </a:p>
          <a:p>
            <a:pPr lvl="1" fontAlgn="base"/>
            <a:r>
              <a:rPr lang="en-US" dirty="0"/>
              <a:t>Changing Data Types of the Arguments.</a:t>
            </a:r>
            <a:endParaRPr lang="en-US" dirty="0"/>
          </a:p>
          <a:p>
            <a:pPr lvl="1" fontAlgn="base"/>
            <a:r>
              <a:rPr lang="en-US" dirty="0"/>
              <a:t>Changing the Order of the Parameters of </a:t>
            </a:r>
            <a:r>
              <a:rPr lang="en-US" dirty="0" smtClean="0"/>
              <a:t>Methods</a:t>
            </a:r>
            <a:endParaRPr lang="en-US" dirty="0" smtClean="0"/>
          </a:p>
          <a:p>
            <a:r>
              <a:rPr lang="en-IN" dirty="0" smtClean="0"/>
              <a:t>Key Rules:</a:t>
            </a:r>
            <a:endParaRPr lang="en-IN" dirty="0" smtClean="0"/>
          </a:p>
          <a:p>
            <a:pPr lvl="1"/>
            <a:r>
              <a:rPr lang="en-IN" dirty="0" smtClean="0"/>
              <a:t>Same method name</a:t>
            </a:r>
            <a:endParaRPr lang="en-IN" dirty="0" smtClean="0"/>
          </a:p>
          <a:p>
            <a:pPr lvl="1"/>
            <a:r>
              <a:rPr lang="en-US" dirty="0" smtClean="0"/>
              <a:t>Methods must differ in the number or types of parameters </a:t>
            </a:r>
            <a:r>
              <a:rPr lang="en-IN" dirty="0" smtClean="0"/>
              <a:t>(method signature).</a:t>
            </a:r>
            <a:endParaRPr lang="en-IN" dirty="0" smtClean="0"/>
          </a:p>
          <a:p>
            <a:pPr lvl="1"/>
            <a:r>
              <a:rPr lang="en-US" dirty="0" smtClean="0"/>
              <a:t>The </a:t>
            </a:r>
            <a:r>
              <a:rPr lang="en-US" b="1" dirty="0" smtClean="0"/>
              <a:t>return type </a:t>
            </a:r>
            <a:r>
              <a:rPr lang="en-US" dirty="0" smtClean="0"/>
              <a:t>can be different but is not considered part of the method signature for overloading.</a:t>
            </a:r>
            <a:endParaRPr lang="en-US" dirty="0" smtClean="0"/>
          </a:p>
          <a:p>
            <a:pPr lvl="1"/>
            <a:r>
              <a:rPr lang="en-US" dirty="0" smtClean="0"/>
              <a:t>Method overloading can’t be done by changing the return type alone. </a:t>
            </a: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690"/>
            <a:ext cx="2690091" cy="475384"/>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182418" y="868218"/>
            <a:ext cx="4897582" cy="4854213"/>
          </a:xfrm>
        </p:spPr>
        <p:txBody>
          <a:bodyPr>
            <a:noAutofit/>
          </a:bodyPr>
          <a:lstStyle/>
          <a:p>
            <a:pPr marL="0" indent="0">
              <a:buNone/>
            </a:pPr>
            <a:r>
              <a:rPr lang="en-IN" sz="1800" dirty="0" smtClean="0"/>
              <a:t>class Calculator {</a:t>
            </a:r>
            <a:endParaRPr lang="en-IN" sz="1800" dirty="0" smtClean="0"/>
          </a:p>
          <a:p>
            <a:pPr marL="0" indent="0">
              <a:buNone/>
            </a:pPr>
            <a:r>
              <a:rPr lang="en-IN" sz="1800" dirty="0" smtClean="0"/>
              <a:t>public </a:t>
            </a:r>
            <a:r>
              <a:rPr lang="en-IN" sz="1800" dirty="0" err="1" smtClean="0"/>
              <a:t>int</a:t>
            </a:r>
            <a:r>
              <a:rPr lang="en-IN" sz="1800" dirty="0" smtClean="0"/>
              <a:t> add(</a:t>
            </a:r>
            <a:r>
              <a:rPr lang="en-IN" sz="1800" dirty="0" err="1" smtClean="0"/>
              <a:t>int</a:t>
            </a:r>
            <a:r>
              <a:rPr lang="en-IN" sz="1800" dirty="0" smtClean="0"/>
              <a:t> a, </a:t>
            </a:r>
            <a:r>
              <a:rPr lang="en-IN" sz="1800" dirty="0" err="1" smtClean="0"/>
              <a:t>int</a:t>
            </a:r>
            <a:r>
              <a:rPr lang="en-IN" sz="1800" dirty="0" smtClean="0"/>
              <a:t> b) {</a:t>
            </a:r>
            <a:endParaRPr lang="en-IN" sz="1800" dirty="0" smtClean="0"/>
          </a:p>
          <a:p>
            <a:pPr marL="0" indent="0">
              <a:buNone/>
            </a:pPr>
            <a:r>
              <a:rPr lang="en-IN" sz="1800" dirty="0" smtClean="0"/>
              <a:t>        return a + b;</a:t>
            </a:r>
            <a:endParaRPr lang="en-IN" sz="1800" dirty="0" smtClean="0"/>
          </a:p>
          <a:p>
            <a:pPr marL="0" indent="0">
              <a:buNone/>
            </a:pPr>
            <a:r>
              <a:rPr lang="en-IN" sz="1800" dirty="0" smtClean="0"/>
              <a:t>    }</a:t>
            </a:r>
            <a:endParaRPr lang="en-IN" sz="1800" dirty="0" smtClean="0"/>
          </a:p>
          <a:p>
            <a:pPr marL="0" indent="0">
              <a:buNone/>
            </a:pPr>
            <a:r>
              <a:rPr lang="en-IN" sz="1800" dirty="0" smtClean="0"/>
              <a:t>public </a:t>
            </a:r>
            <a:r>
              <a:rPr lang="en-IN" sz="1800" dirty="0" err="1" smtClean="0"/>
              <a:t>int</a:t>
            </a:r>
            <a:r>
              <a:rPr lang="en-IN" sz="1800" dirty="0" smtClean="0"/>
              <a:t> add(</a:t>
            </a:r>
            <a:r>
              <a:rPr lang="en-IN" sz="1800" dirty="0" err="1" smtClean="0"/>
              <a:t>int</a:t>
            </a:r>
            <a:r>
              <a:rPr lang="en-IN" sz="1800" dirty="0" smtClean="0"/>
              <a:t> a, </a:t>
            </a:r>
            <a:r>
              <a:rPr lang="en-IN" sz="1800" dirty="0" err="1" smtClean="0"/>
              <a:t>int</a:t>
            </a:r>
            <a:r>
              <a:rPr lang="en-IN" sz="1800" dirty="0" smtClean="0"/>
              <a:t> b, </a:t>
            </a:r>
            <a:r>
              <a:rPr lang="en-IN" sz="1800" dirty="0" err="1" smtClean="0"/>
              <a:t>int</a:t>
            </a:r>
            <a:r>
              <a:rPr lang="en-IN" sz="1800" dirty="0" smtClean="0"/>
              <a:t> c) {</a:t>
            </a:r>
            <a:endParaRPr lang="en-IN" sz="1800" dirty="0" smtClean="0"/>
          </a:p>
          <a:p>
            <a:pPr marL="0" indent="0">
              <a:buNone/>
            </a:pPr>
            <a:r>
              <a:rPr lang="en-IN" sz="1800" dirty="0" smtClean="0"/>
              <a:t>        return a + b + c;</a:t>
            </a:r>
            <a:endParaRPr lang="en-IN" sz="1800" dirty="0" smtClean="0"/>
          </a:p>
          <a:p>
            <a:pPr marL="0" indent="0">
              <a:buNone/>
            </a:pPr>
            <a:r>
              <a:rPr lang="en-IN" sz="1800" dirty="0" smtClean="0"/>
              <a:t>    }</a:t>
            </a:r>
            <a:endParaRPr lang="en-IN" sz="1800" dirty="0" smtClean="0"/>
          </a:p>
          <a:p>
            <a:pPr marL="0" indent="0">
              <a:buNone/>
            </a:pPr>
            <a:r>
              <a:rPr lang="en-IN" sz="1800" dirty="0" smtClean="0"/>
              <a:t>public double add(double a, double b) {</a:t>
            </a:r>
            <a:endParaRPr lang="en-IN" sz="1800" dirty="0" smtClean="0"/>
          </a:p>
          <a:p>
            <a:pPr marL="0" indent="0">
              <a:buNone/>
            </a:pPr>
            <a:r>
              <a:rPr lang="en-IN" sz="1800" dirty="0" smtClean="0"/>
              <a:t>        return a + b;</a:t>
            </a:r>
            <a:endParaRPr lang="en-IN" sz="1800" dirty="0" smtClean="0"/>
          </a:p>
          <a:p>
            <a:pPr marL="0" indent="0">
              <a:buNone/>
            </a:pPr>
            <a:r>
              <a:rPr lang="en-IN" sz="1800" dirty="0" smtClean="0"/>
              <a:t>    }</a:t>
            </a:r>
            <a:endParaRPr lang="en-IN" sz="1800" dirty="0" smtClean="0"/>
          </a:p>
          <a:p>
            <a:pPr marL="0" indent="0">
              <a:buNone/>
            </a:pPr>
            <a:r>
              <a:rPr lang="en-IN" sz="1800" dirty="0" smtClean="0"/>
              <a:t>public double add(</a:t>
            </a:r>
            <a:r>
              <a:rPr lang="en-IN" sz="1800" dirty="0" err="1" smtClean="0"/>
              <a:t>int</a:t>
            </a:r>
            <a:r>
              <a:rPr lang="en-IN" sz="1800" dirty="0" smtClean="0"/>
              <a:t> a, double b) {</a:t>
            </a:r>
            <a:endParaRPr lang="en-IN" sz="1800" dirty="0" smtClean="0"/>
          </a:p>
          <a:p>
            <a:pPr marL="0" indent="0">
              <a:buNone/>
            </a:pPr>
            <a:r>
              <a:rPr lang="en-IN" sz="1800" dirty="0" smtClean="0"/>
              <a:t>        return a + b;</a:t>
            </a:r>
            <a:endParaRPr lang="en-IN" sz="1800" dirty="0" smtClean="0"/>
          </a:p>
          <a:p>
            <a:pPr marL="0" indent="0">
              <a:buNone/>
            </a:pPr>
            <a:r>
              <a:rPr lang="en-IN" sz="1800" dirty="0" smtClean="0"/>
              <a:t>    }</a:t>
            </a:r>
            <a:endParaRPr lang="en-IN" sz="1800" dirty="0" smtClean="0"/>
          </a:p>
          <a:p>
            <a:pPr marL="0" indent="0">
              <a:buNone/>
            </a:pPr>
            <a:r>
              <a:rPr lang="en-IN" sz="1800" dirty="0" smtClean="0"/>
              <a:t>}</a:t>
            </a:r>
            <a:endParaRPr lang="en-IN" sz="1800" dirty="0" smtClean="0"/>
          </a:p>
        </p:txBody>
      </p:sp>
      <p:sp>
        <p:nvSpPr>
          <p:cNvPr id="4" name="Content Placeholder 2"/>
          <p:cNvSpPr txBox="1"/>
          <p:nvPr/>
        </p:nvSpPr>
        <p:spPr>
          <a:xfrm>
            <a:off x="5394035" y="544944"/>
            <a:ext cx="5975929" cy="60036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r>
              <a:rPr lang="en-IN" sz="2000" dirty="0" smtClean="0"/>
              <a:t>public class </a:t>
            </a:r>
            <a:r>
              <a:rPr lang="en-IN" sz="2000" dirty="0" err="1" smtClean="0"/>
              <a:t>MethodOverloadingDemo</a:t>
            </a:r>
            <a:r>
              <a:rPr lang="en-IN" sz="2000" dirty="0" smtClean="0"/>
              <a:t> {</a:t>
            </a:r>
            <a:endParaRPr lang="en-IN" sz="2000" dirty="0" smtClean="0"/>
          </a:p>
          <a:p>
            <a:pPr marL="0" indent="0">
              <a:buFont typeface="Arial" panose="020B0604020202090204" pitchFamily="34" charset="0"/>
              <a:buNone/>
            </a:pPr>
            <a:r>
              <a:rPr lang="en-IN" sz="2000" dirty="0" smtClean="0"/>
              <a:t>    public static void main(String[] </a:t>
            </a:r>
            <a:r>
              <a:rPr lang="en-IN" sz="2000" dirty="0" err="1" smtClean="0"/>
              <a:t>args</a:t>
            </a:r>
            <a:r>
              <a:rPr lang="en-IN" sz="2000" dirty="0" smtClean="0"/>
              <a:t>) {</a:t>
            </a:r>
            <a:endParaRPr lang="en-IN" sz="2000" dirty="0" smtClean="0"/>
          </a:p>
          <a:p>
            <a:pPr marL="0" indent="0">
              <a:buFont typeface="Arial" panose="020B0604020202090204" pitchFamily="34" charset="0"/>
              <a:buNone/>
            </a:pPr>
            <a:r>
              <a:rPr lang="en-IN" sz="2000" dirty="0" smtClean="0"/>
              <a:t>        Calculator </a:t>
            </a:r>
            <a:r>
              <a:rPr lang="en-IN" sz="2000" dirty="0" err="1" smtClean="0"/>
              <a:t>calc</a:t>
            </a:r>
            <a:r>
              <a:rPr lang="en-IN" sz="2000" dirty="0" smtClean="0"/>
              <a:t> = new Calculator();</a:t>
            </a:r>
            <a:endParaRPr lang="en-IN" sz="2000" dirty="0" smtClean="0"/>
          </a:p>
          <a:p>
            <a:pPr marL="0" indent="0">
              <a:buFont typeface="Arial" panose="020B0604020202090204" pitchFamily="34" charset="0"/>
              <a:buNone/>
            </a:pPr>
            <a:endParaRPr lang="en-IN" sz="2000" dirty="0" smtClean="0"/>
          </a:p>
          <a:p>
            <a:pPr marL="0" indent="0">
              <a:buFont typeface="Arial" panose="020B0604020202090204" pitchFamily="34" charset="0"/>
              <a:buNone/>
            </a:pPr>
            <a:r>
              <a:rPr lang="en-IN" sz="2000" dirty="0" smtClean="0"/>
              <a:t>        // Calling the different overloaded add methods</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("Sum of two integers: " + </a:t>
            </a:r>
            <a:r>
              <a:rPr lang="en-IN" sz="2000" dirty="0" err="1" smtClean="0"/>
              <a:t>calc.add</a:t>
            </a:r>
            <a:r>
              <a:rPr lang="en-IN" sz="2000" dirty="0" smtClean="0"/>
              <a:t>(10, 20));           	// Calls add(</a:t>
            </a:r>
            <a:r>
              <a:rPr lang="en-IN" sz="2000" dirty="0" err="1" smtClean="0"/>
              <a:t>int</a:t>
            </a:r>
            <a:r>
              <a:rPr lang="en-IN" sz="2000" dirty="0" smtClean="0"/>
              <a:t>, </a:t>
            </a:r>
            <a:r>
              <a:rPr lang="en-IN" sz="2000" dirty="0" err="1" smtClean="0"/>
              <a:t>int</a:t>
            </a:r>
            <a:r>
              <a:rPr lang="en-IN" sz="2000" dirty="0" smtClean="0"/>
              <a:t>)</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("Sum of three integers: " + </a:t>
            </a:r>
            <a:r>
              <a:rPr lang="en-IN" sz="2000" dirty="0" err="1" smtClean="0"/>
              <a:t>calc.add</a:t>
            </a:r>
            <a:r>
              <a:rPr lang="en-IN" sz="2000" dirty="0" smtClean="0"/>
              <a:t>(10, 20, 30));     // Calls add(</a:t>
            </a:r>
            <a:r>
              <a:rPr lang="en-IN" sz="2000" dirty="0" err="1" smtClean="0"/>
              <a:t>int</a:t>
            </a:r>
            <a:r>
              <a:rPr lang="en-IN" sz="2000" dirty="0" smtClean="0"/>
              <a:t>, </a:t>
            </a:r>
            <a:r>
              <a:rPr lang="en-IN" sz="2000" dirty="0" err="1" smtClean="0"/>
              <a:t>int</a:t>
            </a:r>
            <a:r>
              <a:rPr lang="en-IN" sz="2000" dirty="0" smtClean="0"/>
              <a:t>, </a:t>
            </a:r>
            <a:r>
              <a:rPr lang="en-IN" sz="2000" dirty="0" err="1" smtClean="0"/>
              <a:t>int</a:t>
            </a:r>
            <a:r>
              <a:rPr lang="en-IN" sz="2000" dirty="0" smtClean="0"/>
              <a:t>)</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("Sum of two doubles: " + </a:t>
            </a:r>
            <a:r>
              <a:rPr lang="en-IN" sz="2000" dirty="0" err="1" smtClean="0"/>
              <a:t>calc.add</a:t>
            </a:r>
            <a:r>
              <a:rPr lang="en-IN" sz="2000" dirty="0" smtClean="0"/>
              <a:t>(5.5, 7.3));          // Calls add(double, double)</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("Sum of an </a:t>
            </a:r>
            <a:r>
              <a:rPr lang="en-IN" sz="2000" dirty="0" err="1" smtClean="0"/>
              <a:t>int</a:t>
            </a:r>
            <a:r>
              <a:rPr lang="en-IN" sz="2000" dirty="0" smtClean="0"/>
              <a:t> and a double: " + </a:t>
            </a:r>
            <a:r>
              <a:rPr lang="en-IN" sz="2000" dirty="0" err="1" smtClean="0"/>
              <a:t>calc.add</a:t>
            </a:r>
            <a:r>
              <a:rPr lang="en-IN" sz="2000" dirty="0" smtClean="0"/>
              <a:t>(10, 7.8));   // Calls add(</a:t>
            </a:r>
            <a:r>
              <a:rPr lang="en-IN" sz="2000" dirty="0" err="1" smtClean="0"/>
              <a:t>int</a:t>
            </a:r>
            <a:r>
              <a:rPr lang="en-IN" sz="2000" dirty="0" smtClean="0"/>
              <a:t>, double)</a:t>
            </a:r>
            <a:endParaRPr lang="en-IN" sz="2000" dirty="0" smtClean="0"/>
          </a:p>
          <a:p>
            <a:pPr marL="0" indent="0">
              <a:buFont typeface="Arial" panose="020B0604020202090204" pitchFamily="34" charset="0"/>
              <a:buNone/>
            </a:pPr>
            <a:r>
              <a:rPr lang="en-IN" sz="2000" dirty="0" smtClean="0"/>
              <a:t>    }</a:t>
            </a:r>
            <a:endParaRPr lang="en-IN" sz="2000" dirty="0" smtClean="0"/>
          </a:p>
          <a:p>
            <a:pPr marL="0" indent="0">
              <a:buFont typeface="Arial" panose="020B0604020202090204" pitchFamily="34" charset="0"/>
              <a:buNone/>
            </a:pPr>
            <a:r>
              <a:rPr lang="en-IN" sz="2000" dirty="0" smtClean="0"/>
              <a:t>}</a:t>
            </a:r>
            <a:endParaRPr lang="en-IN" sz="2000" dirty="0" smtClean="0"/>
          </a:p>
          <a:p>
            <a:pPr marL="0" indent="0">
              <a:buFont typeface="Arial" panose="020B0604020202090204" pitchFamily="34" charset="0"/>
              <a:buNone/>
            </a:pPr>
            <a:endParaRPr lang="en-IN"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if the exact prototype does not match with arguments?</a:t>
            </a:r>
            <a:br>
              <a:rPr lang="en-US" b="1" dirty="0"/>
            </a:br>
            <a:endParaRPr lang="en-IN" dirty="0"/>
          </a:p>
        </p:txBody>
      </p:sp>
      <p:sp>
        <p:nvSpPr>
          <p:cNvPr id="3" name="Content Placeholder 2"/>
          <p:cNvSpPr>
            <a:spLocks noGrp="1"/>
          </p:cNvSpPr>
          <p:nvPr>
            <p:ph idx="1"/>
          </p:nvPr>
        </p:nvSpPr>
        <p:spPr>
          <a:xfrm>
            <a:off x="237837" y="1592984"/>
            <a:ext cx="6440054" cy="4351338"/>
          </a:xfrm>
        </p:spPr>
        <p:txBody>
          <a:bodyPr/>
          <a:lstStyle/>
          <a:p>
            <a:r>
              <a:rPr lang="en-US" dirty="0"/>
              <a:t> Priority-wise</a:t>
            </a:r>
            <a:r>
              <a:rPr lang="en-US" dirty="0" smtClean="0"/>
              <a:t>, </a:t>
            </a:r>
            <a:r>
              <a:rPr lang="en-US" dirty="0"/>
              <a:t>the compiler takes these steps</a:t>
            </a:r>
            <a:r>
              <a:rPr lang="en-US" dirty="0" smtClean="0"/>
              <a:t>:</a:t>
            </a:r>
            <a:endParaRPr lang="en-US" dirty="0" smtClean="0"/>
          </a:p>
          <a:p>
            <a:pPr lvl="1"/>
            <a:r>
              <a:rPr lang="en-US" dirty="0" smtClean="0"/>
              <a:t>Type Conversion but to a higher type(in terms of range) in the same family.</a:t>
            </a:r>
            <a:endParaRPr lang="en-US" dirty="0" smtClean="0"/>
          </a:p>
          <a:p>
            <a:pPr lvl="1"/>
            <a:r>
              <a:rPr lang="en-US" dirty="0"/>
              <a:t>Type conversion to the next higher family(suppose if there is no long data type available for an </a:t>
            </a:r>
            <a:r>
              <a:rPr lang="en-US" dirty="0" err="1"/>
              <a:t>int</a:t>
            </a:r>
            <a:r>
              <a:rPr lang="en-US" dirty="0"/>
              <a:t> data type, then it will search for the float data type).</a:t>
            </a:r>
            <a:endParaRPr lang="en-US" dirty="0"/>
          </a:p>
          <a:p>
            <a:pPr lvl="1"/>
            <a:endParaRPr lang="en-IN" dirty="0"/>
          </a:p>
        </p:txBody>
      </p:sp>
      <p:pic>
        <p:nvPicPr>
          <p:cNvPr id="2050"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77891" y="1378527"/>
            <a:ext cx="5276272" cy="44680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200" y="189634"/>
            <a:ext cx="2135909" cy="604693"/>
          </a:xfrm>
        </p:spPr>
        <p:txBody>
          <a:bodyPr>
            <a:normAutofit/>
          </a:bodyPr>
          <a:lstStyle/>
          <a:p>
            <a:r>
              <a:rPr lang="en-IN" sz="2800" b="1" dirty="0" smtClean="0"/>
              <a:t>Example</a:t>
            </a:r>
            <a:endParaRPr lang="en-IN" sz="2800" b="1" dirty="0"/>
          </a:p>
        </p:txBody>
      </p:sp>
      <p:sp>
        <p:nvSpPr>
          <p:cNvPr id="3" name="Content Placeholder 2"/>
          <p:cNvSpPr>
            <a:spLocks noGrp="1"/>
          </p:cNvSpPr>
          <p:nvPr>
            <p:ph idx="1"/>
          </p:nvPr>
        </p:nvSpPr>
        <p:spPr>
          <a:xfrm>
            <a:off x="154708" y="865042"/>
            <a:ext cx="6356928" cy="5729721"/>
          </a:xfrm>
        </p:spPr>
        <p:txBody>
          <a:bodyPr>
            <a:noAutofit/>
          </a:bodyPr>
          <a:lstStyle/>
          <a:p>
            <a:pPr marL="0" indent="0">
              <a:buNone/>
            </a:pPr>
            <a:r>
              <a:rPr lang="en-IN" sz="2000" dirty="0" smtClean="0"/>
              <a:t>class Demo { </a:t>
            </a:r>
            <a:endParaRPr lang="en-IN" sz="2000" dirty="0" smtClean="0"/>
          </a:p>
          <a:p>
            <a:pPr marL="0" indent="0">
              <a:buNone/>
            </a:pPr>
            <a:r>
              <a:rPr lang="en-IN" sz="2000" dirty="0" smtClean="0"/>
              <a:t>	public void show(</a:t>
            </a:r>
            <a:r>
              <a:rPr lang="en-IN" sz="2000" dirty="0" err="1" smtClean="0"/>
              <a:t>int</a:t>
            </a:r>
            <a:r>
              <a:rPr lang="en-IN" sz="2000" dirty="0" smtClean="0"/>
              <a:t> x) { </a:t>
            </a:r>
            <a:endParaRPr lang="en-IN" sz="2000" dirty="0" smtClean="0"/>
          </a:p>
          <a:p>
            <a:pPr marL="0" indent="0">
              <a:buNone/>
            </a:pPr>
            <a:r>
              <a:rPr lang="en-IN" sz="2000" dirty="0" smtClean="0"/>
              <a:t>		</a:t>
            </a:r>
            <a:r>
              <a:rPr lang="en-IN" sz="2000" dirty="0" err="1" smtClean="0"/>
              <a:t>System.out.println</a:t>
            </a:r>
            <a:r>
              <a:rPr lang="en-IN" sz="2000" dirty="0" smtClean="0"/>
              <a:t>("In </a:t>
            </a:r>
            <a:r>
              <a:rPr lang="en-IN" sz="2000" dirty="0" err="1" smtClean="0"/>
              <a:t>int</a:t>
            </a:r>
            <a:r>
              <a:rPr lang="en-IN" sz="2000" dirty="0" smtClean="0"/>
              <a:t>" + x); </a:t>
            </a:r>
            <a:endParaRPr lang="en-IN" sz="2000" dirty="0" smtClean="0"/>
          </a:p>
          <a:p>
            <a:pPr marL="0" indent="0">
              <a:buNone/>
            </a:pPr>
            <a:r>
              <a:rPr lang="en-IN" sz="2000" dirty="0" smtClean="0"/>
              <a:t>	} </a:t>
            </a:r>
            <a:endParaRPr lang="en-IN" sz="2000" dirty="0" smtClean="0"/>
          </a:p>
          <a:p>
            <a:pPr marL="0" indent="0">
              <a:buNone/>
            </a:pPr>
            <a:r>
              <a:rPr lang="en-IN" sz="2000" dirty="0" smtClean="0"/>
              <a:t>	public void show(String s) { </a:t>
            </a:r>
            <a:endParaRPr lang="en-IN" sz="2000" dirty="0" smtClean="0"/>
          </a:p>
          <a:p>
            <a:pPr marL="0" indent="0">
              <a:buNone/>
            </a:pPr>
            <a:r>
              <a:rPr lang="en-IN" sz="2000" dirty="0" smtClean="0"/>
              <a:t>		</a:t>
            </a:r>
            <a:r>
              <a:rPr lang="en-IN" sz="2000" dirty="0" err="1" smtClean="0"/>
              <a:t>System.out.println</a:t>
            </a:r>
            <a:r>
              <a:rPr lang="en-IN" sz="2000" dirty="0" smtClean="0"/>
              <a:t>("In String" + s); </a:t>
            </a:r>
            <a:endParaRPr lang="en-IN" sz="2000" dirty="0" smtClean="0"/>
          </a:p>
          <a:p>
            <a:pPr marL="0" indent="0">
              <a:buNone/>
            </a:pPr>
            <a:r>
              <a:rPr lang="en-IN" sz="2000" dirty="0" smtClean="0"/>
              <a:t>	} </a:t>
            </a:r>
            <a:endParaRPr lang="en-IN" sz="2000" dirty="0" smtClean="0"/>
          </a:p>
          <a:p>
            <a:pPr marL="0" indent="0">
              <a:buNone/>
            </a:pPr>
            <a:r>
              <a:rPr lang="en-IN" sz="2000" dirty="0" smtClean="0"/>
              <a:t>	public void show(byte b) { </a:t>
            </a:r>
            <a:endParaRPr lang="en-IN" sz="2000" dirty="0" smtClean="0"/>
          </a:p>
          <a:p>
            <a:pPr marL="0" indent="0">
              <a:buNone/>
            </a:pPr>
            <a:r>
              <a:rPr lang="en-IN" sz="2000" dirty="0" smtClean="0"/>
              <a:t>		</a:t>
            </a:r>
            <a:r>
              <a:rPr lang="en-IN" sz="2000" dirty="0" err="1" smtClean="0"/>
              <a:t>System.out.println</a:t>
            </a:r>
            <a:r>
              <a:rPr lang="en-IN" sz="2000" dirty="0" smtClean="0"/>
              <a:t>("In byte" + b); </a:t>
            </a:r>
            <a:endParaRPr lang="en-IN" sz="2000" dirty="0" smtClean="0"/>
          </a:p>
          <a:p>
            <a:pPr marL="0" indent="0">
              <a:buNone/>
            </a:pPr>
            <a:r>
              <a:rPr lang="en-IN" sz="2000" dirty="0" smtClean="0"/>
              <a:t>	} </a:t>
            </a:r>
            <a:endParaRPr lang="en-IN" sz="2000" dirty="0" smtClean="0"/>
          </a:p>
          <a:p>
            <a:pPr marL="0" indent="0">
              <a:buNone/>
            </a:pPr>
            <a:r>
              <a:rPr lang="en-IN" sz="2000" dirty="0" smtClean="0"/>
              <a:t>} </a:t>
            </a:r>
            <a:endParaRPr lang="en-IN" sz="2000" dirty="0" smtClean="0"/>
          </a:p>
          <a:p>
            <a:pPr marL="0" indent="0">
              <a:buNone/>
            </a:pPr>
            <a:r>
              <a:rPr lang="en-IN" sz="2000" dirty="0" smtClean="0"/>
              <a:t>		</a:t>
            </a:r>
            <a:endParaRPr lang="en-IN" sz="2000" dirty="0" smtClean="0"/>
          </a:p>
          <a:p>
            <a:pPr marL="0" indent="0">
              <a:buNone/>
            </a:pPr>
            <a:r>
              <a:rPr lang="en-IN" sz="2000" dirty="0" smtClean="0"/>
              <a:t>		</a:t>
            </a:r>
            <a:endParaRPr lang="en-IN" sz="2000" dirty="0" smtClean="0"/>
          </a:p>
          <a:p>
            <a:pPr marL="0" indent="0">
              <a:buNone/>
            </a:pPr>
            <a:endParaRPr lang="en-IN" sz="2000" dirty="0"/>
          </a:p>
        </p:txBody>
      </p:sp>
      <p:sp>
        <p:nvSpPr>
          <p:cNvPr id="4" name="Content Placeholder 2"/>
          <p:cNvSpPr txBox="1"/>
          <p:nvPr/>
        </p:nvSpPr>
        <p:spPr>
          <a:xfrm>
            <a:off x="6791036" y="971261"/>
            <a:ext cx="4851400" cy="545724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IN" dirty="0"/>
              <a:t>class </a:t>
            </a:r>
            <a:r>
              <a:rPr lang="en-IN" dirty="0" err="1"/>
              <a:t>UseDemo</a:t>
            </a:r>
            <a:r>
              <a:rPr lang="en-IN" dirty="0"/>
              <a:t> { </a:t>
            </a:r>
            <a:endParaRPr lang="en-IN" dirty="0"/>
          </a:p>
          <a:p>
            <a:pPr marL="0" indent="0">
              <a:buNone/>
            </a:pPr>
            <a:r>
              <a:rPr lang="en-IN" dirty="0"/>
              <a:t>	public static void main(String[] </a:t>
            </a:r>
            <a:r>
              <a:rPr lang="en-IN" dirty="0" err="1"/>
              <a:t>args</a:t>
            </a:r>
            <a:r>
              <a:rPr lang="en-IN" dirty="0"/>
              <a:t>) { </a:t>
            </a:r>
            <a:endParaRPr lang="en-IN" dirty="0"/>
          </a:p>
          <a:p>
            <a:pPr marL="0" indent="0">
              <a:buNone/>
            </a:pPr>
            <a:r>
              <a:rPr lang="en-IN" dirty="0"/>
              <a:t>		byte a = 25; </a:t>
            </a:r>
            <a:endParaRPr lang="en-IN" dirty="0"/>
          </a:p>
          <a:p>
            <a:pPr marL="0" indent="0">
              <a:buNone/>
            </a:pPr>
            <a:r>
              <a:rPr lang="en-IN" dirty="0"/>
              <a:t>		Demo </a:t>
            </a:r>
            <a:r>
              <a:rPr lang="en-IN" dirty="0" err="1"/>
              <a:t>obj</a:t>
            </a:r>
            <a:r>
              <a:rPr lang="en-IN" dirty="0"/>
              <a:t> = new Demo(); </a:t>
            </a:r>
            <a:endParaRPr lang="en-IN" dirty="0"/>
          </a:p>
          <a:p>
            <a:pPr marL="0" indent="0">
              <a:buNone/>
            </a:pPr>
            <a:r>
              <a:rPr lang="en-IN" dirty="0"/>
              <a:t>		</a:t>
            </a:r>
            <a:r>
              <a:rPr lang="en-IN" dirty="0" err="1"/>
              <a:t>obj.show</a:t>
            </a:r>
            <a:r>
              <a:rPr lang="en-IN" dirty="0"/>
              <a:t>(a); </a:t>
            </a:r>
            <a:endParaRPr lang="en-IN" dirty="0" smtClean="0"/>
          </a:p>
          <a:p>
            <a:pPr marL="0" indent="0">
              <a:buNone/>
            </a:pPr>
            <a:r>
              <a:rPr lang="en-IN" dirty="0" smtClean="0"/>
              <a:t>		</a:t>
            </a:r>
            <a:r>
              <a:rPr lang="en-IN" dirty="0" err="1" smtClean="0"/>
              <a:t>obj.show</a:t>
            </a:r>
            <a:r>
              <a:rPr lang="en-IN" dirty="0"/>
              <a:t>("hello");</a:t>
            </a:r>
            <a:endParaRPr lang="en-IN" dirty="0"/>
          </a:p>
          <a:p>
            <a:pPr marL="0" indent="0">
              <a:buNone/>
            </a:pPr>
            <a:r>
              <a:rPr lang="en-IN" dirty="0"/>
              <a:t>		</a:t>
            </a:r>
            <a:r>
              <a:rPr lang="en-IN" dirty="0" err="1"/>
              <a:t>obj.show</a:t>
            </a:r>
            <a:r>
              <a:rPr lang="en-IN" dirty="0"/>
              <a:t>(250); </a:t>
            </a:r>
            <a:endParaRPr lang="en-IN" dirty="0"/>
          </a:p>
          <a:p>
            <a:pPr marL="0" indent="0">
              <a:buNone/>
            </a:pPr>
            <a:r>
              <a:rPr lang="en-IN" dirty="0" smtClean="0"/>
              <a:t>		</a:t>
            </a:r>
            <a:r>
              <a:rPr lang="en-IN" dirty="0" err="1" smtClean="0"/>
              <a:t>obj.show</a:t>
            </a:r>
            <a:r>
              <a:rPr lang="en-IN" dirty="0" smtClean="0"/>
              <a:t>('A'); </a:t>
            </a:r>
            <a:endParaRPr lang="en-IN" dirty="0" smtClean="0"/>
          </a:p>
          <a:p>
            <a:pPr marL="0" indent="0">
              <a:buNone/>
            </a:pPr>
            <a:endParaRPr lang="en-IN" dirty="0" smtClean="0"/>
          </a:p>
          <a:p>
            <a:pPr marL="0" indent="0">
              <a:buNone/>
            </a:pPr>
            <a:r>
              <a:rPr lang="en-IN" dirty="0" smtClean="0"/>
              <a:t>		</a:t>
            </a:r>
            <a:r>
              <a:rPr lang="en-IN" dirty="0" err="1" smtClean="0"/>
              <a:t>obj.show</a:t>
            </a:r>
            <a:r>
              <a:rPr lang="en-IN" dirty="0" smtClean="0"/>
              <a:t>("A"); </a:t>
            </a:r>
            <a:endParaRPr lang="en-IN" dirty="0" smtClean="0"/>
          </a:p>
          <a:p>
            <a:pPr marL="0" indent="0">
              <a:buNone/>
            </a:pPr>
            <a:endParaRPr lang="en-IN" dirty="0" smtClean="0"/>
          </a:p>
          <a:p>
            <a:pPr marL="0" indent="0">
              <a:buNone/>
            </a:pPr>
            <a:r>
              <a:rPr lang="en-IN" dirty="0" smtClean="0"/>
              <a:t>		</a:t>
            </a:r>
            <a:r>
              <a:rPr lang="en-IN" dirty="0" err="1" smtClean="0"/>
              <a:t>obj.show</a:t>
            </a:r>
            <a:r>
              <a:rPr lang="en-IN" dirty="0" smtClean="0"/>
              <a:t>(7.5); </a:t>
            </a:r>
            <a:endParaRPr lang="en-IN" dirty="0" smtClean="0"/>
          </a:p>
          <a:p>
            <a:pPr marL="0" indent="0">
              <a:buNone/>
            </a:pPr>
            <a:r>
              <a:rPr lang="en-IN" dirty="0" smtClean="0"/>
              <a:t>	} </a:t>
            </a:r>
            <a:endParaRPr lang="en-IN" dirty="0" smtClean="0"/>
          </a:p>
          <a:p>
            <a:pPr marL="0" indent="0">
              <a:buNone/>
            </a:pPr>
            <a:r>
              <a:rPr lang="en-IN" dirty="0" smtClean="0"/>
              <a:t>}</a:t>
            </a:r>
            <a:endParaRPr lang="en-IN" dirty="0" smtClean="0"/>
          </a:p>
          <a:p>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121921"/>
            <a:ext cx="10515600" cy="619760"/>
          </a:xfrm>
        </p:spPr>
        <p:txBody>
          <a:bodyPr>
            <a:normAutofit fontScale="90000"/>
          </a:bodyPr>
          <a:lstStyle/>
          <a:p>
            <a:r>
              <a:rPr lang="en-IN" b="1" dirty="0" smtClean="0"/>
              <a:t>Static method</a:t>
            </a:r>
            <a:endParaRPr lang="en-IN" b="1" dirty="0"/>
          </a:p>
        </p:txBody>
      </p:sp>
      <p:sp>
        <p:nvSpPr>
          <p:cNvPr id="3" name="Content Placeholder 2"/>
          <p:cNvSpPr>
            <a:spLocks noGrp="1"/>
          </p:cNvSpPr>
          <p:nvPr>
            <p:ph idx="1"/>
          </p:nvPr>
        </p:nvSpPr>
        <p:spPr>
          <a:xfrm>
            <a:off x="551180" y="1056640"/>
            <a:ext cx="10947400" cy="5262563"/>
          </a:xfrm>
        </p:spPr>
        <p:txBody>
          <a:bodyPr>
            <a:normAutofit fontScale="92500" lnSpcReduction="20000"/>
          </a:bodyPr>
          <a:lstStyle/>
          <a:p>
            <a:r>
              <a:rPr lang="en-US" dirty="0"/>
              <a:t>Any method that uses the static keyword is referred to as a static method</a:t>
            </a:r>
            <a:r>
              <a:rPr lang="en-US" dirty="0" smtClean="0"/>
              <a:t>.</a:t>
            </a:r>
            <a:endParaRPr lang="en-US" dirty="0" smtClean="0"/>
          </a:p>
          <a:p>
            <a:r>
              <a:rPr lang="en-US" dirty="0"/>
              <a:t>A static method in Java is a method that is part of a class rather than an instance of that class.</a:t>
            </a:r>
            <a:endParaRPr lang="en-US" dirty="0"/>
          </a:p>
          <a:p>
            <a:r>
              <a:rPr lang="en-US" dirty="0"/>
              <a:t>Every instance of a class has access to the method.</a:t>
            </a:r>
            <a:endParaRPr lang="en-US" dirty="0"/>
          </a:p>
          <a:p>
            <a:r>
              <a:rPr lang="en-US" dirty="0"/>
              <a:t>Static methods have access to class variables (static variables) without using the class’s object (instance).</a:t>
            </a:r>
            <a:endParaRPr lang="en-US" dirty="0"/>
          </a:p>
          <a:p>
            <a:r>
              <a:rPr lang="en-US" dirty="0"/>
              <a:t>Only static data may be accessed by a static method. It is unable to access data that is not static (instance variables).</a:t>
            </a:r>
            <a:endParaRPr lang="en-US" dirty="0"/>
          </a:p>
          <a:p>
            <a:pPr marL="0" indent="0">
              <a:buNone/>
            </a:pPr>
            <a:r>
              <a:rPr lang="en-US" dirty="0" err="1"/>
              <a:t>Access_modifier</a:t>
            </a:r>
            <a:r>
              <a:rPr lang="en-US" dirty="0"/>
              <a:t> static void </a:t>
            </a:r>
            <a:r>
              <a:rPr lang="en-US" dirty="0" err="1"/>
              <a:t>methodName</a:t>
            </a:r>
            <a:r>
              <a:rPr lang="en-US" dirty="0"/>
              <a:t>()</a:t>
            </a:r>
            <a:endParaRPr lang="en-US" dirty="0"/>
          </a:p>
          <a:p>
            <a:pPr marL="0" indent="0">
              <a:buNone/>
            </a:pPr>
            <a:r>
              <a:rPr lang="en-US" dirty="0"/>
              <a:t>{ </a:t>
            </a:r>
            <a:endParaRPr lang="en-US" dirty="0"/>
          </a:p>
          <a:p>
            <a:pPr marL="0" indent="0">
              <a:buNone/>
            </a:pPr>
            <a:r>
              <a:rPr lang="en-US" dirty="0"/>
              <a:t>     // Method body.</a:t>
            </a:r>
            <a:endParaRPr lang="en-US" dirty="0"/>
          </a:p>
          <a:p>
            <a:pPr marL="0" indent="0">
              <a:buNone/>
            </a:pPr>
            <a:r>
              <a:rPr lang="en-US" dirty="0"/>
              <a:t>} </a:t>
            </a:r>
            <a:endParaRPr lang="en-US" dirty="0" smtClean="0"/>
          </a:p>
          <a:p>
            <a:pPr marL="0" indent="0">
              <a:buNone/>
            </a:pPr>
            <a:r>
              <a:rPr lang="en-US" b="1" dirty="0"/>
              <a:t>Syntax to call a static method:  </a:t>
            </a:r>
            <a:r>
              <a:rPr lang="en-US" dirty="0" err="1"/>
              <a:t>className.methodName</a:t>
            </a:r>
            <a:r>
              <a:rPr lang="en-US" dirty="0"/>
              <a:t>(); </a:t>
            </a:r>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327" y="83128"/>
            <a:ext cx="10515600" cy="794327"/>
          </a:xfrm>
        </p:spPr>
        <p:txBody>
          <a:bodyPr>
            <a:noAutofit/>
          </a:bodyPr>
          <a:lstStyle/>
          <a:p>
            <a:r>
              <a:rPr lang="en-US" sz="3200" b="1" dirty="0"/>
              <a:t> The static method does not have access to the instance </a:t>
            </a:r>
            <a:r>
              <a:rPr lang="en-US" sz="3200" b="1" dirty="0" smtClean="0"/>
              <a:t>variable</a:t>
            </a:r>
            <a:endParaRPr lang="en-IN" sz="3200" dirty="0"/>
          </a:p>
        </p:txBody>
      </p:sp>
      <p:sp>
        <p:nvSpPr>
          <p:cNvPr id="3" name="Content Placeholder 2"/>
          <p:cNvSpPr>
            <a:spLocks noGrp="1"/>
          </p:cNvSpPr>
          <p:nvPr>
            <p:ph idx="1"/>
          </p:nvPr>
        </p:nvSpPr>
        <p:spPr>
          <a:xfrm>
            <a:off x="551873" y="877454"/>
            <a:ext cx="5412047" cy="5980545"/>
          </a:xfrm>
        </p:spPr>
        <p:txBody>
          <a:bodyPr>
            <a:noAutofit/>
          </a:bodyPr>
          <a:lstStyle/>
          <a:p>
            <a:pPr marL="0" indent="0">
              <a:buNone/>
            </a:pPr>
            <a:r>
              <a:rPr lang="en-IN" sz="2400" dirty="0"/>
              <a:t>import java.io</a:t>
            </a:r>
            <a:r>
              <a:rPr lang="en-IN" sz="2400" dirty="0" smtClean="0"/>
              <a:t>.*;</a:t>
            </a:r>
            <a:endParaRPr lang="en-IN" sz="2400" dirty="0"/>
          </a:p>
          <a:p>
            <a:pPr marL="0" indent="0">
              <a:buNone/>
            </a:pPr>
            <a:r>
              <a:rPr lang="en-IN" sz="2400" dirty="0"/>
              <a:t>public class </a:t>
            </a:r>
            <a:r>
              <a:rPr lang="en-IN" sz="2400" dirty="0" smtClean="0"/>
              <a:t>Test </a:t>
            </a:r>
            <a:r>
              <a:rPr lang="en-IN" sz="2400" dirty="0"/>
              <a:t>{</a:t>
            </a:r>
            <a:endParaRPr lang="en-IN" sz="2400" dirty="0"/>
          </a:p>
          <a:p>
            <a:pPr marL="0" indent="0">
              <a:buNone/>
            </a:pPr>
            <a:r>
              <a:rPr lang="en-IN" sz="2400" dirty="0" smtClean="0"/>
              <a:t>static </a:t>
            </a:r>
            <a:r>
              <a:rPr lang="en-IN" sz="2400" dirty="0" err="1"/>
              <a:t>int</a:t>
            </a:r>
            <a:r>
              <a:rPr lang="en-IN" sz="2400" dirty="0"/>
              <a:t> a = 40</a:t>
            </a:r>
            <a:r>
              <a:rPr lang="en-IN" sz="2400" dirty="0" smtClean="0"/>
              <a:t>;</a:t>
            </a:r>
            <a:endParaRPr lang="en-IN" sz="2400" dirty="0"/>
          </a:p>
          <a:p>
            <a:pPr marL="0" indent="0">
              <a:buNone/>
            </a:pPr>
            <a:r>
              <a:rPr lang="en-IN" sz="2400" dirty="0" err="1" smtClean="0"/>
              <a:t>int</a:t>
            </a:r>
            <a:r>
              <a:rPr lang="en-IN" sz="2400" dirty="0" smtClean="0"/>
              <a:t> </a:t>
            </a:r>
            <a:r>
              <a:rPr lang="en-IN" sz="2400" dirty="0"/>
              <a:t>b = 50</a:t>
            </a:r>
            <a:r>
              <a:rPr lang="en-IN" sz="2400" dirty="0" smtClean="0"/>
              <a:t>;</a:t>
            </a:r>
            <a:endParaRPr lang="en-IN" sz="2400" dirty="0"/>
          </a:p>
          <a:p>
            <a:pPr marL="0" indent="0">
              <a:buNone/>
            </a:pPr>
            <a:r>
              <a:rPr lang="en-IN" sz="2400" dirty="0"/>
              <a:t>    void </a:t>
            </a:r>
            <a:r>
              <a:rPr lang="en-IN" sz="2400" dirty="0" err="1"/>
              <a:t>simpleDisplay</a:t>
            </a:r>
            <a:r>
              <a:rPr lang="en-IN" sz="2400" dirty="0"/>
              <a:t>()</a:t>
            </a:r>
            <a:endParaRPr lang="en-IN" sz="2400" dirty="0"/>
          </a:p>
          <a:p>
            <a:pPr marL="0" indent="0">
              <a:buNone/>
            </a:pPr>
            <a:r>
              <a:rPr lang="en-IN" sz="2400" dirty="0"/>
              <a:t>    {</a:t>
            </a:r>
            <a:endParaRPr lang="en-IN" sz="2400" dirty="0"/>
          </a:p>
          <a:p>
            <a:pPr marL="0" indent="0">
              <a:buNone/>
            </a:pPr>
            <a:r>
              <a:rPr lang="en-IN" sz="2400" dirty="0"/>
              <a:t>        </a:t>
            </a:r>
            <a:r>
              <a:rPr lang="en-IN" sz="2400" dirty="0" err="1"/>
              <a:t>System.out.println</a:t>
            </a:r>
            <a:r>
              <a:rPr lang="en-IN" sz="2400" dirty="0"/>
              <a:t>(a);</a:t>
            </a:r>
            <a:endParaRPr lang="en-IN" sz="2400" dirty="0"/>
          </a:p>
          <a:p>
            <a:pPr marL="0" indent="0">
              <a:buNone/>
            </a:pPr>
            <a:r>
              <a:rPr lang="en-IN" sz="2400" dirty="0"/>
              <a:t>        </a:t>
            </a:r>
            <a:r>
              <a:rPr lang="en-IN" sz="2400" dirty="0" err="1"/>
              <a:t>System.out.println</a:t>
            </a:r>
            <a:r>
              <a:rPr lang="en-IN" sz="2400" dirty="0"/>
              <a:t>(b);</a:t>
            </a:r>
            <a:endParaRPr lang="en-IN" sz="2400" dirty="0"/>
          </a:p>
          <a:p>
            <a:pPr marL="0" indent="0">
              <a:buNone/>
            </a:pPr>
            <a:r>
              <a:rPr lang="en-IN" sz="2400" dirty="0"/>
              <a:t>    </a:t>
            </a:r>
            <a:r>
              <a:rPr lang="en-IN" sz="2400" dirty="0" smtClean="0"/>
              <a:t>}</a:t>
            </a:r>
            <a:endParaRPr lang="en-IN" sz="2400" dirty="0"/>
          </a:p>
          <a:p>
            <a:pPr marL="0" indent="0">
              <a:buNone/>
            </a:pPr>
            <a:r>
              <a:rPr lang="en-IN" sz="2400" dirty="0" smtClean="0"/>
              <a:t>static </a:t>
            </a:r>
            <a:r>
              <a:rPr lang="en-IN" sz="2400" dirty="0"/>
              <a:t>void </a:t>
            </a:r>
            <a:r>
              <a:rPr lang="en-IN" sz="2400" dirty="0" err="1"/>
              <a:t>staticDisplay</a:t>
            </a:r>
            <a:r>
              <a:rPr lang="en-IN" sz="2400" dirty="0"/>
              <a:t>()</a:t>
            </a:r>
            <a:endParaRPr lang="en-IN" sz="2400" dirty="0"/>
          </a:p>
          <a:p>
            <a:pPr marL="0" indent="0">
              <a:buNone/>
            </a:pPr>
            <a:r>
              <a:rPr lang="en-IN" sz="2400" dirty="0"/>
              <a:t>    </a:t>
            </a:r>
            <a:r>
              <a:rPr lang="en-IN" sz="2400" dirty="0" smtClean="0"/>
              <a:t>{</a:t>
            </a:r>
            <a:endParaRPr lang="en-IN" sz="2400" dirty="0" smtClean="0"/>
          </a:p>
          <a:p>
            <a:pPr marL="0" indent="0">
              <a:buNone/>
            </a:pPr>
            <a:r>
              <a:rPr lang="en-IN" sz="2400" dirty="0" err="1" smtClean="0"/>
              <a:t>System.out.println</a:t>
            </a:r>
            <a:r>
              <a:rPr lang="en-IN" sz="2400" dirty="0" smtClean="0"/>
              <a:t>(a</a:t>
            </a:r>
            <a:r>
              <a:rPr lang="en-IN" sz="2400" dirty="0"/>
              <a:t>); </a:t>
            </a:r>
            <a:endParaRPr lang="en-IN" sz="2400" dirty="0"/>
          </a:p>
          <a:p>
            <a:pPr marL="0" indent="0">
              <a:buNone/>
            </a:pPr>
            <a:r>
              <a:rPr lang="en-IN" sz="2400" dirty="0"/>
              <a:t>    </a:t>
            </a:r>
            <a:r>
              <a:rPr lang="en-IN" sz="2400" dirty="0" smtClean="0"/>
              <a:t>}</a:t>
            </a:r>
            <a:endParaRPr lang="en-IN" sz="2400" dirty="0"/>
          </a:p>
        </p:txBody>
      </p:sp>
      <p:sp>
        <p:nvSpPr>
          <p:cNvPr id="5" name="Content Placeholder 2"/>
          <p:cNvSpPr txBox="1"/>
          <p:nvPr/>
        </p:nvSpPr>
        <p:spPr>
          <a:xfrm>
            <a:off x="6200833" y="877455"/>
            <a:ext cx="5412047" cy="50338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r>
              <a:rPr lang="en-IN" sz="2400" dirty="0" smtClean="0"/>
              <a:t>public static void main(String[] </a:t>
            </a:r>
            <a:r>
              <a:rPr lang="en-IN" sz="2400" dirty="0" err="1" smtClean="0"/>
              <a:t>args</a:t>
            </a:r>
            <a:r>
              <a:rPr lang="en-IN" sz="2400" dirty="0" smtClean="0"/>
              <a:t>)</a:t>
            </a:r>
            <a:endParaRPr lang="en-IN" sz="2400" dirty="0" smtClean="0"/>
          </a:p>
          <a:p>
            <a:pPr marL="0" indent="0">
              <a:buFont typeface="Arial" panose="020B0604020202090204" pitchFamily="34" charset="0"/>
              <a:buNone/>
            </a:pPr>
            <a:r>
              <a:rPr lang="en-IN" sz="2400" dirty="0" smtClean="0"/>
              <a:t>    {</a:t>
            </a:r>
            <a:endParaRPr lang="en-IN" sz="2400" dirty="0" smtClean="0"/>
          </a:p>
          <a:p>
            <a:pPr marL="0" indent="0">
              <a:buFont typeface="Arial" panose="020B0604020202090204" pitchFamily="34" charset="0"/>
              <a:buNone/>
            </a:pPr>
            <a:r>
              <a:rPr lang="en-IN" sz="2400" dirty="0" smtClean="0"/>
              <a:t>     	</a:t>
            </a:r>
            <a:endParaRPr lang="en-IN" sz="2400" dirty="0" smtClean="0"/>
          </a:p>
          <a:p>
            <a:pPr marL="0" indent="0">
              <a:buFont typeface="Arial" panose="020B0604020202090204" pitchFamily="34" charset="0"/>
              <a:buNone/>
            </a:pPr>
            <a:r>
              <a:rPr lang="en-IN" sz="2400" dirty="0" smtClean="0"/>
              <a:t>GFG </a:t>
            </a:r>
            <a:r>
              <a:rPr lang="en-IN" sz="2400" dirty="0" err="1" smtClean="0"/>
              <a:t>obj</a:t>
            </a:r>
            <a:r>
              <a:rPr lang="en-IN" sz="2400" dirty="0" smtClean="0"/>
              <a:t> = new GFG();</a:t>
            </a:r>
            <a:endParaRPr lang="en-IN" sz="2400" dirty="0" smtClean="0"/>
          </a:p>
          <a:p>
            <a:pPr marL="0" indent="0">
              <a:buFont typeface="Arial" panose="020B0604020202090204" pitchFamily="34" charset="0"/>
              <a:buNone/>
            </a:pPr>
            <a:r>
              <a:rPr lang="en-IN" sz="2400" dirty="0" smtClean="0"/>
              <a:t>        </a:t>
            </a:r>
            <a:r>
              <a:rPr lang="en-IN" sz="2400" dirty="0" err="1" smtClean="0"/>
              <a:t>obj.simpleDisplay</a:t>
            </a:r>
            <a:r>
              <a:rPr lang="en-IN" sz="2400" dirty="0" smtClean="0"/>
              <a:t>();</a:t>
            </a:r>
            <a:r>
              <a:rPr lang="en-IN" sz="2400" dirty="0" err="1" smtClean="0"/>
              <a:t>staticDisplay</a:t>
            </a:r>
            <a:r>
              <a:rPr lang="en-IN" sz="2400" dirty="0" smtClean="0"/>
              <a:t>();</a:t>
            </a:r>
            <a:endParaRPr lang="en-IN" sz="2400" dirty="0" smtClean="0"/>
          </a:p>
          <a:p>
            <a:pPr marL="0" indent="0">
              <a:buFont typeface="Arial" panose="020B0604020202090204" pitchFamily="34" charset="0"/>
              <a:buNone/>
            </a:pPr>
            <a:r>
              <a:rPr lang="en-IN" sz="2400" dirty="0" smtClean="0"/>
              <a:t>    }</a:t>
            </a:r>
            <a:endParaRPr lang="en-IN" sz="2400" dirty="0" smtClean="0"/>
          </a:p>
          <a:p>
            <a:pPr marL="0" indent="0">
              <a:buFont typeface="Arial" panose="020B0604020202090204" pitchFamily="34" charset="0"/>
              <a:buNone/>
            </a:pPr>
            <a:r>
              <a:rPr lang="en-IN" sz="2400" dirty="0" smtClean="0"/>
              <a:t>}</a:t>
            </a:r>
            <a:endParaRPr lang="en-IN"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618" y="208107"/>
            <a:ext cx="11353800" cy="1325563"/>
          </a:xfrm>
        </p:spPr>
        <p:txBody>
          <a:bodyPr>
            <a:noAutofit/>
          </a:bodyPr>
          <a:lstStyle/>
          <a:p>
            <a:r>
              <a:rPr lang="en-US" sz="3600" b="1" dirty="0"/>
              <a:t>In both static and non-static methods, static methods are directly accessed.</a:t>
            </a:r>
            <a:br>
              <a:rPr lang="en-US" sz="3600" b="1" dirty="0"/>
            </a:br>
            <a:endParaRPr lang="en-IN" sz="3600" dirty="0"/>
          </a:p>
        </p:txBody>
      </p:sp>
      <p:sp>
        <p:nvSpPr>
          <p:cNvPr id="3" name="Content Placeholder 2"/>
          <p:cNvSpPr>
            <a:spLocks noGrp="1"/>
          </p:cNvSpPr>
          <p:nvPr>
            <p:ph idx="1"/>
          </p:nvPr>
        </p:nvSpPr>
        <p:spPr>
          <a:xfrm>
            <a:off x="475673" y="1351280"/>
            <a:ext cx="5884488" cy="5212080"/>
          </a:xfrm>
        </p:spPr>
        <p:txBody>
          <a:bodyPr>
            <a:noAutofit/>
          </a:bodyPr>
          <a:lstStyle/>
          <a:p>
            <a:pPr marL="0" indent="0">
              <a:buNone/>
            </a:pPr>
            <a:r>
              <a:rPr lang="en-IN" sz="2000" dirty="0"/>
              <a:t>import java.io.*;</a:t>
            </a:r>
            <a:endParaRPr lang="en-IN" sz="2000" dirty="0"/>
          </a:p>
          <a:p>
            <a:pPr marL="0" indent="0">
              <a:buNone/>
            </a:pPr>
            <a:r>
              <a:rPr lang="en-IN" sz="2000" dirty="0" smtClean="0"/>
              <a:t>public </a:t>
            </a:r>
            <a:r>
              <a:rPr lang="en-IN" sz="2000" dirty="0"/>
              <a:t>class </a:t>
            </a:r>
            <a:r>
              <a:rPr lang="en-IN" sz="2000" dirty="0" err="1"/>
              <a:t>StaticExample</a:t>
            </a:r>
            <a:r>
              <a:rPr lang="en-IN" sz="2000" dirty="0"/>
              <a:t> </a:t>
            </a:r>
            <a:r>
              <a:rPr lang="en-IN" sz="2000" dirty="0" smtClean="0"/>
              <a:t>{</a:t>
            </a:r>
            <a:endParaRPr lang="en-IN" sz="2000" dirty="0"/>
          </a:p>
          <a:p>
            <a:pPr marL="0" indent="0">
              <a:buNone/>
            </a:pPr>
            <a:r>
              <a:rPr lang="en-IN" sz="2000" dirty="0"/>
              <a:t>   </a:t>
            </a:r>
            <a:r>
              <a:rPr lang="en-IN" sz="2000" dirty="0" smtClean="0"/>
              <a:t>static </a:t>
            </a:r>
            <a:r>
              <a:rPr lang="en-IN" sz="2000" dirty="0" err="1"/>
              <a:t>int</a:t>
            </a:r>
            <a:r>
              <a:rPr lang="en-IN" sz="2000" dirty="0"/>
              <a:t> </a:t>
            </a:r>
            <a:r>
              <a:rPr lang="en-IN" sz="2000" dirty="0" err="1"/>
              <a:t>num</a:t>
            </a:r>
            <a:r>
              <a:rPr lang="en-IN" sz="2000" dirty="0"/>
              <a:t> = 100;</a:t>
            </a:r>
            <a:endParaRPr lang="en-IN" sz="2000" dirty="0"/>
          </a:p>
          <a:p>
            <a:pPr marL="0" indent="0">
              <a:buNone/>
            </a:pPr>
            <a:r>
              <a:rPr lang="en-IN" sz="2000" dirty="0"/>
              <a:t>    static String </a:t>
            </a:r>
            <a:r>
              <a:rPr lang="en-IN" sz="2000" dirty="0" err="1"/>
              <a:t>str</a:t>
            </a:r>
            <a:r>
              <a:rPr lang="en-IN" sz="2000" dirty="0"/>
              <a:t> = "</a:t>
            </a:r>
            <a:r>
              <a:rPr lang="en-IN" sz="2000" dirty="0" err="1"/>
              <a:t>GeeksForGeeks</a:t>
            </a:r>
            <a:r>
              <a:rPr lang="en-IN" sz="2000" dirty="0" smtClean="0"/>
              <a:t>";</a:t>
            </a:r>
            <a:endParaRPr lang="en-IN" sz="2000" dirty="0"/>
          </a:p>
          <a:p>
            <a:pPr marL="0" indent="0">
              <a:buNone/>
            </a:pPr>
            <a:r>
              <a:rPr lang="en-IN" sz="2000" dirty="0" smtClean="0"/>
              <a:t>static </a:t>
            </a:r>
            <a:r>
              <a:rPr lang="en-IN" sz="2000" dirty="0"/>
              <a:t>void display()</a:t>
            </a:r>
            <a:endParaRPr lang="en-IN" sz="2000" dirty="0"/>
          </a:p>
          <a:p>
            <a:pPr marL="0" indent="0">
              <a:buNone/>
            </a:pPr>
            <a:r>
              <a:rPr lang="en-IN" sz="2000" dirty="0"/>
              <a:t>    {</a:t>
            </a:r>
            <a:endParaRPr lang="en-IN" sz="2000" dirty="0"/>
          </a:p>
          <a:p>
            <a:pPr marL="0" indent="0">
              <a:buNone/>
            </a:pPr>
            <a:r>
              <a:rPr lang="en-IN" sz="2000" dirty="0"/>
              <a:t>        </a:t>
            </a:r>
            <a:r>
              <a:rPr lang="en-IN" sz="2000" dirty="0" err="1"/>
              <a:t>System.out.println</a:t>
            </a:r>
            <a:r>
              <a:rPr lang="en-IN" sz="2000" dirty="0"/>
              <a:t>("static number is " + </a:t>
            </a:r>
            <a:r>
              <a:rPr lang="en-IN" sz="2000" dirty="0" err="1"/>
              <a:t>num</a:t>
            </a:r>
            <a:r>
              <a:rPr lang="en-IN" sz="2000" dirty="0"/>
              <a:t>);</a:t>
            </a:r>
            <a:endParaRPr lang="en-IN" sz="2000" dirty="0"/>
          </a:p>
          <a:p>
            <a:pPr marL="0" indent="0">
              <a:buNone/>
            </a:pPr>
            <a:r>
              <a:rPr lang="en-IN" sz="2000" dirty="0"/>
              <a:t>        </a:t>
            </a:r>
            <a:r>
              <a:rPr lang="en-IN" sz="2000" dirty="0" err="1"/>
              <a:t>System.out.println</a:t>
            </a:r>
            <a:r>
              <a:rPr lang="en-IN" sz="2000" dirty="0"/>
              <a:t>("static string is " + </a:t>
            </a:r>
            <a:r>
              <a:rPr lang="en-IN" sz="2000" dirty="0" err="1"/>
              <a:t>str</a:t>
            </a:r>
            <a:r>
              <a:rPr lang="en-IN" sz="2000" dirty="0"/>
              <a:t>);</a:t>
            </a:r>
            <a:endParaRPr lang="en-IN" sz="2000" dirty="0"/>
          </a:p>
          <a:p>
            <a:pPr marL="0" indent="0">
              <a:buNone/>
            </a:pPr>
            <a:r>
              <a:rPr lang="en-IN" sz="2000" dirty="0"/>
              <a:t>    </a:t>
            </a:r>
            <a:r>
              <a:rPr lang="en-IN" sz="2000" dirty="0" smtClean="0"/>
              <a:t>}</a:t>
            </a:r>
            <a:endParaRPr lang="en-IN" sz="2000" dirty="0"/>
          </a:p>
          <a:p>
            <a:pPr marL="0" indent="0">
              <a:buNone/>
            </a:pPr>
            <a:r>
              <a:rPr lang="en-IN" sz="2000" dirty="0" smtClean="0"/>
              <a:t>void </a:t>
            </a:r>
            <a:r>
              <a:rPr lang="en-IN" sz="2000" dirty="0" err="1"/>
              <a:t>nonstatic</a:t>
            </a:r>
            <a:r>
              <a:rPr lang="en-IN" sz="2000" dirty="0"/>
              <a:t>()</a:t>
            </a:r>
            <a:endParaRPr lang="en-IN" sz="2000" dirty="0"/>
          </a:p>
          <a:p>
            <a:pPr marL="0" indent="0">
              <a:buNone/>
            </a:pPr>
            <a:r>
              <a:rPr lang="en-IN" sz="2000" dirty="0"/>
              <a:t>    {</a:t>
            </a:r>
            <a:endParaRPr lang="en-IN" sz="2000" dirty="0"/>
          </a:p>
          <a:p>
            <a:pPr marL="0" indent="0">
              <a:buNone/>
            </a:pPr>
            <a:r>
              <a:rPr lang="en-IN" sz="2000" dirty="0" smtClean="0"/>
              <a:t>display</a:t>
            </a:r>
            <a:r>
              <a:rPr lang="en-IN" sz="2000" dirty="0"/>
              <a:t>();</a:t>
            </a:r>
            <a:endParaRPr lang="en-IN" sz="2000" dirty="0"/>
          </a:p>
          <a:p>
            <a:pPr marL="0" indent="0">
              <a:buNone/>
            </a:pPr>
            <a:r>
              <a:rPr lang="en-IN" sz="2000" dirty="0"/>
              <a:t>    </a:t>
            </a:r>
            <a:r>
              <a:rPr lang="en-IN" sz="2000" dirty="0" smtClean="0"/>
              <a:t>}</a:t>
            </a:r>
            <a:endParaRPr lang="en-IN" sz="2000" dirty="0"/>
          </a:p>
        </p:txBody>
      </p:sp>
      <p:sp>
        <p:nvSpPr>
          <p:cNvPr id="5" name="Content Placeholder 2"/>
          <p:cNvSpPr txBox="1"/>
          <p:nvPr/>
        </p:nvSpPr>
        <p:spPr>
          <a:xfrm>
            <a:off x="6307512" y="1442720"/>
            <a:ext cx="5884488" cy="3149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r>
              <a:rPr lang="en-IN" sz="2400" dirty="0" smtClean="0"/>
              <a:t>public static void main(String </a:t>
            </a:r>
            <a:r>
              <a:rPr lang="en-IN" sz="2400" dirty="0" err="1" smtClean="0"/>
              <a:t>args</a:t>
            </a:r>
            <a:r>
              <a:rPr lang="en-IN" sz="2400" dirty="0" smtClean="0"/>
              <a:t>[])</a:t>
            </a:r>
            <a:endParaRPr lang="en-IN" sz="2400" dirty="0" smtClean="0"/>
          </a:p>
          <a:p>
            <a:pPr marL="0" indent="0">
              <a:buFont typeface="Arial" panose="020B0604020202090204" pitchFamily="34" charset="0"/>
              <a:buNone/>
            </a:pPr>
            <a:r>
              <a:rPr lang="en-IN" sz="2400" dirty="0" smtClean="0"/>
              <a:t>    {</a:t>
            </a:r>
            <a:endParaRPr lang="en-IN" sz="2400" dirty="0" smtClean="0"/>
          </a:p>
          <a:p>
            <a:pPr marL="0" indent="0">
              <a:buFont typeface="Arial" panose="020B0604020202090204" pitchFamily="34" charset="0"/>
              <a:buNone/>
            </a:pPr>
            <a:r>
              <a:rPr lang="en-IN" sz="2400" dirty="0" smtClean="0"/>
              <a:t>        </a:t>
            </a:r>
            <a:r>
              <a:rPr lang="en-IN" sz="2400" dirty="0" err="1" smtClean="0"/>
              <a:t>StaticExample</a:t>
            </a:r>
            <a:r>
              <a:rPr lang="en-IN" sz="2400" dirty="0" smtClean="0"/>
              <a:t> </a:t>
            </a:r>
            <a:r>
              <a:rPr lang="en-IN" sz="2400" dirty="0" err="1" smtClean="0"/>
              <a:t>obj</a:t>
            </a:r>
            <a:r>
              <a:rPr lang="en-IN" sz="2400" dirty="0" smtClean="0"/>
              <a:t> = new </a:t>
            </a:r>
            <a:r>
              <a:rPr lang="en-IN" sz="2400" dirty="0" err="1" smtClean="0"/>
              <a:t>StaticExample</a:t>
            </a:r>
            <a:r>
              <a:rPr lang="en-IN" sz="2400" dirty="0" smtClean="0"/>
              <a:t>();</a:t>
            </a:r>
            <a:endParaRPr lang="en-IN" sz="2400" dirty="0" smtClean="0"/>
          </a:p>
          <a:p>
            <a:pPr marL="0" indent="0">
              <a:buFont typeface="Arial" panose="020B0604020202090204" pitchFamily="34" charset="0"/>
              <a:buNone/>
            </a:pPr>
            <a:r>
              <a:rPr lang="en-IN" sz="2400" dirty="0" smtClean="0"/>
              <a:t>      </a:t>
            </a:r>
            <a:r>
              <a:rPr lang="en-IN" sz="2400" dirty="0" err="1" smtClean="0"/>
              <a:t>obj.nonstatic</a:t>
            </a:r>
            <a:r>
              <a:rPr lang="en-IN" sz="2400" dirty="0" smtClean="0"/>
              <a:t>();</a:t>
            </a:r>
            <a:endParaRPr lang="en-IN" sz="2400" dirty="0" smtClean="0"/>
          </a:p>
          <a:p>
            <a:pPr marL="0" indent="0">
              <a:buFont typeface="Arial" panose="020B0604020202090204" pitchFamily="34" charset="0"/>
              <a:buNone/>
            </a:pPr>
            <a:r>
              <a:rPr lang="en-IN" sz="2400" dirty="0" smtClean="0"/>
              <a:t>display();</a:t>
            </a:r>
            <a:endParaRPr lang="en-IN" sz="2400" dirty="0" smtClean="0"/>
          </a:p>
          <a:p>
            <a:pPr marL="0" indent="0">
              <a:buFont typeface="Arial" panose="020B0604020202090204" pitchFamily="34" charset="0"/>
              <a:buNone/>
            </a:pPr>
            <a:r>
              <a:rPr lang="en-IN" sz="2400" dirty="0" smtClean="0"/>
              <a:t>    }</a:t>
            </a:r>
            <a:endParaRPr lang="en-IN" sz="2400" dirty="0" smtClean="0"/>
          </a:p>
          <a:p>
            <a:pPr marL="0" indent="0">
              <a:buFont typeface="Arial" panose="020B0604020202090204" pitchFamily="34" charset="0"/>
              <a:buNone/>
            </a:pPr>
            <a:r>
              <a:rPr lang="en-IN" sz="2400" dirty="0" smtClean="0"/>
              <a:t>}</a:t>
            </a:r>
            <a:endParaRPr lang="en-IN"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9440"/>
            <a:ext cx="10515600" cy="5577523"/>
          </a:xfrm>
        </p:spPr>
        <p:txBody>
          <a:bodyPr>
            <a:normAutofit/>
          </a:bodyPr>
          <a:lstStyle/>
          <a:p>
            <a:pPr fontAlgn="base"/>
            <a:r>
              <a:rPr lang="en-US" b="1" dirty="0"/>
              <a:t>Why use Static Methods?</a:t>
            </a:r>
            <a:endParaRPr lang="en-US" b="1" dirty="0"/>
          </a:p>
          <a:p>
            <a:pPr lvl="1" fontAlgn="base"/>
            <a:r>
              <a:rPr lang="en-US" dirty="0" smtClean="0"/>
              <a:t>To </a:t>
            </a:r>
            <a:r>
              <a:rPr lang="en-US" dirty="0"/>
              <a:t>access and change static variables and other non-object-based static methods.</a:t>
            </a:r>
            <a:endParaRPr lang="en-US" dirty="0"/>
          </a:p>
          <a:p>
            <a:pPr lvl="1" fontAlgn="base"/>
            <a:r>
              <a:rPr lang="en-US" dirty="0"/>
              <a:t>Utility and assist classes frequently employ static methods.</a:t>
            </a:r>
            <a:endParaRPr lang="en-US" dirty="0"/>
          </a:p>
          <a:p>
            <a:pPr fontAlgn="base"/>
            <a:r>
              <a:rPr lang="en-US" b="1" dirty="0"/>
              <a:t>Restrictions in Static Methods:</a:t>
            </a:r>
            <a:endParaRPr lang="en-US" b="1" dirty="0"/>
          </a:p>
          <a:p>
            <a:pPr lvl="1" fontAlgn="base"/>
            <a:r>
              <a:rPr lang="en-US" dirty="0"/>
              <a:t>Non-static data members or non-static methods cannot be used by static methods, and static methods cannot call non-static methods directly.</a:t>
            </a:r>
            <a:endParaRPr lang="en-US" dirty="0"/>
          </a:p>
          <a:p>
            <a:pPr lvl="1" fontAlgn="base"/>
            <a:r>
              <a:rPr lang="en-US" dirty="0"/>
              <a:t>In a static environment, this and super aren’t allowed to be used</a:t>
            </a:r>
            <a:r>
              <a:rPr lang="en-US" dirty="0" smtClean="0"/>
              <a:t>.</a:t>
            </a:r>
            <a:endParaRPr lang="en-US" b="1" dirty="0" smtClean="0"/>
          </a:p>
          <a:p>
            <a:pPr fontAlgn="base"/>
            <a:r>
              <a:rPr lang="en-US" b="1" dirty="0" smtClean="0"/>
              <a:t>Why</a:t>
            </a:r>
            <a:r>
              <a:rPr lang="en-US" b="1" dirty="0"/>
              <a:t> is the main method in Java static?</a:t>
            </a:r>
            <a:endParaRPr lang="en-US" b="1" dirty="0"/>
          </a:p>
          <a:p>
            <a:pPr lvl="1" fontAlgn="base"/>
            <a:r>
              <a:rPr lang="en-US" dirty="0" smtClean="0"/>
              <a:t>It’s </a:t>
            </a:r>
            <a:r>
              <a:rPr lang="en-US" dirty="0"/>
              <a:t>because calling a static method isn’t needed of the object. If it were a non-static method, JVM would first build an object before calling the main() method, resulting in an extra memory allocation difficulty.</a:t>
            </a:r>
            <a:endParaRPr lang="en-US" dirty="0"/>
          </a:p>
          <a:p>
            <a:endParaRPr lang="en-I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367099"/>
            <a:ext cx="10515600" cy="1095941"/>
          </a:xfrm>
        </p:spPr>
        <p:txBody>
          <a:bodyPr>
            <a:noAutofit/>
          </a:bodyPr>
          <a:lstStyle/>
          <a:p>
            <a:pPr lvl="0" eaLnBrk="0" fontAlgn="base" hangingPunct="0">
              <a:lnSpc>
                <a:spcPct val="100000"/>
              </a:lnSpc>
              <a:spcAft>
                <a:spcPct val="0"/>
              </a:spcAft>
            </a:pPr>
            <a:r>
              <a:rPr lang="en-US" altLang="en-US" sz="2400" b="1" dirty="0">
                <a:solidFill>
                  <a:srgbClr val="273239"/>
                </a:solidFill>
                <a:latin typeface="Nunito"/>
              </a:rPr>
              <a:t>Difference Between the static method and instance </a:t>
            </a:r>
            <a:r>
              <a:rPr lang="en-US" altLang="en-US" sz="2400" b="1" dirty="0" smtClean="0">
                <a:solidFill>
                  <a:srgbClr val="273239"/>
                </a:solidFill>
                <a:latin typeface="Nunito"/>
              </a:rPr>
              <a:t>method</a:t>
            </a:r>
            <a:endParaRPr lang="en-IN" sz="2400" dirty="0"/>
          </a:p>
        </p:txBody>
      </p:sp>
      <p:graphicFrame>
        <p:nvGraphicFramePr>
          <p:cNvPr id="6" name="Content Placeholder 5"/>
          <p:cNvGraphicFramePr>
            <a:graphicFrameLocks noGrp="1"/>
          </p:cNvGraphicFramePr>
          <p:nvPr>
            <p:ph idx="1"/>
          </p:nvPr>
        </p:nvGraphicFramePr>
        <p:xfrm>
          <a:off x="838200" y="1620044"/>
          <a:ext cx="10515600" cy="4283534"/>
        </p:xfrm>
        <a:graphic>
          <a:graphicData uri="http://schemas.openxmlformats.org/drawingml/2006/table">
            <a:tbl>
              <a:tblPr/>
              <a:tblGrid>
                <a:gridCol w="5257800"/>
                <a:gridCol w="5257800"/>
              </a:tblGrid>
              <a:tr h="611621">
                <a:tc>
                  <a:txBody>
                    <a:bodyPr/>
                    <a:lstStyle/>
                    <a:p>
                      <a:pPr algn="ctr" rtl="0" fontAlgn="base"/>
                      <a:r>
                        <a:rPr lang="en-IN" sz="2400" b="1" dirty="0">
                          <a:effectLst/>
                        </a:rPr>
                        <a:t>Instance Methods</a:t>
                      </a:r>
                      <a:endParaRPr lang="en-IN" sz="2400" b="1" dirty="0">
                        <a:effectLst/>
                      </a:endParaRP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400" b="1">
                          <a:effectLst/>
                        </a:rPr>
                        <a:t>Static Methods</a:t>
                      </a:r>
                      <a:endParaRPr lang="en-IN" sz="2400" b="1">
                        <a:effectLst/>
                      </a:endParaRP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675331">
                <a:tc>
                  <a:txBody>
                    <a:bodyPr/>
                    <a:lstStyle/>
                    <a:p>
                      <a:pPr algn="ctr" fontAlgn="ctr"/>
                      <a:r>
                        <a:rPr lang="en-US" sz="2000" b="0">
                          <a:effectLst/>
                        </a:rPr>
                        <a:t>It requires an object of the class.</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It doesn’t require an object of the class.</a:t>
                      </a:r>
                      <a:endParaRPr lang="en-US"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675331">
                <a:tc>
                  <a:txBody>
                    <a:bodyPr/>
                    <a:lstStyle/>
                    <a:p>
                      <a:pPr algn="ctr" fontAlgn="ctr"/>
                      <a:r>
                        <a:rPr lang="en-US" sz="2000" b="0">
                          <a:effectLst/>
                        </a:rPr>
                        <a:t>It can access all attributes of a class.</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a:effectLst/>
                        </a:rPr>
                        <a:t>It can access only the static attribute of a class.</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675331">
                <a:tc>
                  <a:txBody>
                    <a:bodyPr/>
                    <a:lstStyle/>
                    <a:p>
                      <a:pPr algn="ctr" fontAlgn="ctr"/>
                      <a:r>
                        <a:rPr lang="en-US" sz="2000" b="0">
                          <a:effectLst/>
                        </a:rPr>
                        <a:t>The methods can be accessed only using object reference.</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a:effectLst/>
                        </a:rPr>
                        <a:t>The method is only accessed by class name.</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675331">
                <a:tc>
                  <a:txBody>
                    <a:bodyPr/>
                    <a:lstStyle/>
                    <a:p>
                      <a:pPr algn="ctr" fontAlgn="ctr"/>
                      <a:r>
                        <a:rPr lang="en-IN" sz="2000" b="0">
                          <a:effectLst/>
                        </a:rPr>
                        <a:t>Syntax: Objref.methodname()</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000" b="0">
                          <a:effectLst/>
                        </a:rPr>
                        <a:t>Syntax: className.methodname()</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675331">
                <a:tc>
                  <a:txBody>
                    <a:bodyPr/>
                    <a:lstStyle/>
                    <a:p>
                      <a:pPr algn="ctr" fontAlgn="ctr"/>
                      <a:r>
                        <a:rPr lang="en-US" sz="2000" b="0">
                          <a:effectLst/>
                        </a:rPr>
                        <a:t>It’s an example of pass-by-value programming.</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It is an example of pass-by-reference programming.</a:t>
                      </a:r>
                      <a:endParaRPr lang="en-US"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
        <p:nvSpPr>
          <p:cNvPr id="7" name="Rectangle 2"/>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9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127" y="245053"/>
            <a:ext cx="10515600" cy="835602"/>
          </a:xfrm>
        </p:spPr>
        <p:txBody>
          <a:bodyPr/>
          <a:lstStyle/>
          <a:p>
            <a:r>
              <a:rPr lang="en-IN" dirty="0" smtClean="0"/>
              <a:t>‘this’ keyword</a:t>
            </a:r>
            <a:endParaRPr lang="en-IN" dirty="0"/>
          </a:p>
        </p:txBody>
      </p:sp>
      <p:sp>
        <p:nvSpPr>
          <p:cNvPr id="3" name="Content Placeholder 2"/>
          <p:cNvSpPr>
            <a:spLocks noGrp="1"/>
          </p:cNvSpPr>
          <p:nvPr>
            <p:ph idx="1"/>
          </p:nvPr>
        </p:nvSpPr>
        <p:spPr>
          <a:xfrm>
            <a:off x="314036" y="1080655"/>
            <a:ext cx="11259128" cy="5096308"/>
          </a:xfrm>
        </p:spPr>
        <p:txBody>
          <a:bodyPr>
            <a:normAutofit lnSpcReduction="10000"/>
          </a:bodyPr>
          <a:lstStyle/>
          <a:p>
            <a:r>
              <a:rPr lang="en-US" dirty="0"/>
              <a:t>In Java, the this keyword is a special reference variable used within an instance method or constructor to refer to the current object</a:t>
            </a:r>
            <a:r>
              <a:rPr lang="en-US" dirty="0" smtClean="0"/>
              <a:t>.</a:t>
            </a:r>
            <a:endParaRPr lang="en-US" dirty="0" smtClean="0"/>
          </a:p>
          <a:p>
            <a:r>
              <a:rPr lang="en-US" dirty="0"/>
              <a:t>It helps to distinguish between instance variables and parameters or local variables with the same </a:t>
            </a:r>
            <a:r>
              <a:rPr lang="en-US" dirty="0" smtClean="0"/>
              <a:t>name</a:t>
            </a:r>
            <a:endParaRPr lang="en-US" dirty="0" smtClean="0"/>
          </a:p>
          <a:p>
            <a:r>
              <a:rPr lang="en-US" dirty="0"/>
              <a:t>Key Uses of this </a:t>
            </a:r>
            <a:r>
              <a:rPr lang="en-US" dirty="0" smtClean="0"/>
              <a:t>Keyword</a:t>
            </a:r>
            <a:endParaRPr lang="en-US" dirty="0" smtClean="0"/>
          </a:p>
          <a:p>
            <a:pPr lvl="1"/>
            <a:r>
              <a:rPr lang="en-US" i="1" dirty="0" smtClean="0"/>
              <a:t>Refer </a:t>
            </a:r>
            <a:r>
              <a:rPr lang="en-US" i="1" dirty="0"/>
              <a:t>to Instance Variables: </a:t>
            </a:r>
            <a:r>
              <a:rPr lang="en-US" dirty="0"/>
              <a:t>When local variables or parameters have the same name as instance variables, this is used to refer to the instance variables</a:t>
            </a:r>
            <a:r>
              <a:rPr lang="en-US" dirty="0" smtClean="0"/>
              <a:t>.</a:t>
            </a:r>
            <a:endParaRPr lang="en-US" dirty="0" smtClean="0"/>
          </a:p>
          <a:p>
            <a:pPr lvl="1"/>
            <a:r>
              <a:rPr lang="en-US" i="1" dirty="0" smtClean="0"/>
              <a:t>Invoke </a:t>
            </a:r>
            <a:r>
              <a:rPr lang="en-US" i="1" dirty="0"/>
              <a:t>Other Constructors: </a:t>
            </a:r>
            <a:r>
              <a:rPr lang="en-US" dirty="0"/>
              <a:t>this can be used to call another constructor in the same class (constructor chaining</a:t>
            </a:r>
            <a:r>
              <a:rPr lang="en-US" dirty="0" smtClean="0"/>
              <a:t>).</a:t>
            </a:r>
            <a:endParaRPr lang="en-US" dirty="0" smtClean="0"/>
          </a:p>
          <a:p>
            <a:pPr lvl="1"/>
            <a:r>
              <a:rPr lang="en-US" i="1" dirty="0" smtClean="0"/>
              <a:t>Pass </a:t>
            </a:r>
            <a:r>
              <a:rPr lang="en-US" i="1" dirty="0"/>
              <a:t>the Current Object: </a:t>
            </a:r>
            <a:r>
              <a:rPr lang="en-US" dirty="0"/>
              <a:t>this can be passed as an argument to methods or constructors of other classes</a:t>
            </a:r>
            <a:r>
              <a:rPr lang="en-US" dirty="0" smtClean="0"/>
              <a:t>.</a:t>
            </a:r>
            <a:endParaRPr lang="en-US" dirty="0" smtClean="0"/>
          </a:p>
          <a:p>
            <a:pPr lvl="1"/>
            <a:r>
              <a:rPr lang="en-US" i="1" dirty="0" smtClean="0"/>
              <a:t>Return </a:t>
            </a:r>
            <a:r>
              <a:rPr lang="en-US" i="1" dirty="0"/>
              <a:t>the Current Object: </a:t>
            </a:r>
            <a:r>
              <a:rPr lang="en-US" dirty="0"/>
              <a:t>this can be used to return the current object from a method, often used in method chaining.</a:t>
            </a:r>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69562"/>
            <a:ext cx="2170545" cy="1325563"/>
          </a:xfrm>
        </p:spPr>
        <p:txBody>
          <a:bodyPr>
            <a:normAutofit/>
          </a:bodyPr>
          <a:lstStyle/>
          <a:p>
            <a:r>
              <a:rPr lang="en-IN" sz="4000" dirty="0" smtClean="0"/>
              <a:t>Example</a:t>
            </a:r>
            <a:endParaRPr lang="en-IN" sz="4000" dirty="0"/>
          </a:p>
        </p:txBody>
      </p:sp>
      <p:sp>
        <p:nvSpPr>
          <p:cNvPr id="3" name="Content Placeholder 2"/>
          <p:cNvSpPr>
            <a:spLocks noGrp="1"/>
          </p:cNvSpPr>
          <p:nvPr>
            <p:ph idx="1"/>
          </p:nvPr>
        </p:nvSpPr>
        <p:spPr>
          <a:xfrm>
            <a:off x="2540000" y="69562"/>
            <a:ext cx="8866909" cy="6573622"/>
          </a:xfrm>
        </p:spPr>
        <p:txBody>
          <a:bodyPr>
            <a:noAutofit/>
          </a:bodyPr>
          <a:lstStyle/>
          <a:p>
            <a:pPr marL="0" indent="0">
              <a:buNone/>
            </a:pPr>
            <a:r>
              <a:rPr lang="en-IN" sz="1800" dirty="0"/>
              <a:t>class Person {</a:t>
            </a:r>
            <a:endParaRPr lang="en-IN" sz="1800" dirty="0"/>
          </a:p>
          <a:p>
            <a:pPr marL="0" indent="0">
              <a:buNone/>
            </a:pPr>
            <a:r>
              <a:rPr lang="en-IN" sz="1800" dirty="0"/>
              <a:t>    String name;</a:t>
            </a:r>
            <a:endParaRPr lang="en-IN" sz="1800" dirty="0"/>
          </a:p>
          <a:p>
            <a:pPr marL="0" indent="0">
              <a:buNone/>
            </a:pPr>
            <a:r>
              <a:rPr lang="en-IN" sz="1800" dirty="0"/>
              <a:t>    </a:t>
            </a:r>
            <a:r>
              <a:rPr lang="en-IN" sz="1800" dirty="0" err="1"/>
              <a:t>int</a:t>
            </a:r>
            <a:r>
              <a:rPr lang="en-IN" sz="1800" dirty="0"/>
              <a:t> age</a:t>
            </a:r>
            <a:r>
              <a:rPr lang="en-IN" sz="1800" dirty="0" smtClean="0"/>
              <a:t>;</a:t>
            </a:r>
            <a:endParaRPr lang="en-IN" sz="1800" dirty="0"/>
          </a:p>
          <a:p>
            <a:pPr marL="0" indent="0">
              <a:buNone/>
            </a:pPr>
            <a:r>
              <a:rPr lang="en-IN" sz="1800" dirty="0" smtClean="0"/>
              <a:t>    public </a:t>
            </a:r>
            <a:r>
              <a:rPr lang="en-IN" sz="1800" dirty="0"/>
              <a:t>void </a:t>
            </a:r>
            <a:r>
              <a:rPr lang="en-IN" sz="1800" dirty="0" err="1"/>
              <a:t>setDetails</a:t>
            </a:r>
            <a:r>
              <a:rPr lang="en-IN" sz="1800" dirty="0"/>
              <a:t>(String name, </a:t>
            </a:r>
            <a:r>
              <a:rPr lang="en-IN" sz="1800" dirty="0" err="1"/>
              <a:t>int</a:t>
            </a:r>
            <a:r>
              <a:rPr lang="en-IN" sz="1800" dirty="0"/>
              <a:t> age) {</a:t>
            </a:r>
            <a:endParaRPr lang="en-IN" sz="1800" dirty="0"/>
          </a:p>
          <a:p>
            <a:pPr marL="0" indent="0">
              <a:buNone/>
            </a:pPr>
            <a:r>
              <a:rPr lang="en-IN" sz="1800" dirty="0"/>
              <a:t>        this.name = name;  // Refers to the instance variable 'name'</a:t>
            </a:r>
            <a:endParaRPr lang="en-IN" sz="1800" dirty="0"/>
          </a:p>
          <a:p>
            <a:pPr marL="0" indent="0">
              <a:buNone/>
            </a:pPr>
            <a:r>
              <a:rPr lang="en-IN" sz="1800" dirty="0"/>
              <a:t>        </a:t>
            </a:r>
            <a:r>
              <a:rPr lang="en-IN" sz="1800" dirty="0" err="1"/>
              <a:t>this.age</a:t>
            </a:r>
            <a:r>
              <a:rPr lang="en-IN" sz="1800" dirty="0"/>
              <a:t> = age;    // Refers to the instance variable 'age'</a:t>
            </a:r>
            <a:endParaRPr lang="en-IN" sz="1800" dirty="0"/>
          </a:p>
          <a:p>
            <a:pPr marL="0" indent="0">
              <a:buNone/>
            </a:pPr>
            <a:r>
              <a:rPr lang="en-IN" sz="1800" dirty="0"/>
              <a:t>    </a:t>
            </a:r>
            <a:r>
              <a:rPr lang="en-IN" sz="1800" dirty="0" smtClean="0"/>
              <a:t>}</a:t>
            </a:r>
            <a:endParaRPr lang="en-IN" sz="1800" dirty="0"/>
          </a:p>
          <a:p>
            <a:pPr marL="0" indent="0">
              <a:buNone/>
            </a:pPr>
            <a:r>
              <a:rPr lang="en-IN" sz="1800" dirty="0" smtClean="0"/>
              <a:t>public </a:t>
            </a:r>
            <a:r>
              <a:rPr lang="en-IN" sz="1800" dirty="0"/>
              <a:t>void </a:t>
            </a:r>
            <a:r>
              <a:rPr lang="en-IN" sz="1800" dirty="0" err="1"/>
              <a:t>displayInfo</a:t>
            </a:r>
            <a:r>
              <a:rPr lang="en-IN" sz="1800" dirty="0"/>
              <a:t>() {</a:t>
            </a:r>
            <a:endParaRPr lang="en-IN" sz="1800" dirty="0"/>
          </a:p>
          <a:p>
            <a:pPr marL="0" indent="0">
              <a:buNone/>
            </a:pPr>
            <a:r>
              <a:rPr lang="en-IN" sz="1800" dirty="0"/>
              <a:t>        </a:t>
            </a:r>
            <a:r>
              <a:rPr lang="en-IN" sz="1800" dirty="0" err="1"/>
              <a:t>System.out.println</a:t>
            </a:r>
            <a:r>
              <a:rPr lang="en-IN" sz="1800" dirty="0"/>
              <a:t>("Name: " + this.name + ", Age: " + </a:t>
            </a:r>
            <a:r>
              <a:rPr lang="en-IN" sz="1800" dirty="0" err="1"/>
              <a:t>this.age</a:t>
            </a:r>
            <a:r>
              <a:rPr lang="en-IN" sz="1800" dirty="0"/>
              <a:t>);</a:t>
            </a:r>
            <a:endParaRPr lang="en-IN" sz="1800" dirty="0"/>
          </a:p>
          <a:p>
            <a:pPr marL="0" indent="0">
              <a:buNone/>
            </a:pPr>
            <a:r>
              <a:rPr lang="en-IN" sz="1800" dirty="0"/>
              <a:t>    }</a:t>
            </a:r>
            <a:endParaRPr lang="en-IN" sz="1800" dirty="0"/>
          </a:p>
          <a:p>
            <a:pPr marL="0" indent="0">
              <a:buNone/>
            </a:pPr>
            <a:r>
              <a:rPr lang="en-IN" sz="1800" dirty="0" smtClean="0"/>
              <a:t>}</a:t>
            </a:r>
            <a:endParaRPr lang="en-IN" sz="1800" dirty="0"/>
          </a:p>
          <a:p>
            <a:pPr marL="0" indent="0">
              <a:buNone/>
            </a:pPr>
            <a:r>
              <a:rPr lang="en-IN" sz="1800" dirty="0"/>
              <a:t>public class Main {</a:t>
            </a:r>
            <a:endParaRPr lang="en-IN" sz="1800" dirty="0"/>
          </a:p>
          <a:p>
            <a:pPr marL="0" indent="0">
              <a:buNone/>
            </a:pPr>
            <a:r>
              <a:rPr lang="en-IN" sz="1800" dirty="0"/>
              <a:t>    public static void main(String[] </a:t>
            </a:r>
            <a:r>
              <a:rPr lang="en-IN" sz="1800" dirty="0" err="1"/>
              <a:t>args</a:t>
            </a:r>
            <a:r>
              <a:rPr lang="en-IN" sz="1800" dirty="0"/>
              <a:t>) {</a:t>
            </a:r>
            <a:endParaRPr lang="en-IN" sz="1800" dirty="0"/>
          </a:p>
          <a:p>
            <a:pPr marL="0" indent="0">
              <a:buNone/>
            </a:pPr>
            <a:r>
              <a:rPr lang="en-IN" sz="1800" dirty="0" smtClean="0"/>
              <a:t>    Person </a:t>
            </a:r>
            <a:r>
              <a:rPr lang="en-IN" sz="1800" dirty="0" err="1"/>
              <a:t>person</a:t>
            </a:r>
            <a:r>
              <a:rPr lang="en-IN" sz="1800" dirty="0"/>
              <a:t> = new Person();</a:t>
            </a:r>
            <a:endParaRPr lang="en-IN" sz="1800" dirty="0"/>
          </a:p>
          <a:p>
            <a:pPr marL="0" indent="0">
              <a:buNone/>
            </a:pPr>
            <a:r>
              <a:rPr lang="en-IN" sz="1800" dirty="0" smtClean="0"/>
              <a:t>   </a:t>
            </a:r>
            <a:r>
              <a:rPr lang="en-IN" sz="1800" dirty="0" err="1" smtClean="0"/>
              <a:t>person.setDetails</a:t>
            </a:r>
            <a:r>
              <a:rPr lang="en-IN" sz="1800" dirty="0"/>
              <a:t>("Alice", 30);</a:t>
            </a:r>
            <a:endParaRPr lang="en-IN" sz="1800" dirty="0"/>
          </a:p>
          <a:p>
            <a:pPr marL="0" indent="0">
              <a:buNone/>
            </a:pPr>
            <a:r>
              <a:rPr lang="en-IN" sz="1800" dirty="0" smtClean="0"/>
              <a:t>    </a:t>
            </a:r>
            <a:r>
              <a:rPr lang="en-IN" sz="1800" dirty="0" err="1" smtClean="0"/>
              <a:t>person.displayInfo</a:t>
            </a:r>
            <a:r>
              <a:rPr lang="en-IN" sz="1800" dirty="0"/>
              <a:t>();  // Output: Name: Alice, Age: 30</a:t>
            </a:r>
            <a:endParaRPr lang="en-IN" sz="1800" dirty="0"/>
          </a:p>
          <a:p>
            <a:pPr marL="0" indent="0">
              <a:buNone/>
            </a:pPr>
            <a:r>
              <a:rPr lang="en-IN" sz="1800" dirty="0"/>
              <a:t>    }</a:t>
            </a:r>
            <a:endParaRPr lang="en-IN" sz="1800" dirty="0"/>
          </a:p>
          <a:p>
            <a:pPr marL="0" indent="0">
              <a:buNone/>
            </a:pPr>
            <a:r>
              <a:rPr lang="en-IN" sz="1800" dirty="0"/>
              <a:t>}</a:t>
            </a:r>
            <a:endParaRPr lang="en-IN" sz="1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43205"/>
            <a:ext cx="4861560" cy="620395"/>
          </a:xfrm>
        </p:spPr>
        <p:txBody>
          <a:bodyPr>
            <a:normAutofit fontScale="90000"/>
          </a:bodyPr>
          <a:lstStyle/>
          <a:p>
            <a:r>
              <a:rPr lang="en-IN" b="1" dirty="0"/>
              <a:t>Java Memory </a:t>
            </a:r>
            <a:r>
              <a:rPr lang="en-IN" b="1" dirty="0" smtClean="0"/>
              <a:t>Structure</a:t>
            </a:r>
            <a:endParaRPr lang="en-IN" dirty="0"/>
          </a:p>
        </p:txBody>
      </p:sp>
      <p:sp>
        <p:nvSpPr>
          <p:cNvPr id="4" name="Content Placeholder 3"/>
          <p:cNvSpPr>
            <a:spLocks noGrp="1"/>
          </p:cNvSpPr>
          <p:nvPr>
            <p:ph idx="1"/>
          </p:nvPr>
        </p:nvSpPr>
        <p:spPr>
          <a:xfrm>
            <a:off x="289560" y="1236344"/>
            <a:ext cx="5704840" cy="5266055"/>
          </a:xfrm>
        </p:spPr>
        <p:txBody>
          <a:bodyPr>
            <a:normAutofit/>
          </a:bodyPr>
          <a:lstStyle/>
          <a:p>
            <a:pPr fontAlgn="base"/>
            <a:r>
              <a:rPr lang="en-US" sz="2400" dirty="0"/>
              <a:t>The major concepts in Java Memory Management :</a:t>
            </a:r>
            <a:endParaRPr lang="en-US" sz="2400" dirty="0"/>
          </a:p>
          <a:p>
            <a:pPr lvl="1" fontAlgn="base"/>
            <a:r>
              <a:rPr lang="en-US" sz="2000" dirty="0"/>
              <a:t>JVM Memory Structure</a:t>
            </a:r>
            <a:endParaRPr lang="en-US" sz="2000" dirty="0"/>
          </a:p>
          <a:p>
            <a:pPr lvl="1" fontAlgn="base"/>
            <a:r>
              <a:rPr lang="en-US" sz="2000" dirty="0" smtClean="0"/>
              <a:t>Garbage Collector</a:t>
            </a:r>
            <a:endParaRPr lang="en-US" sz="2000" dirty="0" smtClean="0"/>
          </a:p>
          <a:p>
            <a:pPr fontAlgn="base"/>
            <a:r>
              <a:rPr lang="en-IN" sz="2400" b="1" dirty="0"/>
              <a:t>Java Memory Structure:</a:t>
            </a:r>
            <a:endParaRPr lang="en-IN" sz="2400" b="1" dirty="0"/>
          </a:p>
          <a:p>
            <a:pPr fontAlgn="base"/>
            <a:r>
              <a:rPr lang="en-US" sz="2400" dirty="0"/>
              <a:t>Some of the areas are created by the JVM whereas some are created by the threads that are used in a program</a:t>
            </a:r>
            <a:r>
              <a:rPr lang="en-US" sz="2400" dirty="0" smtClean="0"/>
              <a:t>.</a:t>
            </a:r>
            <a:endParaRPr lang="en-US" sz="2400" dirty="0" smtClean="0"/>
          </a:p>
          <a:p>
            <a:pPr fontAlgn="base"/>
            <a:r>
              <a:rPr lang="en-US" sz="2400" dirty="0"/>
              <a:t>memory area created by JVM is destroyed only when the JVM exits.</a:t>
            </a:r>
            <a:endParaRPr lang="en-US" sz="2000" dirty="0" smtClean="0"/>
          </a:p>
          <a:p>
            <a:pPr fontAlgn="base"/>
            <a:r>
              <a:rPr lang="en-US" sz="2400" dirty="0"/>
              <a:t>The data areas of thread are created during instantiation and destroyed when the thread exits.</a:t>
            </a:r>
            <a:endParaRPr lang="en-US" sz="2000" dirty="0"/>
          </a:p>
          <a:p>
            <a:endParaRPr lang="en-IN" sz="2400" dirty="0"/>
          </a:p>
        </p:txBody>
      </p:sp>
      <p:pic>
        <p:nvPicPr>
          <p:cNvPr id="5124" name="Picture 4"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94400" y="3058477"/>
            <a:ext cx="6004560" cy="35150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5320" y="985520"/>
            <a:ext cx="10515600" cy="5598159"/>
          </a:xfrm>
        </p:spPr>
        <p:txBody>
          <a:bodyPr>
            <a:normAutofit/>
          </a:bodyPr>
          <a:lstStyle/>
          <a:p>
            <a:r>
              <a:rPr lang="en-IN" sz="3200" b="1" dirty="0"/>
              <a:t>Heap :</a:t>
            </a:r>
            <a:endParaRPr lang="en-IN" sz="3200" b="1" dirty="0"/>
          </a:p>
          <a:p>
            <a:pPr lvl="1"/>
            <a:r>
              <a:rPr lang="en-US" sz="2800" dirty="0"/>
              <a:t>stores the actual object in a memory</a:t>
            </a:r>
            <a:r>
              <a:rPr lang="en-US" sz="2800" dirty="0" smtClean="0"/>
              <a:t>.</a:t>
            </a:r>
            <a:endParaRPr lang="en-US" sz="2800" dirty="0" smtClean="0"/>
          </a:p>
          <a:p>
            <a:pPr lvl="1"/>
            <a:r>
              <a:rPr lang="en-US" sz="2800" dirty="0"/>
              <a:t>Heap can be of fixed or dynamic size depending upon the system’s configuration</a:t>
            </a:r>
            <a:r>
              <a:rPr lang="en-US" sz="2800" dirty="0" smtClean="0"/>
              <a:t>.</a:t>
            </a:r>
            <a:endParaRPr lang="en-US" sz="2800" dirty="0" smtClean="0"/>
          </a:p>
          <a:p>
            <a:pPr lvl="1"/>
            <a:r>
              <a:rPr lang="en-US" sz="2800" dirty="0"/>
              <a:t>The user can control the </a:t>
            </a:r>
            <a:r>
              <a:rPr lang="en-US" sz="2800" dirty="0" smtClean="0"/>
              <a:t>heap.</a:t>
            </a:r>
            <a:endParaRPr lang="en-US" sz="2800" dirty="0" smtClean="0"/>
          </a:p>
          <a:p>
            <a:pPr lvl="1"/>
            <a:r>
              <a:rPr lang="en-US" sz="2800" dirty="0"/>
              <a:t>When a new keyword is used, object is assigned a space in heap, but the reference of the same exists onto the stack</a:t>
            </a:r>
            <a:r>
              <a:rPr lang="en-US" sz="2800" dirty="0" smtClean="0"/>
              <a:t>.</a:t>
            </a:r>
            <a:endParaRPr lang="en-US" sz="2800" dirty="0" smtClean="0"/>
          </a:p>
          <a:p>
            <a:pPr lvl="1"/>
            <a:r>
              <a:rPr lang="en-IN" sz="2800" i="1" dirty="0"/>
              <a:t>Scanner </a:t>
            </a:r>
            <a:r>
              <a:rPr lang="en-IN" sz="2800" i="1" dirty="0" err="1"/>
              <a:t>sc</a:t>
            </a:r>
            <a:r>
              <a:rPr lang="en-IN" sz="2800" i="1" dirty="0"/>
              <a:t> = new Scanner(System.in</a:t>
            </a:r>
            <a:r>
              <a:rPr lang="en-IN" sz="2800" i="1" dirty="0" smtClean="0"/>
              <a:t>);</a:t>
            </a:r>
            <a:endParaRPr lang="en-IN" sz="2800" i="1" dirty="0" smtClean="0"/>
          </a:p>
          <a:p>
            <a:pPr lvl="1"/>
            <a:r>
              <a:rPr lang="en-US" sz="2800" dirty="0"/>
              <a:t>The above statement creates the object of Scanner class which gets allocated to heap whereas the reference ‘</a:t>
            </a:r>
            <a:r>
              <a:rPr lang="en-US" sz="2800" dirty="0" err="1"/>
              <a:t>sc</a:t>
            </a:r>
            <a:r>
              <a:rPr lang="en-US" sz="2800" dirty="0"/>
              <a:t>’ gets pushed to the stack</a:t>
            </a:r>
            <a:r>
              <a:rPr lang="en-US" sz="2800" dirty="0" smtClean="0"/>
              <a:t>.</a:t>
            </a:r>
            <a:endParaRPr lang="en-US" sz="2800" dirty="0" smtClean="0"/>
          </a:p>
          <a:p>
            <a:r>
              <a:rPr lang="en-US" sz="3200" b="1" i="1" dirty="0"/>
              <a:t>Note:</a:t>
            </a:r>
            <a:r>
              <a:rPr lang="en-US" sz="3200" i="1" dirty="0"/>
              <a:t> Garbage collection in heap area is mandatory.</a:t>
            </a:r>
            <a:endParaRPr lang="en-IN" sz="3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200" b="1" dirty="0"/>
              <a:t>Method </a:t>
            </a:r>
            <a:r>
              <a:rPr lang="en-IN" sz="3200" b="1" dirty="0" smtClean="0"/>
              <a:t>Area (</a:t>
            </a:r>
            <a:r>
              <a:rPr lang="en-IN" sz="3200" b="1" dirty="0" err="1" smtClean="0"/>
              <a:t>Metaspace</a:t>
            </a:r>
            <a:r>
              <a:rPr lang="en-IN" sz="3200" b="1" dirty="0" smtClean="0"/>
              <a:t>):</a:t>
            </a:r>
            <a:endParaRPr lang="en-IN" sz="3200" b="1" dirty="0"/>
          </a:p>
          <a:p>
            <a:pPr lvl="1"/>
            <a:r>
              <a:rPr lang="en-US" sz="2800" dirty="0"/>
              <a:t>It is a logical part of the heap area and is created on virtual machine startup.</a:t>
            </a:r>
            <a:endParaRPr lang="en-US" sz="2800" dirty="0"/>
          </a:p>
          <a:p>
            <a:pPr lvl="1"/>
            <a:r>
              <a:rPr lang="en-US" sz="2800" dirty="0"/>
              <a:t>This memory is allocated for </a:t>
            </a:r>
            <a:r>
              <a:rPr lang="en-US" sz="2800" dirty="0" smtClean="0"/>
              <a:t>the following:</a:t>
            </a:r>
            <a:endParaRPr lang="en-US" sz="2800" dirty="0" smtClean="0"/>
          </a:p>
          <a:p>
            <a:pPr lvl="2"/>
            <a:r>
              <a:rPr lang="en-US" sz="2400" dirty="0"/>
              <a:t> Bytecode: The compiled bytecode from .class files</a:t>
            </a:r>
            <a:r>
              <a:rPr lang="en-US" sz="2400" dirty="0" smtClean="0"/>
              <a:t>.</a:t>
            </a:r>
            <a:endParaRPr lang="en-US" sz="2400" dirty="0" smtClean="0"/>
          </a:p>
          <a:p>
            <a:pPr lvl="2"/>
            <a:r>
              <a:rPr lang="en-US" sz="2400" dirty="0" smtClean="0"/>
              <a:t>Class </a:t>
            </a:r>
            <a:r>
              <a:rPr lang="en-US" sz="2400" dirty="0"/>
              <a:t>Metadata: Information about class methods, fields, and constants</a:t>
            </a:r>
            <a:r>
              <a:rPr lang="en-US" sz="2400" dirty="0" smtClean="0"/>
              <a:t>.</a:t>
            </a:r>
            <a:endParaRPr lang="en-US" sz="2400" dirty="0" smtClean="0"/>
          </a:p>
          <a:p>
            <a:pPr lvl="2"/>
            <a:r>
              <a:rPr lang="en-US" sz="2400" dirty="0" smtClean="0"/>
              <a:t>Static </a:t>
            </a:r>
            <a:r>
              <a:rPr lang="en-US" sz="2400" dirty="0"/>
              <a:t>Variables: Static variables are also stored here.</a:t>
            </a:r>
            <a:endParaRPr lang="en-US" sz="2400" dirty="0" smtClean="0"/>
          </a:p>
          <a:p>
            <a:pPr lvl="1"/>
            <a:r>
              <a:rPr lang="en-US" sz="2800" dirty="0"/>
              <a:t>Can be of a fixed size or expanded as required by the computation</a:t>
            </a:r>
            <a:r>
              <a:rPr lang="en-US" sz="2800" dirty="0" smtClean="0"/>
              <a:t>.</a:t>
            </a:r>
            <a:endParaRPr lang="en-US" sz="2800" dirty="0" smtClean="0"/>
          </a:p>
          <a:p>
            <a:pPr lvl="1"/>
            <a:r>
              <a:rPr lang="en-US" sz="2800" dirty="0"/>
              <a:t>Needs not to be contiguous.</a:t>
            </a:r>
            <a:endParaRPr lang="en-IN"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4"/>
            <a:ext cx="10515600" cy="4656455"/>
          </a:xfrm>
        </p:spPr>
        <p:txBody>
          <a:bodyPr>
            <a:normAutofit/>
          </a:bodyPr>
          <a:lstStyle/>
          <a:p>
            <a:r>
              <a:rPr lang="en-IN" b="1" dirty="0"/>
              <a:t>JVM Stacks:</a:t>
            </a:r>
            <a:endParaRPr lang="en-IN" b="1" dirty="0"/>
          </a:p>
          <a:p>
            <a:pPr lvl="1"/>
            <a:r>
              <a:rPr lang="en-US" dirty="0"/>
              <a:t>A stack is created at the same time when a thread is created and is used to store data and partial results which will be needed while returning value for method and performing dynamic linking.</a:t>
            </a:r>
            <a:endParaRPr lang="en-US" dirty="0"/>
          </a:p>
          <a:p>
            <a:pPr lvl="1"/>
            <a:r>
              <a:rPr lang="en-US" dirty="0"/>
              <a:t>Stacks </a:t>
            </a:r>
            <a:r>
              <a:rPr lang="en-US" dirty="0" smtClean="0"/>
              <a:t>can either be of fixed or dynamic size.</a:t>
            </a:r>
            <a:endParaRPr lang="en-US" dirty="0" smtClean="0"/>
          </a:p>
          <a:p>
            <a:pPr lvl="1"/>
            <a:r>
              <a:rPr lang="en-US" dirty="0"/>
              <a:t>The memory for stack needs not to be contiguous</a:t>
            </a:r>
            <a:r>
              <a:rPr lang="en-US" dirty="0" smtClean="0"/>
              <a:t>.</a:t>
            </a:r>
            <a:endParaRPr lang="en-US" dirty="0"/>
          </a:p>
          <a:p>
            <a:r>
              <a:rPr lang="en-IN" b="1" dirty="0"/>
              <a:t>Native method Stacks:</a:t>
            </a:r>
            <a:endParaRPr lang="en-IN" b="1" dirty="0"/>
          </a:p>
          <a:p>
            <a:pPr lvl="1"/>
            <a:r>
              <a:rPr lang="en-US" dirty="0" smtClean="0"/>
              <a:t>It is </a:t>
            </a:r>
            <a:r>
              <a:rPr lang="en-US" dirty="0"/>
              <a:t>used for native code written in non-Java languages such as C or C++. When Java invokes native methods, their execution is managed in this stack, rather than the Java stack.</a:t>
            </a: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Program counter (PC) registers:</a:t>
            </a:r>
            <a:endParaRPr lang="en-IN" b="1" dirty="0"/>
          </a:p>
          <a:p>
            <a:r>
              <a:rPr lang="en-US" dirty="0"/>
              <a:t>Each thread has its own </a:t>
            </a:r>
            <a:r>
              <a:rPr lang="en-US" b="1" dirty="0"/>
              <a:t>PC register</a:t>
            </a:r>
            <a:r>
              <a:rPr lang="en-US" dirty="0"/>
              <a:t>, which keeps track of the current execution point within the thread. It stores the memory address of the instruction currently being executed.</a:t>
            </a:r>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05040" y="203201"/>
            <a:ext cx="4765040" cy="3169920"/>
          </a:xfrm>
        </p:spPr>
        <p:txBody>
          <a:bodyPr>
            <a:noAutofit/>
          </a:bodyPr>
          <a:lstStyle/>
          <a:p>
            <a:pPr marL="0" indent="0">
              <a:buNone/>
            </a:pPr>
            <a:r>
              <a:rPr lang="en-US" sz="1800" b="1" dirty="0"/>
              <a:t>Memory Allocation Process</a:t>
            </a:r>
            <a:r>
              <a:rPr lang="en-US" sz="1800" b="1" dirty="0" smtClean="0"/>
              <a:t>:</a:t>
            </a:r>
            <a:endParaRPr lang="en-US" sz="1800" b="1" dirty="0" smtClean="0"/>
          </a:p>
          <a:p>
            <a:pPr marL="0" indent="0">
              <a:buNone/>
            </a:pPr>
            <a:r>
              <a:rPr lang="en-US" sz="1800" b="1" dirty="0" smtClean="0"/>
              <a:t>Method </a:t>
            </a:r>
            <a:r>
              <a:rPr lang="en-US" sz="1800" b="1" dirty="0"/>
              <a:t>Area (</a:t>
            </a:r>
            <a:r>
              <a:rPr lang="en-US" sz="1800" b="1" dirty="0" err="1"/>
              <a:t>Metaspace</a:t>
            </a:r>
            <a:r>
              <a:rPr lang="en-US" sz="1800" b="1" dirty="0"/>
              <a:t>): </a:t>
            </a:r>
            <a:r>
              <a:rPr lang="en-US" sz="1800" dirty="0"/>
              <a:t>The static variable x and the class-level information of Example are stored in the </a:t>
            </a:r>
            <a:r>
              <a:rPr lang="en-US" sz="1800" dirty="0" err="1"/>
              <a:t>Metaspace</a:t>
            </a:r>
            <a:r>
              <a:rPr lang="en-US" sz="1800" dirty="0" smtClean="0"/>
              <a:t>.</a:t>
            </a:r>
            <a:endParaRPr lang="en-US" sz="1800" dirty="0" smtClean="0"/>
          </a:p>
          <a:p>
            <a:pPr marL="0" indent="0">
              <a:buNone/>
            </a:pPr>
            <a:r>
              <a:rPr lang="en-US" sz="1800" b="1" dirty="0" smtClean="0"/>
              <a:t>Heap</a:t>
            </a:r>
            <a:r>
              <a:rPr lang="en-US" sz="1800" b="1" dirty="0"/>
              <a:t>: </a:t>
            </a:r>
            <a:r>
              <a:rPr lang="en-US" sz="1800" dirty="0"/>
              <a:t>The object </a:t>
            </a:r>
            <a:r>
              <a:rPr lang="en-US" sz="1800" dirty="0" err="1"/>
              <a:t>obj</a:t>
            </a:r>
            <a:r>
              <a:rPr lang="en-US" sz="1800" dirty="0"/>
              <a:t> is created on the heap, and its instance variable y is stored here as well</a:t>
            </a:r>
            <a:r>
              <a:rPr lang="en-US" sz="1800" dirty="0" smtClean="0"/>
              <a:t>.</a:t>
            </a:r>
            <a:endParaRPr lang="en-US" sz="1800" dirty="0" smtClean="0"/>
          </a:p>
          <a:p>
            <a:pPr marL="0" indent="0">
              <a:buNone/>
            </a:pPr>
            <a:r>
              <a:rPr lang="en-US" sz="1800" b="1" dirty="0" smtClean="0"/>
              <a:t>Stack</a:t>
            </a:r>
            <a:r>
              <a:rPr lang="en-US" sz="1800" b="1" dirty="0"/>
              <a:t>: </a:t>
            </a:r>
            <a:r>
              <a:rPr lang="en-US" sz="1800" dirty="0"/>
              <a:t>The reference to the object </a:t>
            </a:r>
            <a:r>
              <a:rPr lang="en-US" sz="1800" dirty="0" err="1"/>
              <a:t>obj</a:t>
            </a:r>
            <a:r>
              <a:rPr lang="en-US" sz="1800" dirty="0"/>
              <a:t> and the local variable </a:t>
            </a:r>
            <a:r>
              <a:rPr lang="en-US" sz="1800" dirty="0" err="1"/>
              <a:t>localVariable</a:t>
            </a:r>
            <a:r>
              <a:rPr lang="en-US" sz="1800" dirty="0"/>
              <a:t> in the </a:t>
            </a:r>
            <a:r>
              <a:rPr lang="en-US" sz="1800" dirty="0" err="1"/>
              <a:t>instanceMethod</a:t>
            </a:r>
            <a:r>
              <a:rPr lang="en-US" sz="1800" dirty="0"/>
              <a:t> are stored in the stack.</a:t>
            </a:r>
            <a:endParaRPr lang="en-IN" sz="1800" dirty="0"/>
          </a:p>
        </p:txBody>
      </p:sp>
      <p:sp>
        <p:nvSpPr>
          <p:cNvPr id="4" name="Content Placeholder 2"/>
          <p:cNvSpPr txBox="1"/>
          <p:nvPr/>
        </p:nvSpPr>
        <p:spPr>
          <a:xfrm>
            <a:off x="6350000" y="772160"/>
            <a:ext cx="4185920" cy="6176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endParaRPr lang="en-IN" sz="1600" dirty="0"/>
          </a:p>
        </p:txBody>
      </p:sp>
      <p:sp>
        <p:nvSpPr>
          <p:cNvPr id="5" name="Content Placeholder 2"/>
          <p:cNvSpPr txBox="1"/>
          <p:nvPr/>
        </p:nvSpPr>
        <p:spPr>
          <a:xfrm>
            <a:off x="335280" y="314960"/>
            <a:ext cx="8117840" cy="6176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r>
              <a:rPr lang="en-IN" sz="1600" dirty="0" smtClean="0"/>
              <a:t>class Example {</a:t>
            </a:r>
            <a:endParaRPr lang="en-IN" sz="1600" dirty="0" smtClean="0"/>
          </a:p>
          <a:p>
            <a:pPr marL="0" indent="0">
              <a:buFont typeface="Arial" panose="020B0604020202090204" pitchFamily="34" charset="0"/>
              <a:buNone/>
            </a:pPr>
            <a:r>
              <a:rPr lang="en-IN" sz="1600" dirty="0" smtClean="0"/>
              <a:t>    static </a:t>
            </a:r>
            <a:r>
              <a:rPr lang="en-IN" sz="1600" dirty="0" err="1" smtClean="0"/>
              <a:t>int</a:t>
            </a:r>
            <a:r>
              <a:rPr lang="en-IN" sz="1600" dirty="0" smtClean="0"/>
              <a:t> x = 10; 	// Stored in Method Area (</a:t>
            </a:r>
            <a:r>
              <a:rPr lang="en-IN" sz="1600" dirty="0" err="1" smtClean="0"/>
              <a:t>Metaspace</a:t>
            </a:r>
            <a:r>
              <a:rPr lang="en-IN" sz="1600" dirty="0" smtClean="0"/>
              <a:t>)</a:t>
            </a:r>
            <a:endParaRPr lang="en-IN" sz="1600" dirty="0" smtClean="0"/>
          </a:p>
          <a:p>
            <a:pPr marL="0" indent="0">
              <a:buFont typeface="Arial" panose="020B0604020202090204" pitchFamily="34" charset="0"/>
              <a:buNone/>
            </a:pPr>
            <a:r>
              <a:rPr lang="en-IN" sz="1600" dirty="0" smtClean="0"/>
              <a:t>    </a:t>
            </a:r>
            <a:r>
              <a:rPr lang="en-IN" sz="1600" dirty="0" err="1" smtClean="0"/>
              <a:t>int</a:t>
            </a:r>
            <a:r>
              <a:rPr lang="en-IN" sz="1600" dirty="0" smtClean="0"/>
              <a:t> y; 	// Instance variable, stored in Heap</a:t>
            </a:r>
            <a:endParaRPr lang="en-IN" sz="1600" dirty="0" smtClean="0"/>
          </a:p>
          <a:p>
            <a:pPr marL="0" indent="0">
              <a:buFont typeface="Arial" panose="020B0604020202090204" pitchFamily="34" charset="0"/>
              <a:buNone/>
            </a:pPr>
            <a:r>
              <a:rPr lang="en-IN" sz="1600" dirty="0" smtClean="0"/>
              <a:t>    public Example(</a:t>
            </a:r>
            <a:r>
              <a:rPr lang="en-IN" sz="1600" dirty="0" err="1" smtClean="0"/>
              <a:t>int</a:t>
            </a:r>
            <a:r>
              <a:rPr lang="en-IN" sz="1600" dirty="0" smtClean="0"/>
              <a:t> y) {</a:t>
            </a:r>
            <a:endParaRPr lang="en-IN" sz="1600" dirty="0" smtClean="0"/>
          </a:p>
          <a:p>
            <a:pPr marL="0" indent="0">
              <a:buFont typeface="Arial" panose="020B0604020202090204" pitchFamily="34" charset="0"/>
              <a:buNone/>
            </a:pPr>
            <a:r>
              <a:rPr lang="en-IN" sz="1600" dirty="0" smtClean="0"/>
              <a:t>        </a:t>
            </a:r>
            <a:r>
              <a:rPr lang="en-IN" sz="1600" dirty="0" err="1" smtClean="0"/>
              <a:t>this.y</a:t>
            </a:r>
            <a:r>
              <a:rPr lang="en-IN" sz="1600" dirty="0" smtClean="0"/>
              <a:t> = y;</a:t>
            </a:r>
            <a:endParaRPr lang="en-IN" sz="1600" dirty="0" smtClean="0"/>
          </a:p>
          <a:p>
            <a:pPr marL="0" indent="0">
              <a:buFont typeface="Arial" panose="020B0604020202090204" pitchFamily="34" charset="0"/>
              <a:buNone/>
            </a:pPr>
            <a:r>
              <a:rPr lang="en-IN" sz="1600" dirty="0" smtClean="0"/>
              <a:t>    }</a:t>
            </a:r>
            <a:endParaRPr lang="en-IN" sz="1600" dirty="0" smtClean="0"/>
          </a:p>
          <a:p>
            <a:pPr marL="0" indent="0">
              <a:buFont typeface="Arial" panose="020B0604020202090204" pitchFamily="34" charset="0"/>
              <a:buNone/>
            </a:pPr>
            <a:r>
              <a:rPr lang="en-IN" sz="1600" dirty="0" smtClean="0"/>
              <a:t>    public static void </a:t>
            </a:r>
            <a:r>
              <a:rPr lang="en-IN" sz="1600" dirty="0" err="1" smtClean="0"/>
              <a:t>staticMethod</a:t>
            </a:r>
            <a:r>
              <a:rPr lang="en-IN" sz="1600" dirty="0" smtClean="0"/>
              <a:t>() {</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("Static method called");</a:t>
            </a:r>
            <a:endParaRPr lang="en-IN" sz="1600" dirty="0" smtClean="0"/>
          </a:p>
          <a:p>
            <a:pPr marL="0" indent="0">
              <a:buFont typeface="Arial" panose="020B0604020202090204" pitchFamily="34" charset="0"/>
              <a:buNone/>
            </a:pPr>
            <a:r>
              <a:rPr lang="en-IN" sz="1600" dirty="0" smtClean="0"/>
              <a:t>    }</a:t>
            </a:r>
            <a:endParaRPr lang="en-IN" sz="1600" dirty="0" smtClean="0"/>
          </a:p>
          <a:p>
            <a:pPr marL="0" indent="0">
              <a:buFont typeface="Arial" panose="020B0604020202090204" pitchFamily="34" charset="0"/>
              <a:buNone/>
            </a:pPr>
            <a:r>
              <a:rPr lang="en-IN" sz="1600" dirty="0" smtClean="0"/>
              <a:t>    public void </a:t>
            </a:r>
            <a:r>
              <a:rPr lang="en-IN" sz="1600" dirty="0" err="1" smtClean="0"/>
              <a:t>instanceMethod</a:t>
            </a:r>
            <a:r>
              <a:rPr lang="en-IN" sz="1600" dirty="0" smtClean="0"/>
              <a:t>() {</a:t>
            </a:r>
            <a:endParaRPr lang="en-IN" sz="1600" dirty="0" smtClean="0"/>
          </a:p>
          <a:p>
            <a:pPr marL="0" indent="0">
              <a:buFont typeface="Arial" panose="020B0604020202090204" pitchFamily="34" charset="0"/>
              <a:buNone/>
            </a:pPr>
            <a:r>
              <a:rPr lang="en-IN" sz="1600" dirty="0" smtClean="0"/>
              <a:t>        </a:t>
            </a:r>
            <a:r>
              <a:rPr lang="en-IN" sz="1600" dirty="0" err="1" smtClean="0"/>
              <a:t>int</a:t>
            </a:r>
            <a:r>
              <a:rPr lang="en-IN" sz="1600" dirty="0" smtClean="0"/>
              <a:t> </a:t>
            </a:r>
            <a:r>
              <a:rPr lang="en-IN" sz="1600" dirty="0" err="1" smtClean="0"/>
              <a:t>localVariable</a:t>
            </a:r>
            <a:r>
              <a:rPr lang="en-IN" sz="1600" dirty="0" smtClean="0"/>
              <a:t> = 20; 	// Local variable, stored in Stack</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("Instance method called: " + y + ", " + </a:t>
            </a:r>
            <a:r>
              <a:rPr lang="en-IN" sz="1600" dirty="0" err="1" smtClean="0"/>
              <a:t>localVariable</a:t>
            </a:r>
            <a:r>
              <a:rPr lang="en-IN" sz="1600" dirty="0" smtClean="0"/>
              <a:t>);</a:t>
            </a:r>
            <a:endParaRPr lang="en-IN" sz="1600" dirty="0" smtClean="0"/>
          </a:p>
          <a:p>
            <a:pPr marL="0" indent="0">
              <a:buFont typeface="Arial" panose="020B0604020202090204" pitchFamily="34" charset="0"/>
              <a:buNone/>
            </a:pPr>
            <a:r>
              <a:rPr lang="en-IN" sz="1600" dirty="0" smtClean="0"/>
              <a:t>    }</a:t>
            </a:r>
            <a:endParaRPr lang="en-IN" sz="1600" dirty="0" smtClean="0"/>
          </a:p>
          <a:p>
            <a:pPr marL="0" indent="0">
              <a:buFont typeface="Arial" panose="020B0604020202090204" pitchFamily="34" charset="0"/>
              <a:buNone/>
            </a:pPr>
            <a:r>
              <a:rPr lang="en-IN" sz="1600" dirty="0" smtClean="0"/>
              <a:t>    public static void main(String[] </a:t>
            </a:r>
            <a:r>
              <a:rPr lang="en-IN" sz="1600" dirty="0" err="1" smtClean="0"/>
              <a:t>args</a:t>
            </a:r>
            <a:r>
              <a:rPr lang="en-IN" sz="1600" dirty="0" smtClean="0"/>
              <a:t>) {</a:t>
            </a:r>
            <a:endParaRPr lang="en-IN" sz="1600" dirty="0" smtClean="0"/>
          </a:p>
          <a:p>
            <a:pPr marL="0" indent="0">
              <a:buFont typeface="Arial" panose="020B0604020202090204" pitchFamily="34" charset="0"/>
              <a:buNone/>
            </a:pPr>
            <a:r>
              <a:rPr lang="en-IN" sz="1600" dirty="0" smtClean="0"/>
              <a:t>        Example </a:t>
            </a:r>
            <a:r>
              <a:rPr lang="en-IN" sz="1600" dirty="0" err="1" smtClean="0"/>
              <a:t>obj</a:t>
            </a:r>
            <a:r>
              <a:rPr lang="en-IN" sz="1600" dirty="0" smtClean="0"/>
              <a:t> = new Example(30); /	/ </a:t>
            </a:r>
            <a:r>
              <a:rPr lang="en-IN" sz="1600" dirty="0" err="1" smtClean="0"/>
              <a:t>obj</a:t>
            </a:r>
            <a:r>
              <a:rPr lang="en-IN" sz="1600" dirty="0" smtClean="0"/>
              <a:t> stored in Heap, reference stored in Stack</a:t>
            </a:r>
            <a:endParaRPr lang="en-IN" sz="1600" dirty="0" smtClean="0"/>
          </a:p>
          <a:p>
            <a:pPr marL="0" indent="0">
              <a:buFont typeface="Arial" panose="020B0604020202090204" pitchFamily="34" charset="0"/>
              <a:buNone/>
            </a:pPr>
            <a:r>
              <a:rPr lang="en-IN" sz="1600" dirty="0" smtClean="0"/>
              <a:t>        </a:t>
            </a:r>
            <a:r>
              <a:rPr lang="en-IN" sz="1600" dirty="0" err="1" smtClean="0"/>
              <a:t>obj.instanceMethod</a:t>
            </a:r>
            <a:r>
              <a:rPr lang="en-IN" sz="1600" dirty="0" smtClean="0"/>
              <a:t>(); 	// Method execution creates a stack frame with local variables</a:t>
            </a:r>
            <a:endParaRPr lang="en-IN" sz="1600" dirty="0" smtClean="0"/>
          </a:p>
          <a:p>
            <a:pPr marL="0" indent="0">
              <a:buFont typeface="Arial" panose="020B0604020202090204" pitchFamily="34" charset="0"/>
              <a:buNone/>
            </a:pPr>
            <a:r>
              <a:rPr lang="en-IN" sz="1600" dirty="0" smtClean="0"/>
              <a:t>        </a:t>
            </a:r>
            <a:r>
              <a:rPr lang="en-IN" sz="1600" dirty="0" err="1" smtClean="0"/>
              <a:t>Example.staticMethod</a:t>
            </a:r>
            <a:r>
              <a:rPr lang="en-IN" sz="1600" dirty="0" smtClean="0"/>
              <a:t>(); 	// Static method executed without instance</a:t>
            </a:r>
            <a:endParaRPr lang="en-IN" sz="1600" dirty="0" smtClean="0"/>
          </a:p>
          <a:p>
            <a:pPr marL="0" indent="0">
              <a:buFont typeface="Arial" panose="020B0604020202090204" pitchFamily="34" charset="0"/>
              <a:buNone/>
            </a:pPr>
            <a:r>
              <a:rPr lang="en-IN" sz="1600" dirty="0" smtClean="0"/>
              <a:t>    }</a:t>
            </a:r>
            <a:endParaRPr lang="en-IN" sz="1600" dirty="0" smtClean="0"/>
          </a:p>
          <a:p>
            <a:pPr marL="0" indent="0">
              <a:buFont typeface="Arial" panose="020B0604020202090204" pitchFamily="34" charset="0"/>
              <a:buNone/>
            </a:pPr>
            <a:r>
              <a:rPr lang="en-IN" sz="1600" dirty="0" smtClean="0"/>
              <a:t>}</a:t>
            </a:r>
            <a:endParaRPr lang="en-IN" sz="1600" dirty="0" smtClean="0"/>
          </a:p>
          <a:p>
            <a:pPr marL="0" indent="0">
              <a:buFont typeface="Arial" panose="020B0604020202090204" pitchFamily="34" charset="0"/>
              <a:buNone/>
            </a:pPr>
            <a:endParaRPr lang="en-IN" sz="16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075"/>
          </a:xfrm>
        </p:spPr>
        <p:txBody>
          <a:bodyPr>
            <a:normAutofit fontScale="90000"/>
          </a:bodyPr>
          <a:lstStyle/>
          <a:p>
            <a:r>
              <a:rPr lang="en-IN" dirty="0" smtClean="0"/>
              <a:t>Garbage collection</a:t>
            </a:r>
            <a:endParaRPr lang="en-IN" dirty="0"/>
          </a:p>
        </p:txBody>
      </p:sp>
      <p:sp>
        <p:nvSpPr>
          <p:cNvPr id="3" name="Content Placeholder 2"/>
          <p:cNvSpPr>
            <a:spLocks noGrp="1"/>
          </p:cNvSpPr>
          <p:nvPr>
            <p:ph idx="1"/>
          </p:nvPr>
        </p:nvSpPr>
        <p:spPr>
          <a:xfrm>
            <a:off x="274320" y="965200"/>
            <a:ext cx="11684000" cy="5720079"/>
          </a:xfrm>
        </p:spPr>
        <p:txBody>
          <a:bodyPr>
            <a:normAutofit/>
          </a:bodyPr>
          <a:lstStyle/>
          <a:p>
            <a:r>
              <a:rPr lang="en-US" sz="2400" dirty="0"/>
              <a:t>In Java, memory management is primarily handled through </a:t>
            </a:r>
            <a:r>
              <a:rPr lang="en-US" sz="2400" b="1" dirty="0"/>
              <a:t>automatic garbage collection</a:t>
            </a:r>
            <a:r>
              <a:rPr lang="en-US" sz="2400" dirty="0"/>
              <a:t>, which means that the developer doesn’t need to explicitly manage memory allocation and deallocation. </a:t>
            </a:r>
            <a:endParaRPr lang="en-US" sz="2400" dirty="0" smtClean="0"/>
          </a:p>
          <a:p>
            <a:r>
              <a:rPr lang="en-US" sz="2400" dirty="0" smtClean="0"/>
              <a:t>The </a:t>
            </a:r>
            <a:r>
              <a:rPr lang="en-US" sz="2400" b="1" dirty="0"/>
              <a:t>garbage collector (GC)</a:t>
            </a:r>
            <a:r>
              <a:rPr lang="en-US" sz="2400" dirty="0"/>
              <a:t> is a part of the Java </a:t>
            </a:r>
            <a:r>
              <a:rPr lang="en-US" sz="2400" b="1" dirty="0"/>
              <a:t>JVM (Java Virtual Machine)</a:t>
            </a:r>
            <a:r>
              <a:rPr lang="en-US" sz="2400" dirty="0"/>
              <a:t> responsible for automatically reclaiming memory that is no longer in use by the program, i.e., memory occupied by objects that are no longer reachable by any active part of the application</a:t>
            </a:r>
            <a:r>
              <a:rPr lang="en-US" sz="2400" dirty="0" smtClean="0"/>
              <a:t>.</a:t>
            </a:r>
            <a:endParaRPr lang="en-US" sz="2400" dirty="0" smtClean="0"/>
          </a:p>
          <a:p>
            <a:r>
              <a:rPr lang="en-US" sz="2400" dirty="0" smtClean="0"/>
              <a:t>Garbage </a:t>
            </a:r>
            <a:r>
              <a:rPr lang="en-US" sz="2400" dirty="0"/>
              <a:t>collection techniques include:</a:t>
            </a:r>
            <a:endParaRPr lang="en-US" sz="2400" dirty="0"/>
          </a:p>
          <a:p>
            <a:r>
              <a:rPr lang="en-US" sz="2400" b="1" dirty="0"/>
              <a:t>Minor GC</a:t>
            </a:r>
            <a:r>
              <a:rPr lang="en-US" sz="2400" dirty="0"/>
              <a:t>: Focuses on the </a:t>
            </a:r>
            <a:r>
              <a:rPr lang="en-US" sz="2400" b="1" dirty="0"/>
              <a:t>Young </a:t>
            </a:r>
            <a:r>
              <a:rPr lang="en-US" sz="2400" b="1" dirty="0" smtClean="0"/>
              <a:t>Generation.</a:t>
            </a:r>
            <a:endParaRPr lang="en-US" sz="2400" b="1" dirty="0" smtClean="0"/>
          </a:p>
          <a:p>
            <a:pPr lvl="1"/>
            <a:r>
              <a:rPr lang="en-US" sz="2000" dirty="0"/>
              <a:t>The young generation is where new objects are allocated.</a:t>
            </a:r>
            <a:endParaRPr lang="en-US" sz="2000" dirty="0"/>
          </a:p>
          <a:p>
            <a:r>
              <a:rPr lang="en-US" sz="2400" b="1" dirty="0"/>
              <a:t>Major GC</a:t>
            </a:r>
            <a:r>
              <a:rPr lang="en-US" sz="2400" dirty="0"/>
              <a:t>: Focuses on the </a:t>
            </a:r>
            <a:r>
              <a:rPr lang="en-US" sz="2400" b="1" dirty="0"/>
              <a:t>Old Generation</a:t>
            </a:r>
            <a:r>
              <a:rPr lang="en-US" sz="2400" dirty="0" smtClean="0"/>
              <a:t>.</a:t>
            </a:r>
            <a:endParaRPr lang="en-US" sz="2400" dirty="0" smtClean="0"/>
          </a:p>
          <a:p>
            <a:pPr lvl="1"/>
            <a:r>
              <a:rPr lang="en-US" sz="2000" dirty="0"/>
              <a:t>If an object survives several garbage collection cycles, it is promoted to the </a:t>
            </a:r>
            <a:r>
              <a:rPr lang="en-US" sz="2000" b="1" dirty="0"/>
              <a:t>Old Generation</a:t>
            </a:r>
            <a:r>
              <a:rPr lang="en-US" sz="2000" dirty="0" smtClean="0"/>
              <a:t>.</a:t>
            </a:r>
            <a:endParaRPr lang="en-US" sz="2000" dirty="0" smtClean="0"/>
          </a:p>
          <a:p>
            <a:pPr lvl="1"/>
            <a:r>
              <a:rPr lang="en-US" sz="2000" dirty="0" smtClean="0"/>
              <a:t>This </a:t>
            </a:r>
            <a:r>
              <a:rPr lang="en-US" sz="2000" dirty="0"/>
              <a:t>region holds objects that have survived several garbage collection cycles in the young generation and are considered long-lived.</a:t>
            </a:r>
            <a:endParaRPr lang="en-US" sz="2000" dirty="0"/>
          </a:p>
          <a:p>
            <a:endParaRPr lang="en-IN" sz="2400" dirty="0"/>
          </a:p>
        </p:txBody>
      </p:sp>
      <p:sp>
        <p:nvSpPr>
          <p:cNvPr id="4" name="Rectangle 3"/>
          <p:cNvSpPr/>
          <p:nvPr/>
        </p:nvSpPr>
        <p:spPr>
          <a:xfrm>
            <a:off x="345440" y="5958116"/>
            <a:ext cx="11257280" cy="646331"/>
          </a:xfrm>
          <a:prstGeom prst="rect">
            <a:avLst/>
          </a:prstGeom>
        </p:spPr>
        <p:txBody>
          <a:bodyPr wrap="square">
            <a:spAutoFit/>
          </a:bodyPr>
          <a:lstStyle/>
          <a:p>
            <a:r>
              <a:rPr lang="en-US" b="1" i="1" dirty="0">
                <a:solidFill>
                  <a:srgbClr val="273239"/>
                </a:solidFill>
                <a:latin typeface="Nunito"/>
              </a:rPr>
              <a:t>Note:</a:t>
            </a:r>
            <a:r>
              <a:rPr lang="en-US" i="1" dirty="0">
                <a:solidFill>
                  <a:srgbClr val="273239"/>
                </a:solidFill>
                <a:latin typeface="Nunito"/>
              </a:rPr>
              <a:t> </a:t>
            </a:r>
            <a:r>
              <a:rPr lang="en-US" b="1" i="1" dirty="0" err="1">
                <a:solidFill>
                  <a:srgbClr val="273239"/>
                </a:solidFill>
                <a:latin typeface="Nunito"/>
              </a:rPr>
              <a:t>System.gc</a:t>
            </a:r>
            <a:r>
              <a:rPr lang="en-US" b="1" i="1" dirty="0">
                <a:solidFill>
                  <a:srgbClr val="273239"/>
                </a:solidFill>
                <a:latin typeface="Nunito"/>
              </a:rPr>
              <a:t>()</a:t>
            </a:r>
            <a:r>
              <a:rPr lang="en-US" i="1" dirty="0">
                <a:solidFill>
                  <a:srgbClr val="273239"/>
                </a:solidFill>
                <a:latin typeface="Nunito"/>
              </a:rPr>
              <a:t> and </a:t>
            </a:r>
            <a:r>
              <a:rPr lang="en-US" b="1" i="1" dirty="0" err="1">
                <a:solidFill>
                  <a:srgbClr val="273239"/>
                </a:solidFill>
                <a:latin typeface="Nunito"/>
              </a:rPr>
              <a:t>Runtime.gc</a:t>
            </a:r>
            <a:r>
              <a:rPr lang="en-US" b="1" i="1" dirty="0">
                <a:solidFill>
                  <a:srgbClr val="273239"/>
                </a:solidFill>
                <a:latin typeface="Nunito"/>
              </a:rPr>
              <a:t>()</a:t>
            </a:r>
            <a:r>
              <a:rPr lang="en-US" i="1" dirty="0">
                <a:solidFill>
                  <a:srgbClr val="273239"/>
                </a:solidFill>
                <a:latin typeface="Nunito"/>
              </a:rPr>
              <a:t> are the methods which requests for Garbage collection to JVM explicitly but it doesn’t ensures garbage collection as the final decision of garbage collection is of JVM only.</a:t>
            </a:r>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Constructor</a:t>
            </a:r>
            <a:endParaRPr lang="en-IN" dirty="0"/>
          </a:p>
        </p:txBody>
      </p:sp>
      <p:sp>
        <p:nvSpPr>
          <p:cNvPr id="3" name="Content Placeholder 2"/>
          <p:cNvSpPr>
            <a:spLocks noGrp="1"/>
          </p:cNvSpPr>
          <p:nvPr>
            <p:ph idx="1"/>
          </p:nvPr>
        </p:nvSpPr>
        <p:spPr/>
        <p:txBody>
          <a:bodyPr/>
          <a:lstStyle/>
          <a:p>
            <a:r>
              <a:rPr lang="en-US" dirty="0"/>
              <a:t>A constructor in Java is a </a:t>
            </a:r>
            <a:r>
              <a:rPr lang="en-US" b="1" dirty="0"/>
              <a:t>special method </a:t>
            </a:r>
            <a:r>
              <a:rPr lang="en-US" dirty="0"/>
              <a:t>that is used to initialize objects</a:t>
            </a:r>
            <a:r>
              <a:rPr lang="en-US" dirty="0" smtClean="0"/>
              <a:t>.</a:t>
            </a:r>
            <a:endParaRPr lang="en-US" dirty="0" smtClean="0"/>
          </a:p>
          <a:p>
            <a:r>
              <a:rPr lang="en-US" dirty="0" smtClean="0"/>
              <a:t>Every </a:t>
            </a:r>
            <a:r>
              <a:rPr lang="en-US" dirty="0"/>
              <a:t>time an object is created using the new() keyword, at least one constructor is called</a:t>
            </a:r>
            <a:r>
              <a:rPr lang="en-US" dirty="0" smtClean="0"/>
              <a:t>.</a:t>
            </a:r>
            <a:endParaRPr lang="en-US" dirty="0" smtClean="0"/>
          </a:p>
          <a:p>
            <a:r>
              <a:rPr lang="en-US" dirty="0"/>
              <a:t>The constructor(s) of a class must have the same name as the class name in which it resides.</a:t>
            </a:r>
            <a:endParaRPr lang="en-US" dirty="0"/>
          </a:p>
          <a:p>
            <a:r>
              <a:rPr lang="en-US" dirty="0"/>
              <a:t>Access modifiers can be used in constructor declaration to control its access </a:t>
            </a:r>
            <a:r>
              <a:rPr lang="en-US" dirty="0" err="1"/>
              <a:t>i.e</a:t>
            </a:r>
            <a:r>
              <a:rPr lang="en-US" dirty="0"/>
              <a:t> which other class can call the constructor.</a:t>
            </a:r>
            <a:endParaRPr lang="en-US" dirty="0"/>
          </a:p>
          <a:p>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5" y="110836"/>
            <a:ext cx="7481455" cy="6308437"/>
          </a:xfrm>
        </p:spPr>
        <p:txBody>
          <a:bodyPr>
            <a:noAutofit/>
          </a:bodyPr>
          <a:lstStyle/>
          <a:p>
            <a:pPr marL="0" indent="0">
              <a:buNone/>
            </a:pPr>
            <a:r>
              <a:rPr lang="en-US" sz="1600" dirty="0"/>
              <a:t>class Person {</a:t>
            </a:r>
            <a:endParaRPr lang="en-US" sz="1600" dirty="0"/>
          </a:p>
          <a:p>
            <a:pPr marL="0" indent="0">
              <a:buNone/>
            </a:pPr>
            <a:r>
              <a:rPr lang="en-US" sz="1600" dirty="0"/>
              <a:t>    String name;</a:t>
            </a:r>
            <a:endParaRPr lang="en-US" sz="1600" dirty="0"/>
          </a:p>
          <a:p>
            <a:pPr marL="0" indent="0">
              <a:buNone/>
            </a:pPr>
            <a:r>
              <a:rPr lang="en-US" sz="1600" dirty="0"/>
              <a:t>    </a:t>
            </a:r>
            <a:r>
              <a:rPr lang="en-US" sz="1600" dirty="0" err="1"/>
              <a:t>int</a:t>
            </a:r>
            <a:r>
              <a:rPr lang="en-US" sz="1600" dirty="0"/>
              <a:t> age</a:t>
            </a:r>
            <a:r>
              <a:rPr lang="en-US" sz="1600" dirty="0" smtClean="0"/>
              <a:t>;</a:t>
            </a:r>
            <a:endParaRPr lang="en-US" sz="1600" dirty="0"/>
          </a:p>
          <a:p>
            <a:pPr marL="0" indent="0">
              <a:buNone/>
            </a:pPr>
            <a:r>
              <a:rPr lang="en-US" sz="1600" dirty="0" smtClean="0"/>
              <a:t>public </a:t>
            </a:r>
            <a:r>
              <a:rPr lang="en-US" sz="1600" dirty="0"/>
              <a:t>Person(String name, </a:t>
            </a:r>
            <a:r>
              <a:rPr lang="en-US" sz="1600" dirty="0" err="1"/>
              <a:t>int</a:t>
            </a:r>
            <a:r>
              <a:rPr lang="en-US" sz="1600" dirty="0"/>
              <a:t> age) {</a:t>
            </a:r>
            <a:endParaRPr lang="en-US" sz="1600" dirty="0"/>
          </a:p>
          <a:p>
            <a:pPr marL="0" indent="0">
              <a:buNone/>
            </a:pPr>
            <a:r>
              <a:rPr lang="en-US" sz="1600" dirty="0"/>
              <a:t>        this.name = name;  </a:t>
            </a:r>
            <a:endParaRPr lang="en-US" sz="1600" dirty="0"/>
          </a:p>
          <a:p>
            <a:pPr marL="0" indent="0">
              <a:buNone/>
            </a:pPr>
            <a:r>
              <a:rPr lang="en-US" sz="1600" dirty="0"/>
              <a:t>        </a:t>
            </a:r>
            <a:r>
              <a:rPr lang="en-US" sz="1600" dirty="0" err="1"/>
              <a:t>this.age</a:t>
            </a:r>
            <a:r>
              <a:rPr lang="en-US" sz="1600" dirty="0"/>
              <a:t> = age; </a:t>
            </a:r>
            <a:endParaRPr lang="en-US" sz="1600" dirty="0" smtClean="0"/>
          </a:p>
          <a:p>
            <a:pPr marL="0" indent="0">
              <a:buNone/>
            </a:pPr>
            <a:r>
              <a:rPr lang="en-US" sz="1600" dirty="0" smtClean="0"/>
              <a:t>}</a:t>
            </a:r>
            <a:endParaRPr lang="en-US" sz="1600" dirty="0" smtClean="0"/>
          </a:p>
          <a:p>
            <a:pPr marL="0" indent="0">
              <a:buNone/>
            </a:pPr>
            <a:r>
              <a:rPr lang="en-US" sz="1600" dirty="0" smtClean="0"/>
              <a:t>public </a:t>
            </a:r>
            <a:r>
              <a:rPr lang="en-US" sz="1600" dirty="0"/>
              <a:t>void </a:t>
            </a:r>
            <a:r>
              <a:rPr lang="en-US" sz="1600" dirty="0" err="1"/>
              <a:t>displayInfo</a:t>
            </a:r>
            <a:r>
              <a:rPr lang="en-US" sz="1600" dirty="0"/>
              <a:t>() {</a:t>
            </a:r>
            <a:endParaRPr lang="en-US" sz="1600" dirty="0"/>
          </a:p>
          <a:p>
            <a:pPr marL="0" indent="0">
              <a:buNone/>
            </a:pPr>
            <a:r>
              <a:rPr lang="en-US" sz="1600" dirty="0"/>
              <a:t>        </a:t>
            </a:r>
            <a:r>
              <a:rPr lang="en-US" sz="1600" dirty="0" err="1"/>
              <a:t>System.out.println</a:t>
            </a:r>
            <a:r>
              <a:rPr lang="en-US" sz="1600" dirty="0"/>
              <a:t>("Name: " + name + ", Age: " + age);</a:t>
            </a:r>
            <a:endParaRPr lang="en-US" sz="1600" dirty="0"/>
          </a:p>
          <a:p>
            <a:pPr marL="0" indent="0">
              <a:buNone/>
            </a:pPr>
            <a:r>
              <a:rPr lang="en-US" sz="1600" dirty="0"/>
              <a:t>    }</a:t>
            </a:r>
            <a:endParaRPr lang="en-US" sz="1600" dirty="0"/>
          </a:p>
          <a:p>
            <a:pPr marL="0" indent="0">
              <a:buNone/>
            </a:pPr>
            <a:r>
              <a:rPr lang="en-US" sz="1600" dirty="0" smtClean="0"/>
              <a:t>}</a:t>
            </a:r>
            <a:endParaRPr lang="en-US" sz="1600" dirty="0"/>
          </a:p>
          <a:p>
            <a:pPr marL="0" indent="0">
              <a:buNone/>
            </a:pPr>
            <a:r>
              <a:rPr lang="en-US" sz="1600" dirty="0"/>
              <a:t>public class Main {</a:t>
            </a:r>
            <a:endParaRPr lang="en-US" sz="1600" dirty="0"/>
          </a:p>
          <a:p>
            <a:pPr marL="0" indent="0">
              <a:buNone/>
            </a:pPr>
            <a:r>
              <a:rPr lang="en-US" sz="1600" dirty="0"/>
              <a:t>    public static void main(String[] </a:t>
            </a:r>
            <a:r>
              <a:rPr lang="en-US" sz="1600" dirty="0" err="1"/>
              <a:t>args</a:t>
            </a:r>
            <a:r>
              <a:rPr lang="en-US" sz="1600" dirty="0"/>
              <a:t>) {</a:t>
            </a:r>
            <a:endParaRPr lang="en-US" sz="1600" dirty="0"/>
          </a:p>
          <a:p>
            <a:pPr marL="0" indent="0">
              <a:buNone/>
            </a:pPr>
            <a:r>
              <a:rPr lang="en-US" sz="1600" dirty="0" smtClean="0"/>
              <a:t>        Person </a:t>
            </a:r>
            <a:r>
              <a:rPr lang="en-US" sz="1600" dirty="0"/>
              <a:t>person1 = new Person("Alice", 25);</a:t>
            </a:r>
            <a:endParaRPr lang="en-US" sz="1600" dirty="0"/>
          </a:p>
          <a:p>
            <a:pPr marL="0" indent="0">
              <a:buNone/>
            </a:pPr>
            <a:r>
              <a:rPr lang="en-US" sz="1600" dirty="0"/>
              <a:t>        Person person2 = new Person("Bob", 30</a:t>
            </a:r>
            <a:r>
              <a:rPr lang="en-US" sz="1600" dirty="0" smtClean="0"/>
              <a:t>);</a:t>
            </a:r>
            <a:endParaRPr lang="en-US" sz="1600" dirty="0"/>
          </a:p>
          <a:p>
            <a:pPr marL="0" indent="0">
              <a:buNone/>
            </a:pPr>
            <a:r>
              <a:rPr lang="en-US" sz="1600" dirty="0" smtClean="0"/>
              <a:t>person1.displayInfo</a:t>
            </a:r>
            <a:r>
              <a:rPr lang="en-US" sz="1600" dirty="0"/>
              <a:t>();  </a:t>
            </a:r>
            <a:r>
              <a:rPr lang="en-US" sz="1600" dirty="0" smtClean="0"/>
              <a:t>	// </a:t>
            </a:r>
            <a:r>
              <a:rPr lang="en-US" sz="1600" dirty="0"/>
              <a:t>Output: Name: Alice, Age: 25</a:t>
            </a:r>
            <a:endParaRPr lang="en-US" sz="1600" dirty="0"/>
          </a:p>
          <a:p>
            <a:pPr marL="0" indent="0">
              <a:buNone/>
            </a:pPr>
            <a:r>
              <a:rPr lang="en-US" sz="1600" dirty="0"/>
              <a:t>        person2.displayInfo(); </a:t>
            </a:r>
            <a:r>
              <a:rPr lang="en-US" sz="1600" dirty="0" smtClean="0"/>
              <a:t>	 </a:t>
            </a:r>
            <a:r>
              <a:rPr lang="en-US" sz="1600" dirty="0"/>
              <a:t>// Output: Name: Bob, Age: 30</a:t>
            </a:r>
            <a:endParaRPr lang="en-US" sz="1600" dirty="0"/>
          </a:p>
          <a:p>
            <a:pPr marL="0" indent="0">
              <a:buNone/>
            </a:pPr>
            <a:r>
              <a:rPr lang="en-US" sz="1600" dirty="0"/>
              <a:t>    }</a:t>
            </a:r>
            <a:endParaRPr lang="en-US" sz="1600" dirty="0"/>
          </a:p>
          <a:p>
            <a:pPr marL="0" indent="0">
              <a:buNone/>
            </a:pPr>
            <a:r>
              <a:rPr lang="en-US" sz="1600" dirty="0"/>
              <a:t>}</a:t>
            </a:r>
            <a:endParaRPr lang="en-US" sz="1600" dirty="0"/>
          </a:p>
          <a:p>
            <a:pPr marL="0" indent="0">
              <a:buNone/>
            </a:pPr>
            <a:endParaRPr lang="en-IN" sz="16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Constructors in Java</a:t>
            </a:r>
            <a:br>
              <a:rPr lang="en-US" b="1" dirty="0"/>
            </a:br>
            <a:endParaRPr lang="en-IN" dirty="0"/>
          </a:p>
        </p:txBody>
      </p:sp>
      <p:sp>
        <p:nvSpPr>
          <p:cNvPr id="3" name="Content Placeholder 2"/>
          <p:cNvSpPr>
            <a:spLocks noGrp="1"/>
          </p:cNvSpPr>
          <p:nvPr>
            <p:ph idx="1"/>
          </p:nvPr>
        </p:nvSpPr>
        <p:spPr/>
        <p:txBody>
          <a:bodyPr/>
          <a:lstStyle/>
          <a:p>
            <a:pPr fontAlgn="base"/>
            <a:r>
              <a:rPr lang="en-IN" dirty="0"/>
              <a:t>Default Constructor</a:t>
            </a:r>
            <a:endParaRPr lang="en-IN" dirty="0"/>
          </a:p>
          <a:p>
            <a:pPr fontAlgn="base"/>
            <a:r>
              <a:rPr lang="en-IN" dirty="0"/>
              <a:t>Parameterized Constructor</a:t>
            </a:r>
            <a:endParaRPr lang="en-IN" dirty="0"/>
          </a:p>
          <a:p>
            <a:pPr fontAlgn="base"/>
            <a:r>
              <a:rPr lang="en-IN" dirty="0"/>
              <a:t>Copy Constructor</a:t>
            </a:r>
            <a:endParaRPr lang="en-IN" dirty="0"/>
          </a:p>
          <a:p>
            <a:r>
              <a:rPr lang="en-IN" b="1" dirty="0"/>
              <a:t>Default </a:t>
            </a:r>
            <a:r>
              <a:rPr lang="en-IN" b="1" dirty="0" smtClean="0"/>
              <a:t>Constructor</a:t>
            </a:r>
            <a:endParaRPr lang="en-IN" b="1" dirty="0" smtClean="0"/>
          </a:p>
          <a:p>
            <a:pPr lvl="1"/>
            <a:r>
              <a:rPr lang="en-US" dirty="0"/>
              <a:t>A constructor that has no parameters is known as default the </a:t>
            </a:r>
            <a:r>
              <a:rPr lang="en-US" dirty="0" smtClean="0"/>
              <a:t>constructor.</a:t>
            </a:r>
            <a:endParaRPr lang="en-US" dirty="0" smtClean="0"/>
          </a:p>
          <a:p>
            <a:pPr lvl="1"/>
            <a:r>
              <a:rPr lang="en-US" dirty="0" smtClean="0"/>
              <a:t>The </a:t>
            </a:r>
            <a:r>
              <a:rPr lang="en-US" dirty="0"/>
              <a:t>default constructor can be implicit or explicit. </a:t>
            </a:r>
            <a:endParaRPr lang="en-US" dirty="0" smtClean="0"/>
          </a:p>
          <a:p>
            <a:pPr lvl="1"/>
            <a:r>
              <a:rPr lang="en-US" dirty="0" smtClean="0"/>
              <a:t>If </a:t>
            </a:r>
            <a:r>
              <a:rPr lang="en-US" dirty="0"/>
              <a:t>we don’t define explicitly, we get an implicit default constructor. If we manually write a constructor, the implicit one is </a:t>
            </a:r>
            <a:r>
              <a:rPr lang="en-US" dirty="0" err="1"/>
              <a:t>overridded</a:t>
            </a:r>
            <a:r>
              <a:rPr lang="en-US" dirty="0" smtClean="0"/>
              <a:t>.</a:t>
            </a:r>
            <a:endParaRPr lang="en-US" dirty="0" smtClean="0"/>
          </a:p>
          <a:p>
            <a:pPr lvl="1"/>
            <a:r>
              <a:rPr lang="en-US" b="1" i="1" dirty="0"/>
              <a:t>Note: </a:t>
            </a:r>
            <a:r>
              <a:rPr lang="en-US" i="1" dirty="0"/>
              <a:t>Default constructor provides the default values to the object like 0, null, etc. depending on the type.</a:t>
            </a:r>
            <a:endParaRPr lang="en-US" dirty="0" smtClean="0"/>
          </a:p>
          <a:p>
            <a:pPr lvl="1"/>
            <a:endParaRPr lang="en-IN" b="1" dirty="0"/>
          </a:p>
          <a:p>
            <a:endParaRPr lang="en-I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208107"/>
            <a:ext cx="3142673" cy="1731529"/>
          </a:xfrm>
        </p:spPr>
        <p:txBody>
          <a:bodyPr>
            <a:normAutofit/>
          </a:bodyPr>
          <a:lstStyle/>
          <a:p>
            <a:r>
              <a:rPr lang="en-IN" dirty="0" smtClean="0"/>
              <a:t>Default </a:t>
            </a:r>
            <a:br>
              <a:rPr lang="en-IN" dirty="0" smtClean="0"/>
            </a:br>
            <a:r>
              <a:rPr lang="en-IN" dirty="0" smtClean="0"/>
              <a:t>constructor</a:t>
            </a:r>
            <a:endParaRPr lang="en-IN" dirty="0"/>
          </a:p>
        </p:txBody>
      </p:sp>
      <p:sp>
        <p:nvSpPr>
          <p:cNvPr id="3" name="Content Placeholder 2"/>
          <p:cNvSpPr>
            <a:spLocks noGrp="1"/>
          </p:cNvSpPr>
          <p:nvPr>
            <p:ph idx="1"/>
          </p:nvPr>
        </p:nvSpPr>
        <p:spPr>
          <a:xfrm>
            <a:off x="4285674" y="138545"/>
            <a:ext cx="7804725" cy="6479310"/>
          </a:xfrm>
        </p:spPr>
        <p:txBody>
          <a:bodyPr>
            <a:noAutofit/>
          </a:bodyPr>
          <a:lstStyle/>
          <a:p>
            <a:pPr marL="0" indent="0">
              <a:buNone/>
            </a:pPr>
            <a:r>
              <a:rPr lang="en-IN" sz="1800" dirty="0"/>
              <a:t>class Car {</a:t>
            </a:r>
            <a:endParaRPr lang="en-IN" sz="1800" dirty="0"/>
          </a:p>
          <a:p>
            <a:pPr marL="0" indent="0">
              <a:buNone/>
            </a:pPr>
            <a:r>
              <a:rPr lang="en-IN" sz="1800" dirty="0"/>
              <a:t>    String model;</a:t>
            </a:r>
            <a:endParaRPr lang="en-IN" sz="1800" dirty="0"/>
          </a:p>
          <a:p>
            <a:pPr marL="0" indent="0">
              <a:buNone/>
            </a:pPr>
            <a:r>
              <a:rPr lang="en-IN" sz="1800" dirty="0"/>
              <a:t>    </a:t>
            </a:r>
            <a:r>
              <a:rPr lang="en-IN" sz="1800" dirty="0" err="1"/>
              <a:t>int</a:t>
            </a:r>
            <a:r>
              <a:rPr lang="en-IN" sz="1800" dirty="0"/>
              <a:t> year;</a:t>
            </a:r>
            <a:endParaRPr lang="en-IN" sz="1800" dirty="0"/>
          </a:p>
          <a:p>
            <a:pPr marL="0" indent="0">
              <a:buNone/>
            </a:pPr>
            <a:r>
              <a:rPr lang="en-IN" sz="1800" dirty="0" smtClean="0"/>
              <a:t>public </a:t>
            </a:r>
            <a:r>
              <a:rPr lang="en-IN" sz="1800" dirty="0"/>
              <a:t>Car() {</a:t>
            </a:r>
            <a:endParaRPr lang="en-IN" sz="1800" dirty="0"/>
          </a:p>
          <a:p>
            <a:pPr marL="0" indent="0">
              <a:buNone/>
            </a:pPr>
            <a:r>
              <a:rPr lang="en-IN" sz="1800" dirty="0"/>
              <a:t>        model = "Unknown";</a:t>
            </a:r>
            <a:endParaRPr lang="en-IN" sz="1800" dirty="0"/>
          </a:p>
          <a:p>
            <a:pPr marL="0" indent="0">
              <a:buNone/>
            </a:pPr>
            <a:r>
              <a:rPr lang="en-IN" sz="1800" dirty="0"/>
              <a:t>        year = 2000;</a:t>
            </a:r>
            <a:endParaRPr lang="en-IN" sz="1800" dirty="0"/>
          </a:p>
          <a:p>
            <a:pPr marL="0" indent="0">
              <a:buNone/>
            </a:pPr>
            <a:r>
              <a:rPr lang="en-IN" sz="1800" dirty="0"/>
              <a:t>    </a:t>
            </a:r>
            <a:r>
              <a:rPr lang="en-IN" sz="1800" dirty="0" smtClean="0"/>
              <a:t>}</a:t>
            </a:r>
            <a:endParaRPr lang="en-IN" sz="1800" dirty="0"/>
          </a:p>
          <a:p>
            <a:pPr marL="0" indent="0">
              <a:buNone/>
            </a:pPr>
            <a:r>
              <a:rPr lang="en-IN" sz="1800" dirty="0"/>
              <a:t>    public void </a:t>
            </a:r>
            <a:r>
              <a:rPr lang="en-IN" sz="1800" dirty="0" err="1"/>
              <a:t>displayInfo</a:t>
            </a:r>
            <a:r>
              <a:rPr lang="en-IN" sz="1800" dirty="0"/>
              <a:t>() {</a:t>
            </a:r>
            <a:endParaRPr lang="en-IN" sz="1800" dirty="0"/>
          </a:p>
          <a:p>
            <a:pPr marL="0" indent="0">
              <a:buNone/>
            </a:pPr>
            <a:r>
              <a:rPr lang="en-IN" sz="1800" dirty="0"/>
              <a:t>        </a:t>
            </a:r>
            <a:r>
              <a:rPr lang="en-IN" sz="1800" dirty="0" err="1"/>
              <a:t>System.out.println</a:t>
            </a:r>
            <a:r>
              <a:rPr lang="en-IN" sz="1800" dirty="0"/>
              <a:t>("Car Model: " + model + ", Year: " + year);</a:t>
            </a:r>
            <a:endParaRPr lang="en-IN" sz="1800" dirty="0"/>
          </a:p>
          <a:p>
            <a:pPr marL="0" indent="0">
              <a:buNone/>
            </a:pPr>
            <a:r>
              <a:rPr lang="en-IN" sz="1800" dirty="0"/>
              <a:t>    }</a:t>
            </a:r>
            <a:endParaRPr lang="en-IN" sz="1800" dirty="0"/>
          </a:p>
          <a:p>
            <a:pPr marL="0" indent="0">
              <a:buNone/>
            </a:pPr>
            <a:r>
              <a:rPr lang="en-IN" sz="1800" dirty="0" smtClean="0"/>
              <a:t>}</a:t>
            </a:r>
            <a:endParaRPr lang="en-IN" sz="1800" dirty="0"/>
          </a:p>
          <a:p>
            <a:pPr marL="0" indent="0">
              <a:buNone/>
            </a:pPr>
            <a:r>
              <a:rPr lang="en-IN" sz="1800" dirty="0"/>
              <a:t>public class Main {</a:t>
            </a:r>
            <a:endParaRPr lang="en-IN" sz="1800" dirty="0"/>
          </a:p>
          <a:p>
            <a:pPr marL="0" indent="0">
              <a:buNone/>
            </a:pPr>
            <a:r>
              <a:rPr lang="en-IN" sz="1800" dirty="0"/>
              <a:t>    public static void main(String[] </a:t>
            </a:r>
            <a:r>
              <a:rPr lang="en-IN" sz="1800" dirty="0" err="1"/>
              <a:t>args</a:t>
            </a:r>
            <a:r>
              <a:rPr lang="en-IN" sz="1800" dirty="0"/>
              <a:t>) {</a:t>
            </a:r>
            <a:endParaRPr lang="en-IN" sz="1800" dirty="0"/>
          </a:p>
          <a:p>
            <a:pPr marL="0" indent="0">
              <a:buNone/>
            </a:pPr>
            <a:r>
              <a:rPr lang="en-IN" sz="1800" dirty="0" smtClean="0"/>
              <a:t>         Car </a:t>
            </a:r>
            <a:r>
              <a:rPr lang="en-IN" sz="1800" dirty="0" err="1"/>
              <a:t>myCar</a:t>
            </a:r>
            <a:r>
              <a:rPr lang="en-IN" sz="1800" dirty="0"/>
              <a:t> = new Car();</a:t>
            </a:r>
            <a:endParaRPr lang="en-IN" sz="1800" dirty="0"/>
          </a:p>
          <a:p>
            <a:pPr marL="0" indent="0">
              <a:buNone/>
            </a:pPr>
            <a:r>
              <a:rPr lang="en-IN" sz="1800" dirty="0"/>
              <a:t>        </a:t>
            </a:r>
            <a:r>
              <a:rPr lang="en-IN" sz="1800" dirty="0" err="1"/>
              <a:t>myCar.displayInfo</a:t>
            </a:r>
            <a:r>
              <a:rPr lang="en-IN" sz="1800" dirty="0"/>
              <a:t>();  </a:t>
            </a:r>
            <a:r>
              <a:rPr lang="en-IN" sz="1800" dirty="0" smtClean="0"/>
              <a:t>                 // </a:t>
            </a:r>
            <a:r>
              <a:rPr lang="en-IN" sz="1800" dirty="0"/>
              <a:t>Output: Car Model: Unknown, Year: 2000</a:t>
            </a:r>
            <a:endParaRPr lang="en-IN" sz="1800" dirty="0"/>
          </a:p>
          <a:p>
            <a:pPr marL="0" indent="0">
              <a:buNone/>
            </a:pPr>
            <a:r>
              <a:rPr lang="en-IN" sz="1800" dirty="0"/>
              <a:t>    }</a:t>
            </a:r>
            <a:endParaRPr lang="en-IN" sz="1800" dirty="0"/>
          </a:p>
          <a:p>
            <a:pPr marL="0" indent="0">
              <a:buNone/>
            </a:pPr>
            <a:r>
              <a:rPr lang="en-IN" sz="1800" dirty="0"/>
              <a:t>}</a:t>
            </a:r>
            <a:endParaRPr lang="en-IN" sz="1800" dirty="0"/>
          </a:p>
          <a:p>
            <a:pPr marL="0" indent="0">
              <a:buNone/>
            </a:pPr>
            <a:endParaRPr lang="en-IN" sz="1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5" y="143452"/>
            <a:ext cx="3752273" cy="1325563"/>
          </a:xfrm>
        </p:spPr>
        <p:txBody>
          <a:bodyPr/>
          <a:lstStyle/>
          <a:p>
            <a:r>
              <a:rPr lang="en-IN" dirty="0" smtClean="0"/>
              <a:t>Parametrized constructor</a:t>
            </a:r>
            <a:endParaRPr lang="en-IN" dirty="0"/>
          </a:p>
        </p:txBody>
      </p:sp>
      <p:sp>
        <p:nvSpPr>
          <p:cNvPr id="3" name="Content Placeholder 2"/>
          <p:cNvSpPr>
            <a:spLocks noGrp="1"/>
          </p:cNvSpPr>
          <p:nvPr>
            <p:ph idx="1"/>
          </p:nvPr>
        </p:nvSpPr>
        <p:spPr>
          <a:xfrm>
            <a:off x="138546" y="1825625"/>
            <a:ext cx="4045528" cy="4861502"/>
          </a:xfrm>
        </p:spPr>
        <p:txBody>
          <a:bodyPr>
            <a:normAutofit/>
          </a:bodyPr>
          <a:lstStyle/>
          <a:p>
            <a:r>
              <a:rPr lang="en-US" sz="2400" dirty="0"/>
              <a:t>A constructor that has parameters is known as parameterized constructor. </a:t>
            </a:r>
            <a:endParaRPr lang="en-US" sz="2400" dirty="0" smtClean="0"/>
          </a:p>
          <a:p>
            <a:r>
              <a:rPr lang="en-US" sz="2400" dirty="0" smtClean="0"/>
              <a:t>If </a:t>
            </a:r>
            <a:r>
              <a:rPr lang="en-US" sz="2400" dirty="0"/>
              <a:t>we want to initialize fields of the class with our own values, then use a parameterized constructor</a:t>
            </a:r>
            <a:r>
              <a:rPr lang="en-US" sz="2400" dirty="0" smtClean="0"/>
              <a:t>.</a:t>
            </a:r>
            <a:endParaRPr lang="en-US" sz="2400" dirty="0" smtClean="0"/>
          </a:p>
          <a:p>
            <a:r>
              <a:rPr lang="en-US" sz="2400" b="1" dirty="0"/>
              <a:t>Constructors do not return values</a:t>
            </a:r>
            <a:r>
              <a:rPr lang="en-US" sz="2400" dirty="0"/>
              <a:t>.</a:t>
            </a:r>
            <a:endParaRPr lang="en-US" sz="2400" dirty="0" smtClean="0"/>
          </a:p>
          <a:p>
            <a:endParaRPr lang="en-IN" sz="2400" dirty="0"/>
          </a:p>
        </p:txBody>
      </p:sp>
      <p:sp>
        <p:nvSpPr>
          <p:cNvPr id="4" name="Content Placeholder 2"/>
          <p:cNvSpPr txBox="1"/>
          <p:nvPr/>
        </p:nvSpPr>
        <p:spPr>
          <a:xfrm>
            <a:off x="4516582" y="143452"/>
            <a:ext cx="7675418" cy="662247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sz="2400" dirty="0"/>
              <a:t>class Car {</a:t>
            </a:r>
            <a:endParaRPr lang="en-US" sz="2400" dirty="0"/>
          </a:p>
          <a:p>
            <a:pPr marL="0" indent="0">
              <a:buNone/>
            </a:pPr>
            <a:r>
              <a:rPr lang="en-US" sz="2400" dirty="0"/>
              <a:t>    String model;</a:t>
            </a:r>
            <a:endParaRPr lang="en-US" sz="2400" dirty="0"/>
          </a:p>
          <a:p>
            <a:pPr marL="0" indent="0">
              <a:buNone/>
            </a:pPr>
            <a:r>
              <a:rPr lang="en-US" sz="2400" dirty="0"/>
              <a:t>    </a:t>
            </a:r>
            <a:r>
              <a:rPr lang="en-US" sz="2400" dirty="0" err="1"/>
              <a:t>int</a:t>
            </a:r>
            <a:r>
              <a:rPr lang="en-US" sz="2400" dirty="0"/>
              <a:t> year</a:t>
            </a:r>
            <a:r>
              <a:rPr lang="en-US" sz="2400" dirty="0" smtClean="0"/>
              <a:t>;</a:t>
            </a:r>
            <a:endParaRPr lang="en-US" sz="2400" dirty="0"/>
          </a:p>
          <a:p>
            <a:pPr marL="0" indent="0">
              <a:buNone/>
            </a:pPr>
            <a:r>
              <a:rPr lang="en-US" sz="2400" dirty="0" smtClean="0"/>
              <a:t>public </a:t>
            </a:r>
            <a:r>
              <a:rPr lang="en-US" sz="2400" dirty="0"/>
              <a:t>Car(String model, </a:t>
            </a:r>
            <a:r>
              <a:rPr lang="en-US" sz="2400" dirty="0" err="1"/>
              <a:t>int</a:t>
            </a:r>
            <a:r>
              <a:rPr lang="en-US" sz="2400" dirty="0"/>
              <a:t> year) {</a:t>
            </a:r>
            <a:endParaRPr lang="en-US" sz="2400" dirty="0"/>
          </a:p>
          <a:p>
            <a:pPr marL="0" indent="0">
              <a:buNone/>
            </a:pPr>
            <a:r>
              <a:rPr lang="en-US" sz="2400" dirty="0"/>
              <a:t>        </a:t>
            </a:r>
            <a:r>
              <a:rPr lang="en-US" sz="2400" dirty="0" err="1"/>
              <a:t>this.model</a:t>
            </a:r>
            <a:r>
              <a:rPr lang="en-US" sz="2400" dirty="0"/>
              <a:t> = model;</a:t>
            </a:r>
            <a:endParaRPr lang="en-US" sz="2400" dirty="0"/>
          </a:p>
          <a:p>
            <a:pPr marL="0" indent="0">
              <a:buNone/>
            </a:pPr>
            <a:r>
              <a:rPr lang="en-US" sz="2400" dirty="0"/>
              <a:t>        </a:t>
            </a:r>
            <a:r>
              <a:rPr lang="en-US" sz="2400" dirty="0" err="1"/>
              <a:t>this.year</a:t>
            </a:r>
            <a:r>
              <a:rPr lang="en-US" sz="2400" dirty="0"/>
              <a:t> = year;</a:t>
            </a:r>
            <a:endParaRPr lang="en-US" sz="2400" dirty="0"/>
          </a:p>
          <a:p>
            <a:pPr marL="0" indent="0">
              <a:buNone/>
            </a:pPr>
            <a:r>
              <a:rPr lang="en-US" sz="2400" dirty="0"/>
              <a:t>    }</a:t>
            </a:r>
            <a:endParaRPr lang="en-US" sz="2400" dirty="0"/>
          </a:p>
          <a:p>
            <a:pPr marL="0" indent="0">
              <a:buNone/>
            </a:pPr>
            <a:r>
              <a:rPr lang="en-US" sz="2400" dirty="0" smtClean="0"/>
              <a:t>public </a:t>
            </a:r>
            <a:r>
              <a:rPr lang="en-US" sz="2400" dirty="0"/>
              <a:t>void </a:t>
            </a:r>
            <a:r>
              <a:rPr lang="en-US" sz="2400" dirty="0" err="1"/>
              <a:t>displayInfo</a:t>
            </a:r>
            <a:r>
              <a:rPr lang="en-US" sz="2400" dirty="0"/>
              <a:t>() {</a:t>
            </a:r>
            <a:endParaRPr lang="en-US" sz="2400" dirty="0"/>
          </a:p>
          <a:p>
            <a:pPr marL="0" indent="0">
              <a:buNone/>
            </a:pPr>
            <a:r>
              <a:rPr lang="en-US" sz="2400" dirty="0"/>
              <a:t>        </a:t>
            </a:r>
            <a:r>
              <a:rPr lang="en-US" sz="2400" dirty="0" err="1"/>
              <a:t>System.out.println</a:t>
            </a:r>
            <a:r>
              <a:rPr lang="en-US" sz="2400" dirty="0"/>
              <a:t>("Car Model: " + model + ", Year: " + year);</a:t>
            </a:r>
            <a:endParaRPr lang="en-US" sz="2400" dirty="0"/>
          </a:p>
          <a:p>
            <a:pPr marL="0" indent="0">
              <a:buNone/>
            </a:pPr>
            <a:r>
              <a:rPr lang="en-US" sz="2400" dirty="0"/>
              <a:t>    }</a:t>
            </a:r>
            <a:endParaRPr lang="en-US" sz="2400" dirty="0"/>
          </a:p>
          <a:p>
            <a:pPr marL="0" indent="0">
              <a:buNone/>
            </a:pPr>
            <a:r>
              <a:rPr lang="en-US" sz="2400" dirty="0" smtClean="0"/>
              <a:t>}</a:t>
            </a:r>
            <a:endParaRPr lang="en-US" sz="2400" dirty="0"/>
          </a:p>
          <a:p>
            <a:pPr marL="0" indent="0">
              <a:buNone/>
            </a:pPr>
            <a:r>
              <a:rPr lang="en-US" sz="2400" dirty="0"/>
              <a:t>public class Main {</a:t>
            </a:r>
            <a:endParaRPr lang="en-US" sz="2400" dirty="0"/>
          </a:p>
          <a:p>
            <a:pPr marL="0" indent="0">
              <a:buNone/>
            </a:pPr>
            <a:r>
              <a:rPr lang="en-US" sz="2400" dirty="0"/>
              <a:t>    public static void main(String[] </a:t>
            </a:r>
            <a:r>
              <a:rPr lang="en-US" sz="2400" dirty="0" err="1"/>
              <a:t>args</a:t>
            </a:r>
            <a:r>
              <a:rPr lang="en-US" sz="2400" dirty="0"/>
              <a:t>) </a:t>
            </a:r>
            <a:r>
              <a:rPr lang="en-US" sz="2400" dirty="0" smtClean="0"/>
              <a:t>{</a:t>
            </a:r>
            <a:endParaRPr lang="en-US" sz="2400" dirty="0" smtClean="0"/>
          </a:p>
          <a:p>
            <a:pPr marL="0" indent="0">
              <a:buNone/>
            </a:pPr>
            <a:r>
              <a:rPr lang="en-US" sz="2400" dirty="0"/>
              <a:t> </a:t>
            </a:r>
            <a:r>
              <a:rPr lang="en-US" sz="2400" dirty="0" smtClean="0"/>
              <a:t>       Car </a:t>
            </a:r>
            <a:r>
              <a:rPr lang="en-US" sz="2400" dirty="0" err="1" smtClean="0"/>
              <a:t>myCar</a:t>
            </a:r>
            <a:r>
              <a:rPr lang="en-US" sz="2400" dirty="0" smtClean="0"/>
              <a:t> = new Car("Toyota", 2021);</a:t>
            </a:r>
            <a:endParaRPr lang="en-US" sz="2400" dirty="0" smtClean="0"/>
          </a:p>
          <a:p>
            <a:pPr marL="0" indent="0">
              <a:buNone/>
            </a:pPr>
            <a:r>
              <a:rPr lang="en-US" sz="2400" dirty="0" smtClean="0"/>
              <a:t>        </a:t>
            </a:r>
            <a:r>
              <a:rPr lang="en-US" sz="2400" dirty="0" err="1"/>
              <a:t>myCar.displayInfo</a:t>
            </a:r>
            <a:r>
              <a:rPr lang="en-US" sz="2400" dirty="0"/>
              <a:t>();  // Output: Car Model: Toyota, Year: 2021</a:t>
            </a:r>
            <a:endParaRPr lang="en-US" sz="2400" dirty="0"/>
          </a:p>
          <a:p>
            <a:pPr marL="0" indent="0">
              <a:buNone/>
            </a:pPr>
            <a:r>
              <a:rPr lang="en-US" sz="2400" dirty="0"/>
              <a:t>    }</a:t>
            </a:r>
            <a:endParaRPr lang="en-US" sz="2400" dirty="0"/>
          </a:p>
          <a:p>
            <a:pPr marL="0" indent="0">
              <a:buNone/>
            </a:pPr>
            <a:r>
              <a:rPr lang="en-US" sz="2400" dirty="0"/>
              <a:t>}</a:t>
            </a:r>
            <a:endParaRPr 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Constructor overloading</a:t>
            </a:r>
            <a:endParaRPr lang="en-IN" dirty="0"/>
          </a:p>
        </p:txBody>
      </p:sp>
      <p:sp>
        <p:nvSpPr>
          <p:cNvPr id="3" name="Content Placeholder 2"/>
          <p:cNvSpPr>
            <a:spLocks noGrp="1"/>
          </p:cNvSpPr>
          <p:nvPr>
            <p:ph idx="1"/>
          </p:nvPr>
        </p:nvSpPr>
        <p:spPr/>
        <p:txBody>
          <a:bodyPr>
            <a:normAutofit lnSpcReduction="10000"/>
          </a:bodyPr>
          <a:lstStyle/>
          <a:p>
            <a:r>
              <a:rPr lang="en-US" dirty="0"/>
              <a:t>Just like methods, we can overload constructors for creating objects in different ways</a:t>
            </a:r>
            <a:r>
              <a:rPr lang="en-US" dirty="0" smtClean="0"/>
              <a:t>.</a:t>
            </a:r>
            <a:endParaRPr lang="en-US" dirty="0" smtClean="0"/>
          </a:p>
          <a:p>
            <a:r>
              <a:rPr lang="en-US" dirty="0"/>
              <a:t>The compiler differentiates constructors on the basis of the number of parameters, types of parameters, and order of the parameters</a:t>
            </a:r>
            <a:r>
              <a:rPr lang="en-US" dirty="0" smtClean="0"/>
              <a:t>.</a:t>
            </a:r>
            <a:endParaRPr lang="en-US" dirty="0" smtClean="0"/>
          </a:p>
          <a:p>
            <a:r>
              <a:rPr lang="en-US" dirty="0"/>
              <a:t>Constructor overloading allows you to create objects in different ways (with different sets of initial values), making it more flexible and easier to handle different situations during object instantiation</a:t>
            </a:r>
            <a:r>
              <a:rPr lang="en-US" dirty="0" smtClean="0"/>
              <a:t>.</a:t>
            </a:r>
            <a:endParaRPr lang="en-US" dirty="0" smtClean="0"/>
          </a:p>
          <a:p>
            <a:r>
              <a:rPr lang="en-US" dirty="0"/>
              <a:t>When there is no exact match for the constructor parameters provided during object creation, the Java compiler will try to promote smaller data types </a:t>
            </a:r>
            <a:r>
              <a:rPr lang="en-US" dirty="0" smtClean="0"/>
              <a:t>to </a:t>
            </a:r>
            <a:r>
              <a:rPr lang="en-US" dirty="0"/>
              <a:t>a larger compatible type, </a:t>
            </a:r>
            <a:r>
              <a:rPr lang="en-IN" dirty="0" smtClean="0"/>
              <a:t>similar </a:t>
            </a:r>
            <a:r>
              <a:rPr lang="en-IN" dirty="0"/>
              <a:t>to method </a:t>
            </a:r>
            <a:r>
              <a:rPr lang="en-IN" dirty="0" smtClean="0"/>
              <a:t>overloading.</a:t>
            </a:r>
            <a:endParaRPr lang="en-US" dirty="0" smtClean="0"/>
          </a:p>
          <a:p>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018" y="199733"/>
            <a:ext cx="11582400" cy="6302667"/>
          </a:xfrm>
        </p:spPr>
        <p:txBody>
          <a:bodyPr>
            <a:noAutofit/>
          </a:bodyPr>
          <a:lstStyle/>
          <a:p>
            <a:pPr marL="0" indent="0">
              <a:buNone/>
            </a:pPr>
            <a:r>
              <a:rPr lang="en-IN" sz="2000" dirty="0"/>
              <a:t>import java.io</a:t>
            </a:r>
            <a:r>
              <a:rPr lang="en-IN" sz="2000" dirty="0" smtClean="0"/>
              <a:t>.*;</a:t>
            </a:r>
            <a:endParaRPr lang="en-IN" sz="2000" dirty="0"/>
          </a:p>
          <a:p>
            <a:pPr marL="0" indent="0">
              <a:buNone/>
            </a:pPr>
            <a:r>
              <a:rPr lang="en-IN" sz="2000" dirty="0"/>
              <a:t>class </a:t>
            </a:r>
            <a:r>
              <a:rPr lang="en-IN" sz="2000" dirty="0" smtClean="0"/>
              <a:t>Geek </a:t>
            </a:r>
            <a:r>
              <a:rPr lang="en-IN" sz="2000" dirty="0"/>
              <a:t>{</a:t>
            </a:r>
            <a:endParaRPr lang="en-IN" sz="2000" dirty="0"/>
          </a:p>
          <a:p>
            <a:pPr marL="0" indent="0">
              <a:buNone/>
            </a:pPr>
            <a:r>
              <a:rPr lang="en-IN" sz="2000" dirty="0" smtClean="0"/>
              <a:t>Geek(String </a:t>
            </a:r>
            <a:r>
              <a:rPr lang="en-IN" sz="2000" dirty="0"/>
              <a:t>name</a:t>
            </a:r>
            <a:r>
              <a:rPr lang="en-IN" sz="2000" dirty="0" smtClean="0"/>
              <a:t>) </a:t>
            </a:r>
            <a:r>
              <a:rPr lang="en-IN" sz="2000" dirty="0"/>
              <a:t>{</a:t>
            </a:r>
            <a:endParaRPr lang="en-IN" sz="2000" dirty="0"/>
          </a:p>
          <a:p>
            <a:pPr marL="0" indent="0">
              <a:buNone/>
            </a:pPr>
            <a:r>
              <a:rPr lang="en-IN" sz="2000" dirty="0"/>
              <a:t>        </a:t>
            </a:r>
            <a:r>
              <a:rPr lang="en-IN" sz="2000" dirty="0" err="1"/>
              <a:t>System.out.println</a:t>
            </a:r>
            <a:r>
              <a:rPr lang="en-IN" sz="2000" dirty="0"/>
              <a:t>("Constructor with one </a:t>
            </a:r>
            <a:r>
              <a:rPr lang="en-IN" sz="2000" dirty="0" smtClean="0"/>
              <a:t>" </a:t>
            </a:r>
            <a:r>
              <a:rPr lang="en-IN" sz="2000" dirty="0"/>
              <a:t>+ "argument - String : " + name</a:t>
            </a:r>
            <a:r>
              <a:rPr lang="en-IN" sz="2000" dirty="0" smtClean="0"/>
              <a:t>);           </a:t>
            </a:r>
            <a:r>
              <a:rPr lang="en-IN" sz="2000" dirty="0"/>
              <a:t>}</a:t>
            </a:r>
            <a:endParaRPr lang="en-IN" sz="2000" dirty="0"/>
          </a:p>
          <a:p>
            <a:pPr marL="0" indent="0">
              <a:buNone/>
            </a:pPr>
            <a:r>
              <a:rPr lang="en-IN" sz="2000" dirty="0" smtClean="0"/>
              <a:t>Geek(String </a:t>
            </a:r>
            <a:r>
              <a:rPr lang="en-IN" sz="2000" dirty="0"/>
              <a:t>name, </a:t>
            </a:r>
            <a:r>
              <a:rPr lang="en-IN" sz="2000" dirty="0" err="1"/>
              <a:t>int</a:t>
            </a:r>
            <a:r>
              <a:rPr lang="en-IN" sz="2000" dirty="0"/>
              <a:t> age</a:t>
            </a:r>
            <a:r>
              <a:rPr lang="en-IN" sz="2000" dirty="0" smtClean="0"/>
              <a:t>){</a:t>
            </a:r>
            <a:endParaRPr lang="en-IN" sz="2000" dirty="0"/>
          </a:p>
          <a:p>
            <a:pPr marL="0" indent="0">
              <a:buNone/>
            </a:pPr>
            <a:r>
              <a:rPr lang="en-IN" sz="2000" dirty="0"/>
              <a:t>        </a:t>
            </a:r>
            <a:r>
              <a:rPr lang="en-IN" sz="2000" dirty="0" err="1"/>
              <a:t>System.out.println</a:t>
            </a:r>
            <a:r>
              <a:rPr lang="en-IN" sz="2000" dirty="0" smtClean="0"/>
              <a:t>( </a:t>
            </a:r>
            <a:r>
              <a:rPr lang="en-IN" sz="2000" dirty="0"/>
              <a:t>"Constructor with two arguments : </a:t>
            </a:r>
            <a:r>
              <a:rPr lang="en-IN" sz="2000" dirty="0" smtClean="0"/>
              <a:t>"  </a:t>
            </a:r>
            <a:r>
              <a:rPr lang="en-IN" sz="2000" dirty="0"/>
              <a:t>+ " String and Integer : " + name + " " + age</a:t>
            </a:r>
            <a:r>
              <a:rPr lang="en-IN" sz="2000" dirty="0" smtClean="0"/>
              <a:t>);       }</a:t>
            </a:r>
            <a:endParaRPr lang="en-IN" sz="2000" dirty="0"/>
          </a:p>
          <a:p>
            <a:pPr marL="0" indent="0">
              <a:buNone/>
            </a:pPr>
            <a:r>
              <a:rPr lang="en-IN" sz="2000" dirty="0" smtClean="0"/>
              <a:t>Geek(long </a:t>
            </a:r>
            <a:r>
              <a:rPr lang="en-IN" sz="2000" dirty="0"/>
              <a:t>id</a:t>
            </a:r>
            <a:r>
              <a:rPr lang="en-IN" sz="2000" dirty="0" smtClean="0"/>
              <a:t>) {</a:t>
            </a:r>
            <a:endParaRPr lang="en-IN" sz="2000" dirty="0"/>
          </a:p>
          <a:p>
            <a:pPr marL="0" indent="0">
              <a:buNone/>
            </a:pPr>
            <a:r>
              <a:rPr lang="en-IN" sz="2000" dirty="0"/>
              <a:t>        </a:t>
            </a:r>
            <a:r>
              <a:rPr lang="en-IN" sz="2000" dirty="0" err="1"/>
              <a:t>System.out.println</a:t>
            </a:r>
            <a:r>
              <a:rPr lang="en-IN" sz="2000" dirty="0" smtClean="0"/>
              <a:t>("</a:t>
            </a:r>
            <a:r>
              <a:rPr lang="en-IN" sz="2000" dirty="0"/>
              <a:t>Constructor with one argument : </a:t>
            </a:r>
            <a:r>
              <a:rPr lang="en-IN" sz="2000" dirty="0" smtClean="0"/>
              <a:t>"+ </a:t>
            </a:r>
            <a:r>
              <a:rPr lang="en-IN" sz="2000" dirty="0"/>
              <a:t>"Long : " + id</a:t>
            </a:r>
            <a:r>
              <a:rPr lang="en-IN" sz="2000" dirty="0" smtClean="0"/>
              <a:t>);         </a:t>
            </a:r>
            <a:r>
              <a:rPr lang="en-IN" sz="2000" dirty="0"/>
              <a:t>}</a:t>
            </a:r>
            <a:endParaRPr lang="en-IN" sz="2000" dirty="0"/>
          </a:p>
          <a:p>
            <a:pPr marL="0" indent="0">
              <a:buNone/>
            </a:pPr>
            <a:r>
              <a:rPr lang="en-IN" sz="2000" dirty="0" smtClean="0"/>
              <a:t>}</a:t>
            </a:r>
            <a:endParaRPr lang="en-IN" sz="2000" dirty="0"/>
          </a:p>
          <a:p>
            <a:pPr marL="0" indent="0">
              <a:buNone/>
            </a:pPr>
            <a:r>
              <a:rPr lang="en-IN" sz="2000" dirty="0"/>
              <a:t>class Test {</a:t>
            </a:r>
            <a:endParaRPr lang="en-IN" sz="2000" dirty="0"/>
          </a:p>
          <a:p>
            <a:pPr marL="0" indent="0">
              <a:buNone/>
            </a:pPr>
            <a:r>
              <a:rPr lang="en-IN" sz="2000" dirty="0"/>
              <a:t>    public static void main(String[] </a:t>
            </a:r>
            <a:r>
              <a:rPr lang="en-IN" sz="2000" dirty="0" err="1"/>
              <a:t>args</a:t>
            </a:r>
            <a:r>
              <a:rPr lang="en-IN" sz="2000" dirty="0" smtClean="0"/>
              <a:t>)  </a:t>
            </a:r>
            <a:r>
              <a:rPr lang="en-IN" sz="2000" dirty="0"/>
              <a:t>{</a:t>
            </a:r>
            <a:endParaRPr lang="en-IN" sz="2000" dirty="0"/>
          </a:p>
          <a:p>
            <a:pPr marL="0" indent="0">
              <a:buNone/>
            </a:pPr>
            <a:r>
              <a:rPr lang="en-IN" sz="2000" dirty="0"/>
              <a:t>Geek geek2 = new Geek("</a:t>
            </a:r>
            <a:r>
              <a:rPr lang="en-IN" sz="2000" dirty="0" err="1"/>
              <a:t>Shikhar</a:t>
            </a:r>
            <a:r>
              <a:rPr lang="en-IN" sz="2000" dirty="0"/>
              <a:t>");</a:t>
            </a:r>
            <a:endParaRPr lang="en-IN" sz="2000" dirty="0"/>
          </a:p>
          <a:p>
            <a:pPr marL="0" indent="0">
              <a:buNone/>
            </a:pPr>
            <a:r>
              <a:rPr lang="en-IN" sz="2000" dirty="0"/>
              <a:t>Geek geek3 = new Geek("</a:t>
            </a:r>
            <a:r>
              <a:rPr lang="en-IN" sz="2000" dirty="0" err="1"/>
              <a:t>Dharmesh</a:t>
            </a:r>
            <a:r>
              <a:rPr lang="en-IN" sz="2000" dirty="0"/>
              <a:t>", 26);</a:t>
            </a:r>
            <a:endParaRPr lang="en-IN" sz="2000" dirty="0"/>
          </a:p>
          <a:p>
            <a:pPr marL="0" indent="0">
              <a:buNone/>
            </a:pPr>
            <a:r>
              <a:rPr lang="en-IN" sz="2000" dirty="0"/>
              <a:t>Geek geek4 = new Geek(325614567);</a:t>
            </a:r>
            <a:endParaRPr lang="en-IN" sz="2000" dirty="0"/>
          </a:p>
          <a:p>
            <a:pPr marL="0" indent="0">
              <a:buNone/>
            </a:pPr>
            <a:r>
              <a:rPr lang="en-IN" sz="2000" dirty="0"/>
              <a:t>    }</a:t>
            </a:r>
            <a:endParaRPr lang="en-IN" sz="2000" dirty="0"/>
          </a:p>
          <a:p>
            <a:pPr marL="0" indent="0">
              <a:buNone/>
            </a:pPr>
            <a:r>
              <a:rPr lang="en-IN" sz="2000" dirty="0"/>
              <a:t>}</a:t>
            </a:r>
            <a:endParaRPr lang="en-IN" sz="2000" dirty="0"/>
          </a:p>
          <a:p>
            <a:pPr marL="0" indent="0">
              <a:buNone/>
            </a:pPr>
            <a:endParaRPr lang="en-IN" sz="2000" dirty="0"/>
          </a:p>
          <a:p>
            <a:pPr marL="0" indent="0">
              <a:buNone/>
            </a:pPr>
            <a:endParaRPr lang="en-IN" sz="2000" dirty="0"/>
          </a:p>
        </p:txBody>
      </p:sp>
      <p:sp>
        <p:nvSpPr>
          <p:cNvPr id="5" name="Content Placeholder 2"/>
          <p:cNvSpPr txBox="1"/>
          <p:nvPr/>
        </p:nvSpPr>
        <p:spPr>
          <a:xfrm>
            <a:off x="6419272" y="215321"/>
            <a:ext cx="5578763" cy="60529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endParaRPr lang="en-IN" sz="2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764" y="263525"/>
            <a:ext cx="10515600" cy="355311"/>
          </a:xfrm>
        </p:spPr>
        <p:txBody>
          <a:bodyPr>
            <a:noAutofit/>
          </a:bodyPr>
          <a:lstStyle/>
          <a:p>
            <a:r>
              <a:rPr lang="en-IN" sz="3600" dirty="0" smtClean="0"/>
              <a:t>Call of one constr</a:t>
            </a:r>
            <a:r>
              <a:rPr lang="en-US" altLang="en-IN" sz="3600" dirty="0" smtClean="0"/>
              <a:t>u</a:t>
            </a:r>
            <a:r>
              <a:rPr lang="en-IN" sz="3600" dirty="0" smtClean="0"/>
              <a:t>ctor to another constructor</a:t>
            </a:r>
            <a:endParaRPr lang="en-IN" sz="3600" dirty="0"/>
          </a:p>
        </p:txBody>
      </p:sp>
      <p:sp>
        <p:nvSpPr>
          <p:cNvPr id="3" name="Content Placeholder 2"/>
          <p:cNvSpPr>
            <a:spLocks noGrp="1"/>
          </p:cNvSpPr>
          <p:nvPr>
            <p:ph idx="1"/>
          </p:nvPr>
        </p:nvSpPr>
        <p:spPr>
          <a:xfrm>
            <a:off x="838200" y="1016000"/>
            <a:ext cx="10515600" cy="5160963"/>
          </a:xfrm>
        </p:spPr>
        <p:txBody>
          <a:bodyPr/>
          <a:lstStyle/>
          <a:p>
            <a:r>
              <a:rPr lang="en-US" dirty="0"/>
              <a:t>In Java, </a:t>
            </a:r>
            <a:r>
              <a:rPr lang="en-US" dirty="0" smtClean="0"/>
              <a:t>one constructor can be called </a:t>
            </a:r>
            <a:r>
              <a:rPr lang="en-US" dirty="0"/>
              <a:t>from another constructor in the same class using the </a:t>
            </a:r>
            <a:r>
              <a:rPr lang="en-US" dirty="0" smtClean="0"/>
              <a:t>‘this’ </a:t>
            </a:r>
            <a:r>
              <a:rPr lang="en-US" dirty="0"/>
              <a:t>keyword. This is known as constructor chaining</a:t>
            </a:r>
            <a:r>
              <a:rPr lang="en-US" dirty="0" smtClean="0"/>
              <a:t>.</a:t>
            </a:r>
            <a:endParaRPr lang="en-US" dirty="0" smtClean="0"/>
          </a:p>
          <a:p>
            <a:r>
              <a:rPr lang="en-US" dirty="0"/>
              <a:t>It </a:t>
            </a:r>
            <a:r>
              <a:rPr lang="en-US" dirty="0" smtClean="0"/>
              <a:t>allows the </a:t>
            </a:r>
            <a:r>
              <a:rPr lang="en-US" dirty="0"/>
              <a:t>reuse </a:t>
            </a:r>
            <a:r>
              <a:rPr lang="en-US" dirty="0" smtClean="0"/>
              <a:t>of constructor code.</a:t>
            </a:r>
            <a:endParaRPr lang="en-IN" dirty="0"/>
          </a:p>
        </p:txBody>
      </p:sp>
      <p:graphicFrame>
        <p:nvGraphicFramePr>
          <p:cNvPr id="6" name="Table 5"/>
          <p:cNvGraphicFramePr>
            <a:graphicFrameLocks noGrp="1"/>
          </p:cNvGraphicFramePr>
          <p:nvPr/>
        </p:nvGraphicFramePr>
        <p:xfrm>
          <a:off x="216713" y="2916112"/>
          <a:ext cx="6364957" cy="3749040"/>
        </p:xfrm>
        <a:graphic>
          <a:graphicData uri="http://schemas.openxmlformats.org/drawingml/2006/table">
            <a:tbl>
              <a:tblPr firstRow="1" bandRow="1">
                <a:tableStyleId>{2D5ABB26-0587-4C30-8999-92F81FD0307C}</a:tableStyleId>
              </a:tblPr>
              <a:tblGrid>
                <a:gridCol w="6364957"/>
              </a:tblGrid>
              <a:tr h="370840">
                <a:tc>
                  <a:txBody>
                    <a:bodyPr/>
                    <a:lstStyle/>
                    <a:p>
                      <a:r>
                        <a:rPr lang="en-IN" sz="2000" dirty="0" smtClean="0"/>
                        <a:t>class Temp{</a:t>
                      </a:r>
                      <a:endParaRPr lang="en-IN" sz="2000" dirty="0" smtClean="0"/>
                    </a:p>
                    <a:p>
                      <a:r>
                        <a:rPr lang="en-IN" sz="2000" dirty="0" smtClean="0"/>
                        <a:t>	Temp(){</a:t>
                      </a:r>
                      <a:endParaRPr lang="en-IN" sz="200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IN" sz="2000" dirty="0" smtClean="0"/>
                        <a:t>		this(5);             // calls constructor 2</a:t>
                      </a:r>
                      <a:endParaRPr lang="en-IN" sz="2000" dirty="0" smtClean="0"/>
                    </a:p>
                    <a:p>
                      <a:r>
                        <a:rPr lang="en-IN" sz="2000" dirty="0" smtClean="0"/>
                        <a:t>	</a:t>
                      </a:r>
                      <a:r>
                        <a:rPr lang="en-IN" sz="2000" dirty="0" err="1" smtClean="0"/>
                        <a:t>System.out.println</a:t>
                      </a:r>
                      <a:r>
                        <a:rPr lang="en-IN" sz="2000" dirty="0" smtClean="0"/>
                        <a:t>("The Default constructor");</a:t>
                      </a:r>
                      <a:endParaRPr lang="en-IN" sz="2000" dirty="0" smtClean="0"/>
                    </a:p>
                    <a:p>
                      <a:r>
                        <a:rPr lang="en-IN" sz="2000" dirty="0" smtClean="0"/>
                        <a:t>	}</a:t>
                      </a:r>
                      <a:endParaRPr lang="en-IN" sz="200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IN" sz="2000" dirty="0" smtClean="0"/>
                        <a:t>	Temp(</a:t>
                      </a:r>
                      <a:r>
                        <a:rPr lang="en-IN" sz="2000" dirty="0" err="1" smtClean="0"/>
                        <a:t>int</a:t>
                      </a:r>
                      <a:r>
                        <a:rPr lang="en-IN" sz="2000" dirty="0" smtClean="0"/>
                        <a:t> x){          //constructor 2		</a:t>
                      </a:r>
                      <a:endParaRPr lang="en-IN" sz="2000" dirty="0" smtClean="0"/>
                    </a:p>
                    <a:p>
                      <a:r>
                        <a:rPr lang="en-IN" sz="2000" dirty="0" smtClean="0"/>
                        <a:t>		this(5, 15);   // calls constructor 3</a:t>
                      </a:r>
                      <a:endParaRPr lang="en-IN" sz="2000" dirty="0" smtClean="0"/>
                    </a:p>
                    <a:p>
                      <a:r>
                        <a:rPr lang="en-IN" sz="2000" dirty="0" smtClean="0"/>
                        <a:t>		</a:t>
                      </a:r>
                      <a:r>
                        <a:rPr lang="en-IN" sz="2000" dirty="0" err="1" smtClean="0"/>
                        <a:t>System.out.println</a:t>
                      </a:r>
                      <a:r>
                        <a:rPr lang="en-IN" sz="2000" dirty="0" smtClean="0"/>
                        <a:t>(x);</a:t>
                      </a:r>
                      <a:endParaRPr lang="en-IN" sz="2000" dirty="0" smtClean="0"/>
                    </a:p>
                    <a:p>
                      <a:r>
                        <a:rPr lang="en-IN" sz="2000" dirty="0" smtClean="0"/>
                        <a:t>	}</a:t>
                      </a:r>
                      <a:endParaRPr lang="en-IN" sz="2000" dirty="0" smtClean="0"/>
                    </a:p>
                    <a:p>
                      <a:r>
                        <a:rPr lang="en-IN" sz="2000" dirty="0" smtClean="0"/>
                        <a:t>	Temp(</a:t>
                      </a:r>
                      <a:r>
                        <a:rPr lang="en-IN" sz="2000" dirty="0" err="1" smtClean="0"/>
                        <a:t>int</a:t>
                      </a:r>
                      <a:r>
                        <a:rPr lang="en-IN" sz="2000" dirty="0" smtClean="0"/>
                        <a:t> x, </a:t>
                      </a:r>
                      <a:r>
                        <a:rPr lang="en-IN" sz="2000" dirty="0" err="1" smtClean="0"/>
                        <a:t>int</a:t>
                      </a:r>
                      <a:r>
                        <a:rPr lang="en-IN" sz="2000" dirty="0" smtClean="0"/>
                        <a:t> y){         //constructor 3</a:t>
                      </a:r>
                      <a:endParaRPr lang="en-IN" sz="2000" dirty="0" smtClean="0"/>
                    </a:p>
                    <a:p>
                      <a:r>
                        <a:rPr lang="en-IN" sz="2000" dirty="0" smtClean="0"/>
                        <a:t>		</a:t>
                      </a:r>
                      <a:r>
                        <a:rPr lang="en-IN" sz="2000" dirty="0" err="1" smtClean="0"/>
                        <a:t>System.out.println</a:t>
                      </a:r>
                      <a:r>
                        <a:rPr lang="en-IN" sz="2000" dirty="0" smtClean="0"/>
                        <a:t>(x * y);</a:t>
                      </a:r>
                      <a:endParaRPr lang="en-IN" sz="2000" dirty="0" smtClean="0"/>
                    </a:p>
                    <a:p>
                      <a:r>
                        <a:rPr lang="en-IN" sz="2000" dirty="0" smtClean="0"/>
                        <a:t>	}</a:t>
                      </a:r>
                      <a:endParaRPr lang="en-IN" sz="2000" dirty="0" smtClean="0"/>
                    </a:p>
                  </a:txBody>
                  <a:tcPr/>
                </a:tc>
              </a:tr>
            </a:tbl>
          </a:graphicData>
        </a:graphic>
      </p:graphicFrame>
      <p:graphicFrame>
        <p:nvGraphicFramePr>
          <p:cNvPr id="7" name="Table 6"/>
          <p:cNvGraphicFramePr>
            <a:graphicFrameLocks noGrp="1"/>
          </p:cNvGraphicFramePr>
          <p:nvPr/>
        </p:nvGraphicFramePr>
        <p:xfrm>
          <a:off x="6943411" y="3152502"/>
          <a:ext cx="4851006" cy="1920240"/>
        </p:xfrm>
        <a:graphic>
          <a:graphicData uri="http://schemas.openxmlformats.org/drawingml/2006/table">
            <a:tbl>
              <a:tblPr firstRow="1" bandRow="1">
                <a:tableStyleId>{2D5ABB26-0587-4C30-8999-92F81FD0307C}</a:tableStyleId>
              </a:tblPr>
              <a:tblGrid>
                <a:gridCol w="4851006"/>
              </a:tblGrid>
              <a:tr h="370840">
                <a:tc>
                  <a:txBody>
                    <a:bodyPr/>
                    <a:lstStyle/>
                    <a:p>
                      <a:r>
                        <a:rPr lang="en-IN" sz="2000" dirty="0" smtClean="0"/>
                        <a:t>	public static void main(String </a:t>
                      </a:r>
                      <a:r>
                        <a:rPr lang="en-IN" sz="2000" dirty="0" err="1" smtClean="0"/>
                        <a:t>args</a:t>
                      </a:r>
                      <a:r>
                        <a:rPr lang="en-IN" sz="2000" dirty="0" smtClean="0"/>
                        <a:t>[])</a:t>
                      </a:r>
                      <a:endParaRPr lang="en-IN" sz="2000" dirty="0" smtClean="0"/>
                    </a:p>
                    <a:p>
                      <a:r>
                        <a:rPr lang="en-IN" sz="2000" dirty="0" smtClean="0"/>
                        <a:t>	{</a:t>
                      </a:r>
                      <a:endParaRPr lang="en-IN" sz="2000" dirty="0" smtClean="0"/>
                    </a:p>
                    <a:p>
                      <a:r>
                        <a:rPr lang="en-IN" sz="2000" dirty="0" smtClean="0"/>
                        <a:t>	// invokes default constructor first</a:t>
                      </a:r>
                      <a:endParaRPr lang="en-IN" sz="2000" dirty="0" smtClean="0"/>
                    </a:p>
                    <a:p>
                      <a:r>
                        <a:rPr lang="en-IN" sz="2000" dirty="0" smtClean="0"/>
                        <a:t>	new Temp();</a:t>
                      </a:r>
                      <a:endParaRPr lang="en-IN" sz="2000" dirty="0" smtClean="0"/>
                    </a:p>
                    <a:p>
                      <a:r>
                        <a:rPr lang="en-IN" sz="2000" dirty="0" smtClean="0"/>
                        <a:t>	}</a:t>
                      </a:r>
                      <a:endParaRPr lang="en-IN" sz="2000" dirty="0" smtClean="0"/>
                    </a:p>
                    <a:p>
                      <a:r>
                        <a:rPr lang="en-IN" sz="2000" dirty="0" smtClean="0"/>
                        <a:t>          }</a:t>
                      </a:r>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Copy Constructor </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a:t>A </a:t>
            </a:r>
            <a:r>
              <a:rPr lang="en-US" b="1" dirty="0"/>
              <a:t>copy constructor</a:t>
            </a:r>
            <a:r>
              <a:rPr lang="en-US" dirty="0"/>
              <a:t> in Java is a special type of constructor used to create a new object as a copy of an existing object. </a:t>
            </a:r>
            <a:endParaRPr lang="en-US" dirty="0" smtClean="0"/>
          </a:p>
          <a:p>
            <a:r>
              <a:rPr lang="en-US" dirty="0" smtClean="0"/>
              <a:t>This </a:t>
            </a:r>
            <a:r>
              <a:rPr lang="en-US" dirty="0"/>
              <a:t>concept is borrowed from C++ and is not built into Java like other languages, but it can be implemented manually</a:t>
            </a:r>
            <a:r>
              <a:rPr lang="en-US" dirty="0" smtClean="0"/>
              <a:t>.</a:t>
            </a:r>
            <a:endParaRPr lang="en-US" dirty="0" smtClean="0"/>
          </a:p>
          <a:p>
            <a:r>
              <a:rPr lang="en-US" i="1" dirty="0"/>
              <a:t>we can create our own copy constructor by passing the object of the same class to the other instance(object) of the class</a:t>
            </a:r>
            <a:r>
              <a:rPr lang="en-US" i="1" dirty="0" smtClean="0"/>
              <a:t>.</a:t>
            </a:r>
            <a:endParaRPr lang="en-US" i="1" dirty="0" smtClean="0"/>
          </a:p>
          <a:p>
            <a:r>
              <a:rPr lang="en-US" b="1" dirty="0"/>
              <a:t>Purpose of a Copy Constructor</a:t>
            </a:r>
            <a:endParaRPr lang="en-US" b="1" dirty="0"/>
          </a:p>
          <a:p>
            <a:pPr lvl="1"/>
            <a:r>
              <a:rPr lang="en-US" b="1" dirty="0"/>
              <a:t>Create a Duplicate</a:t>
            </a:r>
            <a:r>
              <a:rPr lang="en-US" dirty="0"/>
              <a:t>: It allows you to create a new object that is a copy of an existing object, including its state (i.e., the values of its attributes).</a:t>
            </a:r>
            <a:endParaRPr lang="en-US" dirty="0"/>
          </a:p>
          <a:p>
            <a:pPr lvl="1"/>
            <a:r>
              <a:rPr lang="en-US" b="1" dirty="0"/>
              <a:t>Deep Copy</a:t>
            </a:r>
            <a:r>
              <a:rPr lang="en-US" dirty="0"/>
              <a:t>: In cases where an object contains references to other objects, a copy constructor can be used to perform a deep copy, ensuring that the new object and the original object do not share references to mutable objects.</a:t>
            </a:r>
            <a:endParaRPr lang="en-US" dirty="0"/>
          </a:p>
          <a:p>
            <a:endParaRPr lang="en-I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3619" y="-96692"/>
            <a:ext cx="4315691" cy="909494"/>
          </a:xfrm>
        </p:spPr>
        <p:txBody>
          <a:bodyPr/>
          <a:lstStyle/>
          <a:p>
            <a:r>
              <a:rPr lang="en-IN" dirty="0" smtClean="0"/>
              <a:t>Copy Constructor</a:t>
            </a:r>
            <a:endParaRPr lang="en-IN" dirty="0"/>
          </a:p>
        </p:txBody>
      </p:sp>
      <p:sp>
        <p:nvSpPr>
          <p:cNvPr id="3" name="Content Placeholder 2"/>
          <p:cNvSpPr>
            <a:spLocks noGrp="1"/>
          </p:cNvSpPr>
          <p:nvPr>
            <p:ph idx="1"/>
          </p:nvPr>
        </p:nvSpPr>
        <p:spPr>
          <a:xfrm>
            <a:off x="145472" y="812802"/>
            <a:ext cx="6209145" cy="5883562"/>
          </a:xfrm>
        </p:spPr>
        <p:txBody>
          <a:bodyPr>
            <a:normAutofit fontScale="77500" lnSpcReduction="20000"/>
          </a:bodyPr>
          <a:lstStyle/>
          <a:p>
            <a:pPr marL="0" indent="0">
              <a:buNone/>
            </a:pPr>
            <a:r>
              <a:rPr lang="en-IN" dirty="0"/>
              <a:t>class Person {</a:t>
            </a:r>
            <a:endParaRPr lang="en-IN" dirty="0"/>
          </a:p>
          <a:p>
            <a:pPr marL="0" indent="0">
              <a:buNone/>
            </a:pPr>
            <a:r>
              <a:rPr lang="en-IN" dirty="0"/>
              <a:t>    String name;</a:t>
            </a:r>
            <a:endParaRPr lang="en-IN" dirty="0"/>
          </a:p>
          <a:p>
            <a:pPr marL="0" indent="0">
              <a:buNone/>
            </a:pPr>
            <a:r>
              <a:rPr lang="en-IN" dirty="0"/>
              <a:t>    </a:t>
            </a:r>
            <a:r>
              <a:rPr lang="en-IN" dirty="0" err="1"/>
              <a:t>int</a:t>
            </a:r>
            <a:r>
              <a:rPr lang="en-IN" dirty="0"/>
              <a:t> age;</a:t>
            </a:r>
            <a:endParaRPr lang="en-IN" dirty="0"/>
          </a:p>
          <a:p>
            <a:pPr marL="0" indent="0">
              <a:buNone/>
            </a:pPr>
            <a:r>
              <a:rPr lang="en-IN" dirty="0" smtClean="0"/>
              <a:t>public </a:t>
            </a:r>
            <a:r>
              <a:rPr lang="en-IN" dirty="0"/>
              <a:t>Person(String name, </a:t>
            </a:r>
            <a:r>
              <a:rPr lang="en-IN" dirty="0" err="1"/>
              <a:t>int</a:t>
            </a:r>
            <a:r>
              <a:rPr lang="en-IN" dirty="0"/>
              <a:t> age) {</a:t>
            </a:r>
            <a:endParaRPr lang="en-IN" dirty="0"/>
          </a:p>
          <a:p>
            <a:pPr marL="0" indent="0">
              <a:buNone/>
            </a:pPr>
            <a:r>
              <a:rPr lang="en-IN" dirty="0"/>
              <a:t>        this.name = name;</a:t>
            </a:r>
            <a:endParaRPr lang="en-IN" dirty="0"/>
          </a:p>
          <a:p>
            <a:pPr marL="0" indent="0">
              <a:buNone/>
            </a:pPr>
            <a:r>
              <a:rPr lang="en-IN" dirty="0"/>
              <a:t>        </a:t>
            </a:r>
            <a:r>
              <a:rPr lang="en-IN" dirty="0" err="1"/>
              <a:t>this.age</a:t>
            </a:r>
            <a:r>
              <a:rPr lang="en-IN" dirty="0"/>
              <a:t> = age;</a:t>
            </a:r>
            <a:endParaRPr lang="en-IN" dirty="0"/>
          </a:p>
          <a:p>
            <a:pPr marL="0" indent="0">
              <a:buNone/>
            </a:pPr>
            <a:r>
              <a:rPr lang="en-IN" dirty="0"/>
              <a:t>    }</a:t>
            </a:r>
            <a:endParaRPr lang="en-IN" dirty="0"/>
          </a:p>
          <a:p>
            <a:pPr marL="0" indent="0">
              <a:buNone/>
            </a:pPr>
            <a:r>
              <a:rPr lang="en-IN" dirty="0" smtClean="0"/>
              <a:t>public </a:t>
            </a:r>
            <a:r>
              <a:rPr lang="en-IN" dirty="0"/>
              <a:t>Person(Person other) {</a:t>
            </a:r>
            <a:endParaRPr lang="en-IN" dirty="0"/>
          </a:p>
          <a:p>
            <a:pPr marL="0" indent="0">
              <a:buNone/>
            </a:pPr>
            <a:r>
              <a:rPr lang="en-IN" dirty="0"/>
              <a:t>        this.name = other.name;  // Copy the name</a:t>
            </a:r>
            <a:endParaRPr lang="en-IN" dirty="0"/>
          </a:p>
          <a:p>
            <a:pPr marL="0" indent="0">
              <a:buNone/>
            </a:pPr>
            <a:r>
              <a:rPr lang="en-IN" dirty="0"/>
              <a:t>        </a:t>
            </a:r>
            <a:r>
              <a:rPr lang="en-IN" dirty="0" err="1"/>
              <a:t>this.age</a:t>
            </a:r>
            <a:r>
              <a:rPr lang="en-IN" dirty="0"/>
              <a:t> = </a:t>
            </a:r>
            <a:r>
              <a:rPr lang="en-IN" dirty="0" err="1"/>
              <a:t>other.age</a:t>
            </a:r>
            <a:r>
              <a:rPr lang="en-IN" dirty="0"/>
              <a:t>;    // Copy the age</a:t>
            </a:r>
            <a:endParaRPr lang="en-IN" dirty="0"/>
          </a:p>
          <a:p>
            <a:pPr marL="0" indent="0">
              <a:buNone/>
            </a:pPr>
            <a:r>
              <a:rPr lang="en-IN" dirty="0"/>
              <a:t>    }</a:t>
            </a:r>
            <a:endParaRPr lang="en-IN" dirty="0"/>
          </a:p>
          <a:p>
            <a:pPr marL="0" indent="0">
              <a:buNone/>
            </a:pPr>
            <a:r>
              <a:rPr lang="en-IN" dirty="0" smtClean="0"/>
              <a:t>public </a:t>
            </a:r>
            <a:r>
              <a:rPr lang="en-IN" dirty="0"/>
              <a:t>void </a:t>
            </a:r>
            <a:r>
              <a:rPr lang="en-IN" dirty="0" err="1"/>
              <a:t>displayInfo</a:t>
            </a:r>
            <a:r>
              <a:rPr lang="en-IN" dirty="0"/>
              <a:t>() {</a:t>
            </a:r>
            <a:endParaRPr lang="en-IN" dirty="0"/>
          </a:p>
          <a:p>
            <a:pPr marL="0" indent="0">
              <a:buNone/>
            </a:pPr>
            <a:r>
              <a:rPr lang="en-IN" dirty="0" err="1" smtClean="0"/>
              <a:t>System.out.println</a:t>
            </a:r>
            <a:r>
              <a:rPr lang="en-IN" dirty="0"/>
              <a:t>("Name: " + name + ", Age: " + age);</a:t>
            </a:r>
            <a:endParaRPr lang="en-IN" dirty="0"/>
          </a:p>
          <a:p>
            <a:pPr marL="0" indent="0">
              <a:buNone/>
            </a:pPr>
            <a:r>
              <a:rPr lang="en-IN" dirty="0"/>
              <a:t>    }</a:t>
            </a:r>
            <a:endParaRPr lang="en-IN" dirty="0"/>
          </a:p>
          <a:p>
            <a:pPr marL="0" indent="0">
              <a:buNone/>
            </a:pPr>
            <a:r>
              <a:rPr lang="en-IN" dirty="0"/>
              <a:t>}</a:t>
            </a:r>
            <a:endParaRPr lang="en-IN" dirty="0"/>
          </a:p>
          <a:p>
            <a:pPr marL="0" indent="0">
              <a:buNone/>
            </a:pPr>
            <a:endParaRPr lang="en-IN" dirty="0"/>
          </a:p>
          <a:p>
            <a:pPr marL="0" indent="0">
              <a:buNone/>
            </a:pPr>
            <a:endParaRPr lang="en-IN" dirty="0"/>
          </a:p>
        </p:txBody>
      </p:sp>
      <p:sp>
        <p:nvSpPr>
          <p:cNvPr id="4" name="Content Placeholder 2"/>
          <p:cNvSpPr txBox="1"/>
          <p:nvPr/>
        </p:nvSpPr>
        <p:spPr>
          <a:xfrm>
            <a:off x="6858000" y="1274619"/>
            <a:ext cx="5047673" cy="52093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endParaRPr lang="en-IN" sz="2000" dirty="0" smtClean="0"/>
          </a:p>
          <a:p>
            <a:pPr marL="0" indent="0">
              <a:buFont typeface="Arial" panose="020B0604020202090204" pitchFamily="34" charset="0"/>
              <a:buNone/>
            </a:pPr>
            <a:r>
              <a:rPr lang="en-IN" sz="2000" dirty="0" smtClean="0"/>
              <a:t>public class Main {</a:t>
            </a:r>
            <a:endParaRPr lang="en-IN" sz="2000" dirty="0" smtClean="0"/>
          </a:p>
          <a:p>
            <a:pPr marL="0" indent="0">
              <a:buFont typeface="Arial" panose="020B0604020202090204" pitchFamily="34" charset="0"/>
              <a:buNone/>
            </a:pPr>
            <a:r>
              <a:rPr lang="en-IN" sz="2000" dirty="0" smtClean="0"/>
              <a:t>    public static void main(String[] </a:t>
            </a:r>
            <a:r>
              <a:rPr lang="en-IN" sz="2000" dirty="0" err="1" smtClean="0"/>
              <a:t>args</a:t>
            </a:r>
            <a:r>
              <a:rPr lang="en-IN" sz="2000" dirty="0" smtClean="0"/>
              <a:t>) {</a:t>
            </a:r>
            <a:endParaRPr lang="en-IN" sz="2000" dirty="0" smtClean="0"/>
          </a:p>
          <a:p>
            <a:pPr marL="0" indent="0">
              <a:buFont typeface="Arial" panose="020B0604020202090204" pitchFamily="34" charset="0"/>
              <a:buNone/>
            </a:pPr>
            <a:r>
              <a:rPr lang="en-IN" sz="2000" dirty="0"/>
              <a:t> </a:t>
            </a:r>
            <a:r>
              <a:rPr lang="en-IN" sz="2000" dirty="0" smtClean="0"/>
              <a:t>  Person person1 = new Person("Alice", 30);</a:t>
            </a:r>
            <a:endParaRPr lang="en-IN" sz="2000" dirty="0" smtClean="0"/>
          </a:p>
          <a:p>
            <a:pPr marL="0" indent="0">
              <a:buFont typeface="Arial" panose="020B0604020202090204" pitchFamily="34" charset="0"/>
              <a:buNone/>
            </a:pPr>
            <a:r>
              <a:rPr lang="en-IN" sz="2000" dirty="0" smtClean="0"/>
              <a:t>   Person person2 = new Person(person1);</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("Original Person:");</a:t>
            </a:r>
            <a:endParaRPr lang="en-IN" sz="2000" dirty="0" smtClean="0"/>
          </a:p>
          <a:p>
            <a:pPr marL="0" indent="0">
              <a:buFont typeface="Arial" panose="020B0604020202090204" pitchFamily="34" charset="0"/>
              <a:buNone/>
            </a:pPr>
            <a:r>
              <a:rPr lang="en-IN" sz="2000" dirty="0" smtClean="0"/>
              <a:t>        person1.displayInfo();</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a:t>
            </a:r>
            <a:endParaRPr lang="en-IN" sz="2000" dirty="0" smtClean="0"/>
          </a:p>
          <a:p>
            <a:pPr marL="0" indent="0">
              <a:buFont typeface="Arial" panose="020B0604020202090204" pitchFamily="34" charset="0"/>
              <a:buNone/>
            </a:pPr>
            <a:r>
              <a:rPr lang="en-IN" sz="2000" dirty="0" smtClean="0"/>
              <a:t>        </a:t>
            </a:r>
            <a:r>
              <a:rPr lang="en-IN" sz="2000" dirty="0" err="1" smtClean="0"/>
              <a:t>System.out.println</a:t>
            </a:r>
            <a:r>
              <a:rPr lang="en-IN" sz="2000" dirty="0" smtClean="0"/>
              <a:t>("Copied Person:");</a:t>
            </a:r>
            <a:endParaRPr lang="en-IN" sz="2000" dirty="0" smtClean="0"/>
          </a:p>
          <a:p>
            <a:pPr marL="0" indent="0">
              <a:buFont typeface="Arial" panose="020B0604020202090204" pitchFamily="34" charset="0"/>
              <a:buNone/>
            </a:pPr>
            <a:r>
              <a:rPr lang="en-IN" sz="2000" dirty="0" smtClean="0"/>
              <a:t>        person2.displayInfo();</a:t>
            </a:r>
            <a:endParaRPr lang="en-IN" sz="2000" dirty="0" smtClean="0"/>
          </a:p>
          <a:p>
            <a:pPr marL="0" indent="0">
              <a:buFont typeface="Arial" panose="020B0604020202090204" pitchFamily="34" charset="0"/>
              <a:buNone/>
            </a:pPr>
            <a:r>
              <a:rPr lang="en-IN" sz="2000" dirty="0" smtClean="0"/>
              <a:t>    }</a:t>
            </a:r>
            <a:endParaRPr lang="en-IN" sz="2000" dirty="0" smtClean="0"/>
          </a:p>
          <a:p>
            <a:pPr marL="0" indent="0">
              <a:buFont typeface="Arial" panose="020B0604020202090204" pitchFamily="34" charset="0"/>
              <a:buNone/>
            </a:pPr>
            <a:r>
              <a:rPr lang="en-IN" sz="2000" dirty="0" smtClean="0"/>
              <a:t>}</a:t>
            </a:r>
            <a:endParaRPr lang="en-IN" sz="2000" dirty="0" smtClean="0"/>
          </a:p>
          <a:p>
            <a:pPr marL="0" indent="0">
              <a:buFont typeface="Arial" panose="020B0604020202090204" pitchFamily="34" charset="0"/>
              <a:buNone/>
            </a:pPr>
            <a:endParaRPr lang="en-IN" sz="20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Wrapper class</a:t>
            </a:r>
            <a:endParaRPr lang="en-IN" dirty="0"/>
          </a:p>
        </p:txBody>
      </p:sp>
      <p:sp>
        <p:nvSpPr>
          <p:cNvPr id="3" name="Content Placeholder 2"/>
          <p:cNvSpPr>
            <a:spLocks noGrp="1"/>
          </p:cNvSpPr>
          <p:nvPr>
            <p:ph idx="1"/>
          </p:nvPr>
        </p:nvSpPr>
        <p:spPr>
          <a:xfrm>
            <a:off x="838200" y="1825625"/>
            <a:ext cx="10515600" cy="4658302"/>
          </a:xfrm>
        </p:spPr>
        <p:txBody>
          <a:bodyPr>
            <a:normAutofit/>
          </a:bodyPr>
          <a:lstStyle/>
          <a:p>
            <a:r>
              <a:rPr lang="en-US" dirty="0"/>
              <a:t>In Java, wrapper classes are used to convert primitive data types (like </a:t>
            </a:r>
            <a:r>
              <a:rPr lang="en-US" dirty="0" err="1"/>
              <a:t>int</a:t>
            </a:r>
            <a:r>
              <a:rPr lang="en-US" dirty="0"/>
              <a:t>, char, etc.) into objects</a:t>
            </a:r>
            <a:r>
              <a:rPr lang="en-US" dirty="0" smtClean="0"/>
              <a:t>.</a:t>
            </a:r>
            <a:endParaRPr lang="en-US" dirty="0" smtClean="0"/>
          </a:p>
          <a:p>
            <a:r>
              <a:rPr lang="en-US" dirty="0" smtClean="0"/>
              <a:t>What we need Wrapper class?</a:t>
            </a:r>
            <a:endParaRPr lang="en-US" dirty="0" smtClean="0"/>
          </a:p>
          <a:p>
            <a:pPr lvl="1"/>
            <a:r>
              <a:rPr lang="en-US" dirty="0"/>
              <a:t>They convert primitive data types into objects. Objects are needed if we wish to modify the arguments passed into a method (because primitive types are passed by value</a:t>
            </a:r>
            <a:r>
              <a:rPr lang="en-US" dirty="0" smtClean="0"/>
              <a:t>).</a:t>
            </a:r>
            <a:endParaRPr lang="en-US" dirty="0" smtClean="0"/>
          </a:p>
          <a:p>
            <a:pPr lvl="1"/>
            <a:r>
              <a:rPr lang="en-US" dirty="0" smtClean="0"/>
              <a:t>This </a:t>
            </a:r>
            <a:r>
              <a:rPr lang="en-US" dirty="0"/>
              <a:t>allows primitive values to be treated as objects, which is necessary when working with collections (like </a:t>
            </a:r>
            <a:r>
              <a:rPr lang="en-US" dirty="0" err="1" smtClean="0"/>
              <a:t>ArrayList</a:t>
            </a:r>
            <a:r>
              <a:rPr lang="en-US" dirty="0" smtClean="0"/>
              <a:t> and Vector)</a:t>
            </a:r>
            <a:endParaRPr lang="en-US" dirty="0" smtClean="0"/>
          </a:p>
          <a:p>
            <a:pPr lvl="1"/>
            <a:r>
              <a:rPr lang="en-US" dirty="0"/>
              <a:t>The classes in </a:t>
            </a:r>
            <a:r>
              <a:rPr lang="en-US" dirty="0" err="1"/>
              <a:t>java.util</a:t>
            </a:r>
            <a:r>
              <a:rPr lang="en-US" dirty="0"/>
              <a:t> package handles only objects and hence wrapper classes help in this case also</a:t>
            </a:r>
            <a:r>
              <a:rPr lang="en-US" dirty="0" smtClean="0"/>
              <a:t>.</a:t>
            </a:r>
            <a:endParaRPr lang="en-US" dirty="0" smtClean="0"/>
          </a:p>
          <a:p>
            <a:pPr lvl="1"/>
            <a:r>
              <a:rPr lang="en-US" dirty="0"/>
              <a:t>An object is needed to support synchronization in multithreading.</a:t>
            </a:r>
            <a:endParaRPr lang="en-US" dirty="0"/>
          </a:p>
          <a:p>
            <a:pPr lvl="1"/>
            <a:endParaRPr lang="en-US" dirty="0"/>
          </a:p>
          <a:p>
            <a:pPr lvl="1"/>
            <a:endParaRPr lang="en-I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1076709" cy="715530"/>
          </a:xfrm>
        </p:spPr>
        <p:txBody>
          <a:bodyPr>
            <a:normAutofit/>
          </a:bodyPr>
          <a:lstStyle/>
          <a:p>
            <a:r>
              <a:rPr lang="en-US" sz="3600" b="1" dirty="0"/>
              <a:t>Primitive Data Types and their Corresponding Wrapper </a:t>
            </a:r>
            <a:r>
              <a:rPr lang="en-US" sz="3600" b="1" dirty="0" smtClean="0"/>
              <a:t>Class</a:t>
            </a:r>
            <a:endParaRPr lang="en-IN" sz="3600" dirty="0"/>
          </a:p>
        </p:txBody>
      </p:sp>
      <p:graphicFrame>
        <p:nvGraphicFramePr>
          <p:cNvPr id="4" name="Content Placeholder 3"/>
          <p:cNvGraphicFramePr>
            <a:graphicFrameLocks noGrp="1"/>
          </p:cNvGraphicFramePr>
          <p:nvPr>
            <p:ph idx="1"/>
          </p:nvPr>
        </p:nvGraphicFramePr>
        <p:xfrm>
          <a:off x="838200" y="1366982"/>
          <a:ext cx="10515600" cy="5227783"/>
        </p:xfrm>
        <a:graphic>
          <a:graphicData uri="http://schemas.openxmlformats.org/drawingml/2006/table">
            <a:tbl>
              <a:tblPr/>
              <a:tblGrid>
                <a:gridCol w="5257800"/>
                <a:gridCol w="5257800"/>
              </a:tblGrid>
              <a:tr h="531639">
                <a:tc>
                  <a:txBody>
                    <a:bodyPr/>
                    <a:lstStyle/>
                    <a:p>
                      <a:pPr algn="ctr" rtl="0" fontAlgn="base"/>
                      <a:r>
                        <a:rPr lang="en-IN" sz="2400" b="1">
                          <a:effectLst/>
                        </a:rPr>
                        <a:t>Primitive Data Type</a:t>
                      </a:r>
                      <a:endParaRPr lang="en-IN" sz="2400" b="1">
                        <a:effectLst/>
                      </a:endParaRP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400" b="1">
                          <a:effectLst/>
                        </a:rPr>
                        <a:t>Wrapper Class</a:t>
                      </a:r>
                      <a:endParaRPr lang="en-IN" sz="2400" b="1">
                        <a:effectLst/>
                      </a:endParaRP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dirty="0">
                          <a:effectLst/>
                        </a:rPr>
                        <a:t>                                   char                                   </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a:effectLst/>
                        </a:rPr>
                        <a:t>                               Character                              </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dirty="0">
                          <a:effectLst/>
                        </a:rPr>
                        <a:t>byte</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Byte</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short</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Short</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int </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Integer</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long</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Long</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float</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Float</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double</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Double</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87018">
                <a:tc>
                  <a:txBody>
                    <a:bodyPr/>
                    <a:lstStyle/>
                    <a:p>
                      <a:pPr algn="ctr" rtl="0" fontAlgn="base"/>
                      <a:r>
                        <a:rPr lang="en-IN" sz="2000" b="0">
                          <a:effectLst/>
                        </a:rPr>
                        <a:t>boolean </a:t>
                      </a:r>
                      <a:endParaRPr lang="en-IN"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000" b="0" dirty="0">
                          <a:effectLst/>
                        </a:rPr>
                        <a:t>Boolean</a:t>
                      </a:r>
                      <a:endParaRPr lang="en-IN"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419" y="97271"/>
            <a:ext cx="10515600" cy="558511"/>
          </a:xfrm>
        </p:spPr>
        <p:txBody>
          <a:bodyPr>
            <a:normAutofit fontScale="90000"/>
          </a:bodyPr>
          <a:lstStyle/>
          <a:p>
            <a:r>
              <a:rPr lang="en-IN" sz="3600" dirty="0" smtClean="0"/>
              <a:t>Features of Wrapper class</a:t>
            </a:r>
            <a:endParaRPr lang="en-IN" sz="3600" dirty="0"/>
          </a:p>
        </p:txBody>
      </p:sp>
      <p:sp>
        <p:nvSpPr>
          <p:cNvPr id="3" name="Content Placeholder 2"/>
          <p:cNvSpPr>
            <a:spLocks noGrp="1"/>
          </p:cNvSpPr>
          <p:nvPr>
            <p:ph idx="1"/>
          </p:nvPr>
        </p:nvSpPr>
        <p:spPr>
          <a:xfrm>
            <a:off x="838200" y="766618"/>
            <a:ext cx="10515600" cy="5818909"/>
          </a:xfrm>
        </p:spPr>
        <p:txBody>
          <a:bodyPr>
            <a:noAutofit/>
          </a:bodyPr>
          <a:lstStyle/>
          <a:p>
            <a:pPr marL="514350" indent="-514350">
              <a:buFont typeface="+mj-lt"/>
              <a:buAutoNum type="arabicPeriod"/>
            </a:pPr>
            <a:r>
              <a:rPr lang="en-US" dirty="0"/>
              <a:t>Java automatically converts between primitive types and their corresponding wrapper objects</a:t>
            </a:r>
            <a:r>
              <a:rPr lang="en-US" dirty="0" smtClean="0"/>
              <a:t>.</a:t>
            </a:r>
            <a:endParaRPr lang="en-US" dirty="0" smtClean="0"/>
          </a:p>
          <a:p>
            <a:pPr lvl="1"/>
            <a:r>
              <a:rPr lang="en-IN" sz="2800" b="1" dirty="0" err="1" smtClean="0"/>
              <a:t>Autoboxing</a:t>
            </a:r>
            <a:endParaRPr lang="en-IN" sz="2800" b="1" dirty="0" smtClean="0"/>
          </a:p>
          <a:p>
            <a:pPr lvl="2"/>
            <a:r>
              <a:rPr lang="en-US" sz="2400" dirty="0"/>
              <a:t>The automatic conversion of primitive types to the object of their corresponding wrapper classes is known as </a:t>
            </a:r>
            <a:r>
              <a:rPr lang="en-US" sz="2400" dirty="0" err="1"/>
              <a:t>autoboxing</a:t>
            </a:r>
            <a:r>
              <a:rPr lang="en-US" sz="2400" dirty="0"/>
              <a:t>.  For example – conversion of </a:t>
            </a:r>
            <a:r>
              <a:rPr lang="en-US" sz="2400" dirty="0" err="1"/>
              <a:t>int</a:t>
            </a:r>
            <a:r>
              <a:rPr lang="en-US" sz="2400" dirty="0"/>
              <a:t> to Integer, long to Long, double to Double, etc.</a:t>
            </a:r>
            <a:endParaRPr lang="en-US" sz="2400" dirty="0"/>
          </a:p>
          <a:p>
            <a:pPr marL="2743200" lvl="6" indent="0">
              <a:buNone/>
            </a:pPr>
            <a:r>
              <a:rPr lang="en-US" sz="2000" dirty="0" err="1" smtClean="0"/>
              <a:t>int</a:t>
            </a:r>
            <a:r>
              <a:rPr lang="en-US" sz="2000" dirty="0" smtClean="0"/>
              <a:t> x = 10;</a:t>
            </a:r>
            <a:endParaRPr lang="en-US" sz="2000" dirty="0" smtClean="0"/>
          </a:p>
          <a:p>
            <a:pPr marL="2743200" lvl="6" indent="0">
              <a:buNone/>
            </a:pPr>
            <a:r>
              <a:rPr lang="en-US" sz="2000" dirty="0" smtClean="0"/>
              <a:t>Integer </a:t>
            </a:r>
            <a:r>
              <a:rPr lang="en-US" sz="2000" dirty="0" err="1" smtClean="0"/>
              <a:t>obj</a:t>
            </a:r>
            <a:r>
              <a:rPr lang="en-US" sz="2000" dirty="0" smtClean="0"/>
              <a:t> = x; // </a:t>
            </a:r>
            <a:r>
              <a:rPr lang="en-US" sz="2000" dirty="0" err="1" smtClean="0"/>
              <a:t>Autoboxing</a:t>
            </a:r>
            <a:r>
              <a:rPr lang="en-US" sz="2000" dirty="0" smtClean="0"/>
              <a:t>: </a:t>
            </a:r>
            <a:r>
              <a:rPr lang="en-US" sz="2000" dirty="0" err="1" smtClean="0"/>
              <a:t>int</a:t>
            </a:r>
            <a:r>
              <a:rPr lang="en-US" sz="2000" dirty="0" smtClean="0"/>
              <a:t> to Integer</a:t>
            </a:r>
            <a:endParaRPr lang="en-US" sz="2000" dirty="0" smtClean="0"/>
          </a:p>
          <a:p>
            <a:pPr lvl="1"/>
            <a:endParaRPr lang="en-IN" sz="2800" b="1" dirty="0" smtClean="0"/>
          </a:p>
          <a:p>
            <a:pPr lvl="1"/>
            <a:r>
              <a:rPr lang="en-US" sz="2800" b="1" dirty="0" smtClean="0"/>
              <a:t>Unboxing</a:t>
            </a:r>
            <a:endParaRPr lang="en-US" sz="2800" dirty="0"/>
          </a:p>
          <a:p>
            <a:pPr lvl="2"/>
            <a:r>
              <a:rPr lang="en-US" dirty="0" smtClean="0"/>
              <a:t>Converting a wrapper object back into its corresponding primitive type.</a:t>
            </a:r>
            <a:endParaRPr lang="en-US" sz="2400" dirty="0" smtClean="0"/>
          </a:p>
          <a:p>
            <a:pPr marL="2743200" lvl="6" indent="0">
              <a:buNone/>
            </a:pPr>
            <a:r>
              <a:rPr lang="en-US" sz="2000" dirty="0"/>
              <a:t>Integer </a:t>
            </a:r>
            <a:r>
              <a:rPr lang="en-US" sz="2000" dirty="0" err="1"/>
              <a:t>obj</a:t>
            </a:r>
            <a:r>
              <a:rPr lang="en-US" sz="2000" dirty="0"/>
              <a:t> = 20;</a:t>
            </a:r>
            <a:endParaRPr lang="en-US" sz="2000" dirty="0"/>
          </a:p>
          <a:p>
            <a:pPr marL="2743200" lvl="6" indent="0">
              <a:buNone/>
            </a:pPr>
            <a:r>
              <a:rPr lang="en-US" sz="2000" dirty="0" err="1"/>
              <a:t>int</a:t>
            </a:r>
            <a:r>
              <a:rPr lang="en-US" sz="2000" dirty="0"/>
              <a:t> y = </a:t>
            </a:r>
            <a:r>
              <a:rPr lang="en-US" sz="2000" dirty="0" err="1"/>
              <a:t>obj</a:t>
            </a:r>
            <a:r>
              <a:rPr lang="en-US" sz="2000" dirty="0"/>
              <a:t>; // Unboxing: Integer to </a:t>
            </a:r>
            <a:r>
              <a:rPr lang="en-US" sz="2000" dirty="0" err="1"/>
              <a:t>int</a:t>
            </a:r>
            <a:endParaRPr lang="en-US" sz="2000" dirty="0"/>
          </a:p>
          <a:p>
            <a:pPr lvl="2"/>
            <a:endParaRPr lang="en-US" sz="2400" dirty="0"/>
          </a:p>
          <a:p>
            <a:pPr lvl="2"/>
            <a:endParaRPr lang="en-US"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419" y="97271"/>
            <a:ext cx="10515600" cy="558511"/>
          </a:xfrm>
        </p:spPr>
        <p:txBody>
          <a:bodyPr>
            <a:normAutofit fontScale="90000"/>
          </a:bodyPr>
          <a:lstStyle/>
          <a:p>
            <a:r>
              <a:rPr lang="en-IN" sz="3600" dirty="0" smtClean="0"/>
              <a:t>Features of Wrapper class</a:t>
            </a:r>
            <a:endParaRPr lang="en-IN" sz="3600" dirty="0"/>
          </a:p>
        </p:txBody>
      </p:sp>
      <p:sp>
        <p:nvSpPr>
          <p:cNvPr id="3" name="Content Placeholder 2"/>
          <p:cNvSpPr>
            <a:spLocks noGrp="1"/>
          </p:cNvSpPr>
          <p:nvPr>
            <p:ph idx="1"/>
          </p:nvPr>
        </p:nvSpPr>
        <p:spPr>
          <a:xfrm>
            <a:off x="838200" y="766618"/>
            <a:ext cx="10515600" cy="5818909"/>
          </a:xfrm>
        </p:spPr>
        <p:txBody>
          <a:bodyPr>
            <a:noAutofit/>
          </a:bodyPr>
          <a:lstStyle/>
          <a:p>
            <a:pPr marL="514350" indent="-514350">
              <a:buFont typeface="+mj-lt"/>
              <a:buAutoNum type="arabicPeriod"/>
            </a:pPr>
            <a:r>
              <a:rPr lang="en-US" dirty="0"/>
              <a:t>Useful </a:t>
            </a:r>
            <a:r>
              <a:rPr lang="en-US" dirty="0" err="1"/>
              <a:t>Methods:Wrapper</a:t>
            </a:r>
            <a:r>
              <a:rPr lang="en-US" dirty="0"/>
              <a:t> classes provide various methods to manipulate and convert data. </a:t>
            </a:r>
            <a:r>
              <a:rPr lang="en-US" dirty="0" smtClean="0"/>
              <a:t>For </a:t>
            </a:r>
            <a:r>
              <a:rPr lang="en-US" dirty="0"/>
              <a:t>example</a:t>
            </a:r>
            <a:r>
              <a:rPr lang="en-US" dirty="0" smtClean="0"/>
              <a:t>:</a:t>
            </a:r>
            <a:endParaRPr lang="en-US" dirty="0" smtClean="0"/>
          </a:p>
          <a:p>
            <a:pPr lvl="1"/>
            <a:r>
              <a:rPr lang="en-US" dirty="0" err="1" smtClean="0"/>
              <a:t>Integer.parseInt</a:t>
            </a:r>
            <a:r>
              <a:rPr lang="en-US" dirty="0"/>
              <a:t>("123"): Converts a string to an </a:t>
            </a:r>
            <a:r>
              <a:rPr lang="en-US" dirty="0" smtClean="0"/>
              <a:t>int.</a:t>
            </a:r>
            <a:endParaRPr lang="en-US" dirty="0" smtClean="0"/>
          </a:p>
          <a:p>
            <a:pPr lvl="1"/>
            <a:r>
              <a:rPr lang="en-US" dirty="0" err="1" smtClean="0"/>
              <a:t>Double.toString</a:t>
            </a:r>
            <a:r>
              <a:rPr lang="en-US" dirty="0" smtClean="0"/>
              <a:t>(10.5</a:t>
            </a:r>
            <a:r>
              <a:rPr lang="en-US" dirty="0"/>
              <a:t>): Converts a double to a String</a:t>
            </a:r>
            <a:r>
              <a:rPr lang="en-US" dirty="0" smtClean="0"/>
              <a:t>.</a:t>
            </a:r>
            <a:endParaRPr lang="en-US" dirty="0" smtClean="0"/>
          </a:p>
          <a:p>
            <a:pPr marL="514350" indent="-514350">
              <a:buFont typeface="+mj-lt"/>
              <a:buAutoNum type="arabicPeriod"/>
            </a:pPr>
            <a:r>
              <a:rPr lang="en-US" dirty="0"/>
              <a:t>Immutable Objects:</a:t>
            </a:r>
            <a:br>
              <a:rPr lang="en-US" dirty="0"/>
            </a:br>
            <a:r>
              <a:rPr lang="en-US" dirty="0"/>
              <a:t>Wrapper objects are immutable, meaning their values cannot be changed after they are created</a:t>
            </a:r>
            <a:r>
              <a:rPr lang="en-US" dirty="0" smtClean="0"/>
              <a:t>.</a:t>
            </a:r>
            <a:endParaRPr lang="en-US" dirty="0" smtClean="0"/>
          </a:p>
          <a:p>
            <a:pPr marL="514350" indent="-514350">
              <a:buFont typeface="+mj-lt"/>
              <a:buAutoNum type="arabicPeriod"/>
            </a:pPr>
            <a:r>
              <a:rPr lang="en-US" dirty="0"/>
              <a:t>Usage in </a:t>
            </a:r>
            <a:r>
              <a:rPr lang="en-US" dirty="0" err="1"/>
              <a:t>Collections:Since</a:t>
            </a:r>
            <a:r>
              <a:rPr lang="en-US" dirty="0"/>
              <a:t> collections like </a:t>
            </a:r>
            <a:r>
              <a:rPr lang="en-US" dirty="0" err="1"/>
              <a:t>ArrayList</a:t>
            </a:r>
            <a:r>
              <a:rPr lang="en-US" dirty="0"/>
              <a:t>, </a:t>
            </a:r>
            <a:r>
              <a:rPr lang="en-US" dirty="0" err="1"/>
              <a:t>HashMap</a:t>
            </a:r>
            <a:r>
              <a:rPr lang="en-US" dirty="0"/>
              <a:t>, etc., only work with objects, wrapper classes allow the use of primitive values in these structures</a:t>
            </a:r>
            <a:r>
              <a:rPr lang="en-US" dirty="0" smtClean="0"/>
              <a:t>.</a:t>
            </a:r>
            <a:endParaRPr lang="en-US" dirty="0" smtClean="0"/>
          </a:p>
          <a:p>
            <a:pPr lvl="1"/>
            <a:r>
              <a:rPr lang="en-US" dirty="0" err="1"/>
              <a:t>ArrayList</a:t>
            </a:r>
            <a:r>
              <a:rPr lang="en-US" dirty="0"/>
              <a:t>&lt;Integer&gt; list = new </a:t>
            </a:r>
            <a:r>
              <a:rPr lang="en-US" dirty="0" err="1"/>
              <a:t>ArrayList</a:t>
            </a:r>
            <a:r>
              <a:rPr lang="en-US" dirty="0"/>
              <a:t>&lt;&gt;();</a:t>
            </a:r>
            <a:endParaRPr lang="en-US" dirty="0"/>
          </a:p>
          <a:p>
            <a:pPr lvl="1"/>
            <a:r>
              <a:rPr lang="en-US" dirty="0" err="1"/>
              <a:t>list.add</a:t>
            </a:r>
            <a:r>
              <a:rPr lang="en-US" dirty="0"/>
              <a:t>(10); // </a:t>
            </a:r>
            <a:r>
              <a:rPr lang="en-US" dirty="0" err="1"/>
              <a:t>Autoboxing</a:t>
            </a:r>
            <a:r>
              <a:rPr lang="en-US" dirty="0"/>
              <a:t>: </a:t>
            </a:r>
            <a:r>
              <a:rPr lang="en-US" dirty="0" err="1"/>
              <a:t>int</a:t>
            </a:r>
            <a:r>
              <a:rPr lang="en-US" dirty="0"/>
              <a:t> to Integer</a:t>
            </a:r>
            <a:endParaRPr lang="en-US" dirty="0"/>
          </a:p>
          <a:p>
            <a:pPr marL="514350" indent="-514350">
              <a:buFont typeface="+mj-lt"/>
              <a:buAutoNum type="arabicPeriod"/>
            </a:pPr>
            <a:endParaRPr lang="en-US" dirty="0" smtClean="0"/>
          </a:p>
          <a:p>
            <a:pPr marL="514350" indent="-514350">
              <a:buFont typeface="+mj-lt"/>
              <a:buAutoNum type="arabicPeriod"/>
            </a:pPr>
            <a:endParaRPr lang="en-US" sz="2400" dirty="0" smtClean="0"/>
          </a:p>
          <a:p>
            <a:pPr lvl="2"/>
            <a:endParaRPr lang="en-US" sz="24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127" y="143453"/>
            <a:ext cx="10515600" cy="503092"/>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625763" y="781915"/>
            <a:ext cx="10476346" cy="5840557"/>
          </a:xfrm>
        </p:spPr>
        <p:txBody>
          <a:bodyPr>
            <a:noAutofit/>
          </a:bodyPr>
          <a:lstStyle/>
          <a:p>
            <a:pPr marL="0" indent="0">
              <a:buNone/>
            </a:pPr>
            <a:r>
              <a:rPr lang="en-IN" sz="2400" dirty="0"/>
              <a:t>public class </a:t>
            </a:r>
            <a:r>
              <a:rPr lang="en-IN" sz="2400" dirty="0" err="1"/>
              <a:t>WrapperExample</a:t>
            </a:r>
            <a:r>
              <a:rPr lang="en-IN" sz="2400" dirty="0"/>
              <a:t> {</a:t>
            </a:r>
            <a:endParaRPr lang="en-IN" sz="2400" dirty="0"/>
          </a:p>
          <a:p>
            <a:pPr marL="0" indent="0">
              <a:buNone/>
            </a:pPr>
            <a:r>
              <a:rPr lang="en-IN" sz="2400" dirty="0"/>
              <a:t>    public static void main(String[] </a:t>
            </a:r>
            <a:r>
              <a:rPr lang="en-IN" sz="2400" dirty="0" err="1"/>
              <a:t>args</a:t>
            </a:r>
            <a:r>
              <a:rPr lang="en-IN" sz="2400" dirty="0"/>
              <a:t>) {</a:t>
            </a:r>
            <a:endParaRPr lang="en-IN" sz="2400" dirty="0"/>
          </a:p>
          <a:p>
            <a:pPr marL="0" indent="0">
              <a:buNone/>
            </a:pPr>
            <a:r>
              <a:rPr lang="en-IN" sz="2400" dirty="0"/>
              <a:t> </a:t>
            </a:r>
            <a:r>
              <a:rPr lang="en-IN" sz="2400" dirty="0" smtClean="0"/>
              <a:t>       </a:t>
            </a:r>
            <a:r>
              <a:rPr lang="en-IN" sz="2400" dirty="0" err="1" smtClean="0"/>
              <a:t>int</a:t>
            </a:r>
            <a:r>
              <a:rPr lang="en-IN" sz="2400" dirty="0" smtClean="0"/>
              <a:t> </a:t>
            </a:r>
            <a:r>
              <a:rPr lang="en-IN" sz="2400" dirty="0" err="1"/>
              <a:t>num</a:t>
            </a:r>
            <a:r>
              <a:rPr lang="en-IN" sz="2400" dirty="0"/>
              <a:t> = 100;</a:t>
            </a:r>
            <a:endParaRPr lang="en-IN" sz="2400" dirty="0"/>
          </a:p>
          <a:p>
            <a:pPr marL="0" indent="0">
              <a:buNone/>
            </a:pPr>
            <a:r>
              <a:rPr lang="en-IN" sz="2400" dirty="0"/>
              <a:t>        Integer </a:t>
            </a:r>
            <a:r>
              <a:rPr lang="en-IN" sz="2400" dirty="0" err="1"/>
              <a:t>obj</a:t>
            </a:r>
            <a:r>
              <a:rPr lang="en-IN" sz="2400" dirty="0"/>
              <a:t> = </a:t>
            </a:r>
            <a:r>
              <a:rPr lang="en-IN" sz="2400" dirty="0" err="1"/>
              <a:t>num</a:t>
            </a:r>
            <a:r>
              <a:rPr lang="en-IN" sz="2400" dirty="0"/>
              <a:t>; </a:t>
            </a:r>
            <a:r>
              <a:rPr lang="en-IN" sz="2400" dirty="0" smtClean="0"/>
              <a:t>	// </a:t>
            </a:r>
            <a:r>
              <a:rPr lang="en-IN" sz="2400" dirty="0" err="1"/>
              <a:t>Autoboxing</a:t>
            </a:r>
            <a:r>
              <a:rPr lang="en-IN" sz="2400" dirty="0"/>
              <a:t>: primitive to </a:t>
            </a:r>
            <a:r>
              <a:rPr lang="en-IN" sz="2400" dirty="0" smtClean="0"/>
              <a:t>object</a:t>
            </a:r>
            <a:endParaRPr lang="en-IN" sz="2400" dirty="0"/>
          </a:p>
          <a:p>
            <a:pPr marL="0" indent="0">
              <a:buNone/>
            </a:pPr>
            <a:r>
              <a:rPr lang="en-IN" sz="2400" dirty="0" smtClean="0"/>
              <a:t>         </a:t>
            </a:r>
            <a:r>
              <a:rPr lang="en-IN" sz="2400" dirty="0" err="1" smtClean="0"/>
              <a:t>int</a:t>
            </a:r>
            <a:r>
              <a:rPr lang="en-IN" sz="2400" dirty="0" smtClean="0"/>
              <a:t> </a:t>
            </a:r>
            <a:r>
              <a:rPr lang="en-IN" sz="2400" dirty="0"/>
              <a:t>value = </a:t>
            </a:r>
            <a:r>
              <a:rPr lang="en-IN" sz="2400" dirty="0" err="1"/>
              <a:t>obj</a:t>
            </a:r>
            <a:r>
              <a:rPr lang="en-IN" sz="2400" dirty="0" smtClean="0"/>
              <a:t>;	 	// </a:t>
            </a:r>
            <a:r>
              <a:rPr lang="en-IN" sz="2400" dirty="0"/>
              <a:t>Unboxing: object to </a:t>
            </a:r>
            <a:r>
              <a:rPr lang="en-IN" sz="2400" dirty="0" smtClean="0"/>
              <a:t>primitive</a:t>
            </a:r>
            <a:endParaRPr lang="en-IN" sz="2400" dirty="0"/>
          </a:p>
          <a:p>
            <a:pPr marL="0" indent="0">
              <a:buNone/>
            </a:pPr>
            <a:r>
              <a:rPr lang="en-IN" sz="2400" dirty="0" smtClean="0"/>
              <a:t>        String </a:t>
            </a:r>
            <a:r>
              <a:rPr lang="en-IN" sz="2400" dirty="0" err="1"/>
              <a:t>str</a:t>
            </a:r>
            <a:r>
              <a:rPr lang="en-IN" sz="2400" dirty="0"/>
              <a:t> = </a:t>
            </a:r>
            <a:r>
              <a:rPr lang="en-IN" sz="2400" dirty="0" err="1" smtClean="0"/>
              <a:t>Integer.toString</a:t>
            </a:r>
            <a:r>
              <a:rPr lang="en-IN" sz="2400" dirty="0" smtClean="0"/>
              <a:t>(</a:t>
            </a:r>
            <a:r>
              <a:rPr lang="en-IN" sz="2400" dirty="0" err="1" smtClean="0"/>
              <a:t>num</a:t>
            </a:r>
            <a:r>
              <a:rPr lang="en-IN" sz="2400" dirty="0"/>
              <a:t>);</a:t>
            </a:r>
            <a:endParaRPr lang="en-IN" sz="2400" dirty="0"/>
          </a:p>
          <a:p>
            <a:pPr marL="0" indent="0">
              <a:buNone/>
            </a:pPr>
            <a:r>
              <a:rPr lang="en-IN" sz="2400" dirty="0"/>
              <a:t>        </a:t>
            </a:r>
            <a:r>
              <a:rPr lang="en-IN" sz="2400" dirty="0" err="1"/>
              <a:t>int</a:t>
            </a:r>
            <a:r>
              <a:rPr lang="en-IN" sz="2400" dirty="0"/>
              <a:t> </a:t>
            </a:r>
            <a:r>
              <a:rPr lang="en-IN" sz="2400" dirty="0" err="1"/>
              <a:t>parsedValue</a:t>
            </a:r>
            <a:r>
              <a:rPr lang="en-IN" sz="2400" dirty="0"/>
              <a:t> = </a:t>
            </a:r>
            <a:r>
              <a:rPr lang="en-IN" sz="2400" dirty="0" err="1" smtClean="0"/>
              <a:t>Integer.parseInt</a:t>
            </a:r>
            <a:r>
              <a:rPr lang="en-IN" sz="2400" dirty="0"/>
              <a:t>("123");</a:t>
            </a:r>
            <a:endParaRPr lang="en-IN" sz="2400" dirty="0"/>
          </a:p>
          <a:p>
            <a:pPr marL="0" indent="0">
              <a:buNone/>
            </a:pPr>
            <a:r>
              <a:rPr lang="en-IN" sz="2400" dirty="0"/>
              <a:t>        </a:t>
            </a:r>
            <a:endParaRPr lang="en-IN" sz="2400" dirty="0"/>
          </a:p>
          <a:p>
            <a:pPr marL="0" indent="0">
              <a:buNone/>
            </a:pPr>
            <a:r>
              <a:rPr lang="en-IN" sz="2400" dirty="0"/>
              <a:t>        </a:t>
            </a:r>
            <a:r>
              <a:rPr lang="en-IN" sz="2400" dirty="0" err="1"/>
              <a:t>System.out.println</a:t>
            </a:r>
            <a:r>
              <a:rPr lang="en-IN" sz="2400" dirty="0"/>
              <a:t>("Object value: " + </a:t>
            </a:r>
            <a:r>
              <a:rPr lang="en-IN" sz="2400" dirty="0" err="1"/>
              <a:t>obj</a:t>
            </a:r>
            <a:r>
              <a:rPr lang="en-IN" sz="2400" dirty="0"/>
              <a:t>);</a:t>
            </a:r>
            <a:endParaRPr lang="en-IN" sz="2400" dirty="0"/>
          </a:p>
          <a:p>
            <a:pPr marL="0" indent="0">
              <a:buNone/>
            </a:pPr>
            <a:r>
              <a:rPr lang="en-IN" sz="2400" dirty="0"/>
              <a:t>        </a:t>
            </a:r>
            <a:r>
              <a:rPr lang="en-IN" sz="2400" dirty="0" err="1"/>
              <a:t>System.out.println</a:t>
            </a:r>
            <a:r>
              <a:rPr lang="en-IN" sz="2400" dirty="0"/>
              <a:t>("Primitive value: " + value);</a:t>
            </a:r>
            <a:endParaRPr lang="en-IN" sz="2400" dirty="0"/>
          </a:p>
          <a:p>
            <a:pPr marL="0" indent="0">
              <a:buNone/>
            </a:pPr>
            <a:r>
              <a:rPr lang="en-IN" sz="2400" dirty="0"/>
              <a:t>        </a:t>
            </a:r>
            <a:r>
              <a:rPr lang="en-IN" sz="2400" dirty="0" err="1"/>
              <a:t>System.out.println</a:t>
            </a:r>
            <a:r>
              <a:rPr lang="en-IN" sz="2400" dirty="0"/>
              <a:t>("Parsed value: " + </a:t>
            </a:r>
            <a:r>
              <a:rPr lang="en-IN" sz="2400" dirty="0" err="1"/>
              <a:t>parsedValue</a:t>
            </a:r>
            <a:r>
              <a:rPr lang="en-IN" sz="2400" dirty="0"/>
              <a:t>);</a:t>
            </a:r>
            <a:endParaRPr lang="en-IN" sz="2400" dirty="0"/>
          </a:p>
          <a:p>
            <a:pPr marL="0" indent="0">
              <a:buNone/>
            </a:pPr>
            <a:r>
              <a:rPr lang="en-IN" sz="2400" dirty="0"/>
              <a:t>    }</a:t>
            </a:r>
            <a:endParaRPr lang="en-IN" sz="2400" dirty="0"/>
          </a:p>
          <a:p>
            <a:pPr marL="0" indent="0">
              <a:buNone/>
            </a:pPr>
            <a:r>
              <a:rPr lang="en-IN" sz="2400" dirty="0"/>
              <a:t>}</a:t>
            </a:r>
            <a:endParaRPr lang="en-IN" sz="2400" dirty="0"/>
          </a:p>
          <a:p>
            <a:pPr marL="0" indent="0">
              <a:buNone/>
            </a:pPr>
            <a:endParaRPr lang="en-IN"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178" y="189635"/>
            <a:ext cx="1808942" cy="501245"/>
          </a:xfrm>
        </p:spPr>
        <p:txBody>
          <a:bodyPr>
            <a:normAutofit fontScale="90000"/>
          </a:bodyPr>
          <a:lstStyle/>
          <a:p>
            <a:r>
              <a:rPr lang="en-IN" sz="3600" dirty="0" smtClean="0"/>
              <a:t>Example</a:t>
            </a:r>
            <a:endParaRPr lang="en-IN" sz="3600" dirty="0"/>
          </a:p>
        </p:txBody>
      </p:sp>
      <p:sp>
        <p:nvSpPr>
          <p:cNvPr id="3" name="Content Placeholder 2"/>
          <p:cNvSpPr>
            <a:spLocks noGrp="1"/>
          </p:cNvSpPr>
          <p:nvPr>
            <p:ph idx="1"/>
          </p:nvPr>
        </p:nvSpPr>
        <p:spPr>
          <a:xfrm>
            <a:off x="527858" y="856817"/>
            <a:ext cx="5303982" cy="5201920"/>
          </a:xfrm>
        </p:spPr>
        <p:txBody>
          <a:bodyPr>
            <a:noAutofit/>
          </a:bodyPr>
          <a:lstStyle/>
          <a:p>
            <a:pPr marL="0" indent="0">
              <a:buNone/>
            </a:pPr>
            <a:r>
              <a:rPr lang="en-IN" sz="1800" dirty="0"/>
              <a:t>import </a:t>
            </a:r>
            <a:r>
              <a:rPr lang="en-IN" sz="1800" dirty="0" err="1"/>
              <a:t>java.util.ArrayList</a:t>
            </a:r>
            <a:r>
              <a:rPr lang="en-IN" sz="1800" dirty="0"/>
              <a:t>;</a:t>
            </a:r>
            <a:endParaRPr lang="en-IN" sz="1800" dirty="0"/>
          </a:p>
          <a:p>
            <a:pPr marL="0" indent="0">
              <a:buNone/>
            </a:pPr>
            <a:r>
              <a:rPr lang="en-IN" sz="1800" dirty="0"/>
              <a:t>import </a:t>
            </a:r>
            <a:r>
              <a:rPr lang="en-IN" sz="1800" dirty="0" err="1"/>
              <a:t>java.util.HashMap</a:t>
            </a:r>
            <a:r>
              <a:rPr lang="en-IN" sz="1800" dirty="0" smtClean="0"/>
              <a:t>;</a:t>
            </a:r>
            <a:endParaRPr lang="en-IN" sz="1800" dirty="0"/>
          </a:p>
          <a:p>
            <a:pPr marL="0" indent="0">
              <a:buNone/>
            </a:pPr>
            <a:r>
              <a:rPr lang="en-IN" sz="1800" dirty="0"/>
              <a:t>public class </a:t>
            </a:r>
            <a:r>
              <a:rPr lang="en-IN" sz="1800" dirty="0" err="1"/>
              <a:t>WrapperClassInCollections</a:t>
            </a:r>
            <a:r>
              <a:rPr lang="en-IN" sz="1800" dirty="0"/>
              <a:t> {</a:t>
            </a:r>
            <a:endParaRPr lang="en-IN" sz="1800" dirty="0"/>
          </a:p>
          <a:p>
            <a:pPr marL="0" indent="0">
              <a:buNone/>
            </a:pPr>
            <a:r>
              <a:rPr lang="en-IN" sz="1800" dirty="0"/>
              <a:t>    public static void main(String[] </a:t>
            </a:r>
            <a:r>
              <a:rPr lang="en-IN" sz="1800" dirty="0" err="1"/>
              <a:t>args</a:t>
            </a:r>
            <a:r>
              <a:rPr lang="en-IN" sz="1800" dirty="0"/>
              <a:t>) {</a:t>
            </a:r>
            <a:endParaRPr lang="en-IN" sz="1800" dirty="0"/>
          </a:p>
          <a:p>
            <a:pPr marL="0" indent="0">
              <a:buNone/>
            </a:pPr>
            <a:r>
              <a:rPr lang="en-IN" sz="1800" dirty="0" err="1" smtClean="0"/>
              <a:t>ArrayList</a:t>
            </a:r>
            <a:r>
              <a:rPr lang="en-IN" sz="1800" dirty="0" smtClean="0"/>
              <a:t>&lt;Integer&gt; </a:t>
            </a:r>
            <a:r>
              <a:rPr lang="en-IN" sz="1800" dirty="0" err="1" smtClean="0"/>
              <a:t>integerList</a:t>
            </a:r>
            <a:r>
              <a:rPr lang="en-IN" sz="1800" dirty="0" smtClean="0"/>
              <a:t> = new </a:t>
            </a:r>
            <a:r>
              <a:rPr lang="en-IN" sz="1800" dirty="0" err="1" smtClean="0"/>
              <a:t>ArrayList</a:t>
            </a:r>
            <a:r>
              <a:rPr lang="en-IN" sz="1800" dirty="0" smtClean="0"/>
              <a:t>&lt;&gt;();</a:t>
            </a:r>
            <a:endParaRPr lang="en-IN" sz="1800" dirty="0" smtClean="0"/>
          </a:p>
          <a:p>
            <a:pPr marL="0" indent="0">
              <a:buNone/>
            </a:pPr>
            <a:r>
              <a:rPr lang="en-IN" sz="1800" dirty="0" err="1" smtClean="0"/>
              <a:t>integerList.add</a:t>
            </a:r>
            <a:r>
              <a:rPr lang="en-IN" sz="1800" dirty="0" smtClean="0"/>
              <a:t>(10</a:t>
            </a:r>
            <a:r>
              <a:rPr lang="en-IN" sz="1800" dirty="0"/>
              <a:t>); // </a:t>
            </a:r>
            <a:r>
              <a:rPr lang="en-IN" sz="1800" dirty="0" err="1"/>
              <a:t>autoboxed</a:t>
            </a:r>
            <a:r>
              <a:rPr lang="en-IN" sz="1800" dirty="0"/>
              <a:t> to Integer</a:t>
            </a:r>
            <a:endParaRPr lang="en-IN" sz="1800" dirty="0"/>
          </a:p>
          <a:p>
            <a:pPr marL="0" indent="0">
              <a:buNone/>
            </a:pPr>
            <a:r>
              <a:rPr lang="en-IN" sz="1800" dirty="0"/>
              <a:t>        </a:t>
            </a:r>
            <a:r>
              <a:rPr lang="en-IN" sz="1800" dirty="0" err="1"/>
              <a:t>integerList.add</a:t>
            </a:r>
            <a:r>
              <a:rPr lang="en-IN" sz="1800" dirty="0"/>
              <a:t>(20);</a:t>
            </a:r>
            <a:endParaRPr lang="en-IN" sz="1800" dirty="0"/>
          </a:p>
          <a:p>
            <a:pPr marL="0" indent="0">
              <a:buNone/>
            </a:pPr>
            <a:r>
              <a:rPr lang="en-IN" sz="1800" dirty="0"/>
              <a:t>        </a:t>
            </a:r>
            <a:r>
              <a:rPr lang="en-IN" sz="1800" dirty="0" err="1"/>
              <a:t>integerList.add</a:t>
            </a:r>
            <a:r>
              <a:rPr lang="en-IN" sz="1800" dirty="0"/>
              <a:t>(30);</a:t>
            </a:r>
            <a:endParaRPr lang="en-IN" sz="1800" dirty="0"/>
          </a:p>
          <a:p>
            <a:pPr marL="0" indent="0">
              <a:buNone/>
            </a:pPr>
            <a:r>
              <a:rPr lang="en-IN" sz="1800" dirty="0" err="1" smtClean="0"/>
              <a:t>System.out.println</a:t>
            </a:r>
            <a:r>
              <a:rPr lang="en-IN" sz="1800" dirty="0"/>
              <a:t>("</a:t>
            </a:r>
            <a:r>
              <a:rPr lang="en-IN" sz="1800" dirty="0" err="1"/>
              <a:t>ArrayList</a:t>
            </a:r>
            <a:r>
              <a:rPr lang="en-IN" sz="1800" dirty="0"/>
              <a:t> contents:");</a:t>
            </a:r>
            <a:endParaRPr lang="en-IN" sz="1800" dirty="0"/>
          </a:p>
          <a:p>
            <a:pPr marL="0" indent="0">
              <a:buNone/>
            </a:pPr>
            <a:r>
              <a:rPr lang="en-IN" sz="1800" dirty="0"/>
              <a:t>        for (Integer </a:t>
            </a:r>
            <a:r>
              <a:rPr lang="en-IN" sz="1800" dirty="0" err="1"/>
              <a:t>num</a:t>
            </a:r>
            <a:r>
              <a:rPr lang="en-IN" sz="1800" dirty="0"/>
              <a:t> : </a:t>
            </a:r>
            <a:r>
              <a:rPr lang="en-IN" sz="1800" dirty="0" err="1"/>
              <a:t>integerList</a:t>
            </a:r>
            <a:r>
              <a:rPr lang="en-IN" sz="1800" dirty="0"/>
              <a:t>) {</a:t>
            </a:r>
            <a:endParaRPr lang="en-IN" sz="1800" dirty="0"/>
          </a:p>
          <a:p>
            <a:pPr marL="0" indent="0">
              <a:buNone/>
            </a:pPr>
            <a:r>
              <a:rPr lang="en-IN" sz="1800" dirty="0"/>
              <a:t>            </a:t>
            </a:r>
            <a:r>
              <a:rPr lang="en-IN" sz="1800" dirty="0" err="1"/>
              <a:t>System.out.println</a:t>
            </a:r>
            <a:r>
              <a:rPr lang="en-IN" sz="1800" dirty="0"/>
              <a:t>(</a:t>
            </a:r>
            <a:r>
              <a:rPr lang="en-IN" sz="1800" dirty="0" err="1"/>
              <a:t>num</a:t>
            </a:r>
            <a:r>
              <a:rPr lang="en-IN" sz="1800" dirty="0"/>
              <a:t>);</a:t>
            </a:r>
            <a:endParaRPr lang="en-IN" sz="1800" dirty="0"/>
          </a:p>
          <a:p>
            <a:pPr marL="0" indent="0">
              <a:buNone/>
            </a:pPr>
            <a:r>
              <a:rPr lang="en-IN" sz="1800" dirty="0"/>
              <a:t>        }</a:t>
            </a:r>
            <a:endParaRPr lang="en-IN" sz="1800" dirty="0"/>
          </a:p>
          <a:p>
            <a:pPr marL="0" indent="0">
              <a:buNone/>
            </a:pPr>
            <a:endParaRPr lang="en-IN" sz="1800" dirty="0"/>
          </a:p>
          <a:p>
            <a:pPr marL="0" indent="0">
              <a:buNone/>
            </a:pPr>
            <a:r>
              <a:rPr lang="en-IN" sz="1800" dirty="0"/>
              <a:t>        </a:t>
            </a:r>
            <a:endParaRPr lang="en-IN" sz="1800" dirty="0"/>
          </a:p>
        </p:txBody>
      </p:sp>
      <p:sp>
        <p:nvSpPr>
          <p:cNvPr id="4" name="Content Placeholder 2"/>
          <p:cNvSpPr txBox="1"/>
          <p:nvPr/>
        </p:nvSpPr>
        <p:spPr>
          <a:xfrm>
            <a:off x="5831840" y="440257"/>
            <a:ext cx="6248400" cy="56184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r>
              <a:rPr lang="en-IN" sz="1800" dirty="0" err="1" smtClean="0"/>
              <a:t>HashMap</a:t>
            </a:r>
            <a:r>
              <a:rPr lang="en-IN" sz="1800" dirty="0" smtClean="0"/>
              <a:t>&lt;String, Double&gt; </a:t>
            </a:r>
            <a:r>
              <a:rPr lang="en-IN" sz="1800" dirty="0" err="1" smtClean="0"/>
              <a:t>priceMap</a:t>
            </a:r>
            <a:r>
              <a:rPr lang="en-IN" sz="1800" dirty="0" smtClean="0"/>
              <a:t> = new </a:t>
            </a:r>
            <a:r>
              <a:rPr lang="en-IN" sz="1800" dirty="0" err="1" smtClean="0"/>
              <a:t>HashMap</a:t>
            </a:r>
            <a:r>
              <a:rPr lang="en-IN" sz="1800" dirty="0" smtClean="0"/>
              <a:t>&lt;&gt;();</a:t>
            </a:r>
            <a:endParaRPr lang="en-IN" sz="1800" dirty="0" smtClean="0"/>
          </a:p>
          <a:p>
            <a:pPr marL="0" indent="0">
              <a:buFont typeface="Arial" panose="020B0604020202090204" pitchFamily="34" charset="0"/>
              <a:buNone/>
            </a:pPr>
            <a:r>
              <a:rPr lang="en-IN" sz="1800" dirty="0" smtClean="0"/>
              <a:t>        // Adding key-value pairs (</a:t>
            </a:r>
            <a:r>
              <a:rPr lang="en-IN" sz="1800" dirty="0" err="1" smtClean="0"/>
              <a:t>autoboxing</a:t>
            </a:r>
            <a:r>
              <a:rPr lang="en-IN" sz="1800" dirty="0" smtClean="0"/>
              <a:t> will occur for Double)</a:t>
            </a:r>
            <a:endParaRPr lang="en-IN" sz="1800" dirty="0" smtClean="0"/>
          </a:p>
          <a:p>
            <a:pPr marL="0" indent="0">
              <a:buFont typeface="Arial" panose="020B0604020202090204" pitchFamily="34" charset="0"/>
              <a:buNone/>
            </a:pPr>
            <a:r>
              <a:rPr lang="en-IN" sz="1800" dirty="0" smtClean="0"/>
              <a:t>        </a:t>
            </a:r>
            <a:r>
              <a:rPr lang="en-IN" sz="1800" dirty="0" err="1" smtClean="0"/>
              <a:t>priceMap.put</a:t>
            </a:r>
            <a:r>
              <a:rPr lang="en-IN" sz="1800" dirty="0" smtClean="0"/>
              <a:t>("Apple", 1.99);</a:t>
            </a:r>
            <a:endParaRPr lang="en-IN" sz="1800" dirty="0" smtClean="0"/>
          </a:p>
          <a:p>
            <a:pPr marL="0" indent="0">
              <a:buFont typeface="Arial" panose="020B0604020202090204" pitchFamily="34" charset="0"/>
              <a:buNone/>
            </a:pPr>
            <a:r>
              <a:rPr lang="en-IN" sz="1800" dirty="0" smtClean="0"/>
              <a:t>        </a:t>
            </a:r>
            <a:r>
              <a:rPr lang="en-IN" sz="1800" dirty="0" err="1" smtClean="0"/>
              <a:t>priceMap.put</a:t>
            </a:r>
            <a:r>
              <a:rPr lang="en-IN" sz="1800" dirty="0" smtClean="0"/>
              <a:t>("Banana", 0.59);</a:t>
            </a:r>
            <a:endParaRPr lang="en-IN" sz="1800" dirty="0" smtClean="0"/>
          </a:p>
          <a:p>
            <a:pPr marL="0" indent="0">
              <a:buFont typeface="Arial" panose="020B0604020202090204" pitchFamily="34" charset="0"/>
              <a:buNone/>
            </a:pPr>
            <a:r>
              <a:rPr lang="en-IN" sz="1800" dirty="0" smtClean="0"/>
              <a:t>        </a:t>
            </a:r>
            <a:r>
              <a:rPr lang="en-IN" sz="1800" dirty="0" err="1" smtClean="0"/>
              <a:t>priceMap.put</a:t>
            </a:r>
            <a:r>
              <a:rPr lang="en-IN" sz="1800" dirty="0" smtClean="0"/>
              <a:t>("Cherry", 2.99);</a:t>
            </a:r>
            <a:endParaRPr lang="en-IN" sz="1800" dirty="0" smtClean="0"/>
          </a:p>
          <a:p>
            <a:pPr marL="0" indent="0">
              <a:buFont typeface="Arial" panose="020B0604020202090204" pitchFamily="34" charset="0"/>
              <a:buNone/>
            </a:pPr>
            <a:r>
              <a:rPr lang="en-IN" sz="1800" dirty="0" smtClean="0"/>
              <a:t>        </a:t>
            </a:r>
            <a:endParaRPr lang="en-IN" sz="1800" dirty="0" smtClean="0"/>
          </a:p>
          <a:p>
            <a:pPr marL="0" indent="0">
              <a:buFont typeface="Arial" panose="020B0604020202090204" pitchFamily="34" charset="0"/>
              <a:buNone/>
            </a:pPr>
            <a:r>
              <a:rPr lang="en-IN" sz="1800" dirty="0" smtClean="0"/>
              <a:t>        // Accessing and printing values</a:t>
            </a:r>
            <a:endParaRPr lang="en-IN" sz="1800" dirty="0" smtClean="0"/>
          </a:p>
          <a:p>
            <a:pPr marL="0" indent="0">
              <a:buFont typeface="Arial" panose="020B0604020202090204" pitchFamily="34" charset="0"/>
              <a:buNone/>
            </a:pPr>
            <a:r>
              <a:rPr lang="en-IN" sz="1800" dirty="0" smtClean="0"/>
              <a:t>        </a:t>
            </a:r>
            <a:r>
              <a:rPr lang="en-IN" sz="1800" dirty="0" err="1" smtClean="0"/>
              <a:t>System.out.println</a:t>
            </a:r>
            <a:r>
              <a:rPr lang="en-IN" sz="1800" dirty="0" smtClean="0"/>
              <a:t>("\</a:t>
            </a:r>
            <a:r>
              <a:rPr lang="en-IN" sz="1800" dirty="0" err="1" smtClean="0"/>
              <a:t>nHashMap</a:t>
            </a:r>
            <a:r>
              <a:rPr lang="en-IN" sz="1800" dirty="0" smtClean="0"/>
              <a:t> contents:");</a:t>
            </a:r>
            <a:endParaRPr lang="en-IN" sz="1800" dirty="0" smtClean="0"/>
          </a:p>
          <a:p>
            <a:pPr marL="0" indent="0">
              <a:buFont typeface="Arial" panose="020B0604020202090204" pitchFamily="34" charset="0"/>
              <a:buNone/>
            </a:pPr>
            <a:r>
              <a:rPr lang="en-IN" sz="1800" dirty="0" smtClean="0"/>
              <a:t>        for (String key : </a:t>
            </a:r>
            <a:r>
              <a:rPr lang="en-IN" sz="1800" dirty="0" err="1" smtClean="0"/>
              <a:t>priceMap.keySet</a:t>
            </a:r>
            <a:r>
              <a:rPr lang="en-IN" sz="1800" dirty="0" smtClean="0"/>
              <a:t>()) {</a:t>
            </a:r>
            <a:endParaRPr lang="en-IN" sz="1800" dirty="0" smtClean="0"/>
          </a:p>
          <a:p>
            <a:pPr marL="0" indent="0">
              <a:buFont typeface="Arial" panose="020B0604020202090204" pitchFamily="34" charset="0"/>
              <a:buNone/>
            </a:pPr>
            <a:r>
              <a:rPr lang="en-IN" sz="1800" dirty="0" smtClean="0"/>
              <a:t>            Double price = </a:t>
            </a:r>
            <a:r>
              <a:rPr lang="en-IN" sz="1800" dirty="0" err="1" smtClean="0"/>
              <a:t>priceMap.get</a:t>
            </a:r>
            <a:r>
              <a:rPr lang="en-IN" sz="1800" dirty="0" smtClean="0"/>
              <a:t>(key); // unboxing occurs here</a:t>
            </a:r>
            <a:endParaRPr lang="en-IN" sz="1800" dirty="0" smtClean="0"/>
          </a:p>
          <a:p>
            <a:pPr marL="0" indent="0">
              <a:buFont typeface="Arial" panose="020B0604020202090204" pitchFamily="34" charset="0"/>
              <a:buNone/>
            </a:pPr>
            <a:r>
              <a:rPr lang="en-IN" sz="1800" dirty="0" smtClean="0"/>
              <a:t>            </a:t>
            </a:r>
            <a:r>
              <a:rPr lang="en-IN" sz="1800" dirty="0" err="1" smtClean="0"/>
              <a:t>System.out.println</a:t>
            </a:r>
            <a:r>
              <a:rPr lang="en-IN" sz="1800" dirty="0" smtClean="0"/>
              <a:t>(key + ": $" + price);</a:t>
            </a:r>
            <a:endParaRPr lang="en-IN" sz="1800" dirty="0" smtClean="0"/>
          </a:p>
          <a:p>
            <a:pPr marL="0" indent="0">
              <a:buFont typeface="Arial" panose="020B0604020202090204" pitchFamily="34" charset="0"/>
              <a:buNone/>
            </a:pPr>
            <a:r>
              <a:rPr lang="en-IN" sz="1800" dirty="0" smtClean="0"/>
              <a:t>        }</a:t>
            </a:r>
            <a:endParaRPr lang="en-IN" sz="1800" dirty="0" smtClean="0"/>
          </a:p>
          <a:p>
            <a:pPr marL="0" indent="0">
              <a:buFont typeface="Arial" panose="020B0604020202090204" pitchFamily="34" charset="0"/>
              <a:buNone/>
            </a:pPr>
            <a:r>
              <a:rPr lang="en-IN" sz="1800" dirty="0" smtClean="0"/>
              <a:t>    }</a:t>
            </a:r>
            <a:endParaRPr lang="en-IN" sz="1800" dirty="0" smtClean="0"/>
          </a:p>
          <a:p>
            <a:pPr marL="0" indent="0">
              <a:buFont typeface="Arial" panose="020B0604020202090204" pitchFamily="34" charset="0"/>
              <a:buNone/>
            </a:pPr>
            <a:r>
              <a:rPr lang="en-IN" sz="1800" dirty="0" smtClean="0"/>
              <a:t>}</a:t>
            </a:r>
            <a:endParaRPr lang="en-IN" sz="1800" dirty="0" smtClean="0"/>
          </a:p>
          <a:p>
            <a:pPr marL="0" indent="0">
              <a:buFont typeface="Arial" panose="020B0604020202090204" pitchFamily="34" charset="0"/>
              <a:buNone/>
            </a:pPr>
            <a:endParaRPr lang="en-IN" sz="1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448" y="145752"/>
            <a:ext cx="5957916" cy="6372723"/>
          </a:xfrm>
        </p:spPr>
        <p:txBody>
          <a:bodyPr>
            <a:noAutofit/>
          </a:bodyPr>
          <a:lstStyle/>
          <a:p>
            <a:pPr marL="0" indent="0">
              <a:buNone/>
            </a:pPr>
            <a:r>
              <a:rPr lang="en-IN" sz="1600" dirty="0" smtClean="0"/>
              <a:t>import </a:t>
            </a:r>
            <a:r>
              <a:rPr lang="en-IN" sz="1600" dirty="0"/>
              <a:t>java.io</a:t>
            </a:r>
            <a:r>
              <a:rPr lang="en-IN" sz="1600" dirty="0" smtClean="0"/>
              <a:t>.*;</a:t>
            </a:r>
            <a:endParaRPr lang="en-IN" sz="1600" dirty="0"/>
          </a:p>
          <a:p>
            <a:pPr marL="0" indent="0">
              <a:buNone/>
            </a:pPr>
            <a:r>
              <a:rPr lang="en-IN" sz="1600" dirty="0"/>
              <a:t>class GFG {</a:t>
            </a:r>
            <a:endParaRPr lang="en-IN" sz="1600" dirty="0"/>
          </a:p>
          <a:p>
            <a:pPr marL="0" indent="0">
              <a:buNone/>
            </a:pPr>
            <a:r>
              <a:rPr lang="en-IN" sz="1600" dirty="0" smtClean="0"/>
              <a:t>public </a:t>
            </a:r>
            <a:r>
              <a:rPr lang="en-IN" sz="1600" dirty="0"/>
              <a:t>static void main(String[] </a:t>
            </a:r>
            <a:r>
              <a:rPr lang="en-IN" sz="1600" dirty="0" err="1"/>
              <a:t>args</a:t>
            </a:r>
            <a:r>
              <a:rPr lang="en-IN" sz="1600" dirty="0" smtClean="0"/>
              <a:t>){</a:t>
            </a:r>
            <a:endParaRPr lang="en-IN" sz="1600" dirty="0"/>
          </a:p>
          <a:p>
            <a:pPr marL="0" indent="0">
              <a:buNone/>
            </a:pPr>
            <a:r>
              <a:rPr lang="en-IN" sz="1600" dirty="0" smtClean="0"/>
              <a:t>byte </a:t>
            </a:r>
            <a:r>
              <a:rPr lang="en-IN" sz="1600" dirty="0"/>
              <a:t>a = 1;</a:t>
            </a:r>
            <a:endParaRPr lang="en-IN" sz="1600" dirty="0"/>
          </a:p>
          <a:p>
            <a:pPr marL="0" indent="0">
              <a:buNone/>
            </a:pPr>
            <a:r>
              <a:rPr lang="en-IN" sz="1600" dirty="0" smtClean="0"/>
              <a:t>Byte </a:t>
            </a:r>
            <a:r>
              <a:rPr lang="en-IN" sz="1600" dirty="0" err="1"/>
              <a:t>byteobj</a:t>
            </a:r>
            <a:r>
              <a:rPr lang="en-IN" sz="1600" dirty="0"/>
              <a:t> = new Byte(a);</a:t>
            </a:r>
            <a:endParaRPr lang="en-IN" sz="1600" dirty="0"/>
          </a:p>
          <a:p>
            <a:pPr marL="0" indent="0">
              <a:buNone/>
            </a:pPr>
            <a:r>
              <a:rPr lang="en-IN" sz="1600" dirty="0" err="1" smtClean="0"/>
              <a:t>int</a:t>
            </a:r>
            <a:r>
              <a:rPr lang="en-IN" sz="1600" dirty="0" smtClean="0"/>
              <a:t> </a:t>
            </a:r>
            <a:r>
              <a:rPr lang="en-IN" sz="1600" dirty="0"/>
              <a:t>b = 10;</a:t>
            </a:r>
            <a:endParaRPr lang="en-IN" sz="1600" dirty="0"/>
          </a:p>
          <a:p>
            <a:pPr marL="0" indent="0">
              <a:buNone/>
            </a:pPr>
            <a:r>
              <a:rPr lang="en-IN" sz="1600" dirty="0" smtClean="0"/>
              <a:t>Integer </a:t>
            </a:r>
            <a:r>
              <a:rPr lang="en-IN" sz="1600" dirty="0" err="1"/>
              <a:t>intobj</a:t>
            </a:r>
            <a:r>
              <a:rPr lang="en-IN" sz="1600" dirty="0"/>
              <a:t> = new Integer(b);</a:t>
            </a:r>
            <a:endParaRPr lang="en-IN" sz="1600" dirty="0"/>
          </a:p>
          <a:p>
            <a:pPr marL="0" indent="0">
              <a:buNone/>
            </a:pPr>
            <a:r>
              <a:rPr lang="en-IN" sz="1600" dirty="0" smtClean="0"/>
              <a:t>float </a:t>
            </a:r>
            <a:r>
              <a:rPr lang="en-IN" sz="1600" dirty="0"/>
              <a:t>c = 18.6f;</a:t>
            </a:r>
            <a:endParaRPr lang="en-IN" sz="1600" dirty="0"/>
          </a:p>
          <a:p>
            <a:pPr marL="0" indent="0">
              <a:buNone/>
            </a:pPr>
            <a:r>
              <a:rPr lang="en-IN" sz="1600" dirty="0" smtClean="0"/>
              <a:t>Float </a:t>
            </a:r>
            <a:r>
              <a:rPr lang="en-IN" sz="1600" dirty="0" err="1" smtClean="0"/>
              <a:t>floatobj</a:t>
            </a:r>
            <a:r>
              <a:rPr lang="en-IN" sz="1600" dirty="0" smtClean="0"/>
              <a:t> = new Float(c);</a:t>
            </a:r>
            <a:endParaRPr lang="en-IN" sz="1600" dirty="0" smtClean="0"/>
          </a:p>
          <a:p>
            <a:pPr marL="0" indent="0">
              <a:buNone/>
            </a:pPr>
            <a:r>
              <a:rPr lang="en-IN" sz="1600" dirty="0" smtClean="0"/>
              <a:t>double </a:t>
            </a:r>
            <a:r>
              <a:rPr lang="en-IN" sz="1600" dirty="0"/>
              <a:t>d = 250.5;</a:t>
            </a:r>
            <a:endParaRPr lang="en-IN" sz="1600" dirty="0"/>
          </a:p>
          <a:p>
            <a:pPr marL="0" indent="0">
              <a:buNone/>
            </a:pPr>
            <a:r>
              <a:rPr lang="en-IN" sz="1600" dirty="0" smtClean="0"/>
              <a:t>Double </a:t>
            </a:r>
            <a:r>
              <a:rPr lang="en-IN" sz="1600" dirty="0" err="1"/>
              <a:t>doubleobj</a:t>
            </a:r>
            <a:r>
              <a:rPr lang="en-IN" sz="1600" dirty="0"/>
              <a:t> = new Double(d);</a:t>
            </a:r>
            <a:endParaRPr lang="en-IN" sz="1600" dirty="0"/>
          </a:p>
          <a:p>
            <a:pPr marL="0" indent="0">
              <a:buNone/>
            </a:pPr>
            <a:r>
              <a:rPr lang="en-IN" sz="1600" dirty="0" smtClean="0"/>
              <a:t>char </a:t>
            </a:r>
            <a:r>
              <a:rPr lang="en-IN" sz="1600" dirty="0"/>
              <a:t>e = 'a';</a:t>
            </a:r>
            <a:endParaRPr lang="en-IN" sz="1600" dirty="0"/>
          </a:p>
          <a:p>
            <a:pPr marL="0" indent="0">
              <a:buNone/>
            </a:pPr>
            <a:r>
              <a:rPr lang="en-IN" sz="1600" dirty="0" smtClean="0"/>
              <a:t>Character </a:t>
            </a:r>
            <a:r>
              <a:rPr lang="en-IN" sz="1600" dirty="0" err="1"/>
              <a:t>charobj</a:t>
            </a:r>
            <a:r>
              <a:rPr lang="en-IN" sz="1600" dirty="0"/>
              <a:t> = e;</a:t>
            </a:r>
            <a:endParaRPr lang="en-IN" sz="1600" dirty="0"/>
          </a:p>
          <a:p>
            <a:pPr marL="0" indent="0">
              <a:buNone/>
            </a:pPr>
            <a:r>
              <a:rPr lang="en-IN" sz="1600" dirty="0" err="1" smtClean="0"/>
              <a:t>System.out.println</a:t>
            </a:r>
            <a:r>
              <a:rPr lang="en-IN" sz="1600" dirty="0" smtClean="0"/>
              <a:t>( </a:t>
            </a:r>
            <a:r>
              <a:rPr lang="en-IN" sz="1600" dirty="0"/>
              <a:t>"Values of Wrapper objects (printing as objects)");</a:t>
            </a:r>
            <a:endParaRPr lang="en-IN" sz="1600" dirty="0"/>
          </a:p>
          <a:p>
            <a:pPr marL="0" indent="0">
              <a:buNone/>
            </a:pPr>
            <a:r>
              <a:rPr lang="en-IN" sz="1600" dirty="0" err="1" smtClean="0"/>
              <a:t>System.out.println</a:t>
            </a:r>
            <a:r>
              <a:rPr lang="en-IN" sz="1600" dirty="0"/>
              <a:t>("\</a:t>
            </a:r>
            <a:r>
              <a:rPr lang="en-IN" sz="1600" dirty="0" err="1"/>
              <a:t>nByte</a:t>
            </a:r>
            <a:r>
              <a:rPr lang="en-IN" sz="1600" dirty="0"/>
              <a:t> object </a:t>
            </a:r>
            <a:r>
              <a:rPr lang="en-IN" sz="1600" dirty="0" err="1"/>
              <a:t>byteobj</a:t>
            </a:r>
            <a:r>
              <a:rPr lang="en-IN" sz="1600" dirty="0"/>
              <a:t>: </a:t>
            </a:r>
            <a:r>
              <a:rPr lang="en-IN" sz="1600" dirty="0" smtClean="0"/>
              <a:t>"+ </a:t>
            </a:r>
            <a:r>
              <a:rPr lang="en-IN" sz="1600" dirty="0" err="1"/>
              <a:t>byteobj</a:t>
            </a:r>
            <a:r>
              <a:rPr lang="en-IN" sz="1600" dirty="0"/>
              <a:t>);</a:t>
            </a:r>
            <a:endParaRPr lang="en-IN" sz="1600" dirty="0"/>
          </a:p>
          <a:p>
            <a:pPr marL="0" indent="0">
              <a:buNone/>
            </a:pPr>
            <a:r>
              <a:rPr lang="en-IN" sz="1600" dirty="0"/>
              <a:t>        </a:t>
            </a:r>
            <a:r>
              <a:rPr lang="en-IN" sz="1600" dirty="0" err="1"/>
              <a:t>System.out.println</a:t>
            </a:r>
            <a:r>
              <a:rPr lang="en-IN" sz="1600" dirty="0"/>
              <a:t>("\</a:t>
            </a:r>
            <a:r>
              <a:rPr lang="en-IN" sz="1600" dirty="0" err="1"/>
              <a:t>nInteger</a:t>
            </a:r>
            <a:r>
              <a:rPr lang="en-IN" sz="1600" dirty="0"/>
              <a:t> object </a:t>
            </a:r>
            <a:r>
              <a:rPr lang="en-IN" sz="1600" dirty="0" err="1"/>
              <a:t>intobj</a:t>
            </a:r>
            <a:r>
              <a:rPr lang="en-IN" sz="1600" dirty="0"/>
              <a:t>: </a:t>
            </a:r>
            <a:r>
              <a:rPr lang="en-IN" sz="1600" dirty="0" smtClean="0"/>
              <a:t>"+ </a:t>
            </a:r>
            <a:r>
              <a:rPr lang="en-IN" sz="1600" dirty="0" err="1"/>
              <a:t>intobj</a:t>
            </a:r>
            <a:r>
              <a:rPr lang="en-IN" sz="1600" dirty="0"/>
              <a:t>);</a:t>
            </a:r>
            <a:endParaRPr lang="en-IN" sz="1600" dirty="0"/>
          </a:p>
          <a:p>
            <a:pPr marL="0" indent="0">
              <a:buNone/>
            </a:pPr>
            <a:r>
              <a:rPr lang="en-IN" sz="1600" dirty="0"/>
              <a:t>        </a:t>
            </a:r>
            <a:r>
              <a:rPr lang="en-IN" sz="1600" dirty="0" err="1"/>
              <a:t>System.out.println</a:t>
            </a:r>
            <a:r>
              <a:rPr lang="en-IN" sz="1600" dirty="0"/>
              <a:t>("\</a:t>
            </a:r>
            <a:r>
              <a:rPr lang="en-IN" sz="1600" dirty="0" err="1"/>
              <a:t>nFloat</a:t>
            </a:r>
            <a:r>
              <a:rPr lang="en-IN" sz="1600" dirty="0"/>
              <a:t> object </a:t>
            </a:r>
            <a:r>
              <a:rPr lang="en-IN" sz="1600" dirty="0" err="1"/>
              <a:t>floatobj</a:t>
            </a:r>
            <a:r>
              <a:rPr lang="en-IN" sz="1600" dirty="0"/>
              <a:t>: </a:t>
            </a:r>
            <a:r>
              <a:rPr lang="en-IN" sz="1600" dirty="0" smtClean="0"/>
              <a:t>" </a:t>
            </a:r>
            <a:r>
              <a:rPr lang="en-IN" sz="1600" dirty="0"/>
              <a:t>+ </a:t>
            </a:r>
            <a:r>
              <a:rPr lang="en-IN" sz="1600" dirty="0" err="1"/>
              <a:t>floatobj</a:t>
            </a:r>
            <a:r>
              <a:rPr lang="en-IN" sz="1600" dirty="0"/>
              <a:t>);</a:t>
            </a:r>
            <a:endParaRPr lang="en-IN" sz="1600" dirty="0"/>
          </a:p>
          <a:p>
            <a:pPr marL="0" indent="0">
              <a:buNone/>
            </a:pPr>
            <a:r>
              <a:rPr lang="en-IN" sz="1600" dirty="0"/>
              <a:t>        </a:t>
            </a:r>
            <a:r>
              <a:rPr lang="en-IN" sz="1600" dirty="0" err="1"/>
              <a:t>System.out.println</a:t>
            </a:r>
            <a:r>
              <a:rPr lang="en-IN" sz="1600" dirty="0"/>
              <a:t>("\</a:t>
            </a:r>
            <a:r>
              <a:rPr lang="en-IN" sz="1600" dirty="0" err="1"/>
              <a:t>nDouble</a:t>
            </a:r>
            <a:r>
              <a:rPr lang="en-IN" sz="1600" dirty="0"/>
              <a:t> object </a:t>
            </a:r>
            <a:r>
              <a:rPr lang="en-IN" sz="1600" dirty="0" err="1"/>
              <a:t>doubleobj</a:t>
            </a:r>
            <a:r>
              <a:rPr lang="en-IN" sz="1600" dirty="0"/>
              <a:t>: </a:t>
            </a:r>
            <a:r>
              <a:rPr lang="en-IN" sz="1600" dirty="0" smtClean="0"/>
              <a:t>"+ </a:t>
            </a:r>
            <a:r>
              <a:rPr lang="en-IN" sz="1600" dirty="0" err="1"/>
              <a:t>doubleobj</a:t>
            </a:r>
            <a:r>
              <a:rPr lang="en-IN" sz="1600" dirty="0"/>
              <a:t>);</a:t>
            </a:r>
            <a:endParaRPr lang="en-IN" sz="1600" dirty="0"/>
          </a:p>
          <a:p>
            <a:pPr marL="0" indent="0">
              <a:buNone/>
            </a:pPr>
            <a:r>
              <a:rPr lang="en-IN" sz="1600" dirty="0"/>
              <a:t>        </a:t>
            </a:r>
            <a:r>
              <a:rPr lang="en-IN" sz="1600" dirty="0" err="1"/>
              <a:t>System.out.println</a:t>
            </a:r>
            <a:r>
              <a:rPr lang="en-IN" sz="1600" dirty="0"/>
              <a:t>("\</a:t>
            </a:r>
            <a:r>
              <a:rPr lang="en-IN" sz="1600" dirty="0" err="1"/>
              <a:t>nCharacter</a:t>
            </a:r>
            <a:r>
              <a:rPr lang="en-IN" sz="1600" dirty="0"/>
              <a:t> object </a:t>
            </a:r>
            <a:r>
              <a:rPr lang="en-IN" sz="1600" dirty="0" err="1"/>
              <a:t>charobj</a:t>
            </a:r>
            <a:r>
              <a:rPr lang="en-IN" sz="1600" dirty="0"/>
              <a:t>: </a:t>
            </a:r>
            <a:r>
              <a:rPr lang="en-IN" sz="1600" dirty="0" smtClean="0"/>
              <a:t>"+ </a:t>
            </a:r>
            <a:r>
              <a:rPr lang="en-IN" sz="1600" dirty="0" err="1" smtClean="0"/>
              <a:t>charobj</a:t>
            </a:r>
            <a:r>
              <a:rPr lang="en-IN" sz="1600" dirty="0" smtClean="0"/>
              <a:t>);</a:t>
            </a:r>
            <a:endParaRPr lang="en-IN" sz="1600" dirty="0" smtClean="0"/>
          </a:p>
          <a:p>
            <a:pPr marL="0" indent="0">
              <a:buNone/>
            </a:pPr>
            <a:endParaRPr lang="en-IN" sz="1600" dirty="0" smtClean="0"/>
          </a:p>
          <a:p>
            <a:pPr marL="0" indent="0">
              <a:buNone/>
            </a:pPr>
            <a:r>
              <a:rPr lang="en-IN" sz="1600" dirty="0" smtClean="0"/>
              <a:t>        </a:t>
            </a:r>
            <a:endParaRPr lang="en-IN" sz="1600" dirty="0"/>
          </a:p>
        </p:txBody>
      </p:sp>
      <p:sp>
        <p:nvSpPr>
          <p:cNvPr id="4" name="Content Placeholder 2"/>
          <p:cNvSpPr txBox="1"/>
          <p:nvPr/>
        </p:nvSpPr>
        <p:spPr>
          <a:xfrm>
            <a:off x="6585527" y="145751"/>
            <a:ext cx="5523346" cy="68923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endParaRPr lang="en-IN" sz="1600" dirty="0" smtClean="0"/>
          </a:p>
          <a:p>
            <a:pPr marL="0" indent="0">
              <a:buFont typeface="Arial" panose="020B0604020202090204" pitchFamily="34" charset="0"/>
              <a:buNone/>
            </a:pPr>
            <a:r>
              <a:rPr lang="en-IN" sz="1600" dirty="0" smtClean="0"/>
              <a:t>        // objects to data types (retrieving data types from objects)    unwrapping objects to primitive data types</a:t>
            </a:r>
            <a:endParaRPr lang="en-IN" sz="1600" dirty="0" smtClean="0"/>
          </a:p>
          <a:p>
            <a:pPr marL="0" indent="0">
              <a:buFont typeface="Arial" panose="020B0604020202090204" pitchFamily="34" charset="0"/>
              <a:buNone/>
            </a:pPr>
            <a:r>
              <a:rPr lang="en-IN" sz="1600" dirty="0" smtClean="0"/>
              <a:t>        byte </a:t>
            </a:r>
            <a:r>
              <a:rPr lang="en-IN" sz="1600" dirty="0" err="1" smtClean="0"/>
              <a:t>bv</a:t>
            </a:r>
            <a:r>
              <a:rPr lang="en-IN" sz="1600" dirty="0" smtClean="0"/>
              <a:t> = </a:t>
            </a:r>
            <a:r>
              <a:rPr lang="en-IN" sz="1600" dirty="0" err="1" smtClean="0"/>
              <a:t>byteobj</a:t>
            </a:r>
            <a:r>
              <a:rPr lang="en-IN" sz="1600" dirty="0" smtClean="0"/>
              <a:t>;</a:t>
            </a:r>
            <a:endParaRPr lang="en-IN" sz="1600" dirty="0" smtClean="0"/>
          </a:p>
          <a:p>
            <a:pPr marL="0" indent="0">
              <a:buFont typeface="Arial" panose="020B0604020202090204" pitchFamily="34" charset="0"/>
              <a:buNone/>
            </a:pPr>
            <a:r>
              <a:rPr lang="en-IN" sz="1600" dirty="0" smtClean="0"/>
              <a:t>        </a:t>
            </a:r>
            <a:r>
              <a:rPr lang="en-IN" sz="1600" dirty="0" err="1" smtClean="0"/>
              <a:t>int</a:t>
            </a:r>
            <a:r>
              <a:rPr lang="en-IN" sz="1600" dirty="0" smtClean="0"/>
              <a:t> iv = </a:t>
            </a:r>
            <a:r>
              <a:rPr lang="en-IN" sz="1600" dirty="0" err="1" smtClean="0"/>
              <a:t>intobj</a:t>
            </a:r>
            <a:r>
              <a:rPr lang="en-IN" sz="1600" dirty="0" smtClean="0"/>
              <a:t>;</a:t>
            </a:r>
            <a:endParaRPr lang="en-IN" sz="1600" dirty="0" smtClean="0"/>
          </a:p>
          <a:p>
            <a:pPr marL="0" indent="0">
              <a:buFont typeface="Arial" panose="020B0604020202090204" pitchFamily="34" charset="0"/>
              <a:buNone/>
            </a:pPr>
            <a:r>
              <a:rPr lang="en-IN" sz="1600" dirty="0" smtClean="0"/>
              <a:t>        float </a:t>
            </a:r>
            <a:r>
              <a:rPr lang="en-IN" sz="1600" dirty="0" err="1" smtClean="0"/>
              <a:t>fv</a:t>
            </a:r>
            <a:r>
              <a:rPr lang="en-IN" sz="1600" dirty="0" smtClean="0"/>
              <a:t> = </a:t>
            </a:r>
            <a:r>
              <a:rPr lang="en-IN" sz="1600" dirty="0" err="1" smtClean="0"/>
              <a:t>floatobj</a:t>
            </a:r>
            <a:r>
              <a:rPr lang="en-IN" sz="1600" dirty="0" smtClean="0"/>
              <a:t>;</a:t>
            </a:r>
            <a:endParaRPr lang="en-IN" sz="1600" dirty="0" smtClean="0"/>
          </a:p>
          <a:p>
            <a:pPr marL="0" indent="0">
              <a:buFont typeface="Arial" panose="020B0604020202090204" pitchFamily="34" charset="0"/>
              <a:buNone/>
            </a:pPr>
            <a:r>
              <a:rPr lang="en-IN" sz="1600" dirty="0" smtClean="0"/>
              <a:t>        double dv = </a:t>
            </a:r>
            <a:r>
              <a:rPr lang="en-IN" sz="1600" dirty="0" err="1" smtClean="0"/>
              <a:t>doubleobj</a:t>
            </a:r>
            <a:r>
              <a:rPr lang="en-IN" sz="1600" dirty="0" smtClean="0"/>
              <a:t>;</a:t>
            </a:r>
            <a:endParaRPr lang="en-IN" sz="1600" dirty="0" smtClean="0"/>
          </a:p>
          <a:p>
            <a:pPr marL="0" indent="0">
              <a:buFont typeface="Arial" panose="020B0604020202090204" pitchFamily="34" charset="0"/>
              <a:buNone/>
            </a:pPr>
            <a:r>
              <a:rPr lang="en-IN" sz="1600" dirty="0" smtClean="0"/>
              <a:t>        char cv = </a:t>
            </a:r>
            <a:r>
              <a:rPr lang="en-IN" sz="1600" dirty="0" err="1" smtClean="0"/>
              <a:t>charobj</a:t>
            </a:r>
            <a:r>
              <a:rPr lang="en-IN" sz="1600" dirty="0" smtClean="0"/>
              <a:t>;</a:t>
            </a:r>
            <a:endParaRPr lang="en-IN" sz="1600" dirty="0" smtClean="0"/>
          </a:p>
          <a:p>
            <a:pPr marL="0" indent="0">
              <a:buFont typeface="Arial" panose="020B0604020202090204" pitchFamily="34" charset="0"/>
              <a:buNone/>
            </a:pPr>
            <a:r>
              <a:rPr lang="en-IN" sz="1600" dirty="0" err="1" smtClean="0"/>
              <a:t>System.out.println</a:t>
            </a:r>
            <a:r>
              <a:rPr lang="en-IN" sz="1600" dirty="0" smtClean="0"/>
              <a:t>("\</a:t>
            </a:r>
            <a:r>
              <a:rPr lang="en-IN" sz="1600" dirty="0" err="1" smtClean="0"/>
              <a:t>nUnwrapped</a:t>
            </a:r>
            <a:r>
              <a:rPr lang="en-IN" sz="1600" dirty="0" smtClean="0"/>
              <a:t> values (printing as data types)");</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a:t>
            </a:r>
            <a:r>
              <a:rPr lang="en-IN" sz="1600" dirty="0" err="1" smtClean="0"/>
              <a:t>nbyte</a:t>
            </a:r>
            <a:r>
              <a:rPr lang="en-IN" sz="1600" dirty="0" smtClean="0"/>
              <a:t> value, </a:t>
            </a:r>
            <a:r>
              <a:rPr lang="en-IN" sz="1600" dirty="0" err="1" smtClean="0"/>
              <a:t>bv</a:t>
            </a:r>
            <a:r>
              <a:rPr lang="en-IN" sz="1600" dirty="0" smtClean="0"/>
              <a:t>: " + </a:t>
            </a:r>
            <a:r>
              <a:rPr lang="en-IN" sz="1600" dirty="0" err="1" smtClean="0"/>
              <a:t>bv</a:t>
            </a:r>
            <a:r>
              <a:rPr lang="en-IN" sz="1600" dirty="0" smtClean="0"/>
              <a:t>);</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a:t>
            </a:r>
            <a:r>
              <a:rPr lang="en-IN" sz="1600" dirty="0" err="1" smtClean="0"/>
              <a:t>nint</a:t>
            </a:r>
            <a:r>
              <a:rPr lang="en-IN" sz="1600" dirty="0" smtClean="0"/>
              <a:t> value, iv: " + iv);</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a:t>
            </a:r>
            <a:r>
              <a:rPr lang="en-IN" sz="1600" dirty="0" err="1" smtClean="0"/>
              <a:t>nfloat</a:t>
            </a:r>
            <a:r>
              <a:rPr lang="en-IN" sz="1600" dirty="0" smtClean="0"/>
              <a:t> value, </a:t>
            </a:r>
            <a:r>
              <a:rPr lang="en-IN" sz="1600" dirty="0" err="1" smtClean="0"/>
              <a:t>fv</a:t>
            </a:r>
            <a:r>
              <a:rPr lang="en-IN" sz="1600" dirty="0" smtClean="0"/>
              <a:t>: " + </a:t>
            </a:r>
            <a:r>
              <a:rPr lang="en-IN" sz="1600" dirty="0" err="1" smtClean="0"/>
              <a:t>fv</a:t>
            </a:r>
            <a:r>
              <a:rPr lang="en-IN" sz="1600" dirty="0" smtClean="0"/>
              <a:t>);</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a:t>
            </a:r>
            <a:r>
              <a:rPr lang="en-IN" sz="1600" dirty="0" err="1" smtClean="0"/>
              <a:t>ndouble</a:t>
            </a:r>
            <a:r>
              <a:rPr lang="en-IN" sz="1600" dirty="0" smtClean="0"/>
              <a:t> value, dv: " + dv);</a:t>
            </a:r>
            <a:endParaRPr lang="en-IN" sz="1600" dirty="0" smtClean="0"/>
          </a:p>
          <a:p>
            <a:pPr marL="0" indent="0">
              <a:buFont typeface="Arial" panose="020B0604020202090204" pitchFamily="34" charset="0"/>
              <a:buNone/>
            </a:pPr>
            <a:r>
              <a:rPr lang="en-IN" sz="1600" dirty="0" smtClean="0"/>
              <a:t>        </a:t>
            </a:r>
            <a:r>
              <a:rPr lang="en-IN" sz="1600" dirty="0" err="1" smtClean="0"/>
              <a:t>System.out.println</a:t>
            </a:r>
            <a:r>
              <a:rPr lang="en-IN" sz="1600" dirty="0" smtClean="0"/>
              <a:t>("\</a:t>
            </a:r>
            <a:r>
              <a:rPr lang="en-IN" sz="1600" dirty="0" err="1" smtClean="0"/>
              <a:t>nchar</a:t>
            </a:r>
            <a:r>
              <a:rPr lang="en-IN" sz="1600" dirty="0" smtClean="0"/>
              <a:t> value, cv: " + cv);</a:t>
            </a:r>
            <a:endParaRPr lang="en-IN" sz="1600" dirty="0" smtClean="0"/>
          </a:p>
          <a:p>
            <a:pPr marL="0" indent="0">
              <a:buFont typeface="Arial" panose="020B0604020202090204" pitchFamily="34" charset="0"/>
              <a:buNone/>
            </a:pPr>
            <a:r>
              <a:rPr lang="en-IN" sz="1600" dirty="0" smtClean="0"/>
              <a:t>    }</a:t>
            </a:r>
            <a:endParaRPr lang="en-IN" sz="1600" dirty="0" smtClean="0"/>
          </a:p>
          <a:p>
            <a:pPr marL="0" indent="0">
              <a:buFont typeface="Arial" panose="020B0604020202090204" pitchFamily="34" charset="0"/>
              <a:buNone/>
            </a:pPr>
            <a:r>
              <a:rPr lang="en-IN" sz="1600" dirty="0" smtClean="0"/>
              <a:t>}</a:t>
            </a:r>
            <a:endParaRPr lang="en-IN" sz="1600" dirty="0" smtClean="0"/>
          </a:p>
          <a:p>
            <a:pPr marL="0" indent="0">
              <a:buFont typeface="Arial" panose="020B0604020202090204" pitchFamily="34" charset="0"/>
              <a:buNone/>
            </a:pPr>
            <a:endParaRPr lang="en-IN" sz="16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085"/>
            <a:ext cx="10515600" cy="391333"/>
          </a:xfrm>
        </p:spPr>
        <p:txBody>
          <a:bodyPr>
            <a:normAutofit fontScale="90000"/>
          </a:bodyPr>
          <a:lstStyle/>
          <a:p>
            <a:r>
              <a:rPr lang="en-IN" dirty="0" smtClean="0"/>
              <a:t>Array</a:t>
            </a:r>
            <a:endParaRPr lang="en-IN" dirty="0"/>
          </a:p>
        </p:txBody>
      </p:sp>
      <p:sp>
        <p:nvSpPr>
          <p:cNvPr id="3" name="Content Placeholder 2"/>
          <p:cNvSpPr>
            <a:spLocks noGrp="1"/>
          </p:cNvSpPr>
          <p:nvPr>
            <p:ph idx="1"/>
          </p:nvPr>
        </p:nvSpPr>
        <p:spPr>
          <a:xfrm>
            <a:off x="286385" y="563245"/>
            <a:ext cx="11462385" cy="6209665"/>
          </a:xfrm>
        </p:spPr>
        <p:txBody>
          <a:bodyPr>
            <a:noAutofit/>
          </a:bodyPr>
          <a:lstStyle/>
          <a:p>
            <a:r>
              <a:rPr lang="en-US" sz="1600" b="1" dirty="0"/>
              <a:t>Arrays</a:t>
            </a:r>
            <a:r>
              <a:rPr lang="en-US" sz="1600" dirty="0"/>
              <a:t> are fundamental structures in Java that allow us to store multiple values of the same type in a single variable</a:t>
            </a:r>
            <a:r>
              <a:rPr lang="en-US" sz="1600" dirty="0" smtClean="0"/>
              <a:t>.</a:t>
            </a:r>
            <a:endParaRPr lang="en-US" sz="1600" dirty="0" smtClean="0"/>
          </a:p>
          <a:p>
            <a:r>
              <a:rPr lang="en-US" sz="1600" dirty="0"/>
              <a:t>Arrays in Java work differently than they do in C/C</a:t>
            </a:r>
            <a:r>
              <a:rPr lang="en-US" sz="1600" dirty="0" smtClean="0"/>
              <a:t>++. </a:t>
            </a:r>
            <a:r>
              <a:rPr lang="en-US" sz="1600" dirty="0"/>
              <a:t>A</a:t>
            </a:r>
            <a:r>
              <a:rPr lang="en-US" sz="1600" dirty="0" smtClean="0"/>
              <a:t>rrays </a:t>
            </a:r>
            <a:r>
              <a:rPr lang="en-US" sz="1600" dirty="0"/>
              <a:t>are objects in </a:t>
            </a:r>
            <a:r>
              <a:rPr lang="en-US" sz="1600" dirty="0" smtClean="0"/>
              <a:t>Java.</a:t>
            </a:r>
            <a:endParaRPr lang="en-US" sz="1600" dirty="0" smtClean="0"/>
          </a:p>
          <a:p>
            <a:r>
              <a:rPr lang="en-US" sz="1600" dirty="0"/>
              <a:t>In Java, all arrays are </a:t>
            </a:r>
            <a:r>
              <a:rPr lang="en-US" sz="1600" b="1" u="sng" dirty="0"/>
              <a:t>dynamically allocated</a:t>
            </a:r>
            <a:r>
              <a:rPr lang="en-US" sz="1600" dirty="0" smtClean="0"/>
              <a:t>. </a:t>
            </a:r>
            <a:endParaRPr lang="en-US" sz="1600" dirty="0" smtClean="0"/>
          </a:p>
          <a:p>
            <a:r>
              <a:rPr lang="en-US" sz="1600" dirty="0"/>
              <a:t>An array can contain primitives (</a:t>
            </a:r>
            <a:r>
              <a:rPr lang="en-US" sz="1600" dirty="0" err="1"/>
              <a:t>int</a:t>
            </a:r>
            <a:r>
              <a:rPr lang="en-US" sz="1600" dirty="0"/>
              <a:t>, char, etc.) and object (or non-primitive) references of a class, depending on the definition of the array. In the case of primitive data types, the actual values might be stored in contiguous memory locations (JVM does not guarantee this behavior). In the case of class objects, the actual objects are stored in a heap segment</a:t>
            </a:r>
            <a:r>
              <a:rPr lang="en-US" sz="1600" dirty="0" smtClean="0"/>
              <a:t>.</a:t>
            </a:r>
            <a:endParaRPr lang="en-US" sz="1600" dirty="0" smtClean="0"/>
          </a:p>
          <a:p>
            <a:pPr lvl="1"/>
            <a:r>
              <a:rPr lang="en-IN" sz="1600" b="1" dirty="0"/>
              <a:t>Array </a:t>
            </a:r>
            <a:r>
              <a:rPr lang="en-IN" sz="1600" b="1" dirty="0" smtClean="0"/>
              <a:t>Declaration</a:t>
            </a:r>
            <a:endParaRPr lang="en-IN" sz="1600" b="1" dirty="0" smtClean="0"/>
          </a:p>
          <a:p>
            <a:pPr lvl="2"/>
            <a:r>
              <a:rPr lang="en-US" sz="1600" dirty="0"/>
              <a:t>// Declaration without size (size will be specified later)</a:t>
            </a:r>
            <a:endParaRPr lang="en-US" sz="1600" dirty="0"/>
          </a:p>
          <a:p>
            <a:pPr lvl="2"/>
            <a:r>
              <a:rPr lang="en-US" sz="1600" dirty="0" err="1"/>
              <a:t>int</a:t>
            </a:r>
            <a:r>
              <a:rPr lang="en-US" sz="1600" dirty="0"/>
              <a:t>[] </a:t>
            </a:r>
            <a:r>
              <a:rPr lang="en-US" sz="1600" dirty="0" err="1"/>
              <a:t>myArray</a:t>
            </a:r>
            <a:r>
              <a:rPr lang="en-US" sz="1600" dirty="0" smtClean="0"/>
              <a:t>;      // or     </a:t>
            </a:r>
            <a:r>
              <a:rPr lang="en-US" sz="1600" dirty="0" err="1" smtClean="0"/>
              <a:t>int</a:t>
            </a:r>
            <a:r>
              <a:rPr lang="en-US" sz="1600" dirty="0" smtClean="0"/>
              <a:t> </a:t>
            </a:r>
            <a:r>
              <a:rPr lang="en-US" sz="1600" dirty="0" err="1" smtClean="0"/>
              <a:t>myArray</a:t>
            </a:r>
            <a:r>
              <a:rPr lang="en-US" sz="1600" dirty="0" smtClean="0"/>
              <a:t>[];</a:t>
            </a:r>
            <a:endParaRPr lang="en-US" sz="1600" dirty="0"/>
          </a:p>
          <a:p>
            <a:pPr lvl="2"/>
            <a:r>
              <a:rPr lang="en-US" sz="1600" dirty="0"/>
              <a:t>// Declaration and creation of an array with size 5</a:t>
            </a:r>
            <a:endParaRPr lang="en-US" sz="1600" dirty="0"/>
          </a:p>
          <a:p>
            <a:pPr lvl="2"/>
            <a:r>
              <a:rPr lang="en-US" sz="1600" dirty="0" err="1"/>
              <a:t>int</a:t>
            </a:r>
            <a:r>
              <a:rPr lang="en-US" sz="1600" dirty="0"/>
              <a:t>[] </a:t>
            </a:r>
            <a:r>
              <a:rPr lang="en-US" sz="1600" dirty="0" err="1"/>
              <a:t>myArray</a:t>
            </a:r>
            <a:r>
              <a:rPr lang="en-US" sz="1600" dirty="0"/>
              <a:t> = new </a:t>
            </a:r>
            <a:r>
              <a:rPr lang="en-US" sz="1600" dirty="0" err="1"/>
              <a:t>int</a:t>
            </a:r>
            <a:r>
              <a:rPr lang="en-US" sz="1600" dirty="0"/>
              <a:t>[5];</a:t>
            </a:r>
            <a:endParaRPr lang="en-US" sz="1600" dirty="0"/>
          </a:p>
          <a:p>
            <a:pPr lvl="1"/>
            <a:r>
              <a:rPr lang="en-IN" sz="1600" b="1" dirty="0"/>
              <a:t>Initializing an </a:t>
            </a:r>
            <a:r>
              <a:rPr lang="en-IN" sz="1600" b="1" dirty="0" smtClean="0"/>
              <a:t>Array</a:t>
            </a:r>
            <a:endParaRPr lang="en-IN" sz="1600" b="1" dirty="0" smtClean="0"/>
          </a:p>
          <a:p>
            <a:pPr lvl="2"/>
            <a:r>
              <a:rPr lang="en-US" sz="1600" dirty="0"/>
              <a:t>// Initializing while declaring</a:t>
            </a:r>
            <a:endParaRPr lang="en-US" sz="1600" dirty="0"/>
          </a:p>
          <a:p>
            <a:pPr lvl="2"/>
            <a:r>
              <a:rPr lang="en-US" sz="1600" dirty="0" err="1"/>
              <a:t>int</a:t>
            </a:r>
            <a:r>
              <a:rPr lang="en-US" sz="1600" dirty="0"/>
              <a:t>[] </a:t>
            </a:r>
            <a:r>
              <a:rPr lang="en-US" sz="1600" dirty="0" err="1"/>
              <a:t>myArray</a:t>
            </a:r>
            <a:r>
              <a:rPr lang="en-US" sz="1600" dirty="0"/>
              <a:t> = {10, 20, 30, 40, 50};</a:t>
            </a:r>
            <a:endParaRPr lang="en-US" sz="1600" dirty="0"/>
          </a:p>
          <a:p>
            <a:pPr lvl="2"/>
            <a:endParaRPr lang="en-US" sz="1600" dirty="0"/>
          </a:p>
          <a:p>
            <a:pPr lvl="2"/>
            <a:r>
              <a:rPr lang="en-US" sz="1600" dirty="0"/>
              <a:t>// Creating an array and then assigning values</a:t>
            </a:r>
            <a:endParaRPr lang="en-US" sz="1600" dirty="0"/>
          </a:p>
          <a:p>
            <a:pPr lvl="2"/>
            <a:r>
              <a:rPr lang="en-US" sz="1600" dirty="0" err="1"/>
              <a:t>int</a:t>
            </a:r>
            <a:r>
              <a:rPr lang="en-US" sz="1600" dirty="0"/>
              <a:t>[] </a:t>
            </a:r>
            <a:r>
              <a:rPr lang="en-US" sz="1600" dirty="0" err="1"/>
              <a:t>myArray</a:t>
            </a:r>
            <a:r>
              <a:rPr lang="en-US" sz="1600" dirty="0"/>
              <a:t> = new </a:t>
            </a:r>
            <a:r>
              <a:rPr lang="en-US" sz="1600" dirty="0" err="1"/>
              <a:t>int</a:t>
            </a:r>
            <a:r>
              <a:rPr lang="en-US" sz="1600" dirty="0"/>
              <a:t>[5]; // Array of size 5 with default values (0)</a:t>
            </a:r>
            <a:endParaRPr lang="en-US" sz="1600" dirty="0"/>
          </a:p>
          <a:p>
            <a:pPr lvl="2"/>
            <a:r>
              <a:rPr lang="en-US" sz="1600" dirty="0" err="1"/>
              <a:t>myArray</a:t>
            </a:r>
            <a:r>
              <a:rPr lang="en-US" sz="1600" dirty="0"/>
              <a:t>[0] = 10; // Assigning values to elements</a:t>
            </a:r>
            <a:endParaRPr lang="en-US" sz="1600" dirty="0"/>
          </a:p>
          <a:p>
            <a:pPr lvl="2"/>
            <a:r>
              <a:rPr lang="en-US" sz="1600" dirty="0" err="1"/>
              <a:t>myArray</a:t>
            </a:r>
            <a:r>
              <a:rPr lang="en-US" sz="1600" dirty="0"/>
              <a:t>[1] = 20</a:t>
            </a:r>
            <a:r>
              <a:rPr lang="en-US" sz="1600" dirty="0" smtClean="0"/>
              <a:t>;</a:t>
            </a:r>
            <a:endParaRPr lang="en-IN" sz="1600" b="1" dirty="0" smtClean="0"/>
          </a:p>
          <a:p>
            <a:pPr lvl="1"/>
            <a:r>
              <a:rPr lang="en-IN" sz="1600" b="1" dirty="0" smtClean="0"/>
              <a:t>Array Length   </a:t>
            </a:r>
            <a:endParaRPr lang="en-IN" sz="1600" b="1" dirty="0" smtClean="0"/>
          </a:p>
          <a:p>
            <a:pPr lvl="2"/>
            <a:r>
              <a:rPr lang="en-IN" sz="1600" dirty="0" err="1"/>
              <a:t>int</a:t>
            </a:r>
            <a:r>
              <a:rPr lang="en-IN" sz="1600" dirty="0"/>
              <a:t> length = </a:t>
            </a:r>
            <a:r>
              <a:rPr lang="en-IN" sz="1600" dirty="0" err="1" smtClean="0"/>
              <a:t>myArray.length</a:t>
            </a:r>
            <a:r>
              <a:rPr lang="en-IN" sz="1600" dirty="0"/>
              <a:t>;</a:t>
            </a:r>
            <a:endParaRPr lang="en-IN" sz="1600" dirty="0"/>
          </a:p>
          <a:p>
            <a:pPr lvl="1"/>
            <a:endParaRPr lang="en-IN" sz="16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637" y="217344"/>
            <a:ext cx="10515600" cy="669348"/>
          </a:xfrm>
        </p:spPr>
        <p:txBody>
          <a:bodyPr>
            <a:normAutofit/>
          </a:bodyPr>
          <a:lstStyle/>
          <a:p>
            <a:r>
              <a:rPr lang="en-US" sz="2800" dirty="0"/>
              <a:t>Example of Array Declaration, Initialization, and Usage:</a:t>
            </a:r>
            <a:endParaRPr lang="en-IN" sz="2800" dirty="0"/>
          </a:p>
        </p:txBody>
      </p:sp>
      <p:sp>
        <p:nvSpPr>
          <p:cNvPr id="3" name="Content Placeholder 2"/>
          <p:cNvSpPr>
            <a:spLocks noGrp="1"/>
          </p:cNvSpPr>
          <p:nvPr>
            <p:ph idx="1"/>
          </p:nvPr>
        </p:nvSpPr>
        <p:spPr>
          <a:xfrm>
            <a:off x="542637" y="886691"/>
            <a:ext cx="10515600" cy="5440217"/>
          </a:xfrm>
        </p:spPr>
        <p:txBody>
          <a:bodyPr>
            <a:noAutofit/>
          </a:bodyPr>
          <a:lstStyle/>
          <a:p>
            <a:pPr marL="0" indent="0">
              <a:buNone/>
            </a:pPr>
            <a:r>
              <a:rPr lang="en-IN" sz="2000" dirty="0"/>
              <a:t>public class </a:t>
            </a:r>
            <a:r>
              <a:rPr lang="en-IN" sz="2000" dirty="0" err="1"/>
              <a:t>ArrayExample</a:t>
            </a:r>
            <a:r>
              <a:rPr lang="en-IN" sz="2000" dirty="0"/>
              <a:t> {</a:t>
            </a:r>
            <a:endParaRPr lang="en-IN" sz="2000" dirty="0"/>
          </a:p>
          <a:p>
            <a:pPr marL="0" indent="0">
              <a:buNone/>
            </a:pPr>
            <a:r>
              <a:rPr lang="en-IN" sz="2000" dirty="0"/>
              <a:t>    public static void main(String[] </a:t>
            </a:r>
            <a:r>
              <a:rPr lang="en-IN" sz="2000" dirty="0" err="1"/>
              <a:t>args</a:t>
            </a:r>
            <a:r>
              <a:rPr lang="en-IN" sz="2000" dirty="0"/>
              <a:t>) {</a:t>
            </a:r>
            <a:endParaRPr lang="en-IN" sz="2000" dirty="0"/>
          </a:p>
          <a:p>
            <a:pPr marL="0" indent="0">
              <a:buNone/>
            </a:pPr>
            <a:r>
              <a:rPr lang="en-IN" sz="2000" dirty="0" smtClean="0"/>
              <a:t>    </a:t>
            </a:r>
            <a:r>
              <a:rPr lang="en-IN" sz="2000" dirty="0" err="1" smtClean="0"/>
              <a:t>int</a:t>
            </a:r>
            <a:r>
              <a:rPr lang="en-IN" sz="2000" dirty="0"/>
              <a:t>[] numbers = {1, 2, 3, 4, 5</a:t>
            </a:r>
            <a:r>
              <a:rPr lang="en-IN" sz="2000" dirty="0" smtClean="0"/>
              <a:t>};			</a:t>
            </a:r>
            <a:r>
              <a:rPr lang="en-IN" sz="2000" dirty="0"/>
              <a:t>// Declare and initialize an array of </a:t>
            </a:r>
            <a:r>
              <a:rPr lang="en-IN" sz="2000" dirty="0" smtClean="0"/>
              <a:t>integers</a:t>
            </a:r>
            <a:endParaRPr lang="en-IN" sz="2000" dirty="0"/>
          </a:p>
          <a:p>
            <a:pPr marL="0" indent="0">
              <a:buNone/>
            </a:pPr>
            <a:r>
              <a:rPr lang="en-IN" sz="2000" dirty="0" smtClean="0"/>
              <a:t>     </a:t>
            </a:r>
            <a:r>
              <a:rPr lang="en-IN" sz="2000" dirty="0" err="1" smtClean="0"/>
              <a:t>System.out.println</a:t>
            </a:r>
            <a:r>
              <a:rPr lang="en-IN" sz="2000" dirty="0"/>
              <a:t>("First element: " + numbers[0]); </a:t>
            </a:r>
            <a:r>
              <a:rPr lang="en-IN" sz="2000" dirty="0" smtClean="0"/>
              <a:t>	// </a:t>
            </a:r>
            <a:r>
              <a:rPr lang="en-IN" sz="2000" dirty="0"/>
              <a:t>Output: 1</a:t>
            </a:r>
            <a:endParaRPr lang="en-IN" sz="2000" dirty="0"/>
          </a:p>
          <a:p>
            <a:pPr marL="0" indent="0">
              <a:buNone/>
            </a:pPr>
            <a:r>
              <a:rPr lang="en-IN" sz="2000" dirty="0"/>
              <a:t>        </a:t>
            </a:r>
            <a:r>
              <a:rPr lang="en-IN" sz="2000" dirty="0" err="1"/>
              <a:t>System.out.println</a:t>
            </a:r>
            <a:r>
              <a:rPr lang="en-IN" sz="2000" dirty="0"/>
              <a:t>("Third element: " + numbers[2]); </a:t>
            </a:r>
            <a:r>
              <a:rPr lang="en-IN" sz="2000" dirty="0" smtClean="0"/>
              <a:t>	// </a:t>
            </a:r>
            <a:r>
              <a:rPr lang="en-IN" sz="2000" dirty="0"/>
              <a:t>Output: </a:t>
            </a:r>
            <a:r>
              <a:rPr lang="en-IN" sz="2000" dirty="0" smtClean="0"/>
              <a:t>3</a:t>
            </a:r>
            <a:endParaRPr lang="en-IN" sz="2000" dirty="0"/>
          </a:p>
          <a:p>
            <a:pPr marL="0" indent="0">
              <a:buNone/>
            </a:pPr>
            <a:r>
              <a:rPr lang="en-IN" sz="2000" dirty="0"/>
              <a:t>        // Modifying an element</a:t>
            </a:r>
            <a:endParaRPr lang="en-IN" sz="2000" dirty="0"/>
          </a:p>
          <a:p>
            <a:pPr marL="0" indent="0">
              <a:buNone/>
            </a:pPr>
            <a:r>
              <a:rPr lang="en-IN" sz="2000" dirty="0"/>
              <a:t>        numbers[1] = 20; </a:t>
            </a:r>
            <a:r>
              <a:rPr lang="en-IN" sz="2000" dirty="0" smtClean="0"/>
              <a:t>	// </a:t>
            </a:r>
            <a:r>
              <a:rPr lang="en-IN" sz="2000" dirty="0"/>
              <a:t>Change the second element</a:t>
            </a:r>
            <a:endParaRPr lang="en-IN" sz="2000" dirty="0"/>
          </a:p>
          <a:p>
            <a:pPr marL="0" indent="0">
              <a:buNone/>
            </a:pPr>
            <a:r>
              <a:rPr lang="en-IN" sz="2000" dirty="0"/>
              <a:t>        </a:t>
            </a:r>
            <a:r>
              <a:rPr lang="en-IN" sz="2000" dirty="0" err="1"/>
              <a:t>System.out.println</a:t>
            </a:r>
            <a:r>
              <a:rPr lang="en-IN" sz="2000" dirty="0"/>
              <a:t>("Modified array: </a:t>
            </a:r>
            <a:r>
              <a:rPr lang="en-IN" sz="2000" dirty="0" smtClean="0"/>
              <a:t>");</a:t>
            </a:r>
            <a:endParaRPr lang="en-IN" sz="2000" dirty="0"/>
          </a:p>
          <a:p>
            <a:pPr marL="0" indent="0">
              <a:buNone/>
            </a:pPr>
            <a:r>
              <a:rPr lang="en-IN" sz="2000" dirty="0"/>
              <a:t>        // Looping through the array and printing all elements</a:t>
            </a:r>
            <a:endParaRPr lang="en-IN" sz="2000" dirty="0"/>
          </a:p>
          <a:p>
            <a:pPr marL="0" indent="0">
              <a:buNone/>
            </a:pPr>
            <a:r>
              <a:rPr lang="en-IN" sz="2000" dirty="0"/>
              <a:t>        for (</a:t>
            </a:r>
            <a:r>
              <a:rPr lang="en-IN" sz="2000" dirty="0" err="1"/>
              <a:t>int</a:t>
            </a:r>
            <a:r>
              <a:rPr lang="en-IN" sz="2000" dirty="0"/>
              <a:t> </a:t>
            </a:r>
            <a:r>
              <a:rPr lang="en-IN" sz="2000" dirty="0" err="1"/>
              <a:t>i</a:t>
            </a:r>
            <a:r>
              <a:rPr lang="en-IN" sz="2000" dirty="0"/>
              <a:t> = 0; </a:t>
            </a:r>
            <a:r>
              <a:rPr lang="en-IN" sz="2000" dirty="0" err="1"/>
              <a:t>i</a:t>
            </a:r>
            <a:r>
              <a:rPr lang="en-IN" sz="2000" dirty="0"/>
              <a:t> &lt; </a:t>
            </a:r>
            <a:r>
              <a:rPr lang="en-IN" sz="2000" dirty="0" err="1"/>
              <a:t>numbers.length</a:t>
            </a:r>
            <a:r>
              <a:rPr lang="en-IN" sz="2000" dirty="0"/>
              <a:t>; </a:t>
            </a:r>
            <a:r>
              <a:rPr lang="en-IN" sz="2000" dirty="0" err="1"/>
              <a:t>i</a:t>
            </a:r>
            <a:r>
              <a:rPr lang="en-IN" sz="2000" dirty="0"/>
              <a:t>++) {</a:t>
            </a:r>
            <a:endParaRPr lang="en-IN" sz="2000" dirty="0"/>
          </a:p>
          <a:p>
            <a:pPr marL="0" indent="0">
              <a:buNone/>
            </a:pPr>
            <a:r>
              <a:rPr lang="en-IN" sz="2000" dirty="0"/>
              <a:t>            </a:t>
            </a:r>
            <a:r>
              <a:rPr lang="en-IN" sz="2000" dirty="0" err="1"/>
              <a:t>System.out.println</a:t>
            </a:r>
            <a:r>
              <a:rPr lang="en-IN" sz="2000" dirty="0"/>
              <a:t>("Element at index " + </a:t>
            </a:r>
            <a:r>
              <a:rPr lang="en-IN" sz="2000" dirty="0" err="1"/>
              <a:t>i</a:t>
            </a:r>
            <a:r>
              <a:rPr lang="en-IN" sz="2000" dirty="0"/>
              <a:t> + ": " + numbers[</a:t>
            </a:r>
            <a:r>
              <a:rPr lang="en-IN" sz="2000" dirty="0" err="1"/>
              <a:t>i</a:t>
            </a:r>
            <a:r>
              <a:rPr lang="en-IN" sz="2000" dirty="0"/>
              <a:t>]);</a:t>
            </a:r>
            <a:endParaRPr lang="en-IN" sz="2000" dirty="0"/>
          </a:p>
          <a:p>
            <a:pPr marL="0" indent="0">
              <a:buNone/>
            </a:pPr>
            <a:r>
              <a:rPr lang="en-IN" sz="2000" dirty="0"/>
              <a:t>        }</a:t>
            </a:r>
            <a:endParaRPr lang="en-IN" sz="2000" dirty="0"/>
          </a:p>
          <a:p>
            <a:pPr marL="0" indent="0">
              <a:buNone/>
            </a:pPr>
            <a:r>
              <a:rPr lang="en-IN" sz="2000" dirty="0"/>
              <a:t>    }</a:t>
            </a:r>
            <a:endParaRPr lang="en-IN" sz="2000" dirty="0"/>
          </a:p>
          <a:p>
            <a:pPr marL="0" indent="0">
              <a:buNone/>
            </a:pPr>
            <a:r>
              <a:rPr lang="en-IN" sz="2000" dirty="0"/>
              <a:t>}</a:t>
            </a:r>
            <a:endParaRPr lang="en-IN" sz="2000" dirty="0"/>
          </a:p>
          <a:p>
            <a:pPr marL="0" indent="0">
              <a:buNone/>
            </a:pPr>
            <a:endParaRPr lang="en-IN" sz="20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Array</a:t>
            </a:r>
            <a:endParaRPr lang="en-IN" dirty="0"/>
          </a:p>
        </p:txBody>
      </p:sp>
      <p:sp>
        <p:nvSpPr>
          <p:cNvPr id="3" name="Content Placeholder 2"/>
          <p:cNvSpPr>
            <a:spLocks noGrp="1"/>
          </p:cNvSpPr>
          <p:nvPr>
            <p:ph idx="1"/>
          </p:nvPr>
        </p:nvSpPr>
        <p:spPr/>
        <p:txBody>
          <a:bodyPr/>
          <a:lstStyle/>
          <a:p>
            <a:r>
              <a:rPr lang="en-IN" dirty="0"/>
              <a:t>Single Dimensional Array</a:t>
            </a:r>
            <a:endParaRPr lang="en-IN" dirty="0"/>
          </a:p>
          <a:p>
            <a:r>
              <a:rPr lang="en-IN" dirty="0"/>
              <a:t>Multidimensional </a:t>
            </a:r>
            <a:r>
              <a:rPr lang="en-IN" dirty="0" smtClean="0"/>
              <a:t>Array</a:t>
            </a:r>
            <a:endParaRPr lang="en-IN" dirty="0" smtClean="0"/>
          </a:p>
          <a:p>
            <a:endParaRPr lang="en-IN" dirty="0"/>
          </a:p>
          <a:p>
            <a:endParaRPr lang="en-IN" dirty="0" smtClean="0"/>
          </a:p>
          <a:p>
            <a:endParaRPr lang="en-IN" dirty="0"/>
          </a:p>
          <a:p>
            <a:endParaRPr lang="en-IN" dirty="0" smtClean="0"/>
          </a:p>
          <a:p>
            <a:r>
              <a:rPr lang="en-IN" dirty="0" smtClean="0"/>
              <a:t>Note: </a:t>
            </a:r>
            <a:r>
              <a:rPr lang="en-US" dirty="0"/>
              <a:t>JVM throws </a:t>
            </a:r>
            <a:r>
              <a:rPr lang="en-US" b="1" dirty="0" err="1"/>
              <a:t>ArrayIndexOutOfBoundsException</a:t>
            </a:r>
            <a:r>
              <a:rPr lang="en-US" dirty="0"/>
              <a:t> to indicate that the array has been accessed with an illegal index.</a:t>
            </a:r>
            <a:endParaRPr lang="en-IN"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Single Dimension Array</a:t>
            </a:r>
            <a:endParaRPr lang="en-IN" dirty="0"/>
          </a:p>
        </p:txBody>
      </p:sp>
      <p:sp>
        <p:nvSpPr>
          <p:cNvPr id="3" name="Content Placeholder 2"/>
          <p:cNvSpPr>
            <a:spLocks noGrp="1"/>
          </p:cNvSpPr>
          <p:nvPr>
            <p:ph idx="1"/>
          </p:nvPr>
        </p:nvSpPr>
        <p:spPr/>
        <p:txBody>
          <a:bodyPr/>
          <a:lstStyle/>
          <a:p>
            <a:r>
              <a:rPr lang="en-US"/>
              <a:t>These are the most common type of arrays, where elements are stored in a linear </a:t>
            </a:r>
            <a:r>
              <a:rPr lang="en-US" smtClean="0"/>
              <a:t>order.</a:t>
            </a:r>
            <a:endParaRPr lang="en-US" smtClean="0"/>
          </a:p>
          <a:p>
            <a:r>
              <a:rPr lang="en-IN"/>
              <a:t>int[] singleDimArray = {1, 2, 3, 4, 5}; // A single-dimensional </a:t>
            </a:r>
            <a:r>
              <a:rPr lang="en-IN" smtClean="0"/>
              <a:t>array</a:t>
            </a:r>
            <a:endParaRPr lang="en-IN" smtClean="0"/>
          </a:p>
          <a:p>
            <a:endParaRPr lang="en-IN" dirty="0" smtClean="0"/>
          </a:p>
          <a:p>
            <a:endParaRPr lang="en-IN" dirty="0"/>
          </a:p>
          <a:p>
            <a:endParaRPr lang="en-IN" dirty="0" smtClean="0"/>
          </a:p>
        </p:txBody>
      </p:sp>
      <p:pic>
        <p:nvPicPr>
          <p:cNvPr id="1027" name="Picture 3" descr="Lightbox"/>
          <p:cNvPicPr>
            <a:picLocks noChangeAspect="1" noChangeArrowheads="1"/>
          </p:cNvPicPr>
          <p:nvPr/>
        </p:nvPicPr>
        <p:blipFill rotWithShape="1">
          <a:blip r:embed="rId1">
            <a:extLst>
              <a:ext uri="{28A0092B-C50C-407E-A947-70E740481C1C}">
                <a14:useLocalDpi xmlns:a14="http://schemas.microsoft.com/office/drawing/2010/main" val="0"/>
              </a:ext>
            </a:extLst>
          </a:blip>
          <a:srcRect l="6047" t="33287" r="5505" b="33508"/>
          <a:stretch>
            <a:fillRect/>
          </a:stretch>
        </p:blipFill>
        <p:spPr bwMode="auto">
          <a:xfrm>
            <a:off x="2613890" y="3306618"/>
            <a:ext cx="5560291" cy="10437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Multi-Dimensional Arrays</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a:t>In Java, multi-dimensional arrays are arrays of arrays. </a:t>
            </a:r>
            <a:endParaRPr lang="en-US" dirty="0" smtClean="0"/>
          </a:p>
          <a:p>
            <a:r>
              <a:rPr lang="en-US" dirty="0" smtClean="0"/>
              <a:t>They </a:t>
            </a:r>
            <a:r>
              <a:rPr lang="en-US" dirty="0"/>
              <a:t>allow you to store data in more than one dimension, such as in a grid or matrix. </a:t>
            </a:r>
            <a:endParaRPr lang="en-US" dirty="0" smtClean="0"/>
          </a:p>
          <a:p>
            <a:r>
              <a:rPr lang="en-US" dirty="0" smtClean="0"/>
              <a:t>The </a:t>
            </a:r>
            <a:r>
              <a:rPr lang="en-US" dirty="0"/>
              <a:t>most common type of multi-dimensional array is the two-dimensional array, but Java supports arrays with more dimensions</a:t>
            </a:r>
            <a:r>
              <a:rPr lang="en-US" dirty="0" smtClean="0"/>
              <a:t>.</a:t>
            </a:r>
            <a:endParaRPr lang="en-US" dirty="0" smtClean="0"/>
          </a:p>
          <a:p>
            <a:r>
              <a:rPr lang="en-US" dirty="0" err="1"/>
              <a:t>int</a:t>
            </a:r>
            <a:r>
              <a:rPr lang="en-US" dirty="0"/>
              <a:t>[][] matrix = {</a:t>
            </a:r>
            <a:endParaRPr lang="en-US" dirty="0"/>
          </a:p>
          <a:p>
            <a:r>
              <a:rPr lang="en-US" dirty="0"/>
              <a:t>    {1, 2, 3, 4},</a:t>
            </a:r>
            <a:endParaRPr lang="en-US" dirty="0"/>
          </a:p>
          <a:p>
            <a:r>
              <a:rPr lang="en-US" dirty="0"/>
              <a:t>    {5, 6, 7, 8},</a:t>
            </a:r>
            <a:endParaRPr lang="en-US" dirty="0"/>
          </a:p>
          <a:p>
            <a:r>
              <a:rPr lang="en-US" dirty="0"/>
              <a:t>    {9, 10, 11, 12}</a:t>
            </a:r>
            <a:endParaRPr lang="en-US" dirty="0"/>
          </a:p>
          <a:p>
            <a:r>
              <a:rPr lang="en-US" dirty="0"/>
              <a:t>}; // Creates and initializes a 2D array with specified values</a:t>
            </a:r>
            <a:endParaRPr lang="en-US" dirty="0"/>
          </a:p>
          <a:p>
            <a:endParaRPr lang="en-IN"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075"/>
          </a:xfrm>
        </p:spPr>
        <p:txBody>
          <a:bodyPr>
            <a:normAutofit fontScale="90000"/>
          </a:bodyPr>
          <a:lstStyle/>
          <a:p>
            <a:r>
              <a:rPr lang="en-IN" dirty="0" smtClean="0"/>
              <a:t>2D Array example</a:t>
            </a:r>
            <a:endParaRPr lang="en-IN" dirty="0"/>
          </a:p>
        </p:txBody>
      </p:sp>
      <p:graphicFrame>
        <p:nvGraphicFramePr>
          <p:cNvPr id="4" name="Content Placeholder 3"/>
          <p:cNvGraphicFramePr>
            <a:graphicFrameLocks noGrp="1"/>
          </p:cNvGraphicFramePr>
          <p:nvPr>
            <p:ph idx="1"/>
          </p:nvPr>
        </p:nvGraphicFramePr>
        <p:xfrm>
          <a:off x="838200" y="1188720"/>
          <a:ext cx="10515600" cy="5940425"/>
        </p:xfrm>
        <a:graphic>
          <a:graphicData uri="http://schemas.openxmlformats.org/drawingml/2006/table">
            <a:tbl>
              <a:tblPr firstRow="1" bandRow="1">
                <a:tableStyleId>{2D5ABB26-0587-4C30-8999-92F81FD0307C}</a:tableStyleId>
              </a:tblPr>
              <a:tblGrid>
                <a:gridCol w="10515600"/>
              </a:tblGrid>
              <a:tr h="5940425">
                <a:tc>
                  <a:txBody>
                    <a:bodyPr/>
                    <a:lstStyle/>
                    <a:p>
                      <a:r>
                        <a:rPr lang="en-IN" dirty="0" smtClean="0"/>
                        <a:t>public class Simple2DArrayExample {</a:t>
                      </a:r>
                      <a:endParaRPr lang="en-IN" dirty="0" smtClean="0"/>
                    </a:p>
                    <a:p>
                      <a:r>
                        <a:rPr lang="en-IN" dirty="0" smtClean="0"/>
                        <a:t>    public static void main(String[] </a:t>
                      </a:r>
                      <a:r>
                        <a:rPr lang="en-IN" dirty="0" err="1" smtClean="0"/>
                        <a:t>args</a:t>
                      </a:r>
                      <a:r>
                        <a:rPr lang="en-IN" dirty="0" smtClean="0"/>
                        <a:t>) {</a:t>
                      </a:r>
                      <a:endParaRPr lang="en-IN" dirty="0" smtClean="0"/>
                    </a:p>
                    <a:p>
                      <a:r>
                        <a:rPr lang="en-IN" dirty="0" smtClean="0"/>
                        <a:t>        // Create and initialize a 2x3 matrix</a:t>
                      </a:r>
                      <a:endParaRPr lang="en-IN" dirty="0" smtClean="0"/>
                    </a:p>
                    <a:p>
                      <a:r>
                        <a:rPr lang="en-IN" dirty="0" smtClean="0"/>
                        <a:t>        </a:t>
                      </a:r>
                      <a:r>
                        <a:rPr lang="en-IN" dirty="0" err="1" smtClean="0"/>
                        <a:t>int</a:t>
                      </a:r>
                      <a:r>
                        <a:rPr lang="en-IN" dirty="0" smtClean="0"/>
                        <a:t>[][] matrix = {</a:t>
                      </a:r>
                      <a:endParaRPr lang="en-IN" dirty="0" smtClean="0"/>
                    </a:p>
                    <a:p>
                      <a:r>
                        <a:rPr lang="en-IN" dirty="0" smtClean="0"/>
                        <a:t>            {1, 2, 3},</a:t>
                      </a:r>
                      <a:endParaRPr lang="en-IN" dirty="0" smtClean="0"/>
                    </a:p>
                    <a:p>
                      <a:r>
                        <a:rPr lang="en-IN" dirty="0" smtClean="0"/>
                        <a:t>            {4, 5, 6}</a:t>
                      </a:r>
                      <a:endParaRPr lang="en-IN" dirty="0" smtClean="0"/>
                    </a:p>
                    <a:p>
                      <a:r>
                        <a:rPr lang="en-IN" dirty="0" smtClean="0"/>
                        <a:t>        };</a:t>
                      </a:r>
                      <a:endParaRPr lang="en-IN" dirty="0" smtClean="0"/>
                    </a:p>
                    <a:p>
                      <a:endParaRPr lang="en-IN" dirty="0" smtClean="0"/>
                    </a:p>
                    <a:p>
                      <a:r>
                        <a:rPr lang="en-IN" dirty="0" smtClean="0"/>
                        <a:t>        // Print the matrix</a:t>
                      </a:r>
                      <a:endParaRPr lang="en-IN" dirty="0" smtClean="0"/>
                    </a:p>
                    <a:p>
                      <a:r>
                        <a:rPr lang="en-IN" dirty="0" smtClean="0"/>
                        <a:t>        </a:t>
                      </a:r>
                      <a:r>
                        <a:rPr lang="en-IN" dirty="0" err="1" smtClean="0"/>
                        <a:t>System.out.println</a:t>
                      </a:r>
                      <a:r>
                        <a:rPr lang="en-IN" dirty="0" smtClean="0"/>
                        <a:t>("Matrix:");</a:t>
                      </a:r>
                      <a:endParaRPr lang="en-IN" dirty="0" smtClean="0"/>
                    </a:p>
                    <a:p>
                      <a:r>
                        <a:rPr lang="en-IN" dirty="0" smtClean="0"/>
                        <a:t>        for (</a:t>
                      </a:r>
                      <a:r>
                        <a:rPr lang="en-IN" dirty="0" err="1" smtClean="0"/>
                        <a:t>int</a:t>
                      </a:r>
                      <a:r>
                        <a:rPr lang="en-IN" dirty="0" smtClean="0"/>
                        <a:t> </a:t>
                      </a:r>
                      <a:r>
                        <a:rPr lang="en-IN" dirty="0" err="1" smtClean="0"/>
                        <a:t>i</a:t>
                      </a:r>
                      <a:r>
                        <a:rPr lang="en-IN" dirty="0" smtClean="0"/>
                        <a:t> = 0; </a:t>
                      </a:r>
                      <a:r>
                        <a:rPr lang="en-IN" dirty="0" err="1" smtClean="0"/>
                        <a:t>i</a:t>
                      </a:r>
                      <a:r>
                        <a:rPr lang="en-IN" dirty="0" smtClean="0"/>
                        <a:t> &lt; </a:t>
                      </a:r>
                      <a:r>
                        <a:rPr lang="en-IN" dirty="0" err="1" smtClean="0"/>
                        <a:t>matrix.length</a:t>
                      </a:r>
                      <a:r>
                        <a:rPr lang="en-IN" dirty="0" smtClean="0"/>
                        <a:t>; </a:t>
                      </a:r>
                      <a:r>
                        <a:rPr lang="en-IN" dirty="0" err="1" smtClean="0"/>
                        <a:t>i</a:t>
                      </a:r>
                      <a:r>
                        <a:rPr lang="en-IN" dirty="0" smtClean="0"/>
                        <a:t>++) {</a:t>
                      </a:r>
                      <a:endParaRPr lang="en-IN" dirty="0" smtClean="0"/>
                    </a:p>
                    <a:p>
                      <a:r>
                        <a:rPr lang="en-IN" dirty="0" smtClean="0"/>
                        <a:t>            for (</a:t>
                      </a:r>
                      <a:r>
                        <a:rPr lang="en-IN" dirty="0" err="1" smtClean="0"/>
                        <a:t>int</a:t>
                      </a:r>
                      <a:r>
                        <a:rPr lang="en-IN" dirty="0" smtClean="0"/>
                        <a:t> j = 0; j &lt; matrix[</a:t>
                      </a:r>
                      <a:r>
                        <a:rPr lang="en-IN" dirty="0" err="1" smtClean="0"/>
                        <a:t>i</a:t>
                      </a:r>
                      <a:r>
                        <a:rPr lang="en-IN" dirty="0" smtClean="0"/>
                        <a:t>].length; </a:t>
                      </a:r>
                      <a:r>
                        <a:rPr lang="en-IN" dirty="0" err="1" smtClean="0"/>
                        <a:t>j++</a:t>
                      </a:r>
                      <a:r>
                        <a:rPr lang="en-IN" dirty="0" smtClean="0"/>
                        <a:t>) {</a:t>
                      </a:r>
                      <a:endParaRPr lang="en-IN" dirty="0" smtClean="0"/>
                    </a:p>
                    <a:p>
                      <a:r>
                        <a:rPr lang="en-IN" dirty="0" smtClean="0"/>
                        <a:t>                </a:t>
                      </a:r>
                      <a:r>
                        <a:rPr lang="en-IN" dirty="0" err="1" smtClean="0"/>
                        <a:t>System.out.print</a:t>
                      </a:r>
                      <a:r>
                        <a:rPr lang="en-IN" dirty="0" smtClean="0"/>
                        <a:t>(matrix[</a:t>
                      </a:r>
                      <a:r>
                        <a:rPr lang="en-IN" dirty="0" err="1" smtClean="0"/>
                        <a:t>i</a:t>
                      </a:r>
                      <a:r>
                        <a:rPr lang="en-IN" dirty="0" smtClean="0"/>
                        <a:t>][j] + " ");</a:t>
                      </a:r>
                      <a:endParaRPr lang="en-IN" dirty="0" smtClean="0"/>
                    </a:p>
                    <a:p>
                      <a:r>
                        <a:rPr lang="en-IN" dirty="0" smtClean="0"/>
                        <a:t>            }</a:t>
                      </a:r>
                      <a:endParaRPr lang="en-IN" dirty="0" smtClean="0"/>
                    </a:p>
                    <a:p>
                      <a:r>
                        <a:rPr lang="en-IN" dirty="0" smtClean="0"/>
                        <a:t>            </a:t>
                      </a:r>
                      <a:r>
                        <a:rPr lang="en-IN" dirty="0" err="1" smtClean="0"/>
                        <a:t>System.out.println</a:t>
                      </a:r>
                      <a:r>
                        <a:rPr lang="en-IN" dirty="0" smtClean="0"/>
                        <a:t>(); // Move to the next line after each row</a:t>
                      </a:r>
                      <a:endParaRPr lang="en-IN" dirty="0" smtClean="0"/>
                    </a:p>
                    <a:p>
                      <a:r>
                        <a:rPr lang="en-IN" dirty="0" smtClean="0"/>
                        <a:t>        }</a:t>
                      </a:r>
                      <a:endParaRPr lang="en-IN" dirty="0" smtClean="0"/>
                    </a:p>
                    <a:p>
                      <a:r>
                        <a:rPr lang="en-IN" dirty="0" smtClean="0"/>
                        <a:t>    }</a:t>
                      </a:r>
                      <a:endParaRPr lang="en-IN" dirty="0" smtClean="0"/>
                    </a:p>
                    <a:p>
                      <a:r>
                        <a:rPr lang="en-IN" dirty="0" smtClean="0"/>
                        <a:t>}</a:t>
                      </a:r>
                      <a:endParaRPr lang="en-IN" dirty="0" smtClean="0"/>
                    </a:p>
                    <a:p>
                      <a:endParaRPr lang="en-IN" dirty="0"/>
                    </a:p>
                  </a:txBody>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414" y="95077"/>
            <a:ext cx="10515600" cy="524683"/>
          </a:xfrm>
        </p:spPr>
        <p:txBody>
          <a:bodyPr>
            <a:normAutofit fontScale="90000"/>
          </a:bodyPr>
          <a:lstStyle/>
          <a:p>
            <a:r>
              <a:rPr lang="en-US" sz="3200" b="1"/>
              <a:t>Multi-Dimensional Arrays with More Than Two Dimensions</a:t>
            </a:r>
            <a:endParaRPr lang="en-IN" sz="3200" b="1"/>
          </a:p>
        </p:txBody>
      </p:sp>
      <p:graphicFrame>
        <p:nvGraphicFramePr>
          <p:cNvPr id="4" name="Content Placeholder 3"/>
          <p:cNvGraphicFramePr>
            <a:graphicFrameLocks noGrp="1"/>
          </p:cNvGraphicFramePr>
          <p:nvPr>
            <p:ph idx="1"/>
          </p:nvPr>
        </p:nvGraphicFramePr>
        <p:xfrm>
          <a:off x="350982" y="619760"/>
          <a:ext cx="11582400" cy="6238240"/>
        </p:xfrm>
        <a:graphic>
          <a:graphicData uri="http://schemas.openxmlformats.org/drawingml/2006/table">
            <a:tbl>
              <a:tblPr firstRow="1" bandRow="1">
                <a:tableStyleId>{2D5ABB26-0587-4C30-8999-92F81FD0307C}</a:tableStyleId>
              </a:tblPr>
              <a:tblGrid>
                <a:gridCol w="11582400"/>
              </a:tblGrid>
              <a:tr h="6238240">
                <a:tc>
                  <a:txBody>
                    <a:bodyPr/>
                    <a:lstStyle/>
                    <a:p>
                      <a:r>
                        <a:rPr lang="en-IN" sz="1800" dirty="0" smtClean="0"/>
                        <a:t>3 D Array:</a:t>
                      </a:r>
                      <a:endParaRPr lang="en-IN" sz="1800" dirty="0" smtClean="0"/>
                    </a:p>
                    <a:p>
                      <a:r>
                        <a:rPr lang="en-US" sz="1800" smtClean="0"/>
                        <a:t>int[][][] threeDArray = new int[3][4][5]; // Creates a 3D array with 3 layers, 4 rows, and 5 columns</a:t>
                      </a:r>
                      <a:endParaRPr lang="en-US" sz="1800" smtClean="0"/>
                    </a:p>
                    <a:p>
                      <a:r>
                        <a:rPr lang="en-IN" sz="1800" smtClean="0"/>
                        <a:t>int[][][] threeDArray = {</a:t>
                      </a:r>
                      <a:endParaRPr lang="en-IN" sz="1800" smtClean="0"/>
                    </a:p>
                    <a:p>
                      <a:r>
                        <a:rPr lang="en-IN" sz="1800" dirty="0" smtClean="0"/>
                        <a:t>    {</a:t>
                      </a:r>
                      <a:endParaRPr lang="en-IN" sz="1800" dirty="0" smtClean="0"/>
                    </a:p>
                    <a:p>
                      <a:r>
                        <a:rPr lang="en-IN" sz="1800" dirty="0" smtClean="0"/>
                        <a:t>        {1, 2, 3, 4, 5},</a:t>
                      </a:r>
                      <a:endParaRPr lang="en-IN" sz="1800" dirty="0" smtClean="0"/>
                    </a:p>
                    <a:p>
                      <a:r>
                        <a:rPr lang="en-IN" sz="1800" dirty="0" smtClean="0"/>
                        <a:t>        {6, 7, 8, 9, 10},</a:t>
                      </a:r>
                      <a:endParaRPr lang="en-IN" sz="1800" dirty="0" smtClean="0"/>
                    </a:p>
                    <a:p>
                      <a:r>
                        <a:rPr lang="en-IN" sz="1800" dirty="0" smtClean="0"/>
                        <a:t>        {11, 12, 13, 14, 15},</a:t>
                      </a:r>
                      <a:endParaRPr lang="en-IN" sz="1800" dirty="0" smtClean="0"/>
                    </a:p>
                    <a:p>
                      <a:r>
                        <a:rPr lang="en-IN" sz="1800" dirty="0" smtClean="0"/>
                        <a:t>        {16, 17, 18, 19, 20}</a:t>
                      </a:r>
                      <a:endParaRPr lang="en-IN" sz="1800" dirty="0" smtClean="0"/>
                    </a:p>
                    <a:p>
                      <a:r>
                        <a:rPr lang="en-IN" sz="1800" dirty="0" smtClean="0"/>
                        <a:t>    },</a:t>
                      </a:r>
                      <a:endParaRPr lang="en-IN" sz="1800" dirty="0" smtClean="0"/>
                    </a:p>
                    <a:p>
                      <a:r>
                        <a:rPr lang="en-IN" sz="1800" dirty="0" smtClean="0"/>
                        <a:t>    {</a:t>
                      </a:r>
                      <a:endParaRPr lang="en-IN" sz="1800" dirty="0" smtClean="0"/>
                    </a:p>
                    <a:p>
                      <a:r>
                        <a:rPr lang="en-IN" sz="1800" dirty="0" smtClean="0"/>
                        <a:t>        {21, 22, 23, 24, 25},</a:t>
                      </a:r>
                      <a:endParaRPr lang="en-IN" sz="1800" dirty="0" smtClean="0"/>
                    </a:p>
                    <a:p>
                      <a:r>
                        <a:rPr lang="en-IN" sz="1800" dirty="0" smtClean="0"/>
                        <a:t>        {26, 27, 28, 29, 30},</a:t>
                      </a:r>
                      <a:endParaRPr lang="en-IN" sz="1800" dirty="0" smtClean="0"/>
                    </a:p>
                    <a:p>
                      <a:r>
                        <a:rPr lang="en-IN" sz="1800" dirty="0" smtClean="0"/>
                        <a:t>        {31, 32, 33, 34, 35},</a:t>
                      </a:r>
                      <a:endParaRPr lang="en-IN" sz="1800" dirty="0" smtClean="0"/>
                    </a:p>
                    <a:p>
                      <a:r>
                        <a:rPr lang="en-IN" sz="1800" dirty="0" smtClean="0"/>
                        <a:t>        {36, 37, 38, 39, 40}</a:t>
                      </a:r>
                      <a:endParaRPr lang="en-IN" sz="1800" dirty="0" smtClean="0"/>
                    </a:p>
                    <a:p>
                      <a:r>
                        <a:rPr lang="en-IN" sz="1800" dirty="0" smtClean="0"/>
                        <a:t>    },</a:t>
                      </a:r>
                      <a:endParaRPr lang="en-IN" sz="1800" dirty="0" smtClean="0"/>
                    </a:p>
                    <a:p>
                      <a:r>
                        <a:rPr lang="en-IN" sz="1800" dirty="0" smtClean="0"/>
                        <a:t>    {</a:t>
                      </a:r>
                      <a:endParaRPr lang="en-IN" sz="1800" dirty="0" smtClean="0"/>
                    </a:p>
                    <a:p>
                      <a:r>
                        <a:rPr lang="en-IN" sz="1800" dirty="0" smtClean="0"/>
                        <a:t>        {41, 42, 43, 44, 45},</a:t>
                      </a:r>
                      <a:endParaRPr lang="en-IN" sz="1800" dirty="0" smtClean="0"/>
                    </a:p>
                    <a:p>
                      <a:r>
                        <a:rPr lang="en-IN" sz="1800" dirty="0" smtClean="0"/>
                        <a:t>        {46, 47, 48, 49, 50},</a:t>
                      </a:r>
                      <a:endParaRPr lang="en-IN" sz="1800" dirty="0" smtClean="0"/>
                    </a:p>
                    <a:p>
                      <a:r>
                        <a:rPr lang="en-IN" sz="1800" dirty="0" smtClean="0"/>
                        <a:t>        {51, 52, 53, 54, 55},</a:t>
                      </a:r>
                      <a:endParaRPr lang="en-IN" sz="1800" dirty="0" smtClean="0"/>
                    </a:p>
                    <a:p>
                      <a:r>
                        <a:rPr lang="en-IN" sz="1800" dirty="0" smtClean="0"/>
                        <a:t>        {56, 57, 58, 59, 60}</a:t>
                      </a:r>
                      <a:endParaRPr lang="en-IN" sz="1800" dirty="0" smtClean="0"/>
                    </a:p>
                    <a:p>
                      <a:r>
                        <a:rPr lang="en-IN" sz="1800" dirty="0" smtClean="0"/>
                        <a:t>    }</a:t>
                      </a:r>
                      <a:endParaRPr lang="en-IN" sz="1800" dirty="0" smtClean="0"/>
                    </a:p>
                    <a:p>
                      <a:r>
                        <a:rPr lang="en-IN" sz="1800" dirty="0" smtClean="0"/>
                        <a:t>};</a:t>
                      </a:r>
                      <a:endParaRPr lang="en-IN" sz="1800" dirty="0" smtClean="0"/>
                    </a:p>
                  </a:txBody>
                  <a:tcPr/>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Arrays of Objects</a:t>
            </a:r>
            <a:br>
              <a:rPr lang="en-IN" b="1" dirty="0"/>
            </a:br>
            <a:endParaRPr lang="en-IN" dirty="0"/>
          </a:p>
        </p:txBody>
      </p:sp>
      <p:graphicFrame>
        <p:nvGraphicFramePr>
          <p:cNvPr id="5" name="Content Placeholder 4"/>
          <p:cNvGraphicFramePr>
            <a:graphicFrameLocks noGrp="1"/>
          </p:cNvGraphicFramePr>
          <p:nvPr>
            <p:ph idx="1"/>
          </p:nvPr>
        </p:nvGraphicFramePr>
        <p:xfrm>
          <a:off x="367146" y="1132897"/>
          <a:ext cx="5728854" cy="5304847"/>
        </p:xfrm>
        <a:graphic>
          <a:graphicData uri="http://schemas.openxmlformats.org/drawingml/2006/table">
            <a:tbl>
              <a:tblPr firstRow="1" bandRow="1">
                <a:tableStyleId>{2D5ABB26-0587-4C30-8999-92F81FD0307C}</a:tableStyleId>
              </a:tblPr>
              <a:tblGrid>
                <a:gridCol w="5728854"/>
              </a:tblGrid>
              <a:tr h="5304847">
                <a:tc>
                  <a:txBody>
                    <a:bodyPr/>
                    <a:lstStyle/>
                    <a:p>
                      <a:r>
                        <a:rPr lang="en-US" dirty="0" smtClean="0"/>
                        <a:t>class Student {</a:t>
                      </a:r>
                      <a:endParaRPr lang="en-US" dirty="0" smtClean="0"/>
                    </a:p>
                    <a:p>
                      <a:r>
                        <a:rPr lang="en-US" dirty="0" smtClean="0"/>
                        <a:t>    public </a:t>
                      </a:r>
                      <a:r>
                        <a:rPr lang="en-US" dirty="0" err="1" smtClean="0"/>
                        <a:t>int</a:t>
                      </a:r>
                      <a:r>
                        <a:rPr lang="en-US" dirty="0" smtClean="0"/>
                        <a:t> </a:t>
                      </a:r>
                      <a:r>
                        <a:rPr lang="en-US" dirty="0" err="1" smtClean="0"/>
                        <a:t>roll_no</a:t>
                      </a:r>
                      <a:r>
                        <a:rPr lang="en-US" dirty="0" smtClean="0"/>
                        <a:t>;</a:t>
                      </a:r>
                      <a:endParaRPr lang="en-US" dirty="0" smtClean="0"/>
                    </a:p>
                    <a:p>
                      <a:r>
                        <a:rPr lang="en-US" dirty="0" smtClean="0"/>
                        <a:t>    public String name;</a:t>
                      </a:r>
                      <a:endParaRPr lang="en-US" dirty="0" smtClean="0"/>
                    </a:p>
                    <a:p>
                      <a:r>
                        <a:rPr lang="en-US" dirty="0" smtClean="0"/>
                        <a:t>    Student(</a:t>
                      </a:r>
                      <a:r>
                        <a:rPr lang="en-US" dirty="0" err="1" smtClean="0"/>
                        <a:t>int</a:t>
                      </a:r>
                      <a:r>
                        <a:rPr lang="en-US" dirty="0" smtClean="0"/>
                        <a:t> </a:t>
                      </a:r>
                      <a:r>
                        <a:rPr lang="en-US" dirty="0" err="1" smtClean="0"/>
                        <a:t>roll_no</a:t>
                      </a:r>
                      <a:r>
                        <a:rPr lang="en-US" dirty="0" smtClean="0"/>
                        <a:t>, String name)</a:t>
                      </a:r>
                      <a:endParaRPr lang="en-US" dirty="0" smtClean="0"/>
                    </a:p>
                    <a:p>
                      <a:r>
                        <a:rPr lang="en-US" dirty="0" smtClean="0"/>
                        <a:t>    {</a:t>
                      </a:r>
                      <a:endParaRPr lang="en-US" dirty="0" smtClean="0"/>
                    </a:p>
                    <a:p>
                      <a:r>
                        <a:rPr lang="en-US" dirty="0" smtClean="0"/>
                        <a:t>        </a:t>
                      </a:r>
                      <a:r>
                        <a:rPr lang="en-US" dirty="0" err="1" smtClean="0"/>
                        <a:t>this.roll_no</a:t>
                      </a:r>
                      <a:r>
                        <a:rPr lang="en-US" dirty="0" smtClean="0"/>
                        <a:t> = </a:t>
                      </a:r>
                      <a:r>
                        <a:rPr lang="en-US" dirty="0" err="1" smtClean="0"/>
                        <a:t>roll_no</a:t>
                      </a:r>
                      <a:r>
                        <a:rPr lang="en-US" dirty="0" smtClean="0"/>
                        <a:t>;</a:t>
                      </a:r>
                      <a:endParaRPr lang="en-US" dirty="0" smtClean="0"/>
                    </a:p>
                    <a:p>
                      <a:r>
                        <a:rPr lang="en-US" dirty="0" smtClean="0"/>
                        <a:t>        this.name = name;</a:t>
                      </a:r>
                      <a:endParaRPr lang="en-US" dirty="0" smtClean="0"/>
                    </a:p>
                    <a:p>
                      <a:r>
                        <a:rPr lang="en-US" dirty="0" smtClean="0"/>
                        <a:t>    }</a:t>
                      </a:r>
                      <a:endParaRPr lang="en-US" dirty="0" smtClean="0"/>
                    </a:p>
                    <a:p>
                      <a:r>
                        <a:rPr lang="en-US" dirty="0" smtClean="0"/>
                        <a:t>}</a:t>
                      </a:r>
                      <a:endParaRPr lang="en-US" dirty="0" smtClean="0"/>
                    </a:p>
                    <a:p>
                      <a:r>
                        <a:rPr lang="en-US" dirty="0" smtClean="0"/>
                        <a:t>// Elements of the array are objects of a class Student.</a:t>
                      </a:r>
                      <a:endParaRPr lang="en-US" dirty="0" smtClean="0"/>
                    </a:p>
                    <a:p>
                      <a:r>
                        <a:rPr lang="en-US" dirty="0" smtClean="0"/>
                        <a:t>public class GFG {</a:t>
                      </a:r>
                      <a:endParaRPr lang="en-US" dirty="0" smtClean="0"/>
                    </a:p>
                    <a:p>
                      <a:r>
                        <a:rPr lang="en-US" dirty="0" smtClean="0"/>
                        <a:t>    public static void main(String[] </a:t>
                      </a:r>
                      <a:r>
                        <a:rPr lang="en-US" dirty="0" err="1" smtClean="0"/>
                        <a:t>args</a:t>
                      </a:r>
                      <a:r>
                        <a:rPr lang="en-US" dirty="0" smtClean="0"/>
                        <a:t>)</a:t>
                      </a:r>
                      <a:endParaRPr lang="en-US" dirty="0" smtClean="0"/>
                    </a:p>
                    <a:p>
                      <a:r>
                        <a:rPr lang="en-US" dirty="0" smtClean="0"/>
                        <a:t>    {</a:t>
                      </a:r>
                      <a:endParaRPr lang="en-US" dirty="0" smtClean="0"/>
                    </a:p>
                    <a:p>
                      <a:r>
                        <a:rPr lang="en-US" dirty="0" smtClean="0"/>
                        <a:t>        // declares an Array of Student</a:t>
                      </a:r>
                      <a:endParaRPr lang="en-US" dirty="0" smtClean="0"/>
                    </a:p>
                    <a:p>
                      <a:r>
                        <a:rPr lang="en-US" dirty="0" smtClean="0"/>
                        <a:t>        Student[] </a:t>
                      </a:r>
                      <a:r>
                        <a:rPr lang="en-US" dirty="0" err="1" smtClean="0"/>
                        <a:t>arr</a:t>
                      </a:r>
                      <a:r>
                        <a:rPr lang="en-US" dirty="0" smtClean="0"/>
                        <a:t>;</a:t>
                      </a:r>
                      <a:endParaRPr lang="en-US" dirty="0" smtClean="0"/>
                    </a:p>
                    <a:p>
                      <a:endParaRPr lang="en-US" dirty="0" smtClean="0"/>
                    </a:p>
                    <a:p>
                      <a:r>
                        <a:rPr lang="en-US" dirty="0" smtClean="0"/>
                        <a:t>        // allocating memory for 5 objects of type Student.</a:t>
                      </a:r>
                      <a:endParaRPr lang="en-US" dirty="0" smtClean="0"/>
                    </a:p>
                    <a:p>
                      <a:r>
                        <a:rPr lang="en-US" dirty="0" smtClean="0"/>
                        <a:t>        </a:t>
                      </a:r>
                      <a:r>
                        <a:rPr lang="en-US" dirty="0" err="1" smtClean="0"/>
                        <a:t>arr</a:t>
                      </a:r>
                      <a:r>
                        <a:rPr lang="en-US" dirty="0" smtClean="0"/>
                        <a:t> = new Student[5];</a:t>
                      </a:r>
                      <a:endParaRPr lang="en-US" dirty="0" smtClean="0"/>
                    </a:p>
                  </a:txBody>
                  <a:tcPr/>
                </a:tc>
              </a:tr>
            </a:tbl>
          </a:graphicData>
        </a:graphic>
      </p:graphicFrame>
      <p:graphicFrame>
        <p:nvGraphicFramePr>
          <p:cNvPr id="6" name="Content Placeholder 4"/>
          <p:cNvGraphicFramePr/>
          <p:nvPr/>
        </p:nvGraphicFramePr>
        <p:xfrm>
          <a:off x="6567054" y="726498"/>
          <a:ext cx="5135418" cy="6223000"/>
        </p:xfrm>
        <a:graphic>
          <a:graphicData uri="http://schemas.openxmlformats.org/drawingml/2006/table">
            <a:tbl>
              <a:tblPr firstRow="1" bandRow="1">
                <a:tableStyleId>{2D5ABB26-0587-4C30-8999-92F81FD0307C}</a:tableStyleId>
              </a:tblPr>
              <a:tblGrid>
                <a:gridCol w="5135418"/>
              </a:tblGrid>
              <a:tr h="370840">
                <a:tc>
                  <a:txBody>
                    <a:bodyPr/>
                    <a:lstStyle/>
                    <a:p>
                      <a:endParaRPr lang="en-US" dirty="0" smtClean="0"/>
                    </a:p>
                    <a:p>
                      <a:r>
                        <a:rPr lang="en-US" dirty="0" smtClean="0"/>
                        <a:t>        // initialize the first elements of the array</a:t>
                      </a:r>
                      <a:endParaRPr lang="en-US" dirty="0" smtClean="0"/>
                    </a:p>
                    <a:p>
                      <a:r>
                        <a:rPr lang="en-US" dirty="0" smtClean="0"/>
                        <a:t>        </a:t>
                      </a:r>
                      <a:r>
                        <a:rPr lang="en-US" dirty="0" err="1" smtClean="0"/>
                        <a:t>arr</a:t>
                      </a:r>
                      <a:r>
                        <a:rPr lang="en-US" dirty="0" smtClean="0"/>
                        <a:t>[0] = new Student(1, "</a:t>
                      </a:r>
                      <a:r>
                        <a:rPr lang="en-US" dirty="0" err="1" smtClean="0"/>
                        <a:t>aman</a:t>
                      </a:r>
                      <a:r>
                        <a:rPr lang="en-US" dirty="0" smtClean="0"/>
                        <a:t>");</a:t>
                      </a:r>
                      <a:endParaRPr lang="en-US" dirty="0" smtClean="0"/>
                    </a:p>
                    <a:p>
                      <a:endParaRPr lang="en-US" dirty="0" smtClean="0"/>
                    </a:p>
                    <a:p>
                      <a:r>
                        <a:rPr lang="en-US" dirty="0" smtClean="0"/>
                        <a:t>        // initialize the second elements of the array</a:t>
                      </a:r>
                      <a:endParaRPr lang="en-US" dirty="0" smtClean="0"/>
                    </a:p>
                    <a:p>
                      <a:r>
                        <a:rPr lang="en-US" dirty="0" smtClean="0"/>
                        <a:t>        </a:t>
                      </a:r>
                      <a:r>
                        <a:rPr lang="en-US" dirty="0" err="1" smtClean="0"/>
                        <a:t>arr</a:t>
                      </a:r>
                      <a:r>
                        <a:rPr lang="en-US" dirty="0" smtClean="0"/>
                        <a:t>[1] = new Student(2, "</a:t>
                      </a:r>
                      <a:r>
                        <a:rPr lang="en-US" dirty="0" err="1" smtClean="0"/>
                        <a:t>vaibhav</a:t>
                      </a:r>
                      <a:r>
                        <a:rPr lang="en-US" dirty="0" smtClean="0"/>
                        <a:t>");</a:t>
                      </a:r>
                      <a:endParaRPr lang="en-US" dirty="0" smtClean="0"/>
                    </a:p>
                    <a:p>
                      <a:endParaRPr lang="en-US" dirty="0" smtClean="0"/>
                    </a:p>
                    <a:p>
                      <a:r>
                        <a:rPr lang="en-US" dirty="0" smtClean="0"/>
                        <a:t>        // so on...</a:t>
                      </a:r>
                      <a:endParaRPr lang="en-US" dirty="0" smtClean="0"/>
                    </a:p>
                    <a:p>
                      <a:r>
                        <a:rPr lang="en-US" dirty="0" smtClean="0"/>
                        <a:t>        </a:t>
                      </a:r>
                      <a:r>
                        <a:rPr lang="en-US" dirty="0" err="1" smtClean="0"/>
                        <a:t>arr</a:t>
                      </a:r>
                      <a:r>
                        <a:rPr lang="en-US" dirty="0" smtClean="0"/>
                        <a:t>[2] = new Student(3, "</a:t>
                      </a:r>
                      <a:r>
                        <a:rPr lang="en-US" dirty="0" err="1" smtClean="0"/>
                        <a:t>shikar</a:t>
                      </a:r>
                      <a:r>
                        <a:rPr lang="en-US" dirty="0" smtClean="0"/>
                        <a:t>");</a:t>
                      </a:r>
                      <a:endParaRPr lang="en-US" dirty="0" smtClean="0"/>
                    </a:p>
                    <a:p>
                      <a:r>
                        <a:rPr lang="en-US" dirty="0" smtClean="0"/>
                        <a:t>        </a:t>
                      </a:r>
                      <a:r>
                        <a:rPr lang="en-US" dirty="0" err="1" smtClean="0"/>
                        <a:t>arr</a:t>
                      </a:r>
                      <a:r>
                        <a:rPr lang="en-US" dirty="0" smtClean="0"/>
                        <a:t>[3] = new Student(4, "</a:t>
                      </a:r>
                      <a:r>
                        <a:rPr lang="en-US" dirty="0" err="1" smtClean="0"/>
                        <a:t>dharmesh</a:t>
                      </a:r>
                      <a:r>
                        <a:rPr lang="en-US" dirty="0" smtClean="0"/>
                        <a:t>");</a:t>
                      </a:r>
                      <a:endParaRPr lang="en-US" dirty="0" smtClean="0"/>
                    </a:p>
                    <a:p>
                      <a:r>
                        <a:rPr lang="en-US" dirty="0" smtClean="0"/>
                        <a:t>        </a:t>
                      </a:r>
                      <a:r>
                        <a:rPr lang="en-US" dirty="0" err="1" smtClean="0"/>
                        <a:t>arr</a:t>
                      </a:r>
                      <a:r>
                        <a:rPr lang="en-US" dirty="0" smtClean="0"/>
                        <a:t>[4] = new Student(5, "</a:t>
                      </a:r>
                      <a:r>
                        <a:rPr lang="en-US" dirty="0" err="1" smtClean="0"/>
                        <a:t>mohit</a:t>
                      </a:r>
                      <a:r>
                        <a:rPr lang="en-US" dirty="0" smtClean="0"/>
                        <a:t>");</a:t>
                      </a:r>
                      <a:endParaRPr lang="en-US" dirty="0" smtClean="0"/>
                    </a:p>
                    <a:p>
                      <a:endParaRPr lang="en-US" dirty="0" smtClean="0"/>
                    </a:p>
                    <a:p>
                      <a:r>
                        <a:rPr lang="en-US" dirty="0" smtClean="0"/>
                        <a:t>        // accessing the elements of the specified array</a:t>
                      </a:r>
                      <a:endParaRPr lang="en-US" dirty="0" smtClean="0"/>
                    </a:p>
                    <a:p>
                      <a:r>
                        <a:rPr lang="en-US" dirty="0" smtClean="0"/>
                        <a:t>        for (</a:t>
                      </a:r>
                      <a:r>
                        <a:rPr lang="en-US" dirty="0" err="1" smtClean="0"/>
                        <a:t>int</a:t>
                      </a:r>
                      <a:r>
                        <a:rPr lang="en-US" dirty="0" smtClean="0"/>
                        <a:t> </a:t>
                      </a:r>
                      <a:r>
                        <a:rPr lang="en-US" dirty="0" err="1" smtClean="0"/>
                        <a:t>i</a:t>
                      </a:r>
                      <a:r>
                        <a:rPr lang="en-US" dirty="0" smtClean="0"/>
                        <a:t> = 0; </a:t>
                      </a:r>
                      <a:r>
                        <a:rPr lang="en-US" dirty="0" err="1" smtClean="0"/>
                        <a:t>i</a:t>
                      </a:r>
                      <a:r>
                        <a:rPr lang="en-US" dirty="0" smtClean="0"/>
                        <a:t> &lt; </a:t>
                      </a:r>
                      <a:r>
                        <a:rPr lang="en-US" dirty="0" err="1" smtClean="0"/>
                        <a:t>arr.length</a:t>
                      </a:r>
                      <a:r>
                        <a:rPr lang="en-US" dirty="0" smtClean="0"/>
                        <a:t>; </a:t>
                      </a:r>
                      <a:r>
                        <a:rPr lang="en-US" dirty="0" err="1" smtClean="0"/>
                        <a:t>i</a:t>
                      </a:r>
                      <a:r>
                        <a:rPr lang="en-US" dirty="0" smtClean="0"/>
                        <a:t>++)</a:t>
                      </a:r>
                      <a:endParaRPr lang="en-US" dirty="0" smtClean="0"/>
                    </a:p>
                    <a:p>
                      <a:r>
                        <a:rPr lang="en-US" dirty="0" smtClean="0"/>
                        <a:t>            </a:t>
                      </a:r>
                      <a:r>
                        <a:rPr lang="en-US" dirty="0" err="1" smtClean="0"/>
                        <a:t>System.out.println</a:t>
                      </a:r>
                      <a:r>
                        <a:rPr lang="en-US" dirty="0" smtClean="0"/>
                        <a:t>("Element at " + </a:t>
                      </a:r>
                      <a:r>
                        <a:rPr lang="en-US" dirty="0" err="1" smtClean="0"/>
                        <a:t>i</a:t>
                      </a:r>
                      <a:r>
                        <a:rPr lang="en-US" dirty="0" smtClean="0"/>
                        <a:t> + " : "</a:t>
                      </a:r>
                      <a:endParaRPr lang="en-US" dirty="0" smtClean="0"/>
                    </a:p>
                    <a:p>
                      <a:r>
                        <a:rPr lang="en-US" dirty="0" smtClean="0"/>
                        <a:t>                               + </a:t>
                      </a:r>
                      <a:r>
                        <a:rPr lang="en-US" dirty="0" err="1" smtClean="0"/>
                        <a:t>arr</a:t>
                      </a:r>
                      <a:r>
                        <a:rPr lang="en-US" dirty="0" smtClean="0"/>
                        <a:t>[</a:t>
                      </a:r>
                      <a:r>
                        <a:rPr lang="en-US" dirty="0" err="1" smtClean="0"/>
                        <a:t>i</a:t>
                      </a:r>
                      <a:r>
                        <a:rPr lang="en-US" dirty="0" smtClean="0"/>
                        <a:t>].</a:t>
                      </a:r>
                      <a:r>
                        <a:rPr lang="en-US" dirty="0" err="1" smtClean="0"/>
                        <a:t>roll_no</a:t>
                      </a:r>
                      <a:r>
                        <a:rPr lang="en-US" dirty="0" smtClean="0"/>
                        <a:t> + " "</a:t>
                      </a:r>
                      <a:endParaRPr lang="en-US" dirty="0" smtClean="0"/>
                    </a:p>
                    <a:p>
                      <a:r>
                        <a:rPr lang="en-US" dirty="0" smtClean="0"/>
                        <a:t>                               + </a:t>
                      </a:r>
                      <a:r>
                        <a:rPr lang="en-US" dirty="0" err="1" smtClean="0"/>
                        <a:t>arr</a:t>
                      </a:r>
                      <a:r>
                        <a:rPr lang="en-US" dirty="0" smtClean="0"/>
                        <a:t>[</a:t>
                      </a:r>
                      <a:r>
                        <a:rPr lang="en-US" dirty="0" err="1" smtClean="0"/>
                        <a:t>i</a:t>
                      </a:r>
                      <a:r>
                        <a:rPr lang="en-US" dirty="0" smtClean="0"/>
                        <a:t>].name);</a:t>
                      </a:r>
                      <a:endParaRPr lang="en-US" dirty="0" smtClean="0"/>
                    </a:p>
                    <a:p>
                      <a:r>
                        <a:rPr lang="en-US" dirty="0" smtClean="0"/>
                        <a:t>    }</a:t>
                      </a:r>
                      <a:endParaRPr lang="en-US" dirty="0" smtClean="0"/>
                    </a:p>
                    <a:p>
                      <a:r>
                        <a:rPr lang="en-US" dirty="0" smtClean="0"/>
                        <a:t>}</a:t>
                      </a:r>
                      <a:endParaRPr lang="en-US" dirty="0" smtClean="0"/>
                    </a:p>
                    <a:p>
                      <a:endParaRPr lang="en-IN" dirty="0" smtClean="0"/>
                    </a:p>
                    <a:p>
                      <a:endParaRPr lang="en-IN" dirty="0"/>
                    </a:p>
                  </a:txBody>
                  <a:tcPr/>
                </a:tc>
              </a:tr>
              <a:tr h="370840">
                <a:tc>
                  <a:txBody>
                    <a:bodyPr/>
                    <a:lstStyle/>
                    <a:p>
                      <a:endParaRPr lang="en-IN" dirty="0"/>
                    </a:p>
                  </a:txBody>
                  <a:tcP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Jagged Array</a:t>
            </a:r>
            <a:endParaRPr lang="en-IN"/>
          </a:p>
        </p:txBody>
      </p:sp>
      <p:sp>
        <p:nvSpPr>
          <p:cNvPr id="3" name="Content Placeholder 2"/>
          <p:cNvSpPr>
            <a:spLocks noGrp="1"/>
          </p:cNvSpPr>
          <p:nvPr>
            <p:ph idx="1"/>
          </p:nvPr>
        </p:nvSpPr>
        <p:spPr>
          <a:xfrm>
            <a:off x="838200" y="1834861"/>
            <a:ext cx="10515600" cy="4351338"/>
          </a:xfrm>
        </p:spPr>
        <p:txBody>
          <a:bodyPr/>
          <a:lstStyle/>
          <a:p>
            <a:r>
              <a:rPr lang="en-US"/>
              <a:t>A </a:t>
            </a:r>
            <a:r>
              <a:rPr lang="en-US" smtClean="0"/>
              <a:t>jagged array</a:t>
            </a:r>
            <a:r>
              <a:rPr lang="en-US"/>
              <a:t> is an array of arrays such that member arrays can be of different </a:t>
            </a:r>
            <a:r>
              <a:rPr lang="en-US" smtClean="0"/>
              <a:t>sizes. </a:t>
            </a:r>
            <a:r>
              <a:rPr lang="en-US" dirty="0"/>
              <a:t>i.e., we can create a 2-D array but with a variable number of columns in each row. </a:t>
            </a:r>
            <a:endParaRPr lang="en-IN"/>
          </a:p>
        </p:txBody>
      </p:sp>
      <p:sp>
        <p:nvSpPr>
          <p:cNvPr id="4" name="Rectangle 3"/>
          <p:cNvSpPr/>
          <p:nvPr/>
        </p:nvSpPr>
        <p:spPr>
          <a:xfrm>
            <a:off x="8798560" y="5902801"/>
            <a:ext cx="1493520" cy="54832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3076" name="Picture 4" descr="https://www.softwaretestinghelp.com/wp-content/qa/uploads/2020/01/Representation-of-a-jagged-array.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2037" y="3191669"/>
            <a:ext cx="7527925" cy="2576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9595"/>
          </a:xfrm>
        </p:spPr>
        <p:txBody>
          <a:bodyPr>
            <a:normAutofit fontScale="90000"/>
          </a:bodyPr>
          <a:lstStyle/>
          <a:p>
            <a:r>
              <a:rPr lang="en-IN" dirty="0" smtClean="0"/>
              <a:t>Sample Program</a:t>
            </a:r>
            <a:endParaRPr lang="en-IN" dirty="0"/>
          </a:p>
        </p:txBody>
      </p:sp>
      <p:graphicFrame>
        <p:nvGraphicFramePr>
          <p:cNvPr id="4" name="Content Placeholder 3"/>
          <p:cNvGraphicFramePr>
            <a:graphicFrameLocks noGrp="1"/>
          </p:cNvGraphicFramePr>
          <p:nvPr>
            <p:ph idx="1"/>
          </p:nvPr>
        </p:nvGraphicFramePr>
        <p:xfrm>
          <a:off x="838200" y="934720"/>
          <a:ext cx="10515600" cy="6126480"/>
        </p:xfrm>
        <a:graphic>
          <a:graphicData uri="http://schemas.openxmlformats.org/drawingml/2006/table">
            <a:tbl>
              <a:tblPr firstRow="1" bandRow="1">
                <a:tableStyleId>{2D5ABB26-0587-4C30-8999-92F81FD0307C}</a:tableStyleId>
              </a:tblPr>
              <a:tblGrid>
                <a:gridCol w="10515600"/>
              </a:tblGrid>
              <a:tr h="370840">
                <a:tc>
                  <a:txBody>
                    <a:bodyPr/>
                    <a:lstStyle/>
                    <a:p>
                      <a:r>
                        <a:rPr lang="en-IN" sz="1800" b="0" i="0" kern="1200" dirty="0" smtClean="0">
                          <a:solidFill>
                            <a:schemeClr val="tx1"/>
                          </a:solidFill>
                          <a:effectLst/>
                          <a:latin typeface="+mn-lt"/>
                          <a:ea typeface="+mn-ea"/>
                          <a:cs typeface="+mn-cs"/>
                        </a:rPr>
                        <a:t>class </a:t>
                      </a:r>
                      <a:r>
                        <a:rPr lang="en-IN" sz="1800" b="0" i="0" kern="1200" dirty="0" err="1" smtClean="0">
                          <a:solidFill>
                            <a:schemeClr val="tx1"/>
                          </a:solidFill>
                          <a:effectLst/>
                          <a:latin typeface="+mn-lt"/>
                          <a:ea typeface="+mn-ea"/>
                          <a:cs typeface="+mn-cs"/>
                        </a:rPr>
                        <a:t>TestJaggedArray</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public</a:t>
                      </a:r>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static</a:t>
                      </a:r>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void</a:t>
                      </a:r>
                      <a:r>
                        <a:rPr lang="en-IN" sz="1800" b="0" i="0" kern="1200" dirty="0" smtClean="0">
                          <a:solidFill>
                            <a:schemeClr val="tx1"/>
                          </a:solidFill>
                          <a:effectLst/>
                          <a:latin typeface="+mn-lt"/>
                          <a:ea typeface="+mn-ea"/>
                          <a:cs typeface="+mn-cs"/>
                        </a:rPr>
                        <a:t> main(String[] </a:t>
                      </a:r>
                      <a:r>
                        <a:rPr lang="en-IN" sz="1800" b="0" i="0" kern="1200" dirty="0" err="1" smtClean="0">
                          <a:solidFill>
                            <a:schemeClr val="tx1"/>
                          </a:solidFill>
                          <a:effectLst/>
                          <a:latin typeface="+mn-lt"/>
                          <a:ea typeface="+mn-ea"/>
                          <a:cs typeface="+mn-cs"/>
                        </a:rPr>
                        <a:t>args</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//declaring a 2D array with odd columns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 = </a:t>
                      </a:r>
                      <a:r>
                        <a:rPr lang="en-IN" sz="1800" b="1" i="0" kern="1200" dirty="0" smtClean="0">
                          <a:solidFill>
                            <a:schemeClr val="tx1"/>
                          </a:solidFill>
                          <a:effectLst/>
                          <a:latin typeface="+mn-lt"/>
                          <a:ea typeface="+mn-ea"/>
                          <a:cs typeface="+mn-cs"/>
                        </a:rPr>
                        <a:t>new</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[3][];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[0] = </a:t>
                      </a:r>
                      <a:r>
                        <a:rPr lang="en-IN" sz="1800" b="1" i="0" kern="1200" dirty="0" smtClean="0">
                          <a:solidFill>
                            <a:schemeClr val="tx1"/>
                          </a:solidFill>
                          <a:effectLst/>
                          <a:latin typeface="+mn-lt"/>
                          <a:ea typeface="+mn-ea"/>
                          <a:cs typeface="+mn-cs"/>
                        </a:rPr>
                        <a:t>new</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[3];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[1] = </a:t>
                      </a:r>
                      <a:r>
                        <a:rPr lang="en-IN" sz="1800" b="1" i="0" kern="1200" dirty="0" smtClean="0">
                          <a:solidFill>
                            <a:schemeClr val="tx1"/>
                          </a:solidFill>
                          <a:effectLst/>
                          <a:latin typeface="+mn-lt"/>
                          <a:ea typeface="+mn-ea"/>
                          <a:cs typeface="+mn-cs"/>
                        </a:rPr>
                        <a:t>new</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[4];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[2] = </a:t>
                      </a:r>
                      <a:r>
                        <a:rPr lang="en-IN" sz="1800" b="1" i="0" kern="1200" dirty="0" smtClean="0">
                          <a:solidFill>
                            <a:schemeClr val="tx1"/>
                          </a:solidFill>
                          <a:effectLst/>
                          <a:latin typeface="+mn-lt"/>
                          <a:ea typeface="+mn-ea"/>
                          <a:cs typeface="+mn-cs"/>
                        </a:rPr>
                        <a:t>new</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[2];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//initializing a jagged array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count = 0;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for</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=0;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&lt;</a:t>
                      </a:r>
                      <a:r>
                        <a:rPr lang="en-IN" sz="1800" b="0" i="0" kern="1200" dirty="0" err="1" smtClean="0">
                          <a:solidFill>
                            <a:schemeClr val="tx1"/>
                          </a:solidFill>
                          <a:effectLst/>
                          <a:latin typeface="+mn-lt"/>
                          <a:ea typeface="+mn-ea"/>
                          <a:cs typeface="+mn-cs"/>
                        </a:rPr>
                        <a:t>arr.length</a:t>
                      </a:r>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for</a:t>
                      </a:r>
                      <a:r>
                        <a:rPr lang="en-IN" sz="1800" b="0" i="0" kern="1200" dirty="0" smtClean="0">
                          <a:solidFill>
                            <a:schemeClr val="tx1"/>
                          </a:solidFill>
                          <a:effectLst/>
                          <a:latin typeface="+mn-lt"/>
                          <a:ea typeface="+mn-ea"/>
                          <a:cs typeface="+mn-cs"/>
                        </a:rPr>
                        <a:t>(</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j=0; j&lt;</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].length; </a:t>
                      </a:r>
                      <a:r>
                        <a:rPr lang="en-IN" sz="1800" b="0" i="0" kern="1200" dirty="0" err="1" smtClean="0">
                          <a:solidFill>
                            <a:schemeClr val="tx1"/>
                          </a:solidFill>
                          <a:effectLst/>
                          <a:latin typeface="+mn-lt"/>
                          <a:ea typeface="+mn-ea"/>
                          <a:cs typeface="+mn-cs"/>
                        </a:rPr>
                        <a:t>j++</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][j] = count++;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//printing the data of a jagged array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for</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=0;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&lt;</a:t>
                      </a:r>
                      <a:r>
                        <a:rPr lang="en-IN" sz="1800" b="0" i="0" kern="1200" dirty="0" err="1" smtClean="0">
                          <a:solidFill>
                            <a:schemeClr val="tx1"/>
                          </a:solidFill>
                          <a:effectLst/>
                          <a:latin typeface="+mn-lt"/>
                          <a:ea typeface="+mn-ea"/>
                          <a:cs typeface="+mn-cs"/>
                        </a:rPr>
                        <a:t>arr.length</a:t>
                      </a:r>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1" i="0" kern="1200" dirty="0" smtClean="0">
                          <a:solidFill>
                            <a:schemeClr val="tx1"/>
                          </a:solidFill>
                          <a:effectLst/>
                          <a:latin typeface="+mn-lt"/>
                          <a:ea typeface="+mn-ea"/>
                          <a:cs typeface="+mn-cs"/>
                        </a:rPr>
                        <a:t>for</a:t>
                      </a:r>
                      <a:r>
                        <a:rPr lang="en-IN" sz="1800" b="0" i="0" kern="1200" dirty="0" smtClean="0">
                          <a:solidFill>
                            <a:schemeClr val="tx1"/>
                          </a:solidFill>
                          <a:effectLst/>
                          <a:latin typeface="+mn-lt"/>
                          <a:ea typeface="+mn-ea"/>
                          <a:cs typeface="+mn-cs"/>
                        </a:rPr>
                        <a:t> (</a:t>
                      </a:r>
                      <a:r>
                        <a:rPr lang="en-IN" sz="1800" b="1" i="0" kern="1200" dirty="0" err="1" smtClean="0">
                          <a:solidFill>
                            <a:schemeClr val="tx1"/>
                          </a:solidFill>
                          <a:effectLst/>
                          <a:latin typeface="+mn-lt"/>
                          <a:ea typeface="+mn-ea"/>
                          <a:cs typeface="+mn-cs"/>
                        </a:rPr>
                        <a:t>int</a:t>
                      </a:r>
                      <a:r>
                        <a:rPr lang="en-IN" sz="1800" b="0" i="0" kern="1200" dirty="0" smtClean="0">
                          <a:solidFill>
                            <a:schemeClr val="tx1"/>
                          </a:solidFill>
                          <a:effectLst/>
                          <a:latin typeface="+mn-lt"/>
                          <a:ea typeface="+mn-ea"/>
                          <a:cs typeface="+mn-cs"/>
                        </a:rPr>
                        <a:t> j=0; j&lt;</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].length; </a:t>
                      </a:r>
                      <a:r>
                        <a:rPr lang="en-IN" sz="1800" b="0" i="0" kern="1200" dirty="0" err="1" smtClean="0">
                          <a:solidFill>
                            <a:schemeClr val="tx1"/>
                          </a:solidFill>
                          <a:effectLst/>
                          <a:latin typeface="+mn-lt"/>
                          <a:ea typeface="+mn-ea"/>
                          <a:cs typeface="+mn-cs"/>
                        </a:rPr>
                        <a:t>j++</a:t>
                      </a:r>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System.out.print</a:t>
                      </a:r>
                      <a:r>
                        <a:rPr lang="en-IN" sz="1800" b="0" i="0" kern="1200" dirty="0" smtClean="0">
                          <a:solidFill>
                            <a:schemeClr val="tx1"/>
                          </a:solidFill>
                          <a:effectLst/>
                          <a:latin typeface="+mn-lt"/>
                          <a:ea typeface="+mn-ea"/>
                          <a:cs typeface="+mn-cs"/>
                        </a:rPr>
                        <a:t>(</a:t>
                      </a:r>
                      <a:r>
                        <a:rPr lang="en-IN" sz="1800" b="0" i="0" kern="1200" dirty="0" err="1" smtClean="0">
                          <a:solidFill>
                            <a:schemeClr val="tx1"/>
                          </a:solidFill>
                          <a:effectLst/>
                          <a:latin typeface="+mn-lt"/>
                          <a:ea typeface="+mn-ea"/>
                          <a:cs typeface="+mn-cs"/>
                        </a:rPr>
                        <a:t>arr</a:t>
                      </a:r>
                      <a:r>
                        <a:rPr lang="en-IN" sz="1800" b="0" i="0" kern="1200" dirty="0" smtClean="0">
                          <a:solidFill>
                            <a:schemeClr val="tx1"/>
                          </a:solidFill>
                          <a:effectLst/>
                          <a:latin typeface="+mn-lt"/>
                          <a:ea typeface="+mn-ea"/>
                          <a:cs typeface="+mn-cs"/>
                        </a:rPr>
                        <a:t>[</a:t>
                      </a:r>
                      <a:r>
                        <a:rPr lang="en-IN" sz="1800" b="0" i="0" kern="1200" dirty="0" err="1" smtClean="0">
                          <a:solidFill>
                            <a:schemeClr val="tx1"/>
                          </a:solidFill>
                          <a:effectLst/>
                          <a:latin typeface="+mn-lt"/>
                          <a:ea typeface="+mn-ea"/>
                          <a:cs typeface="+mn-cs"/>
                        </a:rPr>
                        <a:t>i</a:t>
                      </a:r>
                      <a:r>
                        <a:rPr lang="en-IN" sz="1800" b="0" i="0" kern="1200" dirty="0" smtClean="0">
                          <a:solidFill>
                            <a:schemeClr val="tx1"/>
                          </a:solidFill>
                          <a:effectLst/>
                          <a:latin typeface="+mn-lt"/>
                          <a:ea typeface="+mn-ea"/>
                          <a:cs typeface="+mn-cs"/>
                        </a:rPr>
                        <a:t>][j]+" ");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r>
                        <a:rPr lang="en-IN" sz="1800" b="0" i="0" kern="1200" dirty="0" err="1" smtClean="0">
                          <a:solidFill>
                            <a:schemeClr val="tx1"/>
                          </a:solidFill>
                          <a:effectLst/>
                          <a:latin typeface="+mn-lt"/>
                          <a:ea typeface="+mn-ea"/>
                          <a:cs typeface="+mn-cs"/>
                        </a:rPr>
                        <a:t>System.out.println</a:t>
                      </a:r>
                      <a:r>
                        <a:rPr lang="en-IN" sz="1800" b="0" i="0" kern="1200" dirty="0" smtClean="0">
                          <a:solidFill>
                            <a:schemeClr val="tx1"/>
                          </a:solidFill>
                          <a:effectLst/>
                          <a:latin typeface="+mn-lt"/>
                          <a:ea typeface="+mn-ea"/>
                          <a:cs typeface="+mn-cs"/>
                        </a:rPr>
                        <a:t>();//new line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  </a:t>
                      </a:r>
                      <a:endParaRPr lang="en-IN" sz="1800" b="0" i="0" kern="1200" dirty="0" smtClean="0">
                        <a:solidFill>
                          <a:schemeClr val="tx1"/>
                        </a:solidFill>
                        <a:effectLst/>
                        <a:latin typeface="+mn-lt"/>
                        <a:ea typeface="+mn-ea"/>
                        <a:cs typeface="+mn-cs"/>
                      </a:endParaRPr>
                    </a:p>
                    <a:p>
                      <a:r>
                        <a:rPr lang="en-IN" sz="1800" b="0" i="0" kern="1200" dirty="0" smtClean="0">
                          <a:solidFill>
                            <a:schemeClr val="tx1"/>
                          </a:solidFill>
                          <a:effectLst/>
                          <a:latin typeface="+mn-lt"/>
                          <a:ea typeface="+mn-ea"/>
                          <a:cs typeface="+mn-cs"/>
                        </a:rPr>
                        <a:t>}  </a:t>
                      </a:r>
                      <a:endParaRPr lang="en-IN" sz="1800" b="0" i="0" kern="1200" dirty="0" smtClean="0">
                        <a:solidFill>
                          <a:schemeClr val="tx1"/>
                        </a:solidFill>
                        <a:effectLst/>
                        <a:latin typeface="+mn-lt"/>
                        <a:ea typeface="+mn-ea"/>
                        <a:cs typeface="+mn-cs"/>
                      </a:endParaRPr>
                    </a:p>
                    <a:p>
                      <a:endParaRPr lang="en-IN" dirty="0"/>
                    </a:p>
                  </a:txBody>
                  <a:tcPr/>
                </a:tc>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0645"/>
            <a:ext cx="10515600" cy="569595"/>
          </a:xfrm>
        </p:spPr>
        <p:txBody>
          <a:bodyPr>
            <a:noAutofit/>
          </a:bodyPr>
          <a:lstStyle/>
          <a:p>
            <a:r>
              <a:rPr lang="en-IN" sz="3600" b="1" dirty="0"/>
              <a:t>Passing Arrays to </a:t>
            </a:r>
            <a:r>
              <a:rPr lang="en-IN" sz="3600" b="1" dirty="0" smtClean="0"/>
              <a:t>Methods</a:t>
            </a:r>
            <a:endParaRPr lang="en-IN" sz="3600" b="1" dirty="0"/>
          </a:p>
        </p:txBody>
      </p:sp>
      <p:sp>
        <p:nvSpPr>
          <p:cNvPr id="3" name="Content Placeholder 2"/>
          <p:cNvSpPr>
            <a:spLocks noGrp="1"/>
          </p:cNvSpPr>
          <p:nvPr>
            <p:ph idx="1"/>
          </p:nvPr>
        </p:nvSpPr>
        <p:spPr>
          <a:xfrm>
            <a:off x="381000" y="748665"/>
            <a:ext cx="10515600" cy="4351338"/>
          </a:xfrm>
        </p:spPr>
        <p:txBody>
          <a:bodyPr>
            <a:normAutofit/>
          </a:bodyPr>
          <a:lstStyle/>
          <a:p>
            <a:r>
              <a:rPr lang="en-US" sz="2400" dirty="0"/>
              <a:t>Like variables, we can also pass arrays to </a:t>
            </a:r>
            <a:r>
              <a:rPr lang="en-US" sz="2400" dirty="0" smtClean="0"/>
              <a:t>methods.</a:t>
            </a:r>
            <a:endParaRPr lang="en-IN" sz="2400" dirty="0"/>
          </a:p>
        </p:txBody>
      </p:sp>
      <p:graphicFrame>
        <p:nvGraphicFramePr>
          <p:cNvPr id="4" name="Table 3"/>
          <p:cNvGraphicFramePr>
            <a:graphicFrameLocks noGrp="1"/>
          </p:cNvGraphicFramePr>
          <p:nvPr/>
        </p:nvGraphicFramePr>
        <p:xfrm>
          <a:off x="2463800" y="1441026"/>
          <a:ext cx="8128000" cy="4480560"/>
        </p:xfrm>
        <a:graphic>
          <a:graphicData uri="http://schemas.openxmlformats.org/drawingml/2006/table">
            <a:tbl>
              <a:tblPr firstRow="1" bandRow="1">
                <a:tableStyleId>{2D5ABB26-0587-4C30-8999-92F81FD0307C}</a:tableStyleId>
              </a:tblPr>
              <a:tblGrid>
                <a:gridCol w="8128000"/>
              </a:tblGrid>
              <a:tr h="370840">
                <a:tc>
                  <a:txBody>
                    <a:bodyPr/>
                    <a:lstStyle/>
                    <a:p>
                      <a:r>
                        <a:rPr lang="en-IN" dirty="0" smtClean="0"/>
                        <a:t>public class Test {</a:t>
                      </a:r>
                      <a:endParaRPr lang="en-IN" dirty="0" smtClean="0"/>
                    </a:p>
                    <a:p>
                      <a:r>
                        <a:rPr lang="en-IN" dirty="0" smtClean="0"/>
                        <a:t>public static void sum(</a:t>
                      </a:r>
                      <a:r>
                        <a:rPr lang="en-IN" dirty="0" err="1" smtClean="0"/>
                        <a:t>int</a:t>
                      </a:r>
                      <a:r>
                        <a:rPr lang="en-IN" dirty="0" smtClean="0"/>
                        <a:t>[] </a:t>
                      </a:r>
                      <a:r>
                        <a:rPr lang="en-IN" dirty="0" err="1" smtClean="0"/>
                        <a:t>arr</a:t>
                      </a:r>
                      <a:r>
                        <a:rPr lang="en-IN" dirty="0" smtClean="0"/>
                        <a:t>) {</a:t>
                      </a:r>
                      <a:endParaRPr lang="en-IN" dirty="0" smtClean="0"/>
                    </a:p>
                    <a:p>
                      <a:r>
                        <a:rPr lang="en-IN" dirty="0" err="1" smtClean="0"/>
                        <a:t>int</a:t>
                      </a:r>
                      <a:r>
                        <a:rPr lang="en-IN" dirty="0" smtClean="0"/>
                        <a:t> sum = 0;</a:t>
                      </a:r>
                      <a:endParaRPr lang="en-IN" dirty="0" smtClean="0"/>
                    </a:p>
                    <a:p>
                      <a:r>
                        <a:rPr lang="en-IN" dirty="0" smtClean="0"/>
                        <a:t>        for (</a:t>
                      </a:r>
                      <a:r>
                        <a:rPr lang="en-IN" dirty="0" err="1" smtClean="0"/>
                        <a:t>int</a:t>
                      </a:r>
                      <a:r>
                        <a:rPr lang="en-IN" dirty="0" smtClean="0"/>
                        <a:t> </a:t>
                      </a:r>
                      <a:r>
                        <a:rPr lang="en-IN" dirty="0" err="1" smtClean="0"/>
                        <a:t>i</a:t>
                      </a:r>
                      <a:r>
                        <a:rPr lang="en-IN" dirty="0" smtClean="0"/>
                        <a:t> = 0; </a:t>
                      </a:r>
                      <a:r>
                        <a:rPr lang="en-IN" dirty="0" err="1" smtClean="0"/>
                        <a:t>i</a:t>
                      </a:r>
                      <a:r>
                        <a:rPr lang="en-IN" dirty="0" smtClean="0"/>
                        <a:t> &lt; </a:t>
                      </a:r>
                      <a:r>
                        <a:rPr lang="en-IN" dirty="0" err="1" smtClean="0"/>
                        <a:t>arr.length</a:t>
                      </a:r>
                      <a:r>
                        <a:rPr lang="en-IN" dirty="0" smtClean="0"/>
                        <a:t>; </a:t>
                      </a:r>
                      <a:r>
                        <a:rPr lang="en-IN" dirty="0" err="1" smtClean="0"/>
                        <a:t>i</a:t>
                      </a:r>
                      <a:r>
                        <a:rPr lang="en-IN" dirty="0" smtClean="0"/>
                        <a:t>++)</a:t>
                      </a:r>
                      <a:endParaRPr lang="en-IN" dirty="0" smtClean="0"/>
                    </a:p>
                    <a:p>
                      <a:r>
                        <a:rPr lang="en-IN" dirty="0" smtClean="0"/>
                        <a:t>            sum += </a:t>
                      </a:r>
                      <a:r>
                        <a:rPr lang="en-IN" dirty="0" err="1" smtClean="0"/>
                        <a:t>arr</a:t>
                      </a:r>
                      <a:r>
                        <a:rPr lang="en-IN" dirty="0" smtClean="0"/>
                        <a:t>[</a:t>
                      </a:r>
                      <a:r>
                        <a:rPr lang="en-IN" dirty="0" err="1" smtClean="0"/>
                        <a:t>i</a:t>
                      </a:r>
                      <a:r>
                        <a:rPr lang="en-IN" dirty="0" smtClean="0"/>
                        <a:t>];</a:t>
                      </a:r>
                      <a:endParaRPr lang="en-IN" dirty="0" smtClean="0"/>
                    </a:p>
                    <a:p>
                      <a:endParaRPr lang="en-IN" dirty="0" smtClean="0"/>
                    </a:p>
                    <a:p>
                      <a:r>
                        <a:rPr lang="en-IN" dirty="0" smtClean="0"/>
                        <a:t>        </a:t>
                      </a:r>
                      <a:r>
                        <a:rPr lang="en-IN" dirty="0" err="1" smtClean="0"/>
                        <a:t>System.out.println</a:t>
                      </a:r>
                      <a:r>
                        <a:rPr lang="en-IN" dirty="0" smtClean="0"/>
                        <a:t>("sum of array values : " + sum);</a:t>
                      </a:r>
                      <a:endParaRPr lang="en-IN" dirty="0" smtClean="0"/>
                    </a:p>
                    <a:p>
                      <a:r>
                        <a:rPr lang="en-IN" dirty="0" smtClean="0"/>
                        <a:t>    }</a:t>
                      </a:r>
                      <a:endParaRPr lang="en-IN" dirty="0" smtClean="0"/>
                    </a:p>
                    <a:p>
                      <a:r>
                        <a:rPr lang="en-IN" dirty="0" smtClean="0"/>
                        <a:t>public static void main(String </a:t>
                      </a:r>
                      <a:r>
                        <a:rPr lang="en-IN" dirty="0" err="1" smtClean="0"/>
                        <a:t>args</a:t>
                      </a:r>
                      <a:r>
                        <a:rPr lang="en-IN" dirty="0" smtClean="0"/>
                        <a:t>[]) {</a:t>
                      </a:r>
                      <a:endParaRPr lang="en-IN" dirty="0" smtClean="0"/>
                    </a:p>
                    <a:p>
                      <a:r>
                        <a:rPr lang="en-IN" dirty="0" smtClean="0"/>
                        <a:t>        </a:t>
                      </a:r>
                      <a:r>
                        <a:rPr lang="en-IN" dirty="0" err="1" smtClean="0"/>
                        <a:t>int</a:t>
                      </a:r>
                      <a:r>
                        <a:rPr lang="en-IN" dirty="0" smtClean="0"/>
                        <a:t> </a:t>
                      </a:r>
                      <a:r>
                        <a:rPr lang="en-IN" dirty="0" err="1" smtClean="0"/>
                        <a:t>arr</a:t>
                      </a:r>
                      <a:r>
                        <a:rPr lang="en-IN" dirty="0" smtClean="0"/>
                        <a:t>[] = { 3, 1, 2, 5, 4 };</a:t>
                      </a:r>
                      <a:endParaRPr lang="en-IN" dirty="0" smtClean="0"/>
                    </a:p>
                    <a:p>
                      <a:endParaRPr lang="en-IN" dirty="0" smtClean="0"/>
                    </a:p>
                    <a:p>
                      <a:r>
                        <a:rPr lang="en-IN" dirty="0" smtClean="0"/>
                        <a:t>        // passing array to method m1</a:t>
                      </a:r>
                      <a:endParaRPr lang="en-IN" dirty="0" smtClean="0"/>
                    </a:p>
                    <a:p>
                      <a:r>
                        <a:rPr lang="en-IN" dirty="0" smtClean="0"/>
                        <a:t>        sum(</a:t>
                      </a:r>
                      <a:r>
                        <a:rPr lang="en-IN" dirty="0" err="1" smtClean="0"/>
                        <a:t>arr</a:t>
                      </a:r>
                      <a:r>
                        <a:rPr lang="en-IN" dirty="0" smtClean="0"/>
                        <a:t>);</a:t>
                      </a:r>
                      <a:endParaRPr lang="en-IN" dirty="0" smtClean="0"/>
                    </a:p>
                    <a:p>
                      <a:r>
                        <a:rPr lang="en-IN" dirty="0" smtClean="0"/>
                        <a:t>    }</a:t>
                      </a:r>
                      <a:endParaRPr lang="en-IN" dirty="0" smtClean="0"/>
                    </a:p>
                    <a:p>
                      <a:r>
                        <a:rPr lang="en-IN" dirty="0" smtClean="0"/>
                        <a:t>}</a:t>
                      </a:r>
                      <a:endParaRPr lang="en-IN" dirty="0" smtClean="0"/>
                    </a:p>
                    <a:p>
                      <a:endParaRPr lang="en-IN" dirty="0"/>
                    </a:p>
                  </a:txBody>
                  <a:tcPr/>
                </a:tc>
              </a:tr>
            </a:tbl>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0645"/>
            <a:ext cx="10515600" cy="569595"/>
          </a:xfrm>
        </p:spPr>
        <p:txBody>
          <a:bodyPr>
            <a:normAutofit fontScale="90000"/>
          </a:bodyPr>
          <a:lstStyle/>
          <a:p>
            <a:pPr fontAlgn="base"/>
            <a:r>
              <a:rPr lang="en-IN" b="1" dirty="0"/>
              <a:t>Returning Arrays from Methods</a:t>
            </a:r>
            <a:endParaRPr lang="en-IN" b="1" dirty="0"/>
          </a:p>
        </p:txBody>
      </p:sp>
      <p:sp>
        <p:nvSpPr>
          <p:cNvPr id="3" name="Content Placeholder 2"/>
          <p:cNvSpPr>
            <a:spLocks noGrp="1"/>
          </p:cNvSpPr>
          <p:nvPr>
            <p:ph idx="1"/>
          </p:nvPr>
        </p:nvSpPr>
        <p:spPr>
          <a:xfrm>
            <a:off x="381000" y="748665"/>
            <a:ext cx="10515600" cy="4351338"/>
          </a:xfrm>
        </p:spPr>
        <p:txBody>
          <a:bodyPr>
            <a:normAutofit/>
          </a:bodyPr>
          <a:lstStyle/>
          <a:p>
            <a:r>
              <a:rPr lang="en-US"/>
              <a:t>As usual, a method can also return an array.</a:t>
            </a:r>
            <a:endParaRPr lang="en-IN" sz="2400"/>
          </a:p>
        </p:txBody>
      </p:sp>
      <p:graphicFrame>
        <p:nvGraphicFramePr>
          <p:cNvPr id="4" name="Table 3"/>
          <p:cNvGraphicFramePr>
            <a:graphicFrameLocks noGrp="1"/>
          </p:cNvGraphicFramePr>
          <p:nvPr/>
        </p:nvGraphicFramePr>
        <p:xfrm>
          <a:off x="2463800" y="1441026"/>
          <a:ext cx="8128000" cy="5059680"/>
        </p:xfrm>
        <a:graphic>
          <a:graphicData uri="http://schemas.openxmlformats.org/drawingml/2006/table">
            <a:tbl>
              <a:tblPr firstRow="1" bandRow="1">
                <a:tableStyleId>{2D5ABB26-0587-4C30-8999-92F81FD0307C}</a:tableStyleId>
              </a:tblPr>
              <a:tblGrid>
                <a:gridCol w="8128000"/>
              </a:tblGrid>
              <a:tr h="370840">
                <a:tc>
                  <a:txBody>
                    <a:bodyPr/>
                    <a:lstStyle/>
                    <a:p>
                      <a:r>
                        <a:rPr lang="en-IN" sz="2000" dirty="0" smtClean="0"/>
                        <a:t>class Test {</a:t>
                      </a:r>
                      <a:endParaRPr lang="en-IN" sz="2000" dirty="0" smtClean="0"/>
                    </a:p>
                    <a:p>
                      <a:endParaRPr lang="en-IN" sz="2000" dirty="0" smtClean="0"/>
                    </a:p>
                    <a:p>
                      <a:r>
                        <a:rPr lang="en-IN" sz="2000" dirty="0" smtClean="0"/>
                        <a:t>    public static </a:t>
                      </a:r>
                      <a:r>
                        <a:rPr lang="en-IN" sz="2000" dirty="0" err="1" smtClean="0"/>
                        <a:t>int</a:t>
                      </a:r>
                      <a:r>
                        <a:rPr lang="en-IN" sz="2000" dirty="0" smtClean="0"/>
                        <a:t>[] m1()</a:t>
                      </a:r>
                      <a:endParaRPr lang="en-IN" sz="2000" dirty="0" smtClean="0"/>
                    </a:p>
                    <a:p>
                      <a:r>
                        <a:rPr lang="en-IN" sz="2000" dirty="0" smtClean="0"/>
                        <a:t>    {</a:t>
                      </a:r>
                      <a:endParaRPr lang="en-IN" sz="2000" dirty="0" smtClean="0"/>
                    </a:p>
                    <a:p>
                      <a:r>
                        <a:rPr lang="en-IN" sz="2000" dirty="0" smtClean="0"/>
                        <a:t>           </a:t>
                      </a:r>
                      <a:r>
                        <a:rPr lang="en-IN" sz="2000" dirty="0" err="1" smtClean="0"/>
                        <a:t>int</a:t>
                      </a:r>
                      <a:r>
                        <a:rPr lang="en-IN" sz="2000" dirty="0" smtClean="0"/>
                        <a:t> [] </a:t>
                      </a:r>
                      <a:r>
                        <a:rPr lang="en-IN" sz="2000" dirty="0" err="1" smtClean="0"/>
                        <a:t>ar</a:t>
                      </a:r>
                      <a:r>
                        <a:rPr lang="en-IN" sz="2000" dirty="0" smtClean="0"/>
                        <a:t>={1,2,3};</a:t>
                      </a:r>
                      <a:endParaRPr lang="en-IN" sz="2000" dirty="0" smtClean="0"/>
                    </a:p>
                    <a:p>
                      <a:r>
                        <a:rPr lang="en-IN" sz="2000" dirty="0" smtClean="0"/>
                        <a:t>           return </a:t>
                      </a:r>
                      <a:r>
                        <a:rPr lang="en-IN" sz="2000" dirty="0" err="1" smtClean="0"/>
                        <a:t>ar</a:t>
                      </a:r>
                      <a:r>
                        <a:rPr lang="en-IN" sz="2000" dirty="0" smtClean="0"/>
                        <a:t>;</a:t>
                      </a:r>
                      <a:endParaRPr lang="en-IN" sz="2000" dirty="0" smtClean="0"/>
                    </a:p>
                    <a:p>
                      <a:r>
                        <a:rPr lang="en-IN" sz="2000" dirty="0" smtClean="0"/>
                        <a:t>    }</a:t>
                      </a:r>
                      <a:endParaRPr lang="en-IN" sz="2000" dirty="0" smtClean="0"/>
                    </a:p>
                    <a:p>
                      <a:r>
                        <a:rPr lang="en-IN" sz="2000" dirty="0" smtClean="0"/>
                        <a:t>public static void main(String </a:t>
                      </a:r>
                      <a:r>
                        <a:rPr lang="en-IN" sz="2000" dirty="0" err="1" smtClean="0"/>
                        <a:t>args</a:t>
                      </a:r>
                      <a:r>
                        <a:rPr lang="en-IN" sz="2000" dirty="0" smtClean="0"/>
                        <a:t>[])</a:t>
                      </a:r>
                      <a:endParaRPr lang="en-IN" sz="2000" dirty="0" smtClean="0"/>
                    </a:p>
                    <a:p>
                      <a:r>
                        <a:rPr lang="en-IN" sz="2000" dirty="0" smtClean="0"/>
                        <a:t>    {</a:t>
                      </a:r>
                      <a:endParaRPr lang="en-IN" sz="2000" dirty="0" smtClean="0"/>
                    </a:p>
                    <a:p>
                      <a:r>
                        <a:rPr lang="en-IN" sz="2000" dirty="0" smtClean="0"/>
                        <a:t>        </a:t>
                      </a:r>
                      <a:r>
                        <a:rPr lang="en-IN" sz="2000" dirty="0" err="1" smtClean="0"/>
                        <a:t>int</a:t>
                      </a:r>
                      <a:r>
                        <a:rPr lang="en-IN" sz="2000" dirty="0" smtClean="0"/>
                        <a:t> </a:t>
                      </a:r>
                      <a:r>
                        <a:rPr lang="en-IN" sz="2000" dirty="0" err="1" smtClean="0"/>
                        <a:t>arr</a:t>
                      </a:r>
                      <a:r>
                        <a:rPr lang="en-IN" sz="2000" dirty="0" smtClean="0"/>
                        <a:t>[] = m1();</a:t>
                      </a:r>
                      <a:endParaRPr lang="en-IN" sz="2000" dirty="0" smtClean="0"/>
                    </a:p>
                    <a:p>
                      <a:endParaRPr lang="en-IN" sz="2000" dirty="0" smtClean="0"/>
                    </a:p>
                    <a:p>
                      <a:r>
                        <a:rPr lang="en-IN" sz="2000" dirty="0" smtClean="0"/>
                        <a:t>        for (</a:t>
                      </a:r>
                      <a:r>
                        <a:rPr lang="en-IN" sz="2000" dirty="0" err="1" smtClean="0"/>
                        <a:t>int</a:t>
                      </a:r>
                      <a:r>
                        <a:rPr lang="en-IN" sz="2000" dirty="0" smtClean="0"/>
                        <a:t> </a:t>
                      </a:r>
                      <a:r>
                        <a:rPr lang="en-IN" sz="2000" dirty="0" err="1" smtClean="0"/>
                        <a:t>i</a:t>
                      </a:r>
                      <a:r>
                        <a:rPr lang="en-IN" sz="2000" dirty="0" smtClean="0"/>
                        <a:t> = 0; </a:t>
                      </a:r>
                      <a:r>
                        <a:rPr lang="en-IN" sz="2000" dirty="0" err="1" smtClean="0"/>
                        <a:t>i</a:t>
                      </a:r>
                      <a:r>
                        <a:rPr lang="en-IN" sz="2000" dirty="0" smtClean="0"/>
                        <a:t> &lt; </a:t>
                      </a:r>
                      <a:r>
                        <a:rPr lang="en-IN" sz="2000" dirty="0" err="1" smtClean="0"/>
                        <a:t>arr.length</a:t>
                      </a:r>
                      <a:r>
                        <a:rPr lang="en-IN" sz="2000" dirty="0" smtClean="0"/>
                        <a:t>; </a:t>
                      </a:r>
                      <a:r>
                        <a:rPr lang="en-IN" sz="2000" dirty="0" err="1" smtClean="0"/>
                        <a:t>i</a:t>
                      </a:r>
                      <a:r>
                        <a:rPr lang="en-IN" sz="2000" dirty="0" smtClean="0"/>
                        <a:t>++)</a:t>
                      </a:r>
                      <a:endParaRPr lang="en-IN" sz="2000" dirty="0" smtClean="0"/>
                    </a:p>
                    <a:p>
                      <a:r>
                        <a:rPr lang="en-IN" sz="2000" dirty="0" smtClean="0"/>
                        <a:t>            </a:t>
                      </a:r>
                      <a:r>
                        <a:rPr lang="en-IN" sz="2000" dirty="0" err="1" smtClean="0"/>
                        <a:t>System.out.print</a:t>
                      </a:r>
                      <a:r>
                        <a:rPr lang="en-IN" sz="2000" dirty="0" smtClean="0"/>
                        <a:t>(</a:t>
                      </a:r>
                      <a:r>
                        <a:rPr lang="en-IN" sz="2000" dirty="0" err="1" smtClean="0"/>
                        <a:t>arr</a:t>
                      </a:r>
                      <a:r>
                        <a:rPr lang="en-IN" sz="2000" dirty="0" smtClean="0"/>
                        <a:t>[</a:t>
                      </a:r>
                      <a:r>
                        <a:rPr lang="en-IN" sz="2000" dirty="0" err="1" smtClean="0"/>
                        <a:t>i</a:t>
                      </a:r>
                      <a:r>
                        <a:rPr lang="en-IN" sz="2000" dirty="0" smtClean="0"/>
                        <a:t>] + " ");</a:t>
                      </a:r>
                      <a:endParaRPr lang="en-IN" sz="2000" dirty="0" smtClean="0"/>
                    </a:p>
                    <a:p>
                      <a:r>
                        <a:rPr lang="en-IN" sz="2000" dirty="0" smtClean="0"/>
                        <a:t>    }</a:t>
                      </a:r>
                      <a:endParaRPr lang="en-IN" sz="2000" dirty="0" smtClean="0"/>
                    </a:p>
                    <a:p>
                      <a:r>
                        <a:rPr lang="en-IN" sz="2000" dirty="0" smtClean="0"/>
                        <a:t>}</a:t>
                      </a:r>
                      <a:endParaRPr lang="en-IN" sz="2000" dirty="0" smtClean="0"/>
                    </a:p>
                  </a:txBody>
                  <a:tcPr/>
                </a:tc>
              </a:tr>
              <a:tr h="370840">
                <a:tc>
                  <a:txBody>
                    <a:bodyPr/>
                    <a:lstStyle/>
                    <a:p>
                      <a:endParaRPr lang="en-IN" sz="2000" dirty="0" smtClean="0"/>
                    </a:p>
                  </a:txBody>
                  <a:tcPr/>
                </a:tc>
              </a:tr>
            </a:tbl>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0555"/>
          </a:xfrm>
        </p:spPr>
        <p:txBody>
          <a:bodyPr>
            <a:normAutofit fontScale="90000"/>
          </a:bodyPr>
          <a:lstStyle/>
          <a:p>
            <a:r>
              <a:rPr lang="en-IN" b="1" dirty="0" smtClean="0"/>
              <a:t>String</a:t>
            </a:r>
            <a:endParaRPr lang="en-IN" b="1" dirty="0"/>
          </a:p>
        </p:txBody>
      </p:sp>
      <p:sp>
        <p:nvSpPr>
          <p:cNvPr id="3" name="Content Placeholder 2"/>
          <p:cNvSpPr>
            <a:spLocks noGrp="1"/>
          </p:cNvSpPr>
          <p:nvPr>
            <p:ph idx="1"/>
          </p:nvPr>
        </p:nvSpPr>
        <p:spPr>
          <a:xfrm>
            <a:off x="838200" y="1280160"/>
            <a:ext cx="10515600" cy="5313679"/>
          </a:xfrm>
        </p:spPr>
        <p:txBody>
          <a:bodyPr>
            <a:normAutofit/>
          </a:bodyPr>
          <a:lstStyle/>
          <a:p>
            <a:r>
              <a:rPr lang="en-US" dirty="0"/>
              <a:t>In Java, string is basically an object that represents sequence of char values</a:t>
            </a:r>
            <a:r>
              <a:rPr lang="en-US" dirty="0" smtClean="0"/>
              <a:t>.</a:t>
            </a:r>
            <a:endParaRPr lang="en-US" dirty="0" smtClean="0"/>
          </a:p>
          <a:p>
            <a:pPr lvl="1"/>
            <a:r>
              <a:rPr lang="en-IN" dirty="0"/>
              <a:t>String name = "Geeks</a:t>
            </a:r>
            <a:r>
              <a:rPr lang="en-IN" dirty="0" smtClean="0"/>
              <a:t>";		//Also called string literal</a:t>
            </a:r>
            <a:endParaRPr lang="en-IN" dirty="0" smtClean="0"/>
          </a:p>
          <a:p>
            <a:r>
              <a:rPr lang="en-US" dirty="0"/>
              <a:t>The </a:t>
            </a:r>
            <a:r>
              <a:rPr lang="en-US" dirty="0" err="1"/>
              <a:t>java.lang.String</a:t>
            </a:r>
            <a:r>
              <a:rPr lang="en-US" dirty="0"/>
              <a:t> class is used to create a string object</a:t>
            </a:r>
            <a:r>
              <a:rPr lang="en-US" dirty="0" smtClean="0"/>
              <a:t>.</a:t>
            </a:r>
            <a:endParaRPr lang="en-US" dirty="0" smtClean="0"/>
          </a:p>
          <a:p>
            <a:r>
              <a:rPr lang="en-US" dirty="0" smtClean="0"/>
              <a:t>A </a:t>
            </a:r>
            <a:r>
              <a:rPr lang="en-US" dirty="0"/>
              <a:t>string acts the same as an array of characters in Java</a:t>
            </a:r>
            <a:r>
              <a:rPr lang="en-US" dirty="0" smtClean="0"/>
              <a:t>.</a:t>
            </a:r>
            <a:endParaRPr lang="en-US" dirty="0" smtClean="0"/>
          </a:p>
          <a:p>
            <a:pPr lvl="1"/>
            <a:r>
              <a:rPr lang="en-IN"/>
              <a:t>char[] ch={'j','a','v','a</a:t>
            </a:r>
            <a:r>
              <a:rPr lang="en-IN" smtClean="0"/>
              <a:t>'};</a:t>
            </a:r>
            <a:r>
              <a:rPr lang="en-IN"/>
              <a:t>  </a:t>
            </a:r>
            <a:endParaRPr lang="en-IN"/>
          </a:p>
          <a:p>
            <a:pPr lvl="1"/>
            <a:r>
              <a:rPr lang="en-IN" dirty="0"/>
              <a:t>String s=</a:t>
            </a:r>
            <a:r>
              <a:rPr lang="en-IN" b="1" dirty="0"/>
              <a:t>new</a:t>
            </a:r>
            <a:r>
              <a:rPr lang="en-IN" dirty="0"/>
              <a:t> String(</a:t>
            </a:r>
            <a:r>
              <a:rPr lang="en-IN" dirty="0" err="1"/>
              <a:t>ch</a:t>
            </a:r>
            <a:r>
              <a:rPr lang="en-IN" dirty="0"/>
              <a:t>); </a:t>
            </a:r>
            <a:r>
              <a:rPr lang="en-IN" dirty="0" smtClean="0"/>
              <a:t>	//convert a char array to string	</a:t>
            </a:r>
            <a:endParaRPr lang="en-IN" dirty="0" smtClean="0"/>
          </a:p>
          <a:p>
            <a:pPr lvl="1"/>
            <a:r>
              <a:rPr lang="en-IN" dirty="0" smtClean="0"/>
              <a:t>Above is same as String s=“java”</a:t>
            </a:r>
            <a:endParaRPr lang="en-IN" dirty="0" smtClean="0"/>
          </a:p>
          <a:p>
            <a:r>
              <a:rPr lang="en-IN" dirty="0" smtClean="0"/>
              <a:t>We can also create string like this: String s=new String(“Java”);</a:t>
            </a:r>
            <a:endParaRPr lang="en-IN" dirty="0" smtClean="0"/>
          </a:p>
          <a:p>
            <a:r>
              <a:rPr lang="en-US"/>
              <a:t>In Java, objects of String are immutable which means a constant and cannot be changed once created.</a:t>
            </a:r>
            <a:endParaRPr lang="en-IN" dirty="0"/>
          </a:p>
          <a:p>
            <a:endParaRPr lang="en-US" dirty="0" smtClean="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 y="222885"/>
            <a:ext cx="10515600" cy="569595"/>
          </a:xfrm>
        </p:spPr>
        <p:txBody>
          <a:bodyPr>
            <a:normAutofit fontScale="90000"/>
          </a:bodyPr>
          <a:lstStyle/>
          <a:p>
            <a:r>
              <a:rPr lang="en-US"/>
              <a:t>String are immutable</a:t>
            </a:r>
            <a:endParaRPr lang="en-IN"/>
          </a:p>
        </p:txBody>
      </p:sp>
      <p:sp>
        <p:nvSpPr>
          <p:cNvPr id="3" name="Content Placeholder 2"/>
          <p:cNvSpPr>
            <a:spLocks noGrp="1"/>
          </p:cNvSpPr>
          <p:nvPr>
            <p:ph idx="1"/>
          </p:nvPr>
        </p:nvSpPr>
        <p:spPr>
          <a:xfrm>
            <a:off x="208280" y="1165225"/>
            <a:ext cx="10515600" cy="4351338"/>
          </a:xfrm>
        </p:spPr>
        <p:txBody>
          <a:bodyPr>
            <a:normAutofit/>
          </a:bodyPr>
          <a:lstStyle/>
          <a:p>
            <a:pPr marL="0" indent="0">
              <a:buNone/>
            </a:pPr>
            <a:r>
              <a:rPr lang="en-IN" sz="2000" dirty="0"/>
              <a:t>class </a:t>
            </a:r>
            <a:r>
              <a:rPr lang="en-IN" sz="2000" dirty="0" err="1"/>
              <a:t>Testimmutablestring</a:t>
            </a:r>
            <a:r>
              <a:rPr lang="en-IN" sz="2000" dirty="0"/>
              <a:t>{</a:t>
            </a:r>
            <a:endParaRPr lang="en-IN" sz="2000" dirty="0"/>
          </a:p>
          <a:p>
            <a:pPr marL="0" indent="0">
              <a:buNone/>
            </a:pPr>
            <a:r>
              <a:rPr lang="en-IN" sz="2000" dirty="0"/>
              <a:t> public static void main(String </a:t>
            </a:r>
            <a:r>
              <a:rPr lang="en-IN" sz="2000" dirty="0" err="1"/>
              <a:t>args</a:t>
            </a:r>
            <a:r>
              <a:rPr lang="en-IN" sz="2000" dirty="0"/>
              <a:t>[]){</a:t>
            </a:r>
            <a:endParaRPr lang="en-IN" sz="2000" dirty="0"/>
          </a:p>
          <a:p>
            <a:pPr marL="0" indent="0">
              <a:buNone/>
            </a:pPr>
            <a:r>
              <a:rPr lang="en-IN" sz="2000" dirty="0"/>
              <a:t>   String s="Sachin";</a:t>
            </a:r>
            <a:endParaRPr lang="en-IN" sz="2000" dirty="0"/>
          </a:p>
          <a:p>
            <a:pPr marL="0" indent="0">
              <a:buNone/>
            </a:pPr>
            <a:r>
              <a:rPr lang="en-IN" sz="2000" dirty="0"/>
              <a:t>   </a:t>
            </a:r>
            <a:r>
              <a:rPr lang="en-IN" sz="2000" dirty="0" err="1"/>
              <a:t>s.concat</a:t>
            </a:r>
            <a:r>
              <a:rPr lang="en-IN" sz="2000" dirty="0"/>
              <a:t>(" Tendulkar");//</a:t>
            </a:r>
            <a:r>
              <a:rPr lang="en-IN" sz="2000" dirty="0" err="1"/>
              <a:t>concat</a:t>
            </a:r>
            <a:r>
              <a:rPr lang="en-IN" sz="2000" dirty="0"/>
              <a:t>() method appends the string at the end</a:t>
            </a:r>
            <a:endParaRPr lang="en-IN" sz="2000" dirty="0"/>
          </a:p>
          <a:p>
            <a:pPr marL="0" indent="0">
              <a:buNone/>
            </a:pPr>
            <a:r>
              <a:rPr lang="en-IN" sz="2000" dirty="0"/>
              <a:t>   </a:t>
            </a:r>
            <a:r>
              <a:rPr lang="en-IN" sz="2000" dirty="0" err="1"/>
              <a:t>System.out.println</a:t>
            </a:r>
            <a:r>
              <a:rPr lang="en-IN" sz="2000" dirty="0"/>
              <a:t>(s);//will print Sachin because strings are immutable objects</a:t>
            </a:r>
            <a:endParaRPr lang="en-IN" sz="2000" dirty="0"/>
          </a:p>
          <a:p>
            <a:pPr marL="0" indent="0">
              <a:buNone/>
            </a:pPr>
            <a:r>
              <a:rPr lang="en-IN" sz="2000" dirty="0"/>
              <a:t> }</a:t>
            </a:r>
            <a:endParaRPr lang="en-IN" sz="2000" dirty="0"/>
          </a:p>
          <a:p>
            <a:pPr marL="0" indent="0">
              <a:buNone/>
            </a:pPr>
            <a:r>
              <a:rPr lang="en-IN" sz="2000" dirty="0" smtClean="0"/>
              <a:t>}</a:t>
            </a:r>
            <a:endParaRPr lang="en-IN" sz="2000" dirty="0" smtClean="0"/>
          </a:p>
          <a:p>
            <a:pPr marL="0" indent="0">
              <a:buNone/>
            </a:pPr>
            <a:endParaRPr lang="en-IN" sz="2000" dirty="0"/>
          </a:p>
          <a:p>
            <a:pPr marL="0" indent="0">
              <a:buNone/>
            </a:pPr>
            <a:endParaRPr lang="en-IN" sz="2000" dirty="0"/>
          </a:p>
        </p:txBody>
      </p:sp>
      <p:pic>
        <p:nvPicPr>
          <p:cNvPr id="5122" name="Picture 2" descr="Immutable String in Jav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86320" y="3464560"/>
            <a:ext cx="4109720" cy="31613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Memory Allotment of </a:t>
            </a:r>
            <a:r>
              <a:rPr lang="en-IN" b="1" dirty="0" smtClean="0"/>
              <a:t>String</a:t>
            </a:r>
            <a:endParaRPr lang="en-IN" dirty="0"/>
          </a:p>
        </p:txBody>
      </p:sp>
      <p:sp>
        <p:nvSpPr>
          <p:cNvPr id="3" name="Content Placeholder 2"/>
          <p:cNvSpPr>
            <a:spLocks noGrp="1"/>
          </p:cNvSpPr>
          <p:nvPr>
            <p:ph idx="1"/>
          </p:nvPr>
        </p:nvSpPr>
        <p:spPr/>
        <p:txBody>
          <a:bodyPr>
            <a:normAutofit lnSpcReduction="10000"/>
          </a:bodyPr>
          <a:lstStyle/>
          <a:p>
            <a:r>
              <a:rPr lang="en-US" dirty="0"/>
              <a:t>Whenever a String Object is created as a literal, the object will be created in the </a:t>
            </a:r>
            <a:r>
              <a:rPr lang="en-US" b="1" dirty="0"/>
              <a:t>String constant pool</a:t>
            </a:r>
            <a:r>
              <a:rPr lang="en-US" dirty="0"/>
              <a:t>. This allows JVM to optimize the initialization of String literal</a:t>
            </a:r>
            <a:r>
              <a:rPr lang="en-US" dirty="0" smtClean="0"/>
              <a:t>.</a:t>
            </a:r>
            <a:endParaRPr lang="en-US" dirty="0" smtClean="0"/>
          </a:p>
          <a:p>
            <a:pPr lvl="1"/>
            <a:r>
              <a:rPr lang="en-US" dirty="0"/>
              <a:t>String </a:t>
            </a:r>
            <a:r>
              <a:rPr lang="en-US" dirty="0" err="1"/>
              <a:t>demoString</a:t>
            </a:r>
            <a:r>
              <a:rPr lang="en-US" dirty="0"/>
              <a:t> = </a:t>
            </a:r>
            <a:r>
              <a:rPr lang="en-US" dirty="0" smtClean="0"/>
              <a:t>“Java";</a:t>
            </a:r>
            <a:endParaRPr lang="en-US" dirty="0" smtClean="0"/>
          </a:p>
          <a:p>
            <a:r>
              <a:rPr lang="en-US" dirty="0"/>
              <a:t>The string can also be declared using a </a:t>
            </a:r>
            <a:r>
              <a:rPr lang="en-US" b="1" dirty="0"/>
              <a:t>new</a:t>
            </a:r>
            <a:r>
              <a:rPr lang="en-US" dirty="0"/>
              <a:t> operator i.e. dynamically allocated. In case of String are dynamically allocated they are assigned a new memory location in the heap. This string will not be added to the String constant pool</a:t>
            </a:r>
            <a:r>
              <a:rPr lang="en-US" dirty="0" smtClean="0"/>
              <a:t>.</a:t>
            </a:r>
            <a:endParaRPr lang="en-US" dirty="0" smtClean="0"/>
          </a:p>
          <a:p>
            <a:pPr lvl="1"/>
            <a:r>
              <a:rPr lang="en-IN"/>
              <a:t>String demoString = new String("Geeks</a:t>
            </a:r>
            <a:r>
              <a:rPr lang="en-IN" smtClean="0"/>
              <a:t>");</a:t>
            </a:r>
            <a:endParaRPr lang="en-IN" smtClean="0"/>
          </a:p>
          <a:p>
            <a:pPr lvl="1"/>
            <a:r>
              <a:rPr lang="en-US"/>
              <a:t>String internedString = demoString.intern(); </a:t>
            </a:r>
            <a:endParaRPr lang="en-US"/>
          </a:p>
          <a:p>
            <a:pPr lvl="1"/>
            <a:r>
              <a:rPr lang="en-US" dirty="0"/>
              <a:t>// this will add the string to string constant pool.</a:t>
            </a:r>
            <a:endParaRPr lang="en-IN"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Memory Allotment of String</a:t>
            </a:r>
            <a:endParaRPr lang="en-IN" dirty="0"/>
          </a:p>
        </p:txBody>
      </p:sp>
      <p:graphicFrame>
        <p:nvGraphicFramePr>
          <p:cNvPr id="4" name="Content Placeholder 3"/>
          <p:cNvGraphicFramePr>
            <a:graphicFrameLocks noGrp="1"/>
          </p:cNvGraphicFramePr>
          <p:nvPr>
            <p:ph idx="1"/>
          </p:nvPr>
        </p:nvGraphicFramePr>
        <p:xfrm>
          <a:off x="838200" y="1825625"/>
          <a:ext cx="10515600" cy="4754880"/>
        </p:xfrm>
        <a:graphic>
          <a:graphicData uri="http://schemas.openxmlformats.org/drawingml/2006/table">
            <a:tbl>
              <a:tblPr firstRow="1" bandRow="1">
                <a:tableStyleId>{2D5ABB26-0587-4C30-8999-92F81FD0307C}</a:tableStyleId>
              </a:tblPr>
              <a:tblGrid>
                <a:gridCol w="10515600"/>
              </a:tblGrid>
              <a:tr h="370840">
                <a:tc>
                  <a:txBody>
                    <a:bodyPr/>
                    <a:lstStyle/>
                    <a:p>
                      <a:r>
                        <a:rPr lang="en-IN" dirty="0" smtClean="0"/>
                        <a:t>class </a:t>
                      </a:r>
                      <a:r>
                        <a:rPr lang="en-IN" dirty="0" err="1" smtClean="0"/>
                        <a:t>StringStorage</a:t>
                      </a:r>
                      <a:r>
                        <a:rPr lang="en-IN" dirty="0" smtClean="0"/>
                        <a:t> {</a:t>
                      </a:r>
                      <a:endParaRPr lang="en-IN" dirty="0" smtClean="0"/>
                    </a:p>
                    <a:p>
                      <a:r>
                        <a:rPr lang="en-IN" dirty="0" smtClean="0"/>
                        <a:t>    public static void main(String </a:t>
                      </a:r>
                      <a:r>
                        <a:rPr lang="en-IN" dirty="0" err="1" smtClean="0"/>
                        <a:t>args</a:t>
                      </a:r>
                      <a:r>
                        <a:rPr lang="en-IN" dirty="0" smtClean="0"/>
                        <a:t>[])</a:t>
                      </a:r>
                      <a:endParaRPr lang="en-IN" dirty="0" smtClean="0"/>
                    </a:p>
                    <a:p>
                      <a:r>
                        <a:rPr lang="en-IN" dirty="0" smtClean="0"/>
                        <a:t>    {</a:t>
                      </a:r>
                      <a:endParaRPr lang="en-IN" dirty="0" smtClean="0"/>
                    </a:p>
                    <a:p>
                      <a:r>
                        <a:rPr lang="en-IN" dirty="0" smtClean="0"/>
                        <a:t>        // Declaring Strings</a:t>
                      </a:r>
                      <a:endParaRPr lang="en-IN" dirty="0" smtClean="0"/>
                    </a:p>
                    <a:p>
                      <a:r>
                        <a:rPr lang="en-IN" dirty="0" smtClean="0"/>
                        <a:t>        String s1 = "TAT";</a:t>
                      </a:r>
                      <a:endParaRPr lang="en-IN" dirty="0" smtClean="0"/>
                    </a:p>
                    <a:p>
                      <a:r>
                        <a:rPr lang="en-IN" dirty="0" smtClean="0"/>
                        <a:t>        String s2 = "TAT";</a:t>
                      </a:r>
                      <a:endParaRPr lang="en-IN" dirty="0" smtClean="0"/>
                    </a:p>
                    <a:p>
                      <a:r>
                        <a:rPr lang="en-IN" dirty="0" smtClean="0"/>
                        <a:t>        String s3 = new String("TAT");</a:t>
                      </a:r>
                      <a:endParaRPr lang="en-IN" dirty="0" smtClean="0"/>
                    </a:p>
                    <a:p>
                      <a:r>
                        <a:rPr lang="en-IN" dirty="0" smtClean="0"/>
                        <a:t>        String s4 = new String("TAT");</a:t>
                      </a:r>
                      <a:endParaRPr lang="en-IN" dirty="0" smtClean="0"/>
                    </a:p>
                    <a:p>
                      <a:endParaRPr lang="en-IN" dirty="0" smtClean="0"/>
                    </a:p>
                    <a:p>
                      <a:r>
                        <a:rPr lang="en-IN" dirty="0" smtClean="0"/>
                        <a:t>        // Printing all the Strings</a:t>
                      </a:r>
                      <a:endParaRPr lang="en-IN" dirty="0" smtClean="0"/>
                    </a:p>
                    <a:p>
                      <a:r>
                        <a:rPr lang="en-IN" dirty="0" smtClean="0"/>
                        <a:t>        </a:t>
                      </a:r>
                      <a:r>
                        <a:rPr lang="en-IN" dirty="0" err="1" smtClean="0"/>
                        <a:t>System.out.println</a:t>
                      </a:r>
                      <a:r>
                        <a:rPr lang="en-IN" dirty="0" smtClean="0"/>
                        <a:t>(s1);</a:t>
                      </a:r>
                      <a:endParaRPr lang="en-IN" dirty="0" smtClean="0"/>
                    </a:p>
                    <a:p>
                      <a:r>
                        <a:rPr lang="en-IN" dirty="0" smtClean="0"/>
                        <a:t>        </a:t>
                      </a:r>
                      <a:r>
                        <a:rPr lang="en-IN" dirty="0" err="1" smtClean="0"/>
                        <a:t>System.out.println</a:t>
                      </a:r>
                      <a:r>
                        <a:rPr lang="en-IN" dirty="0" smtClean="0"/>
                        <a:t>(s2);</a:t>
                      </a:r>
                      <a:endParaRPr lang="en-IN" dirty="0" smtClean="0"/>
                    </a:p>
                    <a:p>
                      <a:r>
                        <a:rPr lang="en-IN" dirty="0" smtClean="0"/>
                        <a:t>        </a:t>
                      </a:r>
                      <a:r>
                        <a:rPr lang="en-IN" dirty="0" err="1" smtClean="0"/>
                        <a:t>System.out.println</a:t>
                      </a:r>
                      <a:r>
                        <a:rPr lang="en-IN" dirty="0" smtClean="0"/>
                        <a:t>(s3);</a:t>
                      </a:r>
                      <a:endParaRPr lang="en-IN" dirty="0" smtClean="0"/>
                    </a:p>
                    <a:p>
                      <a:r>
                        <a:rPr lang="en-IN" dirty="0" smtClean="0"/>
                        <a:t>        </a:t>
                      </a:r>
                      <a:r>
                        <a:rPr lang="en-IN" dirty="0" err="1" smtClean="0"/>
                        <a:t>System.out.println</a:t>
                      </a:r>
                      <a:r>
                        <a:rPr lang="en-IN" dirty="0" smtClean="0"/>
                        <a:t>(s4);</a:t>
                      </a:r>
                      <a:endParaRPr lang="en-IN" dirty="0" smtClean="0"/>
                    </a:p>
                    <a:p>
                      <a:r>
                        <a:rPr lang="en-IN" dirty="0" smtClean="0"/>
                        <a:t>    }</a:t>
                      </a:r>
                      <a:endParaRPr lang="en-IN" dirty="0" smtClean="0"/>
                    </a:p>
                    <a:p>
                      <a:r>
                        <a:rPr lang="en-IN" dirty="0" smtClean="0"/>
                        <a:t>}</a:t>
                      </a:r>
                      <a:endParaRPr lang="en-IN" dirty="0" smtClean="0"/>
                    </a:p>
                    <a:p>
                      <a:endParaRPr lang="en-IN" dirty="0"/>
                    </a:p>
                  </a:txBody>
                  <a:tcPr/>
                </a:tc>
              </a:tr>
            </a:tbl>
          </a:graphicData>
        </a:graphic>
      </p:graphicFrame>
      <p:pic>
        <p:nvPicPr>
          <p:cNvPr id="7170" name="Picture 2" descr="Lightbox"/>
          <p:cNvPicPr>
            <a:picLocks noChangeAspect="1" noChangeArrowheads="1"/>
          </p:cNvPicPr>
          <p:nvPr/>
        </p:nvPicPr>
        <p:blipFill rotWithShape="1">
          <a:blip r:embed="rId1">
            <a:extLst>
              <a:ext uri="{28A0092B-C50C-407E-A947-70E740481C1C}">
                <a14:useLocalDpi xmlns:a14="http://schemas.microsoft.com/office/drawing/2010/main" val="0"/>
              </a:ext>
            </a:extLst>
          </a:blip>
          <a:srcRect l="7179" t="6397" r="8794" b="9015"/>
          <a:stretch>
            <a:fillRect/>
          </a:stretch>
        </p:blipFill>
        <p:spPr bwMode="auto">
          <a:xfrm>
            <a:off x="5537200" y="2704465"/>
            <a:ext cx="6146800" cy="299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81" y="272762"/>
            <a:ext cx="10515600" cy="503093"/>
          </a:xfrm>
        </p:spPr>
        <p:txBody>
          <a:bodyPr>
            <a:normAutofit fontScale="90000"/>
          </a:bodyPr>
          <a:lstStyle/>
          <a:p>
            <a:r>
              <a:rPr lang="en-IN" dirty="0" smtClean="0"/>
              <a:t>Methods of String class</a:t>
            </a:r>
            <a:endParaRPr lang="en-IN" dirty="0"/>
          </a:p>
        </p:txBody>
      </p:sp>
      <p:sp>
        <p:nvSpPr>
          <p:cNvPr id="3" name="Content Placeholder 2"/>
          <p:cNvSpPr>
            <a:spLocks noGrp="1"/>
          </p:cNvSpPr>
          <p:nvPr>
            <p:ph idx="1"/>
          </p:nvPr>
        </p:nvSpPr>
        <p:spPr>
          <a:xfrm>
            <a:off x="838200" y="905164"/>
            <a:ext cx="10515600" cy="5791200"/>
          </a:xfrm>
        </p:spPr>
        <p:txBody>
          <a:bodyPr>
            <a:normAutofit fontScale="92500" lnSpcReduction="20000"/>
          </a:bodyPr>
          <a:lstStyle/>
          <a:p>
            <a:pPr fontAlgn="base"/>
            <a:r>
              <a:rPr lang="en-IN" dirty="0" err="1"/>
              <a:t>int</a:t>
            </a:r>
            <a:r>
              <a:rPr lang="en-IN" dirty="0"/>
              <a:t> length</a:t>
            </a:r>
            <a:r>
              <a:rPr lang="en-IN" dirty="0" smtClean="0"/>
              <a:t>()   </a:t>
            </a:r>
            <a:endParaRPr lang="en-IN" dirty="0" smtClean="0"/>
          </a:p>
          <a:p>
            <a:pPr lvl="1" fontAlgn="base"/>
            <a:r>
              <a:rPr lang="en-US" dirty="0"/>
              <a:t>Returns the number of characters in the </a:t>
            </a:r>
            <a:r>
              <a:rPr lang="en-US" dirty="0" smtClean="0"/>
              <a:t>String.</a:t>
            </a:r>
            <a:endParaRPr lang="en-US" dirty="0" smtClean="0"/>
          </a:p>
          <a:p>
            <a:pPr lvl="1" fontAlgn="base"/>
            <a:r>
              <a:rPr lang="en-IN" dirty="0" smtClean="0"/>
              <a:t>"</a:t>
            </a:r>
            <a:r>
              <a:rPr lang="en-IN" dirty="0" err="1" smtClean="0"/>
              <a:t>GeeksforGeeks</a:t>
            </a:r>
            <a:r>
              <a:rPr lang="en-IN" dirty="0"/>
              <a:t>".length();  // returns </a:t>
            </a:r>
            <a:r>
              <a:rPr lang="en-IN" dirty="0" smtClean="0"/>
              <a:t>13</a:t>
            </a:r>
            <a:endParaRPr lang="en-IN" dirty="0" smtClean="0"/>
          </a:p>
          <a:p>
            <a:pPr fontAlgn="base"/>
            <a:r>
              <a:rPr lang="en-IN" dirty="0"/>
              <a:t>Char </a:t>
            </a:r>
            <a:r>
              <a:rPr lang="en-IN" dirty="0" err="1"/>
              <a:t>charAt</a:t>
            </a:r>
            <a:r>
              <a:rPr lang="en-IN" dirty="0"/>
              <a:t>(</a:t>
            </a:r>
            <a:r>
              <a:rPr lang="en-IN" dirty="0" err="1"/>
              <a:t>int</a:t>
            </a:r>
            <a:r>
              <a:rPr lang="en-IN" dirty="0"/>
              <a:t> </a:t>
            </a:r>
            <a:r>
              <a:rPr lang="en-IN" dirty="0" err="1"/>
              <a:t>i</a:t>
            </a:r>
            <a:r>
              <a:rPr lang="en-IN" dirty="0" smtClean="0"/>
              <a:t>)</a:t>
            </a:r>
            <a:endParaRPr lang="en-IN" dirty="0" smtClean="0"/>
          </a:p>
          <a:p>
            <a:pPr lvl="1" fontAlgn="base"/>
            <a:r>
              <a:rPr lang="en-US" dirty="0"/>
              <a:t>Returns the character at </a:t>
            </a:r>
            <a:r>
              <a:rPr lang="en-US" dirty="0" err="1"/>
              <a:t>i</a:t>
            </a:r>
            <a:r>
              <a:rPr lang="en-US" baseline="30000" dirty="0" err="1"/>
              <a:t>th</a:t>
            </a:r>
            <a:r>
              <a:rPr lang="en-US" dirty="0"/>
              <a:t> index</a:t>
            </a:r>
            <a:r>
              <a:rPr lang="en-US" dirty="0" smtClean="0"/>
              <a:t>.</a:t>
            </a:r>
            <a:endParaRPr lang="en-US" dirty="0" smtClean="0"/>
          </a:p>
          <a:p>
            <a:pPr lvl="1" fontAlgn="base"/>
            <a:r>
              <a:rPr lang="en-IN" dirty="0"/>
              <a:t>"</a:t>
            </a:r>
            <a:r>
              <a:rPr lang="en-IN" dirty="0" err="1"/>
              <a:t>GeeksforGeeks</a:t>
            </a:r>
            <a:r>
              <a:rPr lang="en-IN" dirty="0"/>
              <a:t>".</a:t>
            </a:r>
            <a:r>
              <a:rPr lang="en-IN" dirty="0" err="1"/>
              <a:t>charAt</a:t>
            </a:r>
            <a:r>
              <a:rPr lang="en-IN" dirty="0"/>
              <a:t>(3); // returns  ‘k</a:t>
            </a:r>
            <a:r>
              <a:rPr lang="en-IN" dirty="0" smtClean="0"/>
              <a:t>’</a:t>
            </a:r>
            <a:endParaRPr lang="en-IN" dirty="0" smtClean="0"/>
          </a:p>
          <a:p>
            <a:pPr fontAlgn="base"/>
            <a:r>
              <a:rPr lang="en-IN" dirty="0"/>
              <a:t>String substring (</a:t>
            </a:r>
            <a:r>
              <a:rPr lang="en-IN" dirty="0" err="1"/>
              <a:t>int</a:t>
            </a:r>
            <a:r>
              <a:rPr lang="en-IN" dirty="0"/>
              <a:t> </a:t>
            </a:r>
            <a:r>
              <a:rPr lang="en-IN" dirty="0" err="1"/>
              <a:t>i</a:t>
            </a:r>
            <a:r>
              <a:rPr lang="en-IN" dirty="0" smtClean="0"/>
              <a:t>)</a:t>
            </a:r>
            <a:endParaRPr lang="en-IN" dirty="0" smtClean="0"/>
          </a:p>
          <a:p>
            <a:pPr lvl="1" fontAlgn="base"/>
            <a:r>
              <a:rPr lang="en-US" dirty="0"/>
              <a:t>Return the substring from the </a:t>
            </a:r>
            <a:r>
              <a:rPr lang="en-US" dirty="0" err="1"/>
              <a:t>i</a:t>
            </a:r>
            <a:r>
              <a:rPr lang="en-US" baseline="30000" dirty="0" err="1"/>
              <a:t>th</a:t>
            </a:r>
            <a:r>
              <a:rPr lang="en-US" baseline="30000" dirty="0"/>
              <a:t> </a:t>
            </a:r>
            <a:r>
              <a:rPr lang="en-US" dirty="0"/>
              <a:t> index character to end</a:t>
            </a:r>
            <a:r>
              <a:rPr lang="en-US" dirty="0" smtClean="0"/>
              <a:t>.</a:t>
            </a:r>
            <a:endParaRPr lang="en-US" dirty="0" smtClean="0"/>
          </a:p>
          <a:p>
            <a:pPr lvl="1" fontAlgn="base"/>
            <a:r>
              <a:rPr lang="en-IN" dirty="0"/>
              <a:t>"</a:t>
            </a:r>
            <a:r>
              <a:rPr lang="en-IN" dirty="0" err="1"/>
              <a:t>GeeksforGeeks</a:t>
            </a:r>
            <a:r>
              <a:rPr lang="en-IN" dirty="0"/>
              <a:t>".substring(3); // returns “</a:t>
            </a:r>
            <a:r>
              <a:rPr lang="en-IN" dirty="0" err="1"/>
              <a:t>ksforGeeks</a:t>
            </a:r>
            <a:r>
              <a:rPr lang="en-IN" dirty="0" smtClean="0"/>
              <a:t>”</a:t>
            </a:r>
            <a:endParaRPr lang="en-IN" dirty="0" smtClean="0"/>
          </a:p>
          <a:p>
            <a:pPr fontAlgn="base"/>
            <a:r>
              <a:rPr lang="en-IN" dirty="0"/>
              <a:t>String substring (</a:t>
            </a:r>
            <a:r>
              <a:rPr lang="en-IN" dirty="0" err="1"/>
              <a:t>int</a:t>
            </a:r>
            <a:r>
              <a:rPr lang="en-IN" dirty="0"/>
              <a:t> </a:t>
            </a:r>
            <a:r>
              <a:rPr lang="en-IN" dirty="0" err="1"/>
              <a:t>i</a:t>
            </a:r>
            <a:r>
              <a:rPr lang="en-IN" dirty="0"/>
              <a:t>, </a:t>
            </a:r>
            <a:r>
              <a:rPr lang="en-IN" dirty="0" err="1"/>
              <a:t>int</a:t>
            </a:r>
            <a:r>
              <a:rPr lang="en-IN" dirty="0"/>
              <a:t> j)</a:t>
            </a:r>
            <a:endParaRPr lang="en-IN" dirty="0"/>
          </a:p>
          <a:p>
            <a:pPr lvl="1" fontAlgn="base"/>
            <a:r>
              <a:rPr lang="en-US" dirty="0"/>
              <a:t>Returns the substring from </a:t>
            </a:r>
            <a:r>
              <a:rPr lang="en-US" dirty="0" err="1"/>
              <a:t>i</a:t>
            </a:r>
            <a:r>
              <a:rPr lang="en-US" dirty="0"/>
              <a:t> to j-1 index</a:t>
            </a:r>
            <a:r>
              <a:rPr lang="en-US" dirty="0" smtClean="0"/>
              <a:t>.</a:t>
            </a:r>
            <a:endParaRPr lang="en-US" dirty="0" smtClean="0"/>
          </a:p>
          <a:p>
            <a:pPr lvl="1" fontAlgn="base"/>
            <a:r>
              <a:rPr lang="en-US" dirty="0"/>
              <a:t>"</a:t>
            </a:r>
            <a:r>
              <a:rPr lang="en-US" dirty="0" err="1"/>
              <a:t>GeeksforGeeks</a:t>
            </a:r>
            <a:r>
              <a:rPr lang="en-US" dirty="0"/>
              <a:t>".substring(2, 5); // returns “</a:t>
            </a:r>
            <a:r>
              <a:rPr lang="en-US" dirty="0" err="1"/>
              <a:t>eks</a:t>
            </a:r>
            <a:r>
              <a:rPr lang="en-US" dirty="0"/>
              <a:t>”</a:t>
            </a:r>
            <a:endParaRPr lang="en-IN" dirty="0"/>
          </a:p>
          <a:p>
            <a:r>
              <a:rPr lang="en-IN" dirty="0"/>
              <a:t>String </a:t>
            </a:r>
            <a:r>
              <a:rPr lang="en-IN" dirty="0" err="1"/>
              <a:t>concat</a:t>
            </a:r>
            <a:r>
              <a:rPr lang="en-IN" dirty="0"/>
              <a:t>( String </a:t>
            </a:r>
            <a:r>
              <a:rPr lang="en-IN" dirty="0" err="1"/>
              <a:t>str</a:t>
            </a:r>
            <a:r>
              <a:rPr lang="en-IN" dirty="0"/>
              <a:t>)</a:t>
            </a:r>
            <a:endParaRPr lang="en-IN" dirty="0"/>
          </a:p>
          <a:p>
            <a:pPr lvl="1"/>
            <a:r>
              <a:rPr lang="en-US" dirty="0"/>
              <a:t>Concatenates specified string to the end of this string.</a:t>
            </a:r>
            <a:endParaRPr lang="en-US" dirty="0"/>
          </a:p>
          <a:p>
            <a:pPr lvl="1"/>
            <a:r>
              <a:rPr lang="en-US" dirty="0"/>
              <a:t> String s1 = ”Geeks”;</a:t>
            </a:r>
            <a:endParaRPr lang="en-US" dirty="0"/>
          </a:p>
          <a:p>
            <a:pPr lvl="1"/>
            <a:r>
              <a:rPr lang="en-US" dirty="0"/>
              <a:t> String s2 = ”</a:t>
            </a:r>
            <a:r>
              <a:rPr lang="en-US" dirty="0" err="1"/>
              <a:t>forGeeks</a:t>
            </a:r>
            <a:r>
              <a:rPr lang="en-US" dirty="0"/>
              <a:t>”;</a:t>
            </a:r>
            <a:endParaRPr lang="en-US" dirty="0"/>
          </a:p>
          <a:p>
            <a:pPr lvl="1"/>
            <a:r>
              <a:rPr lang="en-US" dirty="0"/>
              <a:t> String output = s1.concat(s2); // returns “</a:t>
            </a:r>
            <a:r>
              <a:rPr lang="en-US" dirty="0" err="1"/>
              <a:t>GeeksforGeeks</a:t>
            </a:r>
            <a:r>
              <a:rPr lang="en-US" dirty="0"/>
              <a:t>”</a:t>
            </a:r>
            <a:endParaRPr lang="en-IN" dirty="0"/>
          </a:p>
          <a:p>
            <a:pPr lvl="1" fontAlgn="base"/>
            <a:endParaRPr lang="en-IN" dirty="0"/>
          </a:p>
          <a:p>
            <a:endParaRPr lang="en-IN"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309" y="198870"/>
            <a:ext cx="10515600" cy="392257"/>
          </a:xfrm>
        </p:spPr>
        <p:txBody>
          <a:bodyPr>
            <a:normAutofit fontScale="90000"/>
          </a:bodyPr>
          <a:lstStyle/>
          <a:p>
            <a:r>
              <a:rPr lang="en-IN" dirty="0"/>
              <a:t>Methods of String class</a:t>
            </a:r>
            <a:endParaRPr lang="en-IN" dirty="0"/>
          </a:p>
        </p:txBody>
      </p:sp>
      <p:sp>
        <p:nvSpPr>
          <p:cNvPr id="3" name="Content Placeholder 2"/>
          <p:cNvSpPr>
            <a:spLocks noGrp="1"/>
          </p:cNvSpPr>
          <p:nvPr>
            <p:ph idx="1"/>
          </p:nvPr>
        </p:nvSpPr>
        <p:spPr>
          <a:xfrm>
            <a:off x="644236" y="957406"/>
            <a:ext cx="10515600" cy="5729722"/>
          </a:xfrm>
        </p:spPr>
        <p:txBody>
          <a:bodyPr>
            <a:noAutofit/>
          </a:bodyPr>
          <a:lstStyle/>
          <a:p>
            <a:r>
              <a:rPr lang="en-IN" sz="2000" dirty="0" err="1" smtClean="0"/>
              <a:t>int</a:t>
            </a:r>
            <a:r>
              <a:rPr lang="en-IN" sz="2000" dirty="0" smtClean="0"/>
              <a:t> </a:t>
            </a:r>
            <a:r>
              <a:rPr lang="en-IN" sz="2000" dirty="0" err="1" smtClean="0"/>
              <a:t>indexOf</a:t>
            </a:r>
            <a:r>
              <a:rPr lang="en-IN" sz="2000" dirty="0" smtClean="0"/>
              <a:t>(String </a:t>
            </a:r>
            <a:r>
              <a:rPr lang="en-IN" sz="2000" dirty="0"/>
              <a:t>s</a:t>
            </a:r>
            <a:r>
              <a:rPr lang="en-IN" sz="2000" dirty="0" smtClean="0"/>
              <a:t>)</a:t>
            </a:r>
            <a:endParaRPr lang="en-IN" sz="2000" dirty="0" smtClean="0"/>
          </a:p>
          <a:p>
            <a:pPr lvl="1" fontAlgn="base"/>
            <a:r>
              <a:rPr lang="en-US" sz="1600" dirty="0"/>
              <a:t>Returns the </a:t>
            </a:r>
            <a:r>
              <a:rPr lang="en-US" sz="1600" dirty="0" smtClean="0"/>
              <a:t>index </a:t>
            </a:r>
            <a:r>
              <a:rPr lang="en-US" sz="1600" dirty="0"/>
              <a:t>within the string of the first occurrence of the specified string.</a:t>
            </a:r>
            <a:endParaRPr lang="en-US" sz="1600" dirty="0"/>
          </a:p>
          <a:p>
            <a:pPr lvl="1" fontAlgn="base"/>
            <a:r>
              <a:rPr lang="en-US" sz="1600" dirty="0"/>
              <a:t>If String s is not present in input string then -1 is returned as the default value</a:t>
            </a:r>
            <a:r>
              <a:rPr lang="en-US" sz="1600" dirty="0" smtClean="0"/>
              <a:t>.</a:t>
            </a:r>
            <a:endParaRPr lang="en-US" sz="1600" dirty="0" smtClean="0"/>
          </a:p>
          <a:p>
            <a:pPr lvl="1" fontAlgn="base"/>
            <a:r>
              <a:rPr lang="en-US" sz="1600" dirty="0" smtClean="0"/>
              <a:t>String </a:t>
            </a:r>
            <a:r>
              <a:rPr lang="en-US" sz="1600" dirty="0"/>
              <a:t>s = ”Learn Share Learn”;</a:t>
            </a:r>
            <a:endParaRPr lang="en-US" sz="1600" dirty="0"/>
          </a:p>
          <a:p>
            <a:pPr lvl="1" fontAlgn="base"/>
            <a:r>
              <a:rPr lang="en-US" sz="1600" dirty="0" err="1" smtClean="0"/>
              <a:t>int</a:t>
            </a:r>
            <a:r>
              <a:rPr lang="en-US" sz="1600" dirty="0" smtClean="0"/>
              <a:t> </a:t>
            </a:r>
            <a:r>
              <a:rPr lang="en-US" sz="1600" dirty="0"/>
              <a:t>output = </a:t>
            </a:r>
            <a:r>
              <a:rPr lang="en-US" sz="1600" dirty="0" err="1"/>
              <a:t>s.indexOf</a:t>
            </a:r>
            <a:r>
              <a:rPr lang="en-US" sz="1600" dirty="0"/>
              <a:t>(“Share”); // returns 6</a:t>
            </a:r>
            <a:endParaRPr lang="en-US" sz="1600" dirty="0"/>
          </a:p>
          <a:p>
            <a:pPr lvl="1" fontAlgn="base"/>
            <a:r>
              <a:rPr lang="en-US" sz="1600" dirty="0" smtClean="0"/>
              <a:t>String </a:t>
            </a:r>
            <a:r>
              <a:rPr lang="en-US" sz="1600" dirty="0"/>
              <a:t>s = "Learn Share </a:t>
            </a:r>
            <a:r>
              <a:rPr lang="en-US" sz="1600" dirty="0" smtClean="0"/>
              <a:t>Learn“</a:t>
            </a:r>
            <a:endParaRPr lang="en-US" sz="1600" dirty="0" smtClean="0"/>
          </a:p>
          <a:p>
            <a:pPr lvl="1" fontAlgn="base"/>
            <a:r>
              <a:rPr lang="en-US" sz="1600" dirty="0" err="1" smtClean="0"/>
              <a:t>int</a:t>
            </a:r>
            <a:r>
              <a:rPr lang="en-US" sz="1600" dirty="0" smtClean="0"/>
              <a:t> </a:t>
            </a:r>
            <a:r>
              <a:rPr lang="en-US" sz="1600" dirty="0"/>
              <a:t>output = </a:t>
            </a:r>
            <a:r>
              <a:rPr lang="en-US" sz="1600" dirty="0" err="1"/>
              <a:t>s.indexOf</a:t>
            </a:r>
            <a:r>
              <a:rPr lang="en-US" sz="1600" dirty="0"/>
              <a:t>(“Play”);  // return -1</a:t>
            </a:r>
            <a:endParaRPr lang="en-US" sz="1600" dirty="0"/>
          </a:p>
          <a:p>
            <a:r>
              <a:rPr lang="en-US" sz="2000" dirty="0" err="1"/>
              <a:t>int</a:t>
            </a:r>
            <a:r>
              <a:rPr lang="en-US" sz="2000" dirty="0"/>
              <a:t> </a:t>
            </a:r>
            <a:r>
              <a:rPr lang="en-US" sz="2000" dirty="0" err="1" smtClean="0"/>
              <a:t>indexOf</a:t>
            </a:r>
            <a:r>
              <a:rPr lang="en-US" sz="2000" dirty="0" smtClean="0"/>
              <a:t>(String </a:t>
            </a:r>
            <a:r>
              <a:rPr lang="en-US" sz="2000" dirty="0"/>
              <a:t>s, </a:t>
            </a:r>
            <a:r>
              <a:rPr lang="en-US" sz="2000" dirty="0" err="1"/>
              <a:t>int</a:t>
            </a:r>
            <a:r>
              <a:rPr lang="en-US" sz="2000" dirty="0"/>
              <a:t> </a:t>
            </a:r>
            <a:r>
              <a:rPr lang="en-US" sz="2000" dirty="0" err="1"/>
              <a:t>i</a:t>
            </a:r>
            <a:r>
              <a:rPr lang="en-US" sz="2000" dirty="0"/>
              <a:t>)</a:t>
            </a:r>
            <a:endParaRPr lang="en-US" sz="2000" dirty="0"/>
          </a:p>
          <a:p>
            <a:pPr lvl="1"/>
            <a:r>
              <a:rPr lang="en-US" sz="1600" dirty="0"/>
              <a:t>Returns the index within the string of the first occurrence of the specified string, starting at the specified index</a:t>
            </a:r>
            <a:r>
              <a:rPr lang="en-US" sz="1600" dirty="0" smtClean="0"/>
              <a:t>.</a:t>
            </a:r>
            <a:endParaRPr lang="en-US" sz="1600" dirty="0" smtClean="0"/>
          </a:p>
          <a:p>
            <a:pPr lvl="1"/>
            <a:r>
              <a:rPr lang="en-US" sz="1600" dirty="0"/>
              <a:t> String s = ”Learn Share Learn”;</a:t>
            </a:r>
            <a:endParaRPr lang="en-US" sz="1600" dirty="0"/>
          </a:p>
          <a:p>
            <a:pPr lvl="1"/>
            <a:r>
              <a:rPr lang="en-US" sz="1600" dirty="0"/>
              <a:t> </a:t>
            </a:r>
            <a:r>
              <a:rPr lang="en-US" sz="1600" dirty="0" err="1"/>
              <a:t>int</a:t>
            </a:r>
            <a:r>
              <a:rPr lang="en-US" sz="1600" dirty="0"/>
              <a:t> output = </a:t>
            </a:r>
            <a:r>
              <a:rPr lang="en-US" sz="1600" dirty="0" err="1"/>
              <a:t>s.indexOf</a:t>
            </a:r>
            <a:r>
              <a:rPr lang="en-US" sz="1600" dirty="0"/>
              <a:t>("ea",3);// returns </a:t>
            </a:r>
            <a:r>
              <a:rPr lang="en-US" sz="1600" dirty="0" smtClean="0"/>
              <a:t>13</a:t>
            </a:r>
            <a:endParaRPr lang="en-US" sz="1600" dirty="0" smtClean="0"/>
          </a:p>
          <a:p>
            <a:r>
              <a:rPr lang="en-IN" sz="2000" dirty="0" err="1"/>
              <a:t>Int</a:t>
            </a:r>
            <a:r>
              <a:rPr lang="en-IN" sz="2000" dirty="0"/>
              <a:t> </a:t>
            </a:r>
            <a:r>
              <a:rPr lang="en-IN" sz="2000" dirty="0" err="1"/>
              <a:t>lastIndexOf</a:t>
            </a:r>
            <a:r>
              <a:rPr lang="en-IN" sz="2000" dirty="0"/>
              <a:t>( String s)</a:t>
            </a:r>
            <a:endParaRPr lang="en-IN" sz="2000" dirty="0"/>
          </a:p>
          <a:p>
            <a:pPr lvl="1" fontAlgn="base"/>
            <a:r>
              <a:rPr lang="en-US" sz="1600" dirty="0"/>
              <a:t>Returns the index within the string of the last occurrence of the specified string.</a:t>
            </a:r>
            <a:endParaRPr lang="en-US" sz="1600" dirty="0"/>
          </a:p>
          <a:p>
            <a:pPr lvl="1" fontAlgn="base"/>
            <a:r>
              <a:rPr lang="en-US" sz="1600" dirty="0"/>
              <a:t>If String s is not present in input string then -1 is returned as the default value.</a:t>
            </a:r>
            <a:endParaRPr lang="en-US" sz="1600" dirty="0"/>
          </a:p>
          <a:p>
            <a:pPr lvl="1"/>
            <a:r>
              <a:rPr lang="en-US" sz="1600" dirty="0"/>
              <a:t>String s = ”Learn Share Learn”;</a:t>
            </a:r>
            <a:endParaRPr lang="en-US" sz="1600" dirty="0"/>
          </a:p>
          <a:p>
            <a:pPr lvl="1"/>
            <a:r>
              <a:rPr lang="en-US" sz="1600" dirty="0"/>
              <a:t>    </a:t>
            </a:r>
            <a:r>
              <a:rPr lang="en-US" sz="1600" dirty="0" err="1"/>
              <a:t>int</a:t>
            </a:r>
            <a:r>
              <a:rPr lang="en-US" sz="1600" dirty="0"/>
              <a:t> output = </a:t>
            </a:r>
            <a:r>
              <a:rPr lang="en-US" sz="1600" dirty="0" err="1"/>
              <a:t>s.lastIndexOf</a:t>
            </a:r>
            <a:r>
              <a:rPr lang="en-US" sz="1600" dirty="0"/>
              <a:t>("a"); // returns 14</a:t>
            </a:r>
            <a:endParaRPr lang="en-US" sz="1600" dirty="0"/>
          </a:p>
          <a:p>
            <a:pPr lvl="1"/>
            <a:r>
              <a:rPr lang="en-US" sz="1600" dirty="0" smtClean="0"/>
              <a:t>String </a:t>
            </a:r>
            <a:r>
              <a:rPr lang="en-US" sz="1600" dirty="0"/>
              <a:t>s = "Learn Share Learn"</a:t>
            </a:r>
            <a:endParaRPr lang="en-US" sz="1600" dirty="0"/>
          </a:p>
          <a:p>
            <a:pPr lvl="1"/>
            <a:r>
              <a:rPr lang="en-US" sz="1600" dirty="0"/>
              <a:t>    </a:t>
            </a:r>
            <a:r>
              <a:rPr lang="en-US" sz="1600" dirty="0" err="1"/>
              <a:t>int</a:t>
            </a:r>
            <a:r>
              <a:rPr lang="en-US" sz="1600" dirty="0"/>
              <a:t> output = </a:t>
            </a:r>
            <a:r>
              <a:rPr lang="en-US" sz="1600" dirty="0" err="1"/>
              <a:t>s.indexOf</a:t>
            </a:r>
            <a:r>
              <a:rPr lang="en-US" sz="1600" dirty="0"/>
              <a:t>(“Play”);  // return -1</a:t>
            </a:r>
            <a:endParaRPr lang="en-IN" sz="16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8120" y="186055"/>
            <a:ext cx="6866255" cy="549910"/>
          </a:xfrm>
        </p:spPr>
        <p:txBody>
          <a:bodyPr>
            <a:normAutofit fontScale="90000"/>
          </a:bodyPr>
          <a:lstStyle/>
          <a:p>
            <a:r>
              <a:rPr lang="en-IN" dirty="0"/>
              <a:t>Methods of String class</a:t>
            </a:r>
            <a:endParaRPr lang="en-IN" dirty="0"/>
          </a:p>
        </p:txBody>
      </p:sp>
      <p:graphicFrame>
        <p:nvGraphicFramePr>
          <p:cNvPr id="5" name="Content Placeholder 4"/>
          <p:cNvGraphicFramePr>
            <a:graphicFrameLocks noGrp="1"/>
          </p:cNvGraphicFramePr>
          <p:nvPr>
            <p:ph idx="1"/>
          </p:nvPr>
        </p:nvGraphicFramePr>
        <p:xfrm>
          <a:off x="160020" y="735965"/>
          <a:ext cx="10771188" cy="6121749"/>
        </p:xfrm>
        <a:graphic>
          <a:graphicData uri="http://schemas.openxmlformats.org/drawingml/2006/table">
            <a:tbl>
              <a:tblPr firstRow="1" bandRow="1">
                <a:tableStyleId>{2D5ABB26-0587-4C30-8999-92F81FD0307C}</a:tableStyleId>
              </a:tblPr>
              <a:tblGrid>
                <a:gridCol w="10771188"/>
              </a:tblGrid>
              <a:tr h="6121749">
                <a:tc>
                  <a:txBody>
                    <a:bodyPr/>
                    <a:lstStyle/>
                    <a:p>
                      <a:r>
                        <a:rPr lang="en-IN" sz="2400" dirty="0" err="1" smtClean="0"/>
                        <a:t>boolean</a:t>
                      </a:r>
                      <a:r>
                        <a:rPr lang="en-IN" sz="2400" dirty="0" smtClean="0"/>
                        <a:t> equals( Object </a:t>
                      </a:r>
                      <a:r>
                        <a:rPr lang="en-IN" sz="2400" dirty="0" err="1" smtClean="0"/>
                        <a:t>otherObj</a:t>
                      </a:r>
                      <a:r>
                        <a:rPr lang="en-IN" sz="2400" dirty="0" smtClean="0"/>
                        <a:t>)</a:t>
                      </a:r>
                      <a:endParaRPr lang="en-IN" sz="2400" dirty="0" smtClean="0"/>
                    </a:p>
                    <a:p>
                      <a:pPr lvl="1"/>
                      <a:r>
                        <a:rPr lang="en-US" sz="1400" dirty="0" smtClean="0"/>
                        <a:t>Compares this string to the specified object.</a:t>
                      </a:r>
                      <a:endParaRPr lang="en-US" sz="1400" dirty="0" smtClean="0"/>
                    </a:p>
                    <a:p>
                      <a:pPr lvl="1"/>
                      <a:r>
                        <a:rPr lang="en-US" sz="1400" dirty="0" smtClean="0"/>
                        <a:t> Boolean out = “</a:t>
                      </a:r>
                      <a:r>
                        <a:rPr lang="en-US" sz="1400" dirty="0" err="1" smtClean="0"/>
                        <a:t>Geeks”.equals</a:t>
                      </a:r>
                      <a:r>
                        <a:rPr lang="en-US" sz="1400" dirty="0" smtClean="0"/>
                        <a:t>(“Geeks”); // returns true</a:t>
                      </a:r>
                      <a:endParaRPr lang="en-US" sz="1400" dirty="0" smtClean="0"/>
                    </a:p>
                    <a:p>
                      <a:pPr lvl="1"/>
                      <a:r>
                        <a:rPr lang="en-US" sz="1400" dirty="0" smtClean="0"/>
                        <a:t> Boolean out = “</a:t>
                      </a:r>
                      <a:r>
                        <a:rPr lang="en-US" sz="1400" dirty="0" err="1" smtClean="0"/>
                        <a:t>Geeks”.equals</a:t>
                      </a:r>
                      <a:r>
                        <a:rPr lang="en-US" sz="1400" dirty="0" smtClean="0"/>
                        <a:t>(“geeks”); // returns false</a:t>
                      </a:r>
                      <a:endParaRPr lang="en-IN" sz="1400" dirty="0" smtClean="0"/>
                    </a:p>
                    <a:p>
                      <a:r>
                        <a:rPr lang="en-IN" sz="2400" dirty="0" err="1" smtClean="0"/>
                        <a:t>boolean</a:t>
                      </a:r>
                      <a:r>
                        <a:rPr lang="en-IN" sz="2400" dirty="0" smtClean="0"/>
                        <a:t>  </a:t>
                      </a:r>
                      <a:r>
                        <a:rPr lang="en-IN" sz="2400" dirty="0" err="1" smtClean="0"/>
                        <a:t>equalsIgnoreCase</a:t>
                      </a:r>
                      <a:r>
                        <a:rPr lang="en-IN" sz="2400" dirty="0" smtClean="0"/>
                        <a:t> (String </a:t>
                      </a:r>
                      <a:r>
                        <a:rPr lang="en-IN" sz="2400" dirty="0" err="1" smtClean="0"/>
                        <a:t>anotherString</a:t>
                      </a:r>
                      <a:r>
                        <a:rPr lang="en-IN" sz="2400" dirty="0" smtClean="0"/>
                        <a:t>)</a:t>
                      </a:r>
                      <a:endParaRPr lang="en-IN" sz="2400" dirty="0" smtClean="0"/>
                    </a:p>
                    <a:p>
                      <a:pPr lvl="1"/>
                      <a:r>
                        <a:rPr lang="en-US" sz="1400" dirty="0" smtClean="0"/>
                        <a:t>Compares string to another string, ignoring case considerations.</a:t>
                      </a:r>
                      <a:endParaRPr lang="en-US" sz="1400" dirty="0" smtClean="0"/>
                    </a:p>
                    <a:p>
                      <a:pPr lvl="1"/>
                      <a:r>
                        <a:rPr lang="en-US" sz="1400" dirty="0" smtClean="0"/>
                        <a:t> Boolean out= “Geeks”.</a:t>
                      </a:r>
                      <a:r>
                        <a:rPr lang="en-US" sz="1400" dirty="0" err="1" smtClean="0"/>
                        <a:t>equalsIgnoreCase</a:t>
                      </a:r>
                      <a:r>
                        <a:rPr lang="en-US" sz="1400" dirty="0" smtClean="0"/>
                        <a:t>(“Geeks”); // returns true</a:t>
                      </a:r>
                      <a:endParaRPr lang="en-US" sz="1400" dirty="0" smtClean="0"/>
                    </a:p>
                    <a:p>
                      <a:pPr lvl="1"/>
                      <a:r>
                        <a:rPr lang="en-US" sz="1400" dirty="0" smtClean="0"/>
                        <a:t> Boolean out = “Geeks”.</a:t>
                      </a:r>
                      <a:r>
                        <a:rPr lang="en-US" sz="1400" dirty="0" err="1" smtClean="0"/>
                        <a:t>equalsIgnoreCase</a:t>
                      </a:r>
                      <a:r>
                        <a:rPr lang="en-US" sz="1400" dirty="0" smtClean="0"/>
                        <a:t>(“geeks”); // returns true</a:t>
                      </a:r>
                      <a:endParaRPr lang="en-US" sz="1400" dirty="0" smtClean="0"/>
                    </a:p>
                    <a:p>
                      <a:r>
                        <a:rPr lang="en-IN" sz="2400" dirty="0" smtClean="0"/>
                        <a:t>String trim()</a:t>
                      </a:r>
                      <a:endParaRPr lang="en-IN" sz="2400" dirty="0" smtClean="0"/>
                    </a:p>
                    <a:p>
                      <a:pPr lvl="1"/>
                      <a:r>
                        <a:rPr lang="en-US" sz="1400" dirty="0" smtClean="0"/>
                        <a:t>Returns the copy of the String, by removing whitespaces at both ends. It does not affect whitespaces in the middle.</a:t>
                      </a:r>
                      <a:endParaRPr lang="en-US" sz="1400" dirty="0" smtClean="0"/>
                    </a:p>
                    <a:p>
                      <a:pPr lvl="1"/>
                      <a:r>
                        <a:rPr lang="en-US" sz="1400" dirty="0" smtClean="0"/>
                        <a:t>String word1 = “ Learn Share Learn “;</a:t>
                      </a:r>
                      <a:endParaRPr lang="en-US" sz="1400" dirty="0" smtClean="0"/>
                    </a:p>
                    <a:p>
                      <a:pPr lvl="1"/>
                      <a:r>
                        <a:rPr lang="en-US" sz="1400" dirty="0" smtClean="0"/>
                        <a:t>String word2 = word1.trim(); // returns “Learn Share Learn”</a:t>
                      </a:r>
                      <a:endParaRPr lang="en-US" sz="1400" dirty="0" smtClean="0"/>
                    </a:p>
                    <a:p>
                      <a:r>
                        <a:rPr lang="en-US" sz="2400" dirty="0" smtClean="0"/>
                        <a:t>String replace (char </a:t>
                      </a:r>
                      <a:r>
                        <a:rPr lang="en-US" sz="2400" dirty="0" err="1" smtClean="0"/>
                        <a:t>oldChar</a:t>
                      </a:r>
                      <a:r>
                        <a:rPr lang="en-US" sz="2400" dirty="0" smtClean="0"/>
                        <a:t>, char </a:t>
                      </a:r>
                      <a:r>
                        <a:rPr lang="en-US" sz="2400" dirty="0" err="1" smtClean="0"/>
                        <a:t>newChar</a:t>
                      </a:r>
                      <a:r>
                        <a:rPr lang="en-US" sz="2400" dirty="0" smtClean="0"/>
                        <a:t>)</a:t>
                      </a:r>
                      <a:endParaRPr lang="en-US" sz="2400" dirty="0" smtClean="0"/>
                    </a:p>
                    <a:p>
                      <a:pPr lvl="1"/>
                      <a:r>
                        <a:rPr lang="en-US" sz="1400" dirty="0" smtClean="0"/>
                        <a:t>Returns new string by replacing all occurrences of </a:t>
                      </a:r>
                      <a:r>
                        <a:rPr lang="en-US" sz="1400" dirty="0" err="1" smtClean="0"/>
                        <a:t>oldChar</a:t>
                      </a:r>
                      <a:r>
                        <a:rPr lang="en-US" sz="1400" dirty="0" smtClean="0"/>
                        <a:t> with </a:t>
                      </a:r>
                      <a:r>
                        <a:rPr lang="en-US" sz="1400" dirty="0" err="1" smtClean="0"/>
                        <a:t>newChar</a:t>
                      </a:r>
                      <a:r>
                        <a:rPr lang="en-US" sz="1400" dirty="0" smtClean="0"/>
                        <a:t>.</a:t>
                      </a:r>
                      <a:endParaRPr lang="en-US" sz="1400" dirty="0" smtClean="0"/>
                    </a:p>
                    <a:p>
                      <a:pPr lvl="1"/>
                      <a:r>
                        <a:rPr lang="en-US" sz="1400" dirty="0" smtClean="0"/>
                        <a:t>String s1 = “</a:t>
                      </a:r>
                      <a:r>
                        <a:rPr lang="en-US" sz="1400" dirty="0" err="1" smtClean="0"/>
                        <a:t>feeksforfeeks</a:t>
                      </a:r>
                      <a:r>
                        <a:rPr lang="en-US" sz="1400" dirty="0" smtClean="0"/>
                        <a:t>“;</a:t>
                      </a:r>
                      <a:endParaRPr lang="en-US" sz="1400" dirty="0" smtClean="0"/>
                    </a:p>
                    <a:p>
                      <a:pPr lvl="1"/>
                      <a:r>
                        <a:rPr lang="en-US" sz="1400" dirty="0" smtClean="0"/>
                        <a:t>String s2 = “</a:t>
                      </a:r>
                      <a:r>
                        <a:rPr lang="en-US" sz="1400" dirty="0" err="1" smtClean="0"/>
                        <a:t>feeksforfeeks</a:t>
                      </a:r>
                      <a:r>
                        <a:rPr lang="en-US" sz="1400" dirty="0" smtClean="0"/>
                        <a:t>”.replace(‘f’ ,’g’); // return “</a:t>
                      </a:r>
                      <a:r>
                        <a:rPr lang="en-US" sz="1400" dirty="0" err="1" smtClean="0"/>
                        <a:t>geeksforgeeks</a:t>
                      </a:r>
                      <a:r>
                        <a:rPr lang="en-US" sz="1400" dirty="0" smtClean="0"/>
                        <a:t>”</a:t>
                      </a:r>
                      <a:endParaRPr lang="en-US" sz="1400" dirty="0" smtClean="0"/>
                    </a:p>
                    <a:p>
                      <a:pPr marL="0" indent="0">
                        <a:buNone/>
                      </a:pPr>
                      <a:r>
                        <a:rPr lang="en-IN" sz="4400" dirty="0" smtClean="0"/>
                        <a:t> </a:t>
                      </a:r>
                      <a:r>
                        <a:rPr lang="en-IN" sz="2400" dirty="0" err="1" smtClean="0"/>
                        <a:t>boolean</a:t>
                      </a:r>
                      <a:r>
                        <a:rPr lang="en-IN" sz="2400" dirty="0" smtClean="0"/>
                        <a:t> contains(</a:t>
                      </a:r>
                      <a:r>
                        <a:rPr lang="en-IN" sz="2400" dirty="0" err="1" smtClean="0"/>
                        <a:t>CharSequence</a:t>
                      </a:r>
                      <a:r>
                        <a:rPr lang="en-IN" sz="2400" dirty="0" smtClean="0"/>
                        <a:t> sequence)</a:t>
                      </a:r>
                      <a:endParaRPr lang="en-IN" sz="2400" dirty="0" smtClean="0"/>
                    </a:p>
                    <a:p>
                      <a:pPr lvl="1"/>
                      <a:r>
                        <a:rPr lang="en-US" sz="1400" dirty="0" smtClean="0"/>
                        <a:t>Returns true if string contains </a:t>
                      </a:r>
                      <a:r>
                        <a:rPr lang="en-US" sz="1400" dirty="0" err="1" smtClean="0"/>
                        <a:t>contains</a:t>
                      </a:r>
                      <a:r>
                        <a:rPr lang="en-US" sz="1400" dirty="0" smtClean="0"/>
                        <a:t> the given string.</a:t>
                      </a:r>
                      <a:endParaRPr lang="en-US" sz="1400" dirty="0" smtClean="0"/>
                    </a:p>
                    <a:p>
                      <a:pPr lvl="1"/>
                      <a:r>
                        <a:rPr lang="en-US" sz="1400" dirty="0" smtClean="0"/>
                        <a:t>sequence: This is an instance of </a:t>
                      </a:r>
                      <a:r>
                        <a:rPr lang="en-US" sz="1400" dirty="0" err="1" smtClean="0"/>
                        <a:t>CharSequence</a:t>
                      </a:r>
                      <a:r>
                        <a:rPr lang="en-US" sz="1400" dirty="0" smtClean="0"/>
                        <a:t>, which is an interface in Java representing a readable sequence of char values. Common implementations include String, </a:t>
                      </a:r>
                      <a:r>
                        <a:rPr lang="en-US" sz="1400" dirty="0" err="1" smtClean="0"/>
                        <a:t>StringBuilder</a:t>
                      </a:r>
                      <a:r>
                        <a:rPr lang="en-US" sz="1400" dirty="0" smtClean="0"/>
                        <a:t>, and </a:t>
                      </a:r>
                      <a:r>
                        <a:rPr lang="en-US" sz="1400" dirty="0" err="1" smtClean="0"/>
                        <a:t>StringBuffer</a:t>
                      </a:r>
                      <a:r>
                        <a:rPr lang="en-US" sz="1400" dirty="0" smtClean="0"/>
                        <a:t>.</a:t>
                      </a:r>
                      <a:endParaRPr lang="en-US" sz="1400" dirty="0" smtClean="0"/>
                    </a:p>
                    <a:p>
                      <a:pPr lvl="1"/>
                      <a:r>
                        <a:rPr lang="en-US" sz="1400" dirty="0" smtClean="0"/>
                        <a:t>String s1="</a:t>
                      </a:r>
                      <a:r>
                        <a:rPr lang="en-US" sz="1400" dirty="0" err="1" smtClean="0"/>
                        <a:t>geeksforgeeks</a:t>
                      </a:r>
                      <a:r>
                        <a:rPr lang="en-US" sz="1400" dirty="0" smtClean="0"/>
                        <a:t>";</a:t>
                      </a:r>
                      <a:endParaRPr lang="en-US" sz="1400" dirty="0" smtClean="0"/>
                    </a:p>
                    <a:p>
                      <a:pPr lvl="1"/>
                      <a:r>
                        <a:rPr lang="en-US" sz="1400" dirty="0" smtClean="0"/>
                        <a:t>String s2="geeks";</a:t>
                      </a:r>
                      <a:endParaRPr lang="en-US" sz="1400" dirty="0" smtClean="0"/>
                    </a:p>
                    <a:p>
                      <a:pPr lvl="1"/>
                      <a:r>
                        <a:rPr lang="en-US" sz="1400" dirty="0" smtClean="0"/>
                        <a:t>s1.contains(s2) // return true</a:t>
                      </a:r>
                      <a:endParaRPr lang="en-US" sz="1400" dirty="0" smtClean="0"/>
                    </a:p>
                  </a:txBody>
                  <a:tcPr/>
                </a:tc>
              </a:tr>
            </a:tbl>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StringBuffer</a:t>
            </a:r>
            <a:endParaRPr lang="en-IN" dirty="0"/>
          </a:p>
        </p:txBody>
      </p:sp>
      <p:sp>
        <p:nvSpPr>
          <p:cNvPr id="3" name="Content Placeholder 2"/>
          <p:cNvSpPr>
            <a:spLocks noGrp="1"/>
          </p:cNvSpPr>
          <p:nvPr>
            <p:ph idx="1"/>
          </p:nvPr>
        </p:nvSpPr>
        <p:spPr/>
        <p:txBody>
          <a:bodyPr>
            <a:normAutofit fontScale="85000" lnSpcReduction="20000"/>
          </a:bodyPr>
          <a:lstStyle/>
          <a:p>
            <a:r>
              <a:rPr lang="en-US" dirty="0" err="1"/>
              <a:t>StringBuffer</a:t>
            </a:r>
            <a:r>
              <a:rPr lang="en-US" dirty="0"/>
              <a:t> is a class in Java that represents a mutable sequence of characters</a:t>
            </a:r>
            <a:r>
              <a:rPr lang="en-US" dirty="0" smtClean="0"/>
              <a:t>.</a:t>
            </a:r>
            <a:endParaRPr lang="en-US" dirty="0" smtClean="0"/>
          </a:p>
          <a:p>
            <a:r>
              <a:rPr lang="en-US" dirty="0" err="1"/>
              <a:t>StringBuffer</a:t>
            </a:r>
            <a:r>
              <a:rPr lang="en-US" dirty="0"/>
              <a:t> objects are mutable, meaning that you can change the contents of the buffer without creating a new object.</a:t>
            </a:r>
            <a:endParaRPr lang="en-US" dirty="0"/>
          </a:p>
          <a:p>
            <a:pPr fontAlgn="base"/>
            <a:r>
              <a:rPr lang="en-US" dirty="0"/>
              <a:t>The initial capacity of a </a:t>
            </a:r>
            <a:r>
              <a:rPr lang="en-US" dirty="0" err="1"/>
              <a:t>StringBuffer</a:t>
            </a:r>
            <a:r>
              <a:rPr lang="en-US" dirty="0"/>
              <a:t> can be specified when it is created, or it can be set later with the </a:t>
            </a:r>
            <a:r>
              <a:rPr lang="en-US" dirty="0" err="1"/>
              <a:t>ensureCapacity</a:t>
            </a:r>
            <a:r>
              <a:rPr lang="en-US" dirty="0"/>
              <a:t>() method</a:t>
            </a:r>
            <a:r>
              <a:rPr lang="en-US" dirty="0" smtClean="0"/>
              <a:t>.</a:t>
            </a:r>
            <a:endParaRPr lang="en-US" dirty="0" smtClean="0"/>
          </a:p>
          <a:p>
            <a:pPr lvl="1" fontAlgn="base"/>
            <a:r>
              <a:rPr lang="en-US" dirty="0" err="1"/>
              <a:t>StringBuffer</a:t>
            </a:r>
            <a:r>
              <a:rPr lang="en-US" dirty="0"/>
              <a:t>(</a:t>
            </a:r>
            <a:r>
              <a:rPr lang="en-US" dirty="0" err="1"/>
              <a:t>int</a:t>
            </a:r>
            <a:r>
              <a:rPr lang="en-US" dirty="0"/>
              <a:t> capacity): creates an empty string buffer with the specified capacity as length</a:t>
            </a:r>
            <a:r>
              <a:rPr lang="en-US" dirty="0" smtClean="0"/>
              <a:t>.</a:t>
            </a:r>
            <a:endParaRPr lang="en-US" dirty="0" smtClean="0"/>
          </a:p>
          <a:p>
            <a:pPr marL="457200" lvl="1" indent="0" fontAlgn="base">
              <a:buNone/>
            </a:pPr>
            <a:r>
              <a:rPr lang="en-US" dirty="0" smtClean="0"/>
              <a:t>   // </a:t>
            </a:r>
            <a:r>
              <a:rPr lang="en-US" dirty="0"/>
              <a:t>Create a </a:t>
            </a:r>
            <a:r>
              <a:rPr lang="en-US" dirty="0" err="1"/>
              <a:t>StringBuffer</a:t>
            </a:r>
            <a:r>
              <a:rPr lang="en-US" dirty="0"/>
              <a:t> with an initial capacity of 20 </a:t>
            </a:r>
            <a:endParaRPr lang="en-US" dirty="0" smtClean="0"/>
          </a:p>
          <a:p>
            <a:pPr marL="457200" lvl="1" indent="0" fontAlgn="base">
              <a:buNone/>
            </a:pPr>
            <a:r>
              <a:rPr lang="en-US" dirty="0" smtClean="0"/>
              <a:t>    </a:t>
            </a:r>
            <a:r>
              <a:rPr lang="en-US" dirty="0" err="1" smtClean="0"/>
              <a:t>StringBuffer</a:t>
            </a:r>
            <a:r>
              <a:rPr lang="en-US" dirty="0" smtClean="0"/>
              <a:t> </a:t>
            </a:r>
            <a:r>
              <a:rPr lang="en-US" dirty="0" err="1"/>
              <a:t>sb</a:t>
            </a:r>
            <a:r>
              <a:rPr lang="en-US" dirty="0"/>
              <a:t> = new </a:t>
            </a:r>
            <a:r>
              <a:rPr lang="en-US" dirty="0" err="1"/>
              <a:t>StringBuffer</a:t>
            </a:r>
            <a:r>
              <a:rPr lang="en-US" dirty="0"/>
              <a:t>(20);</a:t>
            </a:r>
            <a:endParaRPr lang="en-US" dirty="0"/>
          </a:p>
          <a:p>
            <a:pPr fontAlgn="base"/>
            <a:r>
              <a:rPr lang="en-US" dirty="0"/>
              <a:t>The append() method is used to add characters, strings, or other objects to the end of the buffer.</a:t>
            </a:r>
            <a:endParaRPr lang="en-US" dirty="0"/>
          </a:p>
          <a:p>
            <a:pPr fontAlgn="base"/>
            <a:r>
              <a:rPr lang="en-US" dirty="0"/>
              <a:t>The insert() method is used to insert characters, strings, or other objects at a specified position in the buffer.</a:t>
            </a:r>
            <a:endParaRPr lang="en-US" dirty="0"/>
          </a:p>
          <a:p>
            <a:endParaRPr lang="en-IN"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StringBuffer</a:t>
            </a:r>
            <a:r>
              <a:rPr lang="en-IN" dirty="0" smtClean="0"/>
              <a:t> example</a:t>
            </a:r>
            <a:endParaRPr lang="en-IN" dirty="0"/>
          </a:p>
        </p:txBody>
      </p:sp>
      <p:graphicFrame>
        <p:nvGraphicFramePr>
          <p:cNvPr id="4" name="Content Placeholder 3"/>
          <p:cNvGraphicFramePr>
            <a:graphicFrameLocks noGrp="1"/>
          </p:cNvGraphicFramePr>
          <p:nvPr>
            <p:ph idx="1"/>
          </p:nvPr>
        </p:nvGraphicFramePr>
        <p:xfrm>
          <a:off x="838200" y="1825625"/>
          <a:ext cx="5481320" cy="3749040"/>
        </p:xfrm>
        <a:graphic>
          <a:graphicData uri="http://schemas.openxmlformats.org/drawingml/2006/table">
            <a:tbl>
              <a:tblPr firstRow="1" bandRow="1">
                <a:tableStyleId>{2D5ABB26-0587-4C30-8999-92F81FD0307C}</a:tableStyleId>
              </a:tblPr>
              <a:tblGrid>
                <a:gridCol w="5481320"/>
              </a:tblGrid>
              <a:tr h="370840">
                <a:tc>
                  <a:txBody>
                    <a:bodyPr/>
                    <a:lstStyle/>
                    <a:p>
                      <a:r>
                        <a:rPr lang="en-IN" sz="2000" dirty="0" smtClean="0"/>
                        <a:t>public class </a:t>
                      </a:r>
                      <a:r>
                        <a:rPr lang="en-IN" sz="2000" dirty="0" err="1" smtClean="0"/>
                        <a:t>StringBufferExample</a:t>
                      </a:r>
                      <a:r>
                        <a:rPr lang="en-IN" sz="2000" dirty="0" smtClean="0"/>
                        <a:t> {</a:t>
                      </a:r>
                      <a:endParaRPr lang="en-IN" sz="2000" dirty="0" smtClean="0"/>
                    </a:p>
                    <a:p>
                      <a:r>
                        <a:rPr lang="en-IN" sz="2000" dirty="0" smtClean="0"/>
                        <a:t>    public static void main(String[] </a:t>
                      </a:r>
                      <a:r>
                        <a:rPr lang="en-IN" sz="2000" dirty="0" err="1" smtClean="0"/>
                        <a:t>args</a:t>
                      </a:r>
                      <a:r>
                        <a:rPr lang="en-IN" sz="2000" dirty="0" smtClean="0"/>
                        <a:t>)</a:t>
                      </a:r>
                      <a:endParaRPr lang="en-IN" sz="2000" dirty="0" smtClean="0"/>
                    </a:p>
                    <a:p>
                      <a:r>
                        <a:rPr lang="en-IN" sz="2000" dirty="0" smtClean="0"/>
                        <a:t>    {</a:t>
                      </a:r>
                      <a:endParaRPr lang="en-IN" sz="2000" dirty="0" smtClean="0"/>
                    </a:p>
                    <a:p>
                      <a:r>
                        <a:rPr lang="en-IN" sz="2000" dirty="0" smtClean="0"/>
                        <a:t>        </a:t>
                      </a:r>
                      <a:r>
                        <a:rPr lang="en-IN" sz="2000" dirty="0" err="1" smtClean="0"/>
                        <a:t>StringBuffer</a:t>
                      </a:r>
                      <a:r>
                        <a:rPr lang="en-IN" sz="2000" dirty="0" smtClean="0"/>
                        <a:t> </a:t>
                      </a:r>
                      <a:r>
                        <a:rPr lang="en-IN" sz="2000" dirty="0" err="1" smtClean="0"/>
                        <a:t>sb</a:t>
                      </a:r>
                      <a:r>
                        <a:rPr lang="en-IN" sz="2000" dirty="0" smtClean="0"/>
                        <a:t> = new </a:t>
                      </a:r>
                      <a:r>
                        <a:rPr lang="en-IN" sz="2000" dirty="0" err="1" smtClean="0"/>
                        <a:t>StringBuffer</a:t>
                      </a:r>
                      <a:r>
                        <a:rPr lang="en-IN" sz="2000" dirty="0" smtClean="0"/>
                        <a:t>();</a:t>
                      </a:r>
                      <a:endParaRPr lang="en-IN" sz="2000" dirty="0" smtClean="0"/>
                    </a:p>
                    <a:p>
                      <a:r>
                        <a:rPr lang="en-IN" sz="2000" dirty="0" smtClean="0"/>
                        <a:t>        </a:t>
                      </a:r>
                      <a:r>
                        <a:rPr lang="en-IN" sz="2000" dirty="0" err="1" smtClean="0"/>
                        <a:t>sb.append</a:t>
                      </a:r>
                      <a:r>
                        <a:rPr lang="en-IN" sz="2000" dirty="0" smtClean="0"/>
                        <a:t>("Hello");</a:t>
                      </a:r>
                      <a:endParaRPr lang="en-IN" sz="2000" dirty="0" smtClean="0"/>
                    </a:p>
                    <a:p>
                      <a:r>
                        <a:rPr lang="en-IN" sz="2000" dirty="0" smtClean="0"/>
                        <a:t>        </a:t>
                      </a:r>
                      <a:r>
                        <a:rPr lang="en-IN" sz="2000" dirty="0" err="1" smtClean="0"/>
                        <a:t>sb.append</a:t>
                      </a:r>
                      <a:r>
                        <a:rPr lang="en-IN" sz="2000" dirty="0" smtClean="0"/>
                        <a:t>(" ");</a:t>
                      </a:r>
                      <a:endParaRPr lang="en-IN" sz="2000" dirty="0" smtClean="0"/>
                    </a:p>
                    <a:p>
                      <a:r>
                        <a:rPr lang="en-IN" sz="2000" dirty="0" smtClean="0"/>
                        <a:t>        </a:t>
                      </a:r>
                      <a:r>
                        <a:rPr lang="en-IN" sz="2000" dirty="0" err="1" smtClean="0"/>
                        <a:t>sb.append</a:t>
                      </a:r>
                      <a:r>
                        <a:rPr lang="en-IN" sz="2000" dirty="0" smtClean="0"/>
                        <a:t>("world");</a:t>
                      </a:r>
                      <a:endParaRPr lang="en-IN" sz="2000" dirty="0" smtClean="0"/>
                    </a:p>
                    <a:p>
                      <a:r>
                        <a:rPr lang="en-IN" sz="2000" dirty="0" smtClean="0"/>
                        <a:t>        String message = </a:t>
                      </a:r>
                      <a:r>
                        <a:rPr lang="en-IN" sz="2000" dirty="0" err="1" smtClean="0"/>
                        <a:t>sb.toString</a:t>
                      </a:r>
                      <a:r>
                        <a:rPr lang="en-IN" sz="2000" dirty="0" smtClean="0"/>
                        <a:t>();</a:t>
                      </a:r>
                      <a:endParaRPr lang="en-IN" sz="2000" dirty="0" smtClean="0"/>
                    </a:p>
                    <a:p>
                      <a:r>
                        <a:rPr lang="en-IN" sz="2000" dirty="0" smtClean="0"/>
                        <a:t>        </a:t>
                      </a:r>
                      <a:r>
                        <a:rPr lang="en-IN" sz="2000" dirty="0" err="1" smtClean="0"/>
                        <a:t>System.out.println</a:t>
                      </a:r>
                      <a:r>
                        <a:rPr lang="en-IN" sz="2000" dirty="0" smtClean="0"/>
                        <a:t>(message);   // Hello world</a:t>
                      </a:r>
                      <a:endParaRPr lang="en-IN" sz="2000" dirty="0" smtClean="0"/>
                    </a:p>
                    <a:p>
                      <a:r>
                        <a:rPr lang="en-IN" sz="2000" dirty="0" smtClean="0"/>
                        <a:t>    }</a:t>
                      </a:r>
                      <a:endParaRPr lang="en-IN" sz="2000" dirty="0" smtClean="0"/>
                    </a:p>
                    <a:p>
                      <a:r>
                        <a:rPr lang="en-IN" sz="2000" dirty="0" smtClean="0"/>
                        <a:t>}</a:t>
                      </a:r>
                      <a:endParaRPr lang="en-IN" sz="2000" dirty="0" smtClean="0"/>
                    </a:p>
                    <a:p>
                      <a:endParaRPr lang="en-IN" sz="2000" dirty="0"/>
                    </a:p>
                  </a:txBody>
                  <a:tcPr/>
                </a:tc>
              </a:tr>
            </a:tbl>
          </a:graphicData>
        </a:graphic>
      </p:graphicFrame>
      <p:graphicFrame>
        <p:nvGraphicFramePr>
          <p:cNvPr id="5" name="Content Placeholder 3"/>
          <p:cNvGraphicFramePr/>
          <p:nvPr/>
        </p:nvGraphicFramePr>
        <p:xfrm>
          <a:off x="6243320" y="1520825"/>
          <a:ext cx="5481320" cy="4053840"/>
        </p:xfrm>
        <a:graphic>
          <a:graphicData uri="http://schemas.openxmlformats.org/drawingml/2006/table">
            <a:tbl>
              <a:tblPr firstRow="1" bandRow="1">
                <a:tableStyleId>{2D5ABB26-0587-4C30-8999-92F81FD0307C}</a:tableStyleId>
              </a:tblPr>
              <a:tblGrid>
                <a:gridCol w="5481320"/>
              </a:tblGrid>
              <a:tr h="370840">
                <a:tc>
                  <a:txBody>
                    <a:bodyPr/>
                    <a:lstStyle/>
                    <a:p>
                      <a:endParaRPr lang="en-IN" sz="2000" dirty="0" smtClean="0"/>
                    </a:p>
                    <a:p>
                      <a:r>
                        <a:rPr lang="en-IN" sz="2000" dirty="0" smtClean="0"/>
                        <a:t>import java.io.*;</a:t>
                      </a:r>
                      <a:endParaRPr lang="en-IN" sz="2000" dirty="0" smtClean="0"/>
                    </a:p>
                    <a:p>
                      <a:endParaRPr lang="en-IN" sz="2000" dirty="0" smtClean="0"/>
                    </a:p>
                    <a:p>
                      <a:r>
                        <a:rPr lang="en-IN" sz="2000" dirty="0" smtClean="0"/>
                        <a:t>class A {</a:t>
                      </a:r>
                      <a:endParaRPr lang="en-IN" sz="2000" dirty="0" smtClean="0"/>
                    </a:p>
                    <a:p>
                      <a:r>
                        <a:rPr lang="en-IN" sz="2000" dirty="0" smtClean="0"/>
                        <a:t>    public static void main(String </a:t>
                      </a:r>
                      <a:r>
                        <a:rPr lang="en-IN" sz="2000" dirty="0" err="1" smtClean="0"/>
                        <a:t>args</a:t>
                      </a:r>
                      <a:r>
                        <a:rPr lang="en-IN" sz="2000" dirty="0" smtClean="0"/>
                        <a:t>[])</a:t>
                      </a:r>
                      <a:endParaRPr lang="en-IN" sz="2000" dirty="0" smtClean="0"/>
                    </a:p>
                    <a:p>
                      <a:r>
                        <a:rPr lang="en-IN" sz="2000" dirty="0" smtClean="0"/>
                        <a:t>    {</a:t>
                      </a:r>
                      <a:endParaRPr lang="en-IN" sz="2000" dirty="0" smtClean="0"/>
                    </a:p>
                    <a:p>
                      <a:r>
                        <a:rPr lang="en-IN" sz="2000" dirty="0" smtClean="0"/>
                        <a:t>        </a:t>
                      </a:r>
                      <a:r>
                        <a:rPr lang="en-IN" sz="2000" dirty="0" err="1" smtClean="0"/>
                        <a:t>StringBuffer</a:t>
                      </a:r>
                      <a:r>
                        <a:rPr lang="en-IN" sz="2000" dirty="0" smtClean="0"/>
                        <a:t> </a:t>
                      </a:r>
                      <a:r>
                        <a:rPr lang="en-IN" sz="2000" dirty="0" err="1" smtClean="0"/>
                        <a:t>sb</a:t>
                      </a:r>
                      <a:r>
                        <a:rPr lang="en-IN" sz="2000" dirty="0" smtClean="0"/>
                        <a:t> = new </a:t>
                      </a:r>
                      <a:r>
                        <a:rPr lang="en-IN" sz="2000" dirty="0" err="1" smtClean="0"/>
                        <a:t>StringBuffer</a:t>
                      </a:r>
                      <a:r>
                        <a:rPr lang="en-IN" sz="2000" dirty="0" smtClean="0"/>
                        <a:t>("Hello ");</a:t>
                      </a:r>
                      <a:endParaRPr lang="en-IN" sz="2000" dirty="0" smtClean="0"/>
                    </a:p>
                    <a:p>
                      <a:r>
                        <a:rPr lang="en-IN" sz="2000" dirty="0" smtClean="0"/>
                        <a:t>        </a:t>
                      </a:r>
                      <a:r>
                        <a:rPr lang="en-IN" sz="2000" dirty="0" err="1" smtClean="0"/>
                        <a:t>sb.insert</a:t>
                      </a:r>
                      <a:r>
                        <a:rPr lang="en-IN" sz="2000" dirty="0" smtClean="0"/>
                        <a:t>(1, "Java");</a:t>
                      </a:r>
                      <a:endParaRPr lang="en-IN" sz="2000" dirty="0" smtClean="0"/>
                    </a:p>
                    <a:p>
                      <a:r>
                        <a:rPr lang="en-IN" sz="2000" dirty="0" smtClean="0"/>
                        <a:t>        // Now original string is changed</a:t>
                      </a:r>
                      <a:endParaRPr lang="en-IN" sz="2000" dirty="0" smtClean="0"/>
                    </a:p>
                    <a:p>
                      <a:r>
                        <a:rPr lang="en-IN" sz="2000" dirty="0" smtClean="0"/>
                        <a:t>        </a:t>
                      </a:r>
                      <a:r>
                        <a:rPr lang="en-IN" sz="2000" dirty="0" err="1" smtClean="0"/>
                        <a:t>System.out.println</a:t>
                      </a:r>
                      <a:r>
                        <a:rPr lang="en-IN" sz="2000" dirty="0" smtClean="0"/>
                        <a:t>(</a:t>
                      </a:r>
                      <a:r>
                        <a:rPr lang="en-IN" sz="2000" dirty="0" err="1" smtClean="0"/>
                        <a:t>sb</a:t>
                      </a:r>
                      <a:r>
                        <a:rPr lang="en-IN" sz="2000" dirty="0" smtClean="0"/>
                        <a:t>);  // </a:t>
                      </a:r>
                      <a:r>
                        <a:rPr lang="en-IN" sz="2000" dirty="0" err="1" smtClean="0"/>
                        <a:t>HJavaello</a:t>
                      </a:r>
                      <a:endParaRPr lang="en-IN" sz="2000" dirty="0" smtClean="0"/>
                    </a:p>
                    <a:p>
                      <a:r>
                        <a:rPr lang="en-IN" sz="2000" dirty="0" smtClean="0"/>
                        <a:t>    }</a:t>
                      </a:r>
                      <a:endParaRPr lang="en-IN" sz="2000" dirty="0" smtClean="0"/>
                    </a:p>
                    <a:p>
                      <a:r>
                        <a:rPr lang="en-IN" sz="2000" dirty="0" smtClean="0"/>
                        <a:t>}</a:t>
                      </a:r>
                      <a:endParaRPr lang="en-IN" sz="2000" dirty="0" smtClean="0"/>
                    </a:p>
                    <a:p>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 of </a:t>
            </a:r>
            <a:r>
              <a:rPr lang="en-IN" dirty="0" err="1" smtClean="0"/>
              <a:t>StringBuffer</a:t>
            </a:r>
            <a:r>
              <a:rPr lang="en-IN" dirty="0" smtClean="0"/>
              <a:t> over String</a:t>
            </a:r>
            <a:endParaRPr lang="en-IN" dirty="0"/>
          </a:p>
        </p:txBody>
      </p:sp>
      <p:sp>
        <p:nvSpPr>
          <p:cNvPr id="3" name="Content Placeholder 2"/>
          <p:cNvSpPr>
            <a:spLocks noGrp="1"/>
          </p:cNvSpPr>
          <p:nvPr>
            <p:ph idx="1"/>
          </p:nvPr>
        </p:nvSpPr>
        <p:spPr/>
        <p:txBody>
          <a:bodyPr>
            <a:normAutofit lnSpcReduction="10000"/>
          </a:bodyPr>
          <a:lstStyle/>
          <a:p>
            <a:pPr fontAlgn="base"/>
            <a:r>
              <a:rPr lang="en-US" b="1" dirty="0"/>
              <a:t>There are several advantages of using </a:t>
            </a:r>
            <a:r>
              <a:rPr lang="en-US" b="1" dirty="0" err="1"/>
              <a:t>StringBuffer</a:t>
            </a:r>
            <a:r>
              <a:rPr lang="en-US" b="1" dirty="0"/>
              <a:t> over regular String objects in Java:</a:t>
            </a:r>
            <a:endParaRPr lang="en-US" b="1" dirty="0"/>
          </a:p>
          <a:p>
            <a:pPr fontAlgn="base"/>
            <a:r>
              <a:rPr lang="en-US" b="1" dirty="0"/>
              <a:t>Mutable</a:t>
            </a:r>
            <a:r>
              <a:rPr lang="en-US" dirty="0"/>
              <a:t>: </a:t>
            </a:r>
            <a:r>
              <a:rPr lang="en-US" dirty="0" err="1"/>
              <a:t>StringBuffer</a:t>
            </a:r>
            <a:r>
              <a:rPr lang="en-US" dirty="0"/>
              <a:t> objects are mutable, which means that you can modify the contents of the object after it has been created. In contrast, String objects are immutable, which means that you cannot change the contents of a String once it has been created.</a:t>
            </a:r>
            <a:endParaRPr lang="en-US" dirty="0"/>
          </a:p>
          <a:p>
            <a:pPr fontAlgn="base"/>
            <a:r>
              <a:rPr lang="en-US" b="1" dirty="0"/>
              <a:t>Efficient</a:t>
            </a:r>
            <a:r>
              <a:rPr lang="en-US" dirty="0"/>
              <a:t>: Because </a:t>
            </a:r>
            <a:r>
              <a:rPr lang="en-US" dirty="0" err="1"/>
              <a:t>StringBuffer</a:t>
            </a:r>
            <a:r>
              <a:rPr lang="en-US" dirty="0"/>
              <a:t> objects are mutable, they are more efficient than creating new String objects each time you need to modify a string. This is especially true if you need to modify a string multiple times, as each modification to a String object creates a new object and discards the old one.</a:t>
            </a:r>
            <a:endParaRPr lang="en-US" dirty="0"/>
          </a:p>
          <a:p>
            <a:endParaRPr lang="en-IN"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IN" dirty="0" smtClean="0"/>
              <a:t>Methods of </a:t>
            </a:r>
            <a:r>
              <a:rPr lang="en-IN" dirty="0" err="1" smtClean="0"/>
              <a:t>StringBuffer</a:t>
            </a:r>
            <a:r>
              <a:rPr lang="en-IN" dirty="0" smtClean="0"/>
              <a:t> class</a:t>
            </a:r>
            <a:endParaRPr lang="en-IN" dirty="0"/>
          </a:p>
        </p:txBody>
      </p:sp>
      <p:sp>
        <p:nvSpPr>
          <p:cNvPr id="3" name="Content Placeholder 2"/>
          <p:cNvSpPr>
            <a:spLocks noGrp="1"/>
          </p:cNvSpPr>
          <p:nvPr>
            <p:ph idx="1"/>
          </p:nvPr>
        </p:nvSpPr>
        <p:spPr>
          <a:xfrm>
            <a:off x="838200" y="1154545"/>
            <a:ext cx="10515600" cy="5022418"/>
          </a:xfrm>
        </p:spPr>
        <p:txBody>
          <a:bodyPr>
            <a:normAutofit fontScale="92500" lnSpcReduction="20000"/>
          </a:bodyPr>
          <a:lstStyle/>
          <a:p>
            <a:pPr fontAlgn="base"/>
            <a:r>
              <a:rPr lang="en-US" b="1" dirty="0"/>
              <a:t>append() method</a:t>
            </a:r>
            <a:endParaRPr lang="en-US" b="1" dirty="0"/>
          </a:p>
          <a:p>
            <a:pPr fontAlgn="base"/>
            <a:r>
              <a:rPr lang="en-US" dirty="0"/>
              <a:t>The append() method concatenates the given argument with this string.</a:t>
            </a:r>
            <a:endParaRPr lang="en-US" dirty="0"/>
          </a:p>
          <a:p>
            <a:r>
              <a:rPr lang="en-IN" dirty="0" err="1"/>
              <a:t>StringBuffer</a:t>
            </a:r>
            <a:r>
              <a:rPr lang="en-IN" dirty="0"/>
              <a:t> </a:t>
            </a:r>
            <a:r>
              <a:rPr lang="en-IN" dirty="0" err="1"/>
              <a:t>sb</a:t>
            </a:r>
            <a:r>
              <a:rPr lang="en-IN" dirty="0"/>
              <a:t> = new </a:t>
            </a:r>
            <a:r>
              <a:rPr lang="en-IN" dirty="0" err="1"/>
              <a:t>StringBuffer</a:t>
            </a:r>
            <a:r>
              <a:rPr lang="en-IN" dirty="0"/>
              <a:t>("Hello ");</a:t>
            </a:r>
            <a:endParaRPr lang="en-IN" dirty="0"/>
          </a:p>
          <a:p>
            <a:r>
              <a:rPr lang="en-IN" dirty="0"/>
              <a:t>        </a:t>
            </a:r>
            <a:r>
              <a:rPr lang="en-IN" dirty="0" err="1"/>
              <a:t>sb.append</a:t>
            </a:r>
            <a:r>
              <a:rPr lang="en-IN" dirty="0"/>
              <a:t>("Java"); // now original string is changed</a:t>
            </a:r>
            <a:endParaRPr lang="en-IN" dirty="0"/>
          </a:p>
          <a:p>
            <a:r>
              <a:rPr lang="en-IN" dirty="0"/>
              <a:t>        </a:t>
            </a:r>
            <a:r>
              <a:rPr lang="en-IN" dirty="0" err="1"/>
              <a:t>System.out.println</a:t>
            </a:r>
            <a:r>
              <a:rPr lang="en-IN" dirty="0"/>
              <a:t>(</a:t>
            </a:r>
            <a:r>
              <a:rPr lang="en-IN" dirty="0" err="1"/>
              <a:t>sb</a:t>
            </a:r>
            <a:r>
              <a:rPr lang="en-IN" dirty="0" smtClean="0"/>
              <a:t>);   //O/P: Hello Java</a:t>
            </a:r>
            <a:endParaRPr lang="en-IN" dirty="0" smtClean="0"/>
          </a:p>
          <a:p>
            <a:pPr fontAlgn="base"/>
            <a:r>
              <a:rPr lang="en-US" b="1" dirty="0"/>
              <a:t>insert() method</a:t>
            </a:r>
            <a:endParaRPr lang="en-US" b="1" dirty="0"/>
          </a:p>
          <a:p>
            <a:pPr fontAlgn="base"/>
            <a:r>
              <a:rPr lang="en-US" dirty="0"/>
              <a:t>The insert() method inserts the given string with this string at the given position. </a:t>
            </a:r>
            <a:endParaRPr lang="en-US" dirty="0"/>
          </a:p>
          <a:p>
            <a:r>
              <a:rPr lang="en-IN" dirty="0" err="1"/>
              <a:t>StringBuffer</a:t>
            </a:r>
            <a:r>
              <a:rPr lang="en-IN" dirty="0"/>
              <a:t> </a:t>
            </a:r>
            <a:r>
              <a:rPr lang="en-IN" dirty="0" err="1"/>
              <a:t>sb</a:t>
            </a:r>
            <a:r>
              <a:rPr lang="en-IN" dirty="0"/>
              <a:t> = new </a:t>
            </a:r>
            <a:r>
              <a:rPr lang="en-IN" dirty="0" err="1"/>
              <a:t>StringBuffer</a:t>
            </a:r>
            <a:r>
              <a:rPr lang="en-IN" dirty="0"/>
              <a:t>("Hello ");</a:t>
            </a:r>
            <a:endParaRPr lang="en-IN" dirty="0"/>
          </a:p>
          <a:p>
            <a:r>
              <a:rPr lang="en-IN" dirty="0"/>
              <a:t>        </a:t>
            </a:r>
            <a:r>
              <a:rPr lang="en-IN" dirty="0" err="1"/>
              <a:t>sb.insert</a:t>
            </a:r>
            <a:r>
              <a:rPr lang="en-IN" dirty="0"/>
              <a:t>(1, "Java");</a:t>
            </a:r>
            <a:endParaRPr lang="en-IN" dirty="0"/>
          </a:p>
          <a:p>
            <a:r>
              <a:rPr lang="en-IN" dirty="0"/>
              <a:t>        // Now original string is changed</a:t>
            </a:r>
            <a:endParaRPr lang="en-IN" dirty="0"/>
          </a:p>
          <a:p>
            <a:r>
              <a:rPr lang="en-IN" dirty="0"/>
              <a:t>        </a:t>
            </a:r>
            <a:r>
              <a:rPr lang="en-IN" dirty="0" err="1"/>
              <a:t>System.out.println</a:t>
            </a:r>
            <a:r>
              <a:rPr lang="en-IN" dirty="0"/>
              <a:t>(</a:t>
            </a:r>
            <a:r>
              <a:rPr lang="en-IN" dirty="0" err="1"/>
              <a:t>sb</a:t>
            </a:r>
            <a:r>
              <a:rPr lang="en-IN" dirty="0"/>
              <a:t>);    // O/P: </a:t>
            </a:r>
            <a:r>
              <a:rPr lang="en-IN" dirty="0" err="1"/>
              <a:t>HJavaello</a:t>
            </a:r>
            <a:r>
              <a:rPr lang="en-IN" dirty="0"/>
              <a:t> </a:t>
            </a:r>
            <a:endParaRPr lang="en-IN" dirty="0" smtClean="0"/>
          </a:p>
          <a:p>
            <a:endParaRPr lang="en-IN"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IN" dirty="0" smtClean="0"/>
              <a:t>Methods of </a:t>
            </a:r>
            <a:r>
              <a:rPr lang="en-IN" dirty="0" err="1" smtClean="0"/>
              <a:t>StringBuffer</a:t>
            </a:r>
            <a:r>
              <a:rPr lang="en-IN" dirty="0" smtClean="0"/>
              <a:t> class</a:t>
            </a:r>
            <a:endParaRPr lang="en-IN" dirty="0"/>
          </a:p>
        </p:txBody>
      </p:sp>
      <p:sp>
        <p:nvSpPr>
          <p:cNvPr id="3" name="Content Placeholder 2"/>
          <p:cNvSpPr>
            <a:spLocks noGrp="1"/>
          </p:cNvSpPr>
          <p:nvPr>
            <p:ph idx="1"/>
          </p:nvPr>
        </p:nvSpPr>
        <p:spPr>
          <a:xfrm>
            <a:off x="838200" y="1154545"/>
            <a:ext cx="10515600" cy="5477164"/>
          </a:xfrm>
        </p:spPr>
        <p:txBody>
          <a:bodyPr>
            <a:normAutofit fontScale="70000" lnSpcReduction="20000"/>
          </a:bodyPr>
          <a:lstStyle/>
          <a:p>
            <a:r>
              <a:rPr lang="en-IN" b="1" dirty="0"/>
              <a:t>replace() method</a:t>
            </a:r>
            <a:endParaRPr lang="en-IN" b="1" dirty="0"/>
          </a:p>
          <a:p>
            <a:r>
              <a:rPr lang="en-US" dirty="0"/>
              <a:t>The replace() method replaces the given string from the specified </a:t>
            </a:r>
            <a:r>
              <a:rPr lang="en-US" dirty="0" err="1"/>
              <a:t>beginIndex</a:t>
            </a:r>
            <a:r>
              <a:rPr lang="en-US" dirty="0"/>
              <a:t> and endIndex-1</a:t>
            </a:r>
            <a:r>
              <a:rPr lang="en-US" dirty="0" smtClean="0"/>
              <a:t>.</a:t>
            </a:r>
            <a:endParaRPr lang="en-US" dirty="0" smtClean="0"/>
          </a:p>
          <a:p>
            <a:r>
              <a:rPr lang="en-IN" dirty="0"/>
              <a:t> </a:t>
            </a:r>
            <a:r>
              <a:rPr lang="en-IN" dirty="0" err="1"/>
              <a:t>StringBuffer</a:t>
            </a:r>
            <a:r>
              <a:rPr lang="en-IN" dirty="0"/>
              <a:t> </a:t>
            </a:r>
            <a:r>
              <a:rPr lang="en-IN" dirty="0" err="1"/>
              <a:t>sb</a:t>
            </a:r>
            <a:r>
              <a:rPr lang="en-IN" dirty="0"/>
              <a:t> = new </a:t>
            </a:r>
            <a:r>
              <a:rPr lang="en-IN" dirty="0" err="1"/>
              <a:t>StringBuffer</a:t>
            </a:r>
            <a:r>
              <a:rPr lang="en-IN" dirty="0"/>
              <a:t>("Hello");</a:t>
            </a:r>
            <a:endParaRPr lang="en-IN" dirty="0"/>
          </a:p>
          <a:p>
            <a:r>
              <a:rPr lang="en-IN" dirty="0"/>
              <a:t>        </a:t>
            </a:r>
            <a:r>
              <a:rPr lang="en-IN" dirty="0" err="1"/>
              <a:t>sb.replace</a:t>
            </a:r>
            <a:r>
              <a:rPr lang="en-IN" dirty="0"/>
              <a:t>(1, 3, "Java");</a:t>
            </a:r>
            <a:endParaRPr lang="en-IN" dirty="0"/>
          </a:p>
          <a:p>
            <a:r>
              <a:rPr lang="en-IN" dirty="0"/>
              <a:t>        </a:t>
            </a:r>
            <a:r>
              <a:rPr lang="en-IN" dirty="0" err="1"/>
              <a:t>System.out.println</a:t>
            </a:r>
            <a:r>
              <a:rPr lang="en-IN" dirty="0"/>
              <a:t>(</a:t>
            </a:r>
            <a:r>
              <a:rPr lang="en-IN" dirty="0" err="1"/>
              <a:t>sb</a:t>
            </a:r>
            <a:r>
              <a:rPr lang="en-IN" dirty="0" smtClean="0"/>
              <a:t>);     // O/P</a:t>
            </a:r>
            <a:r>
              <a:rPr lang="en-IN" dirty="0"/>
              <a:t>: </a:t>
            </a:r>
            <a:r>
              <a:rPr lang="en-IN" dirty="0" err="1" smtClean="0"/>
              <a:t>Hjavalo</a:t>
            </a:r>
            <a:endParaRPr lang="en-IN" dirty="0" smtClean="0"/>
          </a:p>
          <a:p>
            <a:pPr fontAlgn="base"/>
            <a:r>
              <a:rPr lang="en-US" b="1" dirty="0"/>
              <a:t>delete() method</a:t>
            </a:r>
            <a:endParaRPr lang="en-US" b="1" dirty="0"/>
          </a:p>
          <a:p>
            <a:pPr fontAlgn="base"/>
            <a:r>
              <a:rPr lang="en-US" dirty="0"/>
              <a:t>The delete() method of the </a:t>
            </a:r>
            <a:r>
              <a:rPr lang="en-US" dirty="0" err="1"/>
              <a:t>StringBuffer</a:t>
            </a:r>
            <a:r>
              <a:rPr lang="en-US" dirty="0"/>
              <a:t> class deletes the string from the specified </a:t>
            </a:r>
            <a:r>
              <a:rPr lang="en-US" dirty="0" err="1"/>
              <a:t>beginIndex</a:t>
            </a:r>
            <a:r>
              <a:rPr lang="en-US" dirty="0"/>
              <a:t> to endIndex-1.</a:t>
            </a:r>
            <a:endParaRPr lang="en-US" dirty="0"/>
          </a:p>
          <a:p>
            <a:r>
              <a:rPr lang="en-IN" dirty="0"/>
              <a:t> </a:t>
            </a:r>
            <a:r>
              <a:rPr lang="en-IN" dirty="0" err="1"/>
              <a:t>StringBuffer</a:t>
            </a:r>
            <a:r>
              <a:rPr lang="en-IN" dirty="0"/>
              <a:t> </a:t>
            </a:r>
            <a:r>
              <a:rPr lang="en-IN" dirty="0" err="1"/>
              <a:t>sb</a:t>
            </a:r>
            <a:r>
              <a:rPr lang="en-IN" dirty="0"/>
              <a:t> = new </a:t>
            </a:r>
            <a:r>
              <a:rPr lang="en-IN" dirty="0" err="1"/>
              <a:t>StringBuffer</a:t>
            </a:r>
            <a:r>
              <a:rPr lang="en-IN" dirty="0"/>
              <a:t>("Hello");</a:t>
            </a:r>
            <a:endParaRPr lang="en-IN" dirty="0"/>
          </a:p>
          <a:p>
            <a:r>
              <a:rPr lang="en-IN" dirty="0"/>
              <a:t>        </a:t>
            </a:r>
            <a:r>
              <a:rPr lang="en-IN" dirty="0" err="1"/>
              <a:t>sb.delete</a:t>
            </a:r>
            <a:r>
              <a:rPr lang="en-IN" dirty="0"/>
              <a:t>(1, 3);</a:t>
            </a:r>
            <a:endParaRPr lang="en-IN" dirty="0"/>
          </a:p>
          <a:p>
            <a:r>
              <a:rPr lang="en-IN" dirty="0"/>
              <a:t>        </a:t>
            </a:r>
            <a:r>
              <a:rPr lang="en-IN" dirty="0" err="1"/>
              <a:t>System.out.println</a:t>
            </a:r>
            <a:r>
              <a:rPr lang="en-IN" dirty="0"/>
              <a:t>(</a:t>
            </a:r>
            <a:r>
              <a:rPr lang="en-IN" dirty="0" err="1"/>
              <a:t>sb</a:t>
            </a:r>
            <a:r>
              <a:rPr lang="en-IN" dirty="0" smtClean="0"/>
              <a:t>);      </a:t>
            </a:r>
            <a:r>
              <a:rPr lang="en-IN" dirty="0"/>
              <a:t>// </a:t>
            </a:r>
            <a:r>
              <a:rPr lang="en-IN" dirty="0"/>
              <a:t>O/P: </a:t>
            </a:r>
            <a:r>
              <a:rPr lang="en-IN" dirty="0" err="1"/>
              <a:t>Hlo</a:t>
            </a:r>
            <a:endParaRPr lang="en-IN" dirty="0" smtClean="0"/>
          </a:p>
          <a:p>
            <a:pPr fontAlgn="base"/>
            <a:r>
              <a:rPr lang="en-US" b="1" dirty="0"/>
              <a:t>reverse() method</a:t>
            </a:r>
            <a:endParaRPr lang="en-US" b="1" dirty="0"/>
          </a:p>
          <a:p>
            <a:pPr fontAlgn="base"/>
            <a:r>
              <a:rPr lang="en-US" dirty="0"/>
              <a:t>The reverse() method of the </a:t>
            </a:r>
            <a:r>
              <a:rPr lang="en-US" dirty="0" err="1"/>
              <a:t>StringBuilder</a:t>
            </a:r>
            <a:r>
              <a:rPr lang="en-US" dirty="0"/>
              <a:t> class reverses the current string. </a:t>
            </a:r>
            <a:endParaRPr lang="en-US" dirty="0"/>
          </a:p>
          <a:p>
            <a:r>
              <a:rPr lang="en-IN" dirty="0" err="1"/>
              <a:t>StringBuffer</a:t>
            </a:r>
            <a:r>
              <a:rPr lang="en-IN" dirty="0"/>
              <a:t> </a:t>
            </a:r>
            <a:r>
              <a:rPr lang="en-IN" dirty="0" err="1"/>
              <a:t>sb</a:t>
            </a:r>
            <a:r>
              <a:rPr lang="en-IN" dirty="0"/>
              <a:t> = new </a:t>
            </a:r>
            <a:r>
              <a:rPr lang="en-IN" dirty="0" err="1"/>
              <a:t>StringBuffer</a:t>
            </a:r>
            <a:r>
              <a:rPr lang="en-IN" dirty="0"/>
              <a:t>("Hello");</a:t>
            </a:r>
            <a:endParaRPr lang="en-IN" dirty="0"/>
          </a:p>
          <a:p>
            <a:r>
              <a:rPr lang="en-IN" dirty="0"/>
              <a:t>        </a:t>
            </a:r>
            <a:r>
              <a:rPr lang="en-IN" dirty="0" err="1"/>
              <a:t>sb.reverse</a:t>
            </a:r>
            <a:r>
              <a:rPr lang="en-IN" dirty="0"/>
              <a:t>();</a:t>
            </a:r>
            <a:endParaRPr lang="en-IN" dirty="0"/>
          </a:p>
          <a:p>
            <a:r>
              <a:rPr lang="en-IN" dirty="0"/>
              <a:t>        </a:t>
            </a:r>
            <a:r>
              <a:rPr lang="en-IN" dirty="0" err="1"/>
              <a:t>System.out.println</a:t>
            </a:r>
            <a:r>
              <a:rPr lang="en-IN" dirty="0"/>
              <a:t>(</a:t>
            </a:r>
            <a:r>
              <a:rPr lang="en-IN" dirty="0" err="1"/>
              <a:t>sb</a:t>
            </a:r>
            <a:r>
              <a:rPr lang="en-IN" dirty="0" smtClean="0"/>
              <a:t>);    </a:t>
            </a:r>
            <a:r>
              <a:rPr lang="en-IN" dirty="0"/>
              <a:t>// </a:t>
            </a:r>
            <a:r>
              <a:rPr lang="en-IN" dirty="0"/>
              <a:t>O/P: </a:t>
            </a:r>
            <a:r>
              <a:rPr lang="en-IN" dirty="0" err="1"/>
              <a:t>olleH</a:t>
            </a:r>
            <a:endParaRPr lang="en-IN"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8888"/>
          </a:xfrm>
        </p:spPr>
        <p:txBody>
          <a:bodyPr>
            <a:normAutofit fontScale="90000"/>
          </a:bodyPr>
          <a:lstStyle/>
          <a:p>
            <a:r>
              <a:rPr lang="en-IN" dirty="0"/>
              <a:t>Methods of </a:t>
            </a:r>
            <a:r>
              <a:rPr lang="en-IN" dirty="0" err="1"/>
              <a:t>StringBuffer</a:t>
            </a:r>
            <a:r>
              <a:rPr lang="en-IN" dirty="0"/>
              <a:t> class</a:t>
            </a:r>
            <a:endParaRPr lang="en-IN" dirty="0"/>
          </a:p>
        </p:txBody>
      </p:sp>
      <p:sp>
        <p:nvSpPr>
          <p:cNvPr id="3" name="Content Placeholder 2"/>
          <p:cNvSpPr>
            <a:spLocks noGrp="1"/>
          </p:cNvSpPr>
          <p:nvPr>
            <p:ph idx="1"/>
          </p:nvPr>
        </p:nvSpPr>
        <p:spPr>
          <a:xfrm>
            <a:off x="838200" y="1045029"/>
            <a:ext cx="10515600" cy="5446206"/>
          </a:xfrm>
        </p:spPr>
        <p:txBody>
          <a:bodyPr>
            <a:normAutofit fontScale="92500" lnSpcReduction="10000"/>
          </a:bodyPr>
          <a:lstStyle/>
          <a:p>
            <a:r>
              <a:rPr lang="en-IN" b="1" dirty="0" smtClean="0"/>
              <a:t>Char </a:t>
            </a:r>
            <a:r>
              <a:rPr lang="en-IN" b="1" dirty="0" err="1" smtClean="0"/>
              <a:t>charAt</a:t>
            </a:r>
            <a:r>
              <a:rPr lang="en-IN" b="1" dirty="0" smtClean="0"/>
              <a:t>(</a:t>
            </a:r>
            <a:r>
              <a:rPr lang="en-IN" b="1" dirty="0" err="1" smtClean="0"/>
              <a:t>int</a:t>
            </a:r>
            <a:r>
              <a:rPr lang="en-IN" b="1" dirty="0" smtClean="0"/>
              <a:t> </a:t>
            </a:r>
            <a:r>
              <a:rPr lang="en-IN" b="1" dirty="0"/>
              <a:t>index</a:t>
            </a:r>
            <a:r>
              <a:rPr lang="en-IN" b="1" dirty="0" smtClean="0"/>
              <a:t>): </a:t>
            </a:r>
            <a:r>
              <a:rPr lang="en-US" b="1" dirty="0" smtClean="0"/>
              <a:t> </a:t>
            </a:r>
            <a:r>
              <a:rPr lang="en-US" dirty="0"/>
              <a:t>Retrieves the character at the specified </a:t>
            </a:r>
            <a:r>
              <a:rPr lang="en-US" dirty="0" smtClean="0"/>
              <a:t>index</a:t>
            </a:r>
            <a:endParaRPr lang="en-IN" dirty="0"/>
          </a:p>
          <a:p>
            <a:pPr lvl="1"/>
            <a:r>
              <a:rPr lang="en-US" dirty="0" err="1"/>
              <a:t>StringBuffer</a:t>
            </a:r>
            <a:r>
              <a:rPr lang="en-US" dirty="0"/>
              <a:t> </a:t>
            </a:r>
            <a:r>
              <a:rPr lang="en-US" dirty="0" err="1"/>
              <a:t>sb</a:t>
            </a:r>
            <a:r>
              <a:rPr lang="en-US" dirty="0"/>
              <a:t> = new </a:t>
            </a:r>
            <a:r>
              <a:rPr lang="en-US" dirty="0" err="1"/>
              <a:t>StringBuffer</a:t>
            </a:r>
            <a:r>
              <a:rPr lang="en-US" dirty="0"/>
              <a:t>("Hello"); </a:t>
            </a:r>
            <a:endParaRPr lang="en-US" dirty="0" smtClean="0"/>
          </a:p>
          <a:p>
            <a:pPr lvl="1"/>
            <a:r>
              <a:rPr lang="en-US" dirty="0" smtClean="0"/>
              <a:t>char </a:t>
            </a:r>
            <a:r>
              <a:rPr lang="en-US" dirty="0" err="1"/>
              <a:t>ch</a:t>
            </a:r>
            <a:r>
              <a:rPr lang="en-US" dirty="0"/>
              <a:t> = </a:t>
            </a:r>
            <a:r>
              <a:rPr lang="en-US" dirty="0" err="1"/>
              <a:t>sb.charAt</a:t>
            </a:r>
            <a:r>
              <a:rPr lang="en-US" dirty="0"/>
              <a:t>(1); // Gets the character at index </a:t>
            </a:r>
            <a:r>
              <a:rPr lang="en-US" dirty="0" smtClean="0"/>
              <a:t>1.</a:t>
            </a:r>
            <a:endParaRPr lang="en-US" dirty="0" smtClean="0"/>
          </a:p>
          <a:p>
            <a:r>
              <a:rPr lang="en-IN" b="1" dirty="0" smtClean="0"/>
              <a:t>Void </a:t>
            </a:r>
            <a:r>
              <a:rPr lang="en-IN" b="1" dirty="0" err="1" smtClean="0"/>
              <a:t>setCharAt</a:t>
            </a:r>
            <a:r>
              <a:rPr lang="en-IN" b="1" dirty="0" smtClean="0"/>
              <a:t>(</a:t>
            </a:r>
            <a:r>
              <a:rPr lang="en-IN" b="1" dirty="0" err="1" smtClean="0"/>
              <a:t>int</a:t>
            </a:r>
            <a:r>
              <a:rPr lang="en-IN" b="1" dirty="0" smtClean="0"/>
              <a:t> </a:t>
            </a:r>
            <a:r>
              <a:rPr lang="en-IN" b="1" dirty="0"/>
              <a:t>index, char </a:t>
            </a:r>
            <a:r>
              <a:rPr lang="en-IN" b="1" dirty="0" err="1"/>
              <a:t>ch</a:t>
            </a:r>
            <a:r>
              <a:rPr lang="en-IN" b="1" dirty="0" smtClean="0"/>
              <a:t>) </a:t>
            </a:r>
            <a:r>
              <a:rPr lang="en-IN" dirty="0" smtClean="0"/>
              <a:t>: </a:t>
            </a:r>
            <a:r>
              <a:rPr lang="en-US" dirty="0"/>
              <a:t>Sets the character at the specified index to the given character </a:t>
            </a:r>
            <a:r>
              <a:rPr lang="en-US" dirty="0" err="1"/>
              <a:t>ch</a:t>
            </a:r>
            <a:endParaRPr lang="en-IN" dirty="0" smtClean="0"/>
          </a:p>
          <a:p>
            <a:pPr lvl="1"/>
            <a:r>
              <a:rPr lang="en-IN" dirty="0" err="1"/>
              <a:t>StringBuffer</a:t>
            </a:r>
            <a:r>
              <a:rPr lang="en-IN" dirty="0"/>
              <a:t> </a:t>
            </a:r>
            <a:r>
              <a:rPr lang="en-IN" dirty="0" err="1"/>
              <a:t>sb</a:t>
            </a:r>
            <a:r>
              <a:rPr lang="en-IN" dirty="0"/>
              <a:t> = new </a:t>
            </a:r>
            <a:r>
              <a:rPr lang="en-IN" dirty="0" err="1"/>
              <a:t>StringBuffer</a:t>
            </a:r>
            <a:r>
              <a:rPr lang="en-IN" dirty="0"/>
              <a:t>("Hello</a:t>
            </a:r>
            <a:r>
              <a:rPr lang="en-IN" dirty="0" smtClean="0"/>
              <a:t>");</a:t>
            </a:r>
            <a:endParaRPr lang="en-IN" dirty="0" smtClean="0"/>
          </a:p>
          <a:p>
            <a:pPr lvl="1"/>
            <a:r>
              <a:rPr lang="en-US" dirty="0" err="1"/>
              <a:t>sb.setCharAt</a:t>
            </a:r>
            <a:r>
              <a:rPr lang="en-US" dirty="0"/>
              <a:t>(1, 'a'); // Changes character at index 1 to </a:t>
            </a:r>
            <a:r>
              <a:rPr lang="en-US" dirty="0" smtClean="0"/>
              <a:t>'a‘ O/P: Hallo</a:t>
            </a:r>
            <a:endParaRPr lang="en-US" dirty="0" smtClean="0"/>
          </a:p>
          <a:p>
            <a:r>
              <a:rPr lang="en-IN" b="1" dirty="0"/>
              <a:t>l</a:t>
            </a:r>
            <a:r>
              <a:rPr lang="en-IN" b="1" dirty="0" smtClean="0"/>
              <a:t>ength(): </a:t>
            </a:r>
            <a:r>
              <a:rPr lang="en-IN" dirty="0" smtClean="0"/>
              <a:t>returns length of the </a:t>
            </a:r>
            <a:r>
              <a:rPr lang="en-IN" dirty="0" err="1" smtClean="0"/>
              <a:t>StringBuffer</a:t>
            </a:r>
            <a:r>
              <a:rPr lang="en-IN" dirty="0" smtClean="0"/>
              <a:t> object. </a:t>
            </a:r>
            <a:endParaRPr lang="en-IN" dirty="0" smtClean="0"/>
          </a:p>
          <a:p>
            <a:pPr lvl="1"/>
            <a:r>
              <a:rPr lang="en-US" dirty="0" err="1"/>
              <a:t>StringBuffer</a:t>
            </a:r>
            <a:r>
              <a:rPr lang="en-US" dirty="0"/>
              <a:t> </a:t>
            </a:r>
            <a:r>
              <a:rPr lang="en-US" dirty="0" err="1"/>
              <a:t>sb</a:t>
            </a:r>
            <a:r>
              <a:rPr lang="en-US" dirty="0"/>
              <a:t> = new </a:t>
            </a:r>
            <a:r>
              <a:rPr lang="en-US" dirty="0" err="1"/>
              <a:t>StringBuffer</a:t>
            </a:r>
            <a:r>
              <a:rPr lang="en-US" dirty="0"/>
              <a:t>("Hello, World!"); </a:t>
            </a:r>
            <a:endParaRPr lang="en-US" dirty="0" smtClean="0"/>
          </a:p>
          <a:p>
            <a:pPr lvl="1"/>
            <a:r>
              <a:rPr lang="en-US" dirty="0" err="1" smtClean="0"/>
              <a:t>int</a:t>
            </a:r>
            <a:r>
              <a:rPr lang="en-US" dirty="0" smtClean="0"/>
              <a:t> </a:t>
            </a:r>
            <a:r>
              <a:rPr lang="en-US" dirty="0"/>
              <a:t>length = </a:t>
            </a:r>
            <a:r>
              <a:rPr lang="en-US" dirty="0" err="1"/>
              <a:t>sb.length</a:t>
            </a:r>
            <a:r>
              <a:rPr lang="en-US" dirty="0" smtClean="0"/>
              <a:t>();       // returns 13</a:t>
            </a:r>
            <a:endParaRPr lang="en-US" dirty="0" smtClean="0"/>
          </a:p>
          <a:p>
            <a:r>
              <a:rPr lang="en-US" b="1" dirty="0" smtClean="0"/>
              <a:t>Void </a:t>
            </a:r>
            <a:r>
              <a:rPr lang="en-US" b="1" dirty="0" err="1" smtClean="0"/>
              <a:t>ensureCapacity</a:t>
            </a:r>
            <a:r>
              <a:rPr lang="en-US" b="1" dirty="0" smtClean="0"/>
              <a:t>(</a:t>
            </a:r>
            <a:r>
              <a:rPr lang="en-US" b="1" dirty="0" err="1" smtClean="0"/>
              <a:t>int</a:t>
            </a:r>
            <a:r>
              <a:rPr lang="en-US" b="1" dirty="0" smtClean="0"/>
              <a:t> </a:t>
            </a:r>
            <a:r>
              <a:rPr lang="en-US" b="1" dirty="0" err="1" smtClean="0"/>
              <a:t>minCapacity</a:t>
            </a:r>
            <a:r>
              <a:rPr lang="en-US" b="1" dirty="0" smtClean="0"/>
              <a:t>) </a:t>
            </a:r>
            <a:r>
              <a:rPr lang="en-US" dirty="0"/>
              <a:t>: ensure that the capacity of the </a:t>
            </a:r>
            <a:r>
              <a:rPr lang="en-US" dirty="0" err="1"/>
              <a:t>StringBuffer</a:t>
            </a:r>
            <a:r>
              <a:rPr lang="en-US" dirty="0"/>
              <a:t> is at least equal to the specified minimum capacity</a:t>
            </a:r>
            <a:r>
              <a:rPr lang="en-US" dirty="0" smtClean="0"/>
              <a:t>.</a:t>
            </a:r>
            <a:endParaRPr lang="en-US" dirty="0" smtClean="0"/>
          </a:p>
          <a:p>
            <a:pPr lvl="1"/>
            <a:r>
              <a:rPr lang="en-IN" dirty="0" err="1"/>
              <a:t>StringBuffer</a:t>
            </a:r>
            <a:r>
              <a:rPr lang="en-IN" dirty="0"/>
              <a:t> </a:t>
            </a:r>
            <a:r>
              <a:rPr lang="en-IN" dirty="0" err="1"/>
              <a:t>sb</a:t>
            </a:r>
            <a:r>
              <a:rPr lang="en-IN" dirty="0"/>
              <a:t> = new </a:t>
            </a:r>
            <a:r>
              <a:rPr lang="en-IN" dirty="0" err="1"/>
              <a:t>StringBuffer</a:t>
            </a:r>
            <a:r>
              <a:rPr lang="en-IN" dirty="0" smtClean="0"/>
              <a:t>();</a:t>
            </a:r>
            <a:endParaRPr lang="en-IN" dirty="0" smtClean="0"/>
          </a:p>
          <a:p>
            <a:pPr lvl="1"/>
            <a:r>
              <a:rPr lang="en-IN" dirty="0" err="1"/>
              <a:t>sb.ensureCapacity</a:t>
            </a:r>
            <a:r>
              <a:rPr lang="en-IN" dirty="0"/>
              <a:t>(50</a:t>
            </a:r>
            <a:r>
              <a:rPr lang="en-IN" dirty="0" smtClean="0"/>
              <a:t>);</a:t>
            </a:r>
            <a:endParaRPr lang="en-US" dirty="0"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4693"/>
          </a:xfrm>
        </p:spPr>
        <p:txBody>
          <a:bodyPr>
            <a:normAutofit fontScale="90000"/>
          </a:bodyPr>
          <a:lstStyle/>
          <a:p>
            <a:r>
              <a:rPr lang="en-IN" dirty="0"/>
              <a:t>Methods of </a:t>
            </a:r>
            <a:r>
              <a:rPr lang="en-IN" dirty="0" err="1"/>
              <a:t>StringBuffer</a:t>
            </a:r>
            <a:r>
              <a:rPr lang="en-IN" dirty="0"/>
              <a:t> class</a:t>
            </a:r>
            <a:endParaRPr lang="en-IN" dirty="0"/>
          </a:p>
        </p:txBody>
      </p:sp>
      <p:sp>
        <p:nvSpPr>
          <p:cNvPr id="3" name="Content Placeholder 2"/>
          <p:cNvSpPr>
            <a:spLocks noGrp="1"/>
          </p:cNvSpPr>
          <p:nvPr>
            <p:ph idx="1"/>
          </p:nvPr>
        </p:nvSpPr>
        <p:spPr>
          <a:xfrm>
            <a:off x="838200" y="1071418"/>
            <a:ext cx="10515600" cy="5486400"/>
          </a:xfrm>
        </p:spPr>
        <p:txBody>
          <a:bodyPr>
            <a:normAutofit/>
          </a:bodyPr>
          <a:lstStyle/>
          <a:p>
            <a:pPr fontAlgn="base"/>
            <a:r>
              <a:rPr lang="en-US" b="1" dirty="0"/>
              <a:t>capacity() method</a:t>
            </a:r>
            <a:endParaRPr lang="en-US" b="1" dirty="0"/>
          </a:p>
          <a:p>
            <a:pPr lvl="1" fontAlgn="base"/>
            <a:r>
              <a:rPr lang="en-US" dirty="0"/>
              <a:t>The capacity() method of the </a:t>
            </a:r>
            <a:r>
              <a:rPr lang="en-US" dirty="0" err="1"/>
              <a:t>StringBuffer</a:t>
            </a:r>
            <a:r>
              <a:rPr lang="en-US" dirty="0"/>
              <a:t> class returns the current capacity of the buffer. The default capacity of the buffer is 16. If the number of characters increases from its current capacity, it increases the capacity by (</a:t>
            </a:r>
            <a:r>
              <a:rPr lang="en-US" dirty="0" err="1"/>
              <a:t>oldcapacity</a:t>
            </a:r>
            <a:r>
              <a:rPr lang="en-US" dirty="0"/>
              <a:t>*2)+2.</a:t>
            </a:r>
            <a:endParaRPr lang="en-US" dirty="0"/>
          </a:p>
          <a:p>
            <a:pPr lvl="1" fontAlgn="base"/>
            <a:r>
              <a:rPr lang="en-US" dirty="0"/>
              <a:t>For instance, if your current capacity is 16, it will be (16*2)+2=34.</a:t>
            </a:r>
            <a:endParaRPr lang="en-US" dirty="0"/>
          </a:p>
          <a:p>
            <a:pPr marL="457200" lvl="1" indent="0">
              <a:buNone/>
            </a:pPr>
            <a:r>
              <a:rPr lang="en-IN" dirty="0" err="1"/>
              <a:t>StringBuffer</a:t>
            </a:r>
            <a:r>
              <a:rPr lang="en-IN" dirty="0"/>
              <a:t> </a:t>
            </a:r>
            <a:r>
              <a:rPr lang="en-IN" dirty="0" err="1"/>
              <a:t>sb</a:t>
            </a:r>
            <a:r>
              <a:rPr lang="en-IN" dirty="0"/>
              <a:t> = new </a:t>
            </a:r>
            <a:r>
              <a:rPr lang="en-IN" dirty="0" err="1"/>
              <a:t>StringBuffer</a:t>
            </a:r>
            <a:r>
              <a:rPr lang="en-IN" dirty="0"/>
              <a:t>();</a:t>
            </a:r>
            <a:endParaRPr lang="en-IN" dirty="0"/>
          </a:p>
          <a:p>
            <a:pPr marL="457200" lvl="1" indent="0">
              <a:buNone/>
            </a:pPr>
            <a:r>
              <a:rPr lang="en-IN" dirty="0"/>
              <a:t>        </a:t>
            </a:r>
            <a:r>
              <a:rPr lang="en-IN" dirty="0" err="1"/>
              <a:t>System.out.println</a:t>
            </a:r>
            <a:r>
              <a:rPr lang="en-IN" dirty="0"/>
              <a:t>(</a:t>
            </a:r>
            <a:r>
              <a:rPr lang="en-IN" dirty="0" err="1"/>
              <a:t>sb.capacity</a:t>
            </a:r>
            <a:r>
              <a:rPr lang="en-IN" dirty="0"/>
              <a:t>()); // default 16</a:t>
            </a:r>
            <a:endParaRPr lang="en-IN" dirty="0"/>
          </a:p>
          <a:p>
            <a:pPr marL="457200" lvl="1" indent="0">
              <a:buNone/>
            </a:pPr>
            <a:r>
              <a:rPr lang="en-IN" dirty="0"/>
              <a:t>        </a:t>
            </a:r>
            <a:r>
              <a:rPr lang="en-IN" dirty="0" err="1"/>
              <a:t>sb.append</a:t>
            </a:r>
            <a:r>
              <a:rPr lang="en-IN" dirty="0"/>
              <a:t>("Hello");</a:t>
            </a:r>
            <a:endParaRPr lang="en-IN" dirty="0"/>
          </a:p>
          <a:p>
            <a:pPr marL="457200" lvl="1" indent="0">
              <a:buNone/>
            </a:pPr>
            <a:r>
              <a:rPr lang="en-IN" dirty="0"/>
              <a:t>        </a:t>
            </a:r>
            <a:r>
              <a:rPr lang="en-IN" dirty="0" err="1"/>
              <a:t>System.out.println</a:t>
            </a:r>
            <a:r>
              <a:rPr lang="en-IN" dirty="0"/>
              <a:t>(</a:t>
            </a:r>
            <a:r>
              <a:rPr lang="en-IN" dirty="0" err="1"/>
              <a:t>sb.capacity</a:t>
            </a:r>
            <a:r>
              <a:rPr lang="en-IN" dirty="0"/>
              <a:t>()); // now 16</a:t>
            </a:r>
            <a:endParaRPr lang="en-IN" dirty="0"/>
          </a:p>
          <a:p>
            <a:pPr marL="457200" lvl="1" indent="0">
              <a:buNone/>
            </a:pPr>
            <a:r>
              <a:rPr lang="en-IN" dirty="0"/>
              <a:t>        </a:t>
            </a:r>
            <a:r>
              <a:rPr lang="en-IN" dirty="0" err="1"/>
              <a:t>sb.append</a:t>
            </a:r>
            <a:r>
              <a:rPr lang="en-IN" dirty="0"/>
              <a:t>("java is my favourite language");</a:t>
            </a:r>
            <a:endParaRPr lang="en-IN" dirty="0"/>
          </a:p>
          <a:p>
            <a:pPr marL="457200" lvl="1" indent="0">
              <a:buNone/>
            </a:pPr>
            <a:r>
              <a:rPr lang="en-IN" dirty="0"/>
              <a:t>        </a:t>
            </a:r>
            <a:r>
              <a:rPr lang="en-IN" dirty="0" err="1"/>
              <a:t>System.out.println</a:t>
            </a:r>
            <a:r>
              <a:rPr lang="en-IN" dirty="0"/>
              <a:t>(</a:t>
            </a:r>
            <a:r>
              <a:rPr lang="en-IN" dirty="0" err="1"/>
              <a:t>sb.capacity</a:t>
            </a:r>
            <a:r>
              <a:rPr lang="en-IN" dirty="0" smtClean="0"/>
              <a:t>());   // </a:t>
            </a:r>
            <a:r>
              <a:rPr lang="en-IN" dirty="0"/>
              <a:t>Now (16*2)+2=34     </a:t>
            </a:r>
            <a:r>
              <a:rPr lang="en-IN" dirty="0" err="1"/>
              <a:t>i.e</a:t>
            </a:r>
            <a:r>
              <a:rPr lang="en-IN" dirty="0"/>
              <a:t> (</a:t>
            </a:r>
            <a:r>
              <a:rPr lang="en-IN" dirty="0" err="1"/>
              <a:t>oldcapacity</a:t>
            </a:r>
            <a:r>
              <a:rPr lang="en-IN" dirty="0"/>
              <a:t>*2)+2</a:t>
            </a:r>
            <a:endParaRPr lang="en-IN"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88501"/>
          </a:xfrm>
        </p:spPr>
        <p:txBody>
          <a:bodyPr>
            <a:normAutofit fontScale="90000"/>
          </a:bodyPr>
          <a:lstStyle/>
          <a:p>
            <a:r>
              <a:rPr lang="en-IN" dirty="0"/>
              <a:t>Methods of </a:t>
            </a:r>
            <a:r>
              <a:rPr lang="en-IN" dirty="0" err="1"/>
              <a:t>StringBuffer</a:t>
            </a:r>
            <a:r>
              <a:rPr lang="en-IN" dirty="0"/>
              <a:t> class</a:t>
            </a:r>
            <a:endParaRPr lang="en-IN" dirty="0"/>
          </a:p>
        </p:txBody>
      </p:sp>
      <p:sp>
        <p:nvSpPr>
          <p:cNvPr id="3" name="Content Placeholder 2"/>
          <p:cNvSpPr>
            <a:spLocks noGrp="1"/>
          </p:cNvSpPr>
          <p:nvPr>
            <p:ph idx="1"/>
          </p:nvPr>
        </p:nvSpPr>
        <p:spPr>
          <a:xfrm>
            <a:off x="452176" y="1045029"/>
            <a:ext cx="11324492" cy="5131934"/>
          </a:xfrm>
        </p:spPr>
        <p:txBody>
          <a:bodyPr>
            <a:noAutofit/>
          </a:bodyPr>
          <a:lstStyle/>
          <a:p>
            <a:r>
              <a:rPr lang="en-US" sz="2400" dirty="0"/>
              <a:t>void </a:t>
            </a:r>
            <a:r>
              <a:rPr lang="en-US" sz="2400" dirty="0" err="1"/>
              <a:t>getChars</a:t>
            </a:r>
            <a:r>
              <a:rPr lang="en-US" sz="2400" dirty="0"/>
              <a:t>(</a:t>
            </a:r>
            <a:r>
              <a:rPr lang="en-US" sz="2400" dirty="0" err="1"/>
              <a:t>int</a:t>
            </a:r>
            <a:r>
              <a:rPr lang="en-US" sz="2400" dirty="0"/>
              <a:t> </a:t>
            </a:r>
            <a:r>
              <a:rPr lang="en-US" sz="2400" i="1" dirty="0" err="1"/>
              <a:t>sourceStart</a:t>
            </a:r>
            <a:r>
              <a:rPr lang="en-US" sz="2400" dirty="0"/>
              <a:t>, </a:t>
            </a:r>
            <a:r>
              <a:rPr lang="en-US" sz="2400" dirty="0" err="1"/>
              <a:t>int</a:t>
            </a:r>
            <a:r>
              <a:rPr lang="en-US" sz="2400" dirty="0"/>
              <a:t> </a:t>
            </a:r>
            <a:r>
              <a:rPr lang="en-US" sz="2400" i="1" dirty="0" err="1"/>
              <a:t>sourceEnd</a:t>
            </a:r>
            <a:r>
              <a:rPr lang="en-US" sz="2400" dirty="0"/>
              <a:t>, char </a:t>
            </a:r>
            <a:r>
              <a:rPr lang="en-US" sz="2400" i="1" dirty="0"/>
              <a:t>target</a:t>
            </a:r>
            <a:r>
              <a:rPr lang="en-US" sz="2400" dirty="0"/>
              <a:t>[ ], </a:t>
            </a:r>
            <a:r>
              <a:rPr lang="en-US" sz="2400" dirty="0" err="1"/>
              <a:t>int</a:t>
            </a:r>
            <a:r>
              <a:rPr lang="en-US" sz="2400" dirty="0"/>
              <a:t> </a:t>
            </a:r>
            <a:r>
              <a:rPr lang="en-US" sz="2400" i="1" dirty="0" err="1"/>
              <a:t>targetStart</a:t>
            </a:r>
            <a:r>
              <a:rPr lang="en-US" sz="2400" dirty="0"/>
              <a:t>) : Copy characters from the </a:t>
            </a:r>
            <a:r>
              <a:rPr lang="en-US" sz="2400" dirty="0" err="1"/>
              <a:t>StringBuffer</a:t>
            </a:r>
            <a:r>
              <a:rPr lang="en-US" sz="2400" dirty="0"/>
              <a:t> into a specified character array.</a:t>
            </a:r>
            <a:endParaRPr lang="en-US" sz="2400" dirty="0"/>
          </a:p>
          <a:p>
            <a:pPr lvl="1"/>
            <a:r>
              <a:rPr lang="en-US" sz="1800" i="1" dirty="0" err="1"/>
              <a:t>sourceStart</a:t>
            </a:r>
            <a:r>
              <a:rPr lang="en-US" sz="1800" i="1" dirty="0"/>
              <a:t> </a:t>
            </a:r>
            <a:r>
              <a:rPr lang="en-US" sz="1800" dirty="0"/>
              <a:t>: The starting index (inclusive) of the characters to be copied from the </a:t>
            </a:r>
            <a:r>
              <a:rPr lang="en-US" sz="1800" dirty="0" err="1"/>
              <a:t>StringBuffer</a:t>
            </a:r>
            <a:r>
              <a:rPr lang="en-US" sz="1800" dirty="0"/>
              <a:t>.</a:t>
            </a:r>
            <a:endParaRPr lang="en-US" sz="1800" dirty="0"/>
          </a:p>
          <a:p>
            <a:pPr lvl="1"/>
            <a:r>
              <a:rPr lang="en-US" sz="1800" i="1" dirty="0" err="1"/>
              <a:t>sourceEnd</a:t>
            </a:r>
            <a:r>
              <a:rPr lang="en-US" sz="1800" i="1" dirty="0"/>
              <a:t> </a:t>
            </a:r>
            <a:r>
              <a:rPr lang="en-US" sz="1800" dirty="0"/>
              <a:t>: The ending index (exclusive) of the characters to be copied.</a:t>
            </a:r>
            <a:endParaRPr lang="en-US" sz="1800" dirty="0"/>
          </a:p>
          <a:p>
            <a:pPr lvl="1"/>
            <a:r>
              <a:rPr lang="en-US" sz="1800" dirty="0"/>
              <a:t>target: The destination character array where the characters will be copied.</a:t>
            </a:r>
            <a:endParaRPr lang="en-US" sz="1800" dirty="0"/>
          </a:p>
          <a:p>
            <a:pPr lvl="1"/>
            <a:r>
              <a:rPr lang="en-US" sz="1800" dirty="0" err="1"/>
              <a:t>targetStart</a:t>
            </a:r>
            <a:r>
              <a:rPr lang="en-US" sz="1800" dirty="0"/>
              <a:t>: The starting index in the destination array where copying will begin</a:t>
            </a:r>
            <a:r>
              <a:rPr lang="en-US" sz="1800" dirty="0" smtClean="0"/>
              <a:t>.</a:t>
            </a:r>
            <a:endParaRPr lang="en-US" sz="1800" dirty="0" smtClean="0"/>
          </a:p>
          <a:p>
            <a:pPr lvl="1"/>
            <a:endParaRPr lang="en-US" sz="1800" dirty="0"/>
          </a:p>
          <a:p>
            <a:pPr lvl="1"/>
            <a:endParaRPr lang="en-US" sz="1800" dirty="0"/>
          </a:p>
        </p:txBody>
      </p:sp>
      <p:graphicFrame>
        <p:nvGraphicFramePr>
          <p:cNvPr id="4" name="Table 3"/>
          <p:cNvGraphicFramePr>
            <a:graphicFrameLocks noGrp="1"/>
          </p:cNvGraphicFramePr>
          <p:nvPr/>
        </p:nvGraphicFramePr>
        <p:xfrm>
          <a:off x="1268325" y="3323846"/>
          <a:ext cx="9342755" cy="3144520"/>
        </p:xfrm>
        <a:graphic>
          <a:graphicData uri="http://schemas.openxmlformats.org/drawingml/2006/table">
            <a:tbl>
              <a:tblPr firstRow="1" bandRow="1">
                <a:tableStyleId>{5C22544A-7EE6-4342-B048-85BDC9FD1C3A}</a:tableStyleId>
              </a:tblPr>
              <a:tblGrid>
                <a:gridCol w="9342734"/>
              </a:tblGrid>
              <a:tr h="3144520">
                <a:tc>
                  <a:txBody>
                    <a:bodyPr/>
                    <a:lstStyle/>
                    <a:p>
                      <a:pPr marL="0" indent="0">
                        <a:buNone/>
                      </a:pPr>
                      <a:r>
                        <a:rPr lang="en-IN" sz="1800" b="0" dirty="0" smtClean="0">
                          <a:solidFill>
                            <a:schemeClr val="tx1"/>
                          </a:solidFill>
                        </a:rPr>
                        <a:t>public class Main {</a:t>
                      </a:r>
                      <a:endParaRPr lang="en-IN" sz="1800" b="0" dirty="0" smtClean="0">
                        <a:solidFill>
                          <a:schemeClr val="tx1"/>
                        </a:solidFill>
                      </a:endParaRPr>
                    </a:p>
                    <a:p>
                      <a:pPr marL="0" indent="0">
                        <a:buNone/>
                      </a:pPr>
                      <a:r>
                        <a:rPr lang="en-IN" sz="1800" b="0" dirty="0" smtClean="0">
                          <a:solidFill>
                            <a:schemeClr val="tx1"/>
                          </a:solidFill>
                        </a:rPr>
                        <a:t>    public static void main(String[] </a:t>
                      </a:r>
                      <a:r>
                        <a:rPr lang="en-IN" sz="1800" b="0" dirty="0" err="1" smtClean="0">
                          <a:solidFill>
                            <a:schemeClr val="tx1"/>
                          </a:solidFill>
                        </a:rPr>
                        <a:t>args</a:t>
                      </a:r>
                      <a:r>
                        <a:rPr lang="en-IN" sz="1800" b="0" dirty="0" smtClean="0">
                          <a:solidFill>
                            <a:schemeClr val="tx1"/>
                          </a:solidFill>
                        </a:rPr>
                        <a:t>) {</a:t>
                      </a:r>
                      <a:endParaRPr lang="en-IN" sz="1800" b="0" dirty="0" smtClean="0">
                        <a:solidFill>
                          <a:schemeClr val="tx1"/>
                        </a:solidFill>
                      </a:endParaRPr>
                    </a:p>
                    <a:p>
                      <a:pPr marL="0" indent="0">
                        <a:buNone/>
                      </a:pPr>
                      <a:r>
                        <a:rPr lang="en-IN" sz="1800" b="0" dirty="0" smtClean="0">
                          <a:solidFill>
                            <a:schemeClr val="tx1"/>
                          </a:solidFill>
                        </a:rPr>
                        <a:t>        </a:t>
                      </a:r>
                      <a:r>
                        <a:rPr lang="en-IN" sz="1800" b="0" dirty="0" err="1" smtClean="0">
                          <a:solidFill>
                            <a:schemeClr val="tx1"/>
                          </a:solidFill>
                        </a:rPr>
                        <a:t>StringBuffer</a:t>
                      </a:r>
                      <a:r>
                        <a:rPr lang="en-IN" sz="1800" b="0" dirty="0" smtClean="0">
                          <a:solidFill>
                            <a:schemeClr val="tx1"/>
                          </a:solidFill>
                        </a:rPr>
                        <a:t> </a:t>
                      </a:r>
                      <a:r>
                        <a:rPr lang="en-IN" sz="1800" b="0" dirty="0" err="1" smtClean="0">
                          <a:solidFill>
                            <a:schemeClr val="tx1"/>
                          </a:solidFill>
                        </a:rPr>
                        <a:t>sb</a:t>
                      </a:r>
                      <a:r>
                        <a:rPr lang="en-IN" sz="1800" b="0" dirty="0" smtClean="0">
                          <a:solidFill>
                            <a:schemeClr val="tx1"/>
                          </a:solidFill>
                        </a:rPr>
                        <a:t> = new </a:t>
                      </a:r>
                      <a:r>
                        <a:rPr lang="en-IN" sz="1800" b="0" dirty="0" err="1" smtClean="0">
                          <a:solidFill>
                            <a:schemeClr val="tx1"/>
                          </a:solidFill>
                        </a:rPr>
                        <a:t>StringBuffer</a:t>
                      </a:r>
                      <a:r>
                        <a:rPr lang="en-IN" sz="1800" b="0" dirty="0" smtClean="0">
                          <a:solidFill>
                            <a:schemeClr val="tx1"/>
                          </a:solidFill>
                        </a:rPr>
                        <a:t>("Hello, World!");</a:t>
                      </a:r>
                      <a:endParaRPr lang="en-IN" sz="1800" b="0" dirty="0" smtClean="0">
                        <a:solidFill>
                          <a:schemeClr val="tx1"/>
                        </a:solidFill>
                      </a:endParaRPr>
                    </a:p>
                    <a:p>
                      <a:pPr marL="0" indent="0">
                        <a:buNone/>
                      </a:pPr>
                      <a:r>
                        <a:rPr lang="en-IN" sz="1800" b="0" dirty="0" smtClean="0">
                          <a:solidFill>
                            <a:schemeClr val="tx1"/>
                          </a:solidFill>
                        </a:rPr>
                        <a:t>        char[] </a:t>
                      </a:r>
                      <a:r>
                        <a:rPr lang="en-IN" sz="1800" b="0" dirty="0" err="1" smtClean="0">
                          <a:solidFill>
                            <a:schemeClr val="tx1"/>
                          </a:solidFill>
                        </a:rPr>
                        <a:t>dst</a:t>
                      </a:r>
                      <a:r>
                        <a:rPr lang="en-IN" sz="1800" b="0" dirty="0" smtClean="0">
                          <a:solidFill>
                            <a:schemeClr val="tx1"/>
                          </a:solidFill>
                        </a:rPr>
                        <a:t> = new char[5];  // Array to hold copied characters</a:t>
                      </a:r>
                      <a:endParaRPr lang="en-IN" sz="1800" b="0" dirty="0" smtClean="0">
                        <a:solidFill>
                          <a:schemeClr val="tx1"/>
                        </a:solidFill>
                      </a:endParaRPr>
                    </a:p>
                    <a:p>
                      <a:pPr marL="0" indent="0">
                        <a:buNone/>
                      </a:pPr>
                      <a:r>
                        <a:rPr lang="en-IN" sz="1800" b="0" dirty="0" smtClean="0">
                          <a:solidFill>
                            <a:schemeClr val="tx1"/>
                          </a:solidFill>
                        </a:rPr>
                        <a:t>        // Copy characters from </a:t>
                      </a:r>
                      <a:r>
                        <a:rPr lang="en-IN" sz="1800" b="0" dirty="0" err="1" smtClean="0">
                          <a:solidFill>
                            <a:schemeClr val="tx1"/>
                          </a:solidFill>
                        </a:rPr>
                        <a:t>StringBuffer</a:t>
                      </a:r>
                      <a:r>
                        <a:rPr lang="en-IN" sz="1800" b="0" dirty="0" smtClean="0">
                          <a:solidFill>
                            <a:schemeClr val="tx1"/>
                          </a:solidFill>
                        </a:rPr>
                        <a:t> to character array</a:t>
                      </a:r>
                      <a:endParaRPr lang="en-IN" sz="1800" b="0" dirty="0" smtClean="0">
                        <a:solidFill>
                          <a:schemeClr val="tx1"/>
                        </a:solidFill>
                      </a:endParaRPr>
                    </a:p>
                    <a:p>
                      <a:pPr marL="0" indent="0">
                        <a:buNone/>
                      </a:pPr>
                      <a:r>
                        <a:rPr lang="en-IN" sz="1800" b="0" dirty="0" smtClean="0">
                          <a:solidFill>
                            <a:schemeClr val="tx1"/>
                          </a:solidFill>
                        </a:rPr>
                        <a:t>        </a:t>
                      </a:r>
                      <a:r>
                        <a:rPr lang="en-IN" sz="1800" b="0" dirty="0" err="1" smtClean="0">
                          <a:solidFill>
                            <a:schemeClr val="tx1"/>
                          </a:solidFill>
                        </a:rPr>
                        <a:t>sb.getChars</a:t>
                      </a:r>
                      <a:r>
                        <a:rPr lang="en-IN" sz="1800" b="0" dirty="0" smtClean="0">
                          <a:solidFill>
                            <a:schemeClr val="tx1"/>
                          </a:solidFill>
                        </a:rPr>
                        <a:t>(0, 5, </a:t>
                      </a:r>
                      <a:r>
                        <a:rPr lang="en-IN" sz="1800" b="0" dirty="0" err="1" smtClean="0">
                          <a:solidFill>
                            <a:schemeClr val="tx1"/>
                          </a:solidFill>
                        </a:rPr>
                        <a:t>dst</a:t>
                      </a:r>
                      <a:r>
                        <a:rPr lang="en-IN" sz="1800" b="0" dirty="0" smtClean="0">
                          <a:solidFill>
                            <a:schemeClr val="tx1"/>
                          </a:solidFill>
                        </a:rPr>
                        <a:t>, 0);  // Copy "Hello" to </a:t>
                      </a:r>
                      <a:r>
                        <a:rPr lang="en-IN" sz="1800" b="0" dirty="0" err="1" smtClean="0">
                          <a:solidFill>
                            <a:schemeClr val="tx1"/>
                          </a:solidFill>
                        </a:rPr>
                        <a:t>dst</a:t>
                      </a:r>
                      <a:r>
                        <a:rPr lang="en-IN" sz="1800" b="0" dirty="0" smtClean="0">
                          <a:solidFill>
                            <a:schemeClr val="tx1"/>
                          </a:solidFill>
                        </a:rPr>
                        <a:t> starting at index 0</a:t>
                      </a:r>
                      <a:endParaRPr lang="en-IN" sz="1800" b="0" dirty="0" smtClean="0">
                        <a:solidFill>
                          <a:schemeClr val="tx1"/>
                        </a:solidFill>
                      </a:endParaRPr>
                    </a:p>
                    <a:p>
                      <a:pPr marL="0" indent="0">
                        <a:buNone/>
                      </a:pPr>
                      <a:r>
                        <a:rPr lang="en-IN" sz="1800" b="0" dirty="0" smtClean="0">
                          <a:solidFill>
                            <a:schemeClr val="tx1"/>
                          </a:solidFill>
                        </a:rPr>
                        <a:t>        // Convert the character array to a string for display</a:t>
                      </a:r>
                      <a:endParaRPr lang="en-IN" sz="1800" b="0" dirty="0" smtClean="0">
                        <a:solidFill>
                          <a:schemeClr val="tx1"/>
                        </a:solidFill>
                      </a:endParaRPr>
                    </a:p>
                    <a:p>
                      <a:pPr marL="0" indent="0">
                        <a:buNone/>
                      </a:pPr>
                      <a:r>
                        <a:rPr lang="en-IN" sz="1800" b="0" dirty="0" smtClean="0">
                          <a:solidFill>
                            <a:schemeClr val="tx1"/>
                          </a:solidFill>
                        </a:rPr>
                        <a:t>        String </a:t>
                      </a:r>
                      <a:r>
                        <a:rPr lang="en-IN" sz="1800" b="0" dirty="0" err="1" smtClean="0">
                          <a:solidFill>
                            <a:schemeClr val="tx1"/>
                          </a:solidFill>
                        </a:rPr>
                        <a:t>copiedString</a:t>
                      </a:r>
                      <a:r>
                        <a:rPr lang="en-IN" sz="1800" b="0" dirty="0" smtClean="0">
                          <a:solidFill>
                            <a:schemeClr val="tx1"/>
                          </a:solidFill>
                        </a:rPr>
                        <a:t> = new String(</a:t>
                      </a:r>
                      <a:r>
                        <a:rPr lang="en-IN" sz="1800" b="0" dirty="0" err="1" smtClean="0">
                          <a:solidFill>
                            <a:schemeClr val="tx1"/>
                          </a:solidFill>
                        </a:rPr>
                        <a:t>dst</a:t>
                      </a:r>
                      <a:r>
                        <a:rPr lang="en-IN" sz="1800" b="0" dirty="0" smtClean="0">
                          <a:solidFill>
                            <a:schemeClr val="tx1"/>
                          </a:solidFill>
                        </a:rPr>
                        <a:t>);</a:t>
                      </a:r>
                      <a:endParaRPr lang="en-IN" sz="1800" b="0" dirty="0" smtClean="0">
                        <a:solidFill>
                          <a:schemeClr val="tx1"/>
                        </a:solidFill>
                      </a:endParaRPr>
                    </a:p>
                    <a:p>
                      <a:pPr marL="0" indent="0">
                        <a:buNone/>
                      </a:pPr>
                      <a:r>
                        <a:rPr lang="en-IN" sz="1800" b="0" dirty="0" smtClean="0">
                          <a:solidFill>
                            <a:schemeClr val="tx1"/>
                          </a:solidFill>
                        </a:rPr>
                        <a:t>        </a:t>
                      </a:r>
                      <a:r>
                        <a:rPr lang="en-IN" sz="1800" b="0" dirty="0" err="1" smtClean="0">
                          <a:solidFill>
                            <a:schemeClr val="tx1"/>
                          </a:solidFill>
                        </a:rPr>
                        <a:t>System.out.println</a:t>
                      </a:r>
                      <a:r>
                        <a:rPr lang="en-IN" sz="1800" b="0" dirty="0" smtClean="0">
                          <a:solidFill>
                            <a:schemeClr val="tx1"/>
                          </a:solidFill>
                        </a:rPr>
                        <a:t>("Copied characters: " + </a:t>
                      </a:r>
                      <a:r>
                        <a:rPr lang="en-IN" sz="1800" b="0" dirty="0" err="1" smtClean="0">
                          <a:solidFill>
                            <a:schemeClr val="tx1"/>
                          </a:solidFill>
                        </a:rPr>
                        <a:t>copiedString</a:t>
                      </a:r>
                      <a:r>
                        <a:rPr lang="en-IN" sz="1800" b="0" dirty="0" smtClean="0">
                          <a:solidFill>
                            <a:schemeClr val="tx1"/>
                          </a:solidFill>
                        </a:rPr>
                        <a:t>);  // Output: Hello</a:t>
                      </a:r>
                      <a:endParaRPr lang="en-IN" sz="1800" b="0" dirty="0" smtClean="0">
                        <a:solidFill>
                          <a:schemeClr val="tx1"/>
                        </a:solidFill>
                      </a:endParaRPr>
                    </a:p>
                    <a:p>
                      <a:pPr marL="0" indent="0">
                        <a:buNone/>
                      </a:pPr>
                      <a:r>
                        <a:rPr lang="en-IN" sz="1800" b="0" dirty="0" smtClean="0">
                          <a:solidFill>
                            <a:schemeClr val="tx1"/>
                          </a:solidFill>
                        </a:rPr>
                        <a:t>    }</a:t>
                      </a:r>
                      <a:endParaRPr lang="en-IN" sz="1800" b="0" dirty="0" smtClean="0">
                        <a:solidFill>
                          <a:schemeClr val="tx1"/>
                        </a:solidFill>
                      </a:endParaRPr>
                    </a:p>
                    <a:p>
                      <a:pPr marL="0" indent="0">
                        <a:buNone/>
                      </a:pPr>
                      <a:r>
                        <a:rPr lang="en-IN" sz="1800" b="0" dirty="0" smtClean="0">
                          <a:solidFill>
                            <a:schemeClr val="tx1"/>
                          </a:solidFill>
                        </a:rPr>
                        <a:t>}</a:t>
                      </a:r>
                      <a:r>
                        <a:rPr lang="en-US" altLang="en-IN" sz="1800" b="0" dirty="0" smtClean="0">
                          <a:solidFill>
                            <a:schemeClr val="tx1"/>
                          </a:solidFill>
                        </a:rPr>
                        <a:t> </a:t>
                      </a:r>
                      <a:endParaRPr lang="en-US" altLang="en-IN" sz="1800" b="0" dirty="0" smtClean="0">
                        <a:solidFill>
                          <a:schemeClr val="tx1"/>
                        </a:solidFill>
                      </a:endParaRPr>
                    </a:p>
                  </a:txBody>
                  <a:tcPr>
                    <a:solidFill>
                      <a:schemeClr val="bg1"/>
                    </a:solidFill>
                  </a:tcPr>
                </a:tc>
              </a:tr>
            </a:tbl>
          </a:graphicData>
        </a:graphic>
      </p:graphicFrame>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lstStyle/>
          <a:p>
            <a:r>
              <a:rPr lang="en-IN" dirty="0" smtClean="0"/>
              <a:t>Enumerated type</a:t>
            </a:r>
            <a:endParaRPr lang="en-IN" dirty="0"/>
          </a:p>
        </p:txBody>
      </p:sp>
      <p:sp>
        <p:nvSpPr>
          <p:cNvPr id="3" name="Content Placeholder 2"/>
          <p:cNvSpPr>
            <a:spLocks noGrp="1"/>
          </p:cNvSpPr>
          <p:nvPr>
            <p:ph idx="1"/>
          </p:nvPr>
        </p:nvSpPr>
        <p:spPr>
          <a:xfrm>
            <a:off x="838200" y="1302326"/>
            <a:ext cx="10515600" cy="5246255"/>
          </a:xfrm>
        </p:spPr>
        <p:txBody>
          <a:bodyPr>
            <a:normAutofit lnSpcReduction="10000"/>
          </a:bodyPr>
          <a:lstStyle/>
          <a:p>
            <a:r>
              <a:rPr lang="en-US" dirty="0"/>
              <a:t>A Java enumeration is </a:t>
            </a:r>
            <a:r>
              <a:rPr lang="en-US" dirty="0" smtClean="0"/>
              <a:t>class type which</a:t>
            </a:r>
            <a:r>
              <a:rPr lang="en-US" b="1" dirty="0" smtClean="0"/>
              <a:t> </a:t>
            </a:r>
            <a:r>
              <a:rPr lang="en-US" dirty="0" smtClean="0"/>
              <a:t>serve </a:t>
            </a:r>
            <a:r>
              <a:rPr lang="en-US" dirty="0"/>
              <a:t>the purpose of representing a group of named </a:t>
            </a:r>
            <a:r>
              <a:rPr lang="en-US" dirty="0" smtClean="0"/>
              <a:t>constants.</a:t>
            </a:r>
            <a:endParaRPr lang="en-US" dirty="0" smtClean="0"/>
          </a:p>
          <a:p>
            <a:pPr marL="0" indent="0">
              <a:buNone/>
            </a:pPr>
            <a:r>
              <a:rPr lang="en-US" sz="2200" dirty="0" err="1"/>
              <a:t>enum</a:t>
            </a:r>
            <a:r>
              <a:rPr lang="en-US" sz="2200" dirty="0"/>
              <a:t> Level {</a:t>
            </a:r>
            <a:endParaRPr lang="en-US" sz="2200" dirty="0"/>
          </a:p>
          <a:p>
            <a:pPr marL="0" indent="0">
              <a:buNone/>
            </a:pPr>
            <a:r>
              <a:rPr lang="en-US" sz="2200" dirty="0"/>
              <a:t>  LOW,</a:t>
            </a:r>
            <a:endParaRPr lang="en-US" sz="2200" dirty="0"/>
          </a:p>
          <a:p>
            <a:pPr marL="0" indent="0">
              <a:buNone/>
            </a:pPr>
            <a:r>
              <a:rPr lang="en-US" sz="2200" dirty="0"/>
              <a:t>  MEDIUM,</a:t>
            </a:r>
            <a:endParaRPr lang="en-US" sz="2200" dirty="0"/>
          </a:p>
          <a:p>
            <a:pPr marL="0" indent="0">
              <a:buNone/>
            </a:pPr>
            <a:r>
              <a:rPr lang="en-US" sz="2200" dirty="0"/>
              <a:t>  HIGH</a:t>
            </a:r>
            <a:endParaRPr lang="en-US" sz="2200" dirty="0"/>
          </a:p>
          <a:p>
            <a:pPr marL="0" indent="0">
              <a:buNone/>
            </a:pPr>
            <a:r>
              <a:rPr lang="en-US" sz="2200" dirty="0" smtClean="0"/>
              <a:t>}</a:t>
            </a:r>
            <a:endParaRPr lang="en-US" sz="2200" dirty="0" smtClean="0"/>
          </a:p>
          <a:p>
            <a:r>
              <a:rPr lang="en-US" dirty="0" smtClean="0"/>
              <a:t>Accessing of </a:t>
            </a:r>
            <a:r>
              <a:rPr lang="en-US" dirty="0" err="1" smtClean="0"/>
              <a:t>enum</a:t>
            </a:r>
            <a:r>
              <a:rPr lang="en-US" dirty="0" smtClean="0"/>
              <a:t> </a:t>
            </a:r>
            <a:r>
              <a:rPr lang="en-US" dirty="0"/>
              <a:t>constants : Level </a:t>
            </a:r>
            <a:r>
              <a:rPr lang="en-US" dirty="0" err="1"/>
              <a:t>myVar</a:t>
            </a:r>
            <a:r>
              <a:rPr lang="en-US" dirty="0"/>
              <a:t> = </a:t>
            </a:r>
            <a:r>
              <a:rPr lang="en-US" dirty="0" err="1"/>
              <a:t>Level.MEDIUM</a:t>
            </a:r>
            <a:r>
              <a:rPr lang="en-US" dirty="0" smtClean="0"/>
              <a:t>;</a:t>
            </a:r>
            <a:endParaRPr lang="en-US" dirty="0" smtClean="0"/>
          </a:p>
          <a:p>
            <a:r>
              <a:rPr lang="en-US" dirty="0"/>
              <a:t>we don’t need to instantiate an </a:t>
            </a:r>
            <a:r>
              <a:rPr lang="en-US" dirty="0" err="1"/>
              <a:t>enum</a:t>
            </a:r>
            <a:r>
              <a:rPr lang="en-US" dirty="0"/>
              <a:t> using </a:t>
            </a:r>
            <a:r>
              <a:rPr lang="en-US" b="1" dirty="0"/>
              <a:t>new, </a:t>
            </a:r>
            <a:r>
              <a:rPr lang="en-US" dirty="0"/>
              <a:t>it has the same capabilities as other </a:t>
            </a:r>
            <a:r>
              <a:rPr lang="en-US" dirty="0" smtClean="0"/>
              <a:t>classes.</a:t>
            </a:r>
            <a:endParaRPr lang="en-US" dirty="0" smtClean="0"/>
          </a:p>
          <a:p>
            <a:r>
              <a:rPr lang="en-US" dirty="0" smtClean="0"/>
              <a:t>Note: </a:t>
            </a:r>
            <a:r>
              <a:rPr lang="en-US" dirty="0"/>
              <a:t> unlike classes, enumerations neither inherit other classes nor can get extended(</a:t>
            </a:r>
            <a:r>
              <a:rPr lang="en-US" dirty="0" err="1"/>
              <a:t>i.e</a:t>
            </a:r>
            <a:r>
              <a:rPr lang="en-US" dirty="0"/>
              <a:t> become superclass).</a:t>
            </a:r>
            <a:endParaRPr lang="en-US" dirty="0" smtClean="0"/>
          </a:p>
          <a:p>
            <a:endParaRPr lang="en-US" dirty="0" smtClean="0"/>
          </a:p>
          <a:p>
            <a:endParaRPr lang="en-IN"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Declaration of </a:t>
            </a:r>
            <a:r>
              <a:rPr lang="en-IN" b="1" dirty="0" err="1" smtClean="0"/>
              <a:t>enum</a:t>
            </a:r>
            <a:endParaRPr lang="en-IN" dirty="0"/>
          </a:p>
        </p:txBody>
      </p:sp>
      <p:sp>
        <p:nvSpPr>
          <p:cNvPr id="3" name="Content Placeholder 2"/>
          <p:cNvSpPr>
            <a:spLocks noGrp="1"/>
          </p:cNvSpPr>
          <p:nvPr>
            <p:ph idx="1"/>
          </p:nvPr>
        </p:nvSpPr>
        <p:spPr/>
        <p:txBody>
          <a:bodyPr>
            <a:normAutofit fontScale="92500" lnSpcReduction="20000"/>
          </a:bodyPr>
          <a:lstStyle/>
          <a:p>
            <a:r>
              <a:rPr lang="en-IN" b="1" dirty="0"/>
              <a:t>outside the </a:t>
            </a:r>
            <a:r>
              <a:rPr lang="en-IN" b="1" dirty="0" smtClean="0"/>
              <a:t>class</a:t>
            </a:r>
            <a:endParaRPr lang="en-IN" dirty="0" smtClean="0"/>
          </a:p>
          <a:p>
            <a:pPr marL="457200" lvl="1" indent="0">
              <a:buNone/>
            </a:pPr>
            <a:r>
              <a:rPr lang="en-IN" dirty="0" err="1" smtClean="0"/>
              <a:t>enum</a:t>
            </a:r>
            <a:r>
              <a:rPr lang="en-IN" dirty="0" smtClean="0"/>
              <a:t> </a:t>
            </a:r>
            <a:r>
              <a:rPr lang="en-IN" dirty="0" err="1"/>
              <a:t>Color</a:t>
            </a:r>
            <a:r>
              <a:rPr lang="en-IN" dirty="0"/>
              <a:t> {</a:t>
            </a:r>
            <a:endParaRPr lang="en-IN" dirty="0"/>
          </a:p>
          <a:p>
            <a:pPr marL="457200" lvl="1" indent="0">
              <a:buNone/>
            </a:pPr>
            <a:r>
              <a:rPr lang="en-IN" dirty="0" smtClean="0"/>
              <a:t>    RED,</a:t>
            </a:r>
            <a:endParaRPr lang="en-IN" dirty="0" smtClean="0"/>
          </a:p>
          <a:p>
            <a:pPr marL="457200" lvl="1" indent="0">
              <a:buNone/>
            </a:pPr>
            <a:r>
              <a:rPr lang="en-IN" dirty="0" smtClean="0"/>
              <a:t>    </a:t>
            </a:r>
            <a:r>
              <a:rPr lang="en-IN" dirty="0"/>
              <a:t>GREEN,</a:t>
            </a:r>
            <a:endParaRPr lang="en-IN" dirty="0"/>
          </a:p>
          <a:p>
            <a:pPr marL="457200" lvl="1" indent="0">
              <a:buNone/>
            </a:pPr>
            <a:r>
              <a:rPr lang="en-IN" dirty="0"/>
              <a:t>    BLUE;</a:t>
            </a:r>
            <a:endParaRPr lang="en-IN" dirty="0"/>
          </a:p>
          <a:p>
            <a:pPr marL="457200" lvl="1" indent="0">
              <a:buNone/>
            </a:pPr>
            <a:r>
              <a:rPr lang="en-IN" dirty="0"/>
              <a:t>}</a:t>
            </a:r>
            <a:endParaRPr lang="en-IN" dirty="0"/>
          </a:p>
          <a:p>
            <a:pPr marL="457200" lvl="1" indent="0">
              <a:buNone/>
            </a:pPr>
            <a:endParaRPr lang="en-IN" dirty="0"/>
          </a:p>
          <a:p>
            <a:pPr marL="457200" lvl="1" indent="0">
              <a:buNone/>
            </a:pPr>
            <a:r>
              <a:rPr lang="en-IN" dirty="0"/>
              <a:t>public class Test {</a:t>
            </a:r>
            <a:endParaRPr lang="en-IN" dirty="0"/>
          </a:p>
          <a:p>
            <a:pPr marL="457200" lvl="1" indent="0">
              <a:buNone/>
            </a:pPr>
            <a:r>
              <a:rPr lang="en-IN" dirty="0" smtClean="0"/>
              <a:t>public </a:t>
            </a:r>
            <a:r>
              <a:rPr lang="en-IN" dirty="0"/>
              <a:t>static void main(String[] </a:t>
            </a:r>
            <a:r>
              <a:rPr lang="en-IN" dirty="0" err="1"/>
              <a:t>args</a:t>
            </a:r>
            <a:r>
              <a:rPr lang="en-IN" dirty="0"/>
              <a:t>) {</a:t>
            </a:r>
            <a:endParaRPr lang="en-IN" dirty="0"/>
          </a:p>
          <a:p>
            <a:pPr marL="457200" lvl="1" indent="0">
              <a:buNone/>
            </a:pPr>
            <a:r>
              <a:rPr lang="en-IN" dirty="0"/>
              <a:t>        </a:t>
            </a:r>
            <a:r>
              <a:rPr lang="en-IN" dirty="0" err="1"/>
              <a:t>Color</a:t>
            </a:r>
            <a:r>
              <a:rPr lang="en-IN" dirty="0"/>
              <a:t> c1 = </a:t>
            </a:r>
            <a:r>
              <a:rPr lang="en-IN" dirty="0" err="1"/>
              <a:t>Color.RED</a:t>
            </a:r>
            <a:r>
              <a:rPr lang="en-IN" dirty="0"/>
              <a:t>;</a:t>
            </a:r>
            <a:endParaRPr lang="en-IN" dirty="0"/>
          </a:p>
          <a:p>
            <a:pPr marL="457200" lvl="1" indent="0">
              <a:buNone/>
            </a:pPr>
            <a:r>
              <a:rPr lang="en-IN" dirty="0"/>
              <a:t>        </a:t>
            </a:r>
            <a:r>
              <a:rPr lang="en-IN" dirty="0" err="1"/>
              <a:t>System.out.println</a:t>
            </a:r>
            <a:r>
              <a:rPr lang="en-IN" dirty="0"/>
              <a:t>(c1);</a:t>
            </a:r>
            <a:endParaRPr lang="en-IN" dirty="0"/>
          </a:p>
          <a:p>
            <a:pPr marL="457200" lvl="1" indent="0">
              <a:buNone/>
            </a:pPr>
            <a:r>
              <a:rPr lang="en-IN" dirty="0"/>
              <a:t>    }</a:t>
            </a:r>
            <a:endParaRPr lang="en-IN" dirty="0"/>
          </a:p>
          <a:p>
            <a:pPr marL="457200" lvl="1" indent="0">
              <a:buNone/>
            </a:pPr>
            <a:r>
              <a:rPr lang="en-IN" dirty="0"/>
              <a:t>}</a:t>
            </a:r>
            <a:endParaRPr lang="en-IN" dirty="0"/>
          </a:p>
          <a:p>
            <a:pPr lvl="1"/>
            <a:endParaRPr lang="en-IN" b="1"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Declaration of </a:t>
            </a:r>
            <a:r>
              <a:rPr lang="en-IN" b="1" dirty="0" err="1"/>
              <a:t>enum</a:t>
            </a:r>
            <a:endParaRPr lang="en-IN" dirty="0"/>
          </a:p>
        </p:txBody>
      </p:sp>
      <p:sp>
        <p:nvSpPr>
          <p:cNvPr id="3" name="Content Placeholder 2"/>
          <p:cNvSpPr>
            <a:spLocks noGrp="1"/>
          </p:cNvSpPr>
          <p:nvPr>
            <p:ph idx="1"/>
          </p:nvPr>
        </p:nvSpPr>
        <p:spPr/>
        <p:txBody>
          <a:bodyPr>
            <a:normAutofit fontScale="92500" lnSpcReduction="20000"/>
          </a:bodyPr>
          <a:lstStyle/>
          <a:p>
            <a:r>
              <a:rPr lang="en-IN" b="1" dirty="0" smtClean="0"/>
              <a:t>inside </a:t>
            </a:r>
            <a:r>
              <a:rPr lang="en-IN" b="1" dirty="0"/>
              <a:t>a class</a:t>
            </a:r>
            <a:endParaRPr lang="en-IN" b="1" dirty="0"/>
          </a:p>
          <a:p>
            <a:pPr marL="457200" lvl="1" indent="0">
              <a:buNone/>
            </a:pPr>
            <a:r>
              <a:rPr lang="en-IN" dirty="0" smtClean="0"/>
              <a:t>public </a:t>
            </a:r>
            <a:r>
              <a:rPr lang="en-IN" dirty="0"/>
              <a:t>class Test {</a:t>
            </a:r>
            <a:endParaRPr lang="en-IN" dirty="0"/>
          </a:p>
          <a:p>
            <a:pPr marL="457200" lvl="1" indent="0">
              <a:buNone/>
            </a:pPr>
            <a:r>
              <a:rPr lang="en-IN" dirty="0"/>
              <a:t>    </a:t>
            </a:r>
            <a:r>
              <a:rPr lang="en-IN" dirty="0" err="1"/>
              <a:t>enum</a:t>
            </a:r>
            <a:r>
              <a:rPr lang="en-IN" dirty="0"/>
              <a:t> </a:t>
            </a:r>
            <a:r>
              <a:rPr lang="en-IN" dirty="0" err="1"/>
              <a:t>Color</a:t>
            </a:r>
            <a:r>
              <a:rPr lang="en-IN" dirty="0"/>
              <a:t> {</a:t>
            </a:r>
            <a:endParaRPr lang="en-IN" dirty="0"/>
          </a:p>
          <a:p>
            <a:pPr marL="457200" lvl="1" indent="0">
              <a:buNone/>
            </a:pPr>
            <a:r>
              <a:rPr lang="en-IN" dirty="0"/>
              <a:t>        RED,</a:t>
            </a:r>
            <a:endParaRPr lang="en-IN" dirty="0"/>
          </a:p>
          <a:p>
            <a:pPr marL="457200" lvl="1" indent="0">
              <a:buNone/>
            </a:pPr>
            <a:r>
              <a:rPr lang="en-IN" dirty="0"/>
              <a:t>        GREEN,</a:t>
            </a:r>
            <a:endParaRPr lang="en-IN" dirty="0"/>
          </a:p>
          <a:p>
            <a:pPr marL="457200" lvl="1" indent="0">
              <a:buNone/>
            </a:pPr>
            <a:r>
              <a:rPr lang="en-IN" dirty="0"/>
              <a:t>        BLUE;</a:t>
            </a:r>
            <a:endParaRPr lang="en-IN" dirty="0"/>
          </a:p>
          <a:p>
            <a:pPr marL="457200" lvl="1" indent="0">
              <a:buNone/>
            </a:pPr>
            <a:r>
              <a:rPr lang="en-IN" dirty="0"/>
              <a:t>    }</a:t>
            </a:r>
            <a:endParaRPr lang="en-IN" dirty="0"/>
          </a:p>
          <a:p>
            <a:pPr marL="457200" lvl="1" indent="0">
              <a:buNone/>
            </a:pPr>
            <a:endParaRPr lang="en-IN" dirty="0"/>
          </a:p>
          <a:p>
            <a:pPr marL="457200" lvl="1" indent="0">
              <a:buNone/>
            </a:pPr>
            <a:r>
              <a:rPr lang="en-IN" dirty="0" smtClean="0"/>
              <a:t>public </a:t>
            </a:r>
            <a:r>
              <a:rPr lang="en-IN" dirty="0"/>
              <a:t>static void main(String[] </a:t>
            </a:r>
            <a:r>
              <a:rPr lang="en-IN" dirty="0" err="1"/>
              <a:t>args</a:t>
            </a:r>
            <a:r>
              <a:rPr lang="en-IN" dirty="0"/>
              <a:t>) {</a:t>
            </a:r>
            <a:endParaRPr lang="en-IN" dirty="0"/>
          </a:p>
          <a:p>
            <a:pPr marL="457200" lvl="1" indent="0">
              <a:buNone/>
            </a:pPr>
            <a:r>
              <a:rPr lang="en-IN" dirty="0"/>
              <a:t>        </a:t>
            </a:r>
            <a:r>
              <a:rPr lang="en-IN" dirty="0" err="1"/>
              <a:t>Color</a:t>
            </a:r>
            <a:r>
              <a:rPr lang="en-IN" dirty="0"/>
              <a:t> c1 = </a:t>
            </a:r>
            <a:r>
              <a:rPr lang="en-IN" dirty="0" err="1"/>
              <a:t>Color.RED</a:t>
            </a:r>
            <a:r>
              <a:rPr lang="en-IN" dirty="0"/>
              <a:t>;</a:t>
            </a:r>
            <a:endParaRPr lang="en-IN" dirty="0"/>
          </a:p>
          <a:p>
            <a:pPr marL="457200" lvl="1" indent="0">
              <a:buNone/>
            </a:pPr>
            <a:r>
              <a:rPr lang="en-IN" dirty="0"/>
              <a:t>        </a:t>
            </a:r>
            <a:r>
              <a:rPr lang="en-IN" dirty="0" err="1"/>
              <a:t>System.out.println</a:t>
            </a:r>
            <a:r>
              <a:rPr lang="en-IN" dirty="0"/>
              <a:t>(c1);</a:t>
            </a:r>
            <a:endParaRPr lang="en-IN" dirty="0"/>
          </a:p>
          <a:p>
            <a:pPr marL="457200" lvl="1" indent="0">
              <a:buNone/>
            </a:pPr>
            <a:r>
              <a:rPr lang="en-IN" dirty="0"/>
              <a:t>    }</a:t>
            </a:r>
            <a:endParaRPr lang="en-IN" dirty="0"/>
          </a:p>
          <a:p>
            <a:pPr marL="457200" lvl="1" indent="0">
              <a:buNone/>
            </a:pPr>
            <a:r>
              <a:rPr lang="en-IN" dirty="0"/>
              <a:t>}</a:t>
            </a:r>
            <a:endParaRPr lang="en-IN" dirty="0"/>
          </a:p>
          <a:p>
            <a:pPr lvl="1"/>
            <a:endParaRPr lang="en-IN"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Properties of </a:t>
            </a:r>
            <a:r>
              <a:rPr lang="en-IN" dirty="0" err="1" smtClean="0"/>
              <a:t>enum</a:t>
            </a:r>
            <a:endParaRPr lang="en-IN" dirty="0"/>
          </a:p>
        </p:txBody>
      </p:sp>
      <p:sp>
        <p:nvSpPr>
          <p:cNvPr id="3" name="Content Placeholder 2"/>
          <p:cNvSpPr>
            <a:spLocks noGrp="1"/>
          </p:cNvSpPr>
          <p:nvPr>
            <p:ph idx="1"/>
          </p:nvPr>
        </p:nvSpPr>
        <p:spPr/>
        <p:txBody>
          <a:bodyPr>
            <a:normAutofit lnSpcReduction="10000"/>
          </a:bodyPr>
          <a:lstStyle/>
          <a:p>
            <a:r>
              <a:rPr lang="en-US" b="1" dirty="0"/>
              <a:t>Class Type: </a:t>
            </a:r>
            <a:r>
              <a:rPr lang="en-US" dirty="0"/>
              <a:t>Every </a:t>
            </a:r>
            <a:r>
              <a:rPr lang="en-US" dirty="0" err="1"/>
              <a:t>enum</a:t>
            </a:r>
            <a:r>
              <a:rPr lang="en-US" dirty="0"/>
              <a:t> is internally implemented using the Class type.</a:t>
            </a:r>
            <a:endParaRPr lang="en-US" dirty="0"/>
          </a:p>
          <a:p>
            <a:r>
              <a:rPr lang="en-US" b="1" dirty="0" err="1"/>
              <a:t>Enum</a:t>
            </a:r>
            <a:r>
              <a:rPr lang="en-US" b="1" dirty="0"/>
              <a:t> Constants: </a:t>
            </a:r>
            <a:r>
              <a:rPr lang="en-US" dirty="0"/>
              <a:t>Each </a:t>
            </a:r>
            <a:r>
              <a:rPr lang="en-US" dirty="0" err="1"/>
              <a:t>enum</a:t>
            </a:r>
            <a:r>
              <a:rPr lang="en-US" dirty="0"/>
              <a:t> constant represents an object of type </a:t>
            </a:r>
            <a:r>
              <a:rPr lang="en-US" dirty="0" err="1"/>
              <a:t>enum</a:t>
            </a:r>
            <a:r>
              <a:rPr lang="en-US" dirty="0"/>
              <a:t>.</a:t>
            </a:r>
            <a:endParaRPr lang="en-US" dirty="0"/>
          </a:p>
          <a:p>
            <a:r>
              <a:rPr lang="en-US" b="1" dirty="0"/>
              <a:t>Switch Statements: </a:t>
            </a:r>
            <a:r>
              <a:rPr lang="en-US" dirty="0" err="1"/>
              <a:t>Enum</a:t>
            </a:r>
            <a:r>
              <a:rPr lang="en-US" dirty="0"/>
              <a:t> types can be used in switch statements.</a:t>
            </a:r>
            <a:endParaRPr lang="en-US" dirty="0"/>
          </a:p>
          <a:p>
            <a:r>
              <a:rPr lang="en-US" b="1" dirty="0"/>
              <a:t>Implicit Modifiers: </a:t>
            </a:r>
            <a:r>
              <a:rPr lang="en-US" dirty="0"/>
              <a:t>Every </a:t>
            </a:r>
            <a:r>
              <a:rPr lang="en-US" dirty="0" err="1"/>
              <a:t>enum</a:t>
            </a:r>
            <a:r>
              <a:rPr lang="en-US" dirty="0"/>
              <a:t> constant is implicitly public static final. Since it is static, it can be accessed using the </a:t>
            </a:r>
            <a:r>
              <a:rPr lang="en-US" dirty="0" err="1"/>
              <a:t>enum</a:t>
            </a:r>
            <a:r>
              <a:rPr lang="en-US" dirty="0"/>
              <a:t> name. Since it is final, </a:t>
            </a:r>
            <a:r>
              <a:rPr lang="en-US" dirty="0" err="1"/>
              <a:t>enums</a:t>
            </a:r>
            <a:r>
              <a:rPr lang="en-US" dirty="0"/>
              <a:t> cannot be extended.</a:t>
            </a:r>
            <a:endParaRPr lang="en-US" dirty="0"/>
          </a:p>
          <a:p>
            <a:r>
              <a:rPr lang="en-US" b="1" dirty="0"/>
              <a:t>Main Method: </a:t>
            </a:r>
            <a:r>
              <a:rPr lang="en-US" dirty="0" err="1"/>
              <a:t>Enums</a:t>
            </a:r>
            <a:r>
              <a:rPr lang="en-US" dirty="0"/>
              <a:t> can declare a main() method, allowing direct invocation from the command line.</a:t>
            </a:r>
            <a:endParaRPr lang="en-IN"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99" y="157018"/>
            <a:ext cx="3928919" cy="471055"/>
          </a:xfrm>
        </p:spPr>
        <p:txBody>
          <a:bodyPr>
            <a:normAutofit fontScale="90000"/>
          </a:bodyPr>
          <a:lstStyle/>
          <a:p>
            <a:r>
              <a:rPr lang="en-IN" dirty="0" err="1" smtClean="0"/>
              <a:t>Enum</a:t>
            </a:r>
            <a:r>
              <a:rPr lang="en-IN" dirty="0" smtClean="0"/>
              <a:t> in switch</a:t>
            </a:r>
            <a:endParaRPr lang="en-IN" dirty="0"/>
          </a:p>
        </p:txBody>
      </p:sp>
      <p:sp>
        <p:nvSpPr>
          <p:cNvPr id="3" name="Content Placeholder 2"/>
          <p:cNvSpPr>
            <a:spLocks noGrp="1"/>
          </p:cNvSpPr>
          <p:nvPr>
            <p:ph idx="1"/>
          </p:nvPr>
        </p:nvSpPr>
        <p:spPr>
          <a:xfrm>
            <a:off x="495299" y="766618"/>
            <a:ext cx="5203537" cy="5754255"/>
          </a:xfrm>
        </p:spPr>
        <p:txBody>
          <a:bodyPr>
            <a:normAutofit fontScale="77500" lnSpcReduction="20000"/>
          </a:bodyPr>
          <a:lstStyle/>
          <a:p>
            <a:pPr marL="0" indent="0">
              <a:buNone/>
            </a:pPr>
            <a:r>
              <a:rPr lang="en-US" dirty="0" smtClean="0"/>
              <a:t>import </a:t>
            </a:r>
            <a:r>
              <a:rPr lang="en-US" dirty="0" err="1"/>
              <a:t>java.util.Scanner</a:t>
            </a:r>
            <a:r>
              <a:rPr lang="en-US" dirty="0"/>
              <a:t>;</a:t>
            </a:r>
            <a:endParaRPr lang="en-US" dirty="0"/>
          </a:p>
          <a:p>
            <a:pPr marL="0" indent="0">
              <a:buNone/>
            </a:pPr>
            <a:r>
              <a:rPr lang="en-US" dirty="0" err="1" smtClean="0"/>
              <a:t>enum</a:t>
            </a:r>
            <a:r>
              <a:rPr lang="en-US" dirty="0" smtClean="0"/>
              <a:t> </a:t>
            </a:r>
            <a:r>
              <a:rPr lang="en-US" dirty="0"/>
              <a:t>Day {</a:t>
            </a:r>
            <a:endParaRPr lang="en-US" dirty="0"/>
          </a:p>
          <a:p>
            <a:pPr marL="0" indent="0">
              <a:buNone/>
            </a:pPr>
            <a:r>
              <a:rPr lang="en-US" dirty="0"/>
              <a:t>    SUNDAY,</a:t>
            </a:r>
            <a:endParaRPr lang="en-US" dirty="0"/>
          </a:p>
          <a:p>
            <a:pPr marL="0" indent="0">
              <a:buNone/>
            </a:pPr>
            <a:r>
              <a:rPr lang="en-US" dirty="0"/>
              <a:t>    MONDAY,</a:t>
            </a:r>
            <a:endParaRPr lang="en-US" dirty="0"/>
          </a:p>
          <a:p>
            <a:pPr marL="0" indent="0">
              <a:buNone/>
            </a:pPr>
            <a:r>
              <a:rPr lang="en-US" dirty="0"/>
              <a:t>    TUESDAY,</a:t>
            </a:r>
            <a:endParaRPr lang="en-US" dirty="0"/>
          </a:p>
          <a:p>
            <a:pPr marL="0" indent="0">
              <a:buNone/>
            </a:pPr>
            <a:r>
              <a:rPr lang="en-US" dirty="0"/>
              <a:t>    WEDNESDAY,</a:t>
            </a:r>
            <a:endParaRPr lang="en-US" dirty="0"/>
          </a:p>
          <a:p>
            <a:pPr marL="0" indent="0">
              <a:buNone/>
            </a:pPr>
            <a:r>
              <a:rPr lang="en-US" dirty="0"/>
              <a:t>    THURSDAY,</a:t>
            </a:r>
            <a:endParaRPr lang="en-US" dirty="0"/>
          </a:p>
          <a:p>
            <a:pPr marL="0" indent="0">
              <a:buNone/>
            </a:pPr>
            <a:r>
              <a:rPr lang="en-US" dirty="0"/>
              <a:t>    FRIDAY,</a:t>
            </a:r>
            <a:endParaRPr lang="en-US" dirty="0"/>
          </a:p>
          <a:p>
            <a:pPr marL="0" indent="0">
              <a:buNone/>
            </a:pPr>
            <a:r>
              <a:rPr lang="en-US" dirty="0"/>
              <a:t>    SATURDAY;</a:t>
            </a:r>
            <a:endParaRPr lang="en-US" dirty="0"/>
          </a:p>
          <a:p>
            <a:pPr marL="0" indent="0">
              <a:buNone/>
            </a:pPr>
            <a:r>
              <a:rPr lang="en-US" dirty="0" smtClean="0"/>
              <a:t>}</a:t>
            </a:r>
            <a:endParaRPr lang="en-US" dirty="0"/>
          </a:p>
          <a:p>
            <a:pPr marL="0" indent="0">
              <a:buNone/>
            </a:pPr>
            <a:r>
              <a:rPr lang="en-US" dirty="0" smtClean="0"/>
              <a:t>public </a:t>
            </a:r>
            <a:r>
              <a:rPr lang="en-US" dirty="0"/>
              <a:t>class Test {</a:t>
            </a:r>
            <a:endParaRPr lang="en-US" dirty="0"/>
          </a:p>
          <a:p>
            <a:pPr marL="0" indent="0">
              <a:buNone/>
            </a:pPr>
            <a:r>
              <a:rPr lang="en-US" dirty="0"/>
              <a:t>    Day </a:t>
            </a:r>
            <a:r>
              <a:rPr lang="en-US" dirty="0" err="1"/>
              <a:t>day</a:t>
            </a:r>
            <a:r>
              <a:rPr lang="en-US" dirty="0" smtClean="0"/>
              <a:t>;</a:t>
            </a:r>
            <a:endParaRPr lang="en-US" dirty="0"/>
          </a:p>
          <a:p>
            <a:pPr marL="0" indent="0">
              <a:buNone/>
            </a:pPr>
            <a:r>
              <a:rPr lang="en-US" dirty="0"/>
              <a:t>    // Constructor</a:t>
            </a:r>
            <a:endParaRPr lang="en-US" dirty="0"/>
          </a:p>
          <a:p>
            <a:pPr marL="0" indent="0">
              <a:buNone/>
            </a:pPr>
            <a:r>
              <a:rPr lang="en-US" dirty="0"/>
              <a:t>    public Test(Day </a:t>
            </a:r>
            <a:r>
              <a:rPr lang="en-US" dirty="0" smtClean="0"/>
              <a:t>d) </a:t>
            </a:r>
            <a:r>
              <a:rPr lang="en-US" dirty="0"/>
              <a:t>{</a:t>
            </a:r>
            <a:endParaRPr lang="en-US" dirty="0"/>
          </a:p>
          <a:p>
            <a:pPr marL="0" indent="0">
              <a:buNone/>
            </a:pPr>
            <a:r>
              <a:rPr lang="en-US" dirty="0"/>
              <a:t>        </a:t>
            </a:r>
            <a:r>
              <a:rPr lang="en-US" dirty="0" smtClean="0"/>
              <a:t>day </a:t>
            </a:r>
            <a:r>
              <a:rPr lang="en-US" dirty="0"/>
              <a:t>= </a:t>
            </a:r>
            <a:r>
              <a:rPr lang="en-US" dirty="0" smtClean="0"/>
              <a:t>d;</a:t>
            </a:r>
            <a:endParaRPr lang="en-US" dirty="0"/>
          </a:p>
          <a:p>
            <a:pPr marL="0" indent="0">
              <a:buNone/>
            </a:pPr>
            <a:r>
              <a:rPr lang="en-US" dirty="0"/>
              <a:t>    }</a:t>
            </a:r>
            <a:endParaRPr lang="en-US" dirty="0"/>
          </a:p>
          <a:p>
            <a:pPr marL="0" indent="0">
              <a:buNone/>
            </a:pPr>
            <a:endParaRPr lang="en-IN" dirty="0"/>
          </a:p>
        </p:txBody>
      </p:sp>
      <p:sp>
        <p:nvSpPr>
          <p:cNvPr id="4" name="Content Placeholder 2"/>
          <p:cNvSpPr txBox="1"/>
          <p:nvPr/>
        </p:nvSpPr>
        <p:spPr>
          <a:xfrm>
            <a:off x="6031345" y="157018"/>
            <a:ext cx="5541818" cy="6700982"/>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dirty="0" smtClean="0"/>
              <a:t>public void </a:t>
            </a:r>
            <a:r>
              <a:rPr lang="en-US" dirty="0" err="1" smtClean="0"/>
              <a:t>dayIsLike</a:t>
            </a:r>
            <a:r>
              <a:rPr lang="en-US" dirty="0" smtClean="0"/>
              <a:t>() {</a:t>
            </a:r>
            <a:endParaRPr lang="en-US" dirty="0" smtClean="0"/>
          </a:p>
          <a:p>
            <a:pPr marL="0" indent="0">
              <a:buNone/>
            </a:pPr>
            <a:r>
              <a:rPr lang="en-US" dirty="0" smtClean="0"/>
              <a:t>        switch (day) {</a:t>
            </a:r>
            <a:endParaRPr lang="en-US" dirty="0" smtClean="0"/>
          </a:p>
          <a:p>
            <a:pPr marL="0" indent="0">
              <a:buNone/>
            </a:pPr>
            <a:r>
              <a:rPr lang="en-US" dirty="0" smtClean="0"/>
              <a:t>        case MONDAY:</a:t>
            </a:r>
            <a:endParaRPr lang="en-US" dirty="0" smtClean="0"/>
          </a:p>
          <a:p>
            <a:pPr marL="0" indent="0">
              <a:buNone/>
            </a:pPr>
            <a:r>
              <a:rPr lang="en-US" dirty="0" smtClean="0"/>
              <a:t>            </a:t>
            </a:r>
            <a:r>
              <a:rPr lang="en-US" dirty="0" err="1" smtClean="0"/>
              <a:t>System.out.println</a:t>
            </a:r>
            <a:r>
              <a:rPr lang="en-US" dirty="0" smtClean="0"/>
              <a:t>("Mondays are bad.");</a:t>
            </a:r>
            <a:endParaRPr lang="en-US" dirty="0" smtClean="0"/>
          </a:p>
          <a:p>
            <a:pPr marL="0" indent="0">
              <a:buNone/>
            </a:pPr>
            <a:r>
              <a:rPr lang="en-US" dirty="0" smtClean="0"/>
              <a:t>            break;</a:t>
            </a:r>
            <a:endParaRPr lang="en-US" dirty="0" smtClean="0"/>
          </a:p>
          <a:p>
            <a:pPr marL="0" indent="0">
              <a:buNone/>
            </a:pPr>
            <a:r>
              <a:rPr lang="en-US" dirty="0" smtClean="0"/>
              <a:t>        case FRIDAY:</a:t>
            </a:r>
            <a:endParaRPr lang="en-US" dirty="0" smtClean="0"/>
          </a:p>
          <a:p>
            <a:pPr marL="0" indent="0">
              <a:buNone/>
            </a:pPr>
            <a:r>
              <a:rPr lang="en-US" dirty="0" smtClean="0"/>
              <a:t>            </a:t>
            </a:r>
            <a:r>
              <a:rPr lang="en-US" dirty="0" err="1" smtClean="0"/>
              <a:t>System.out.println</a:t>
            </a:r>
            <a:r>
              <a:rPr lang="en-US" dirty="0" smtClean="0"/>
              <a:t>("Fridays are better.");</a:t>
            </a:r>
            <a:endParaRPr lang="en-US" dirty="0" smtClean="0"/>
          </a:p>
          <a:p>
            <a:pPr marL="0" indent="0">
              <a:buNone/>
            </a:pPr>
            <a:r>
              <a:rPr lang="en-US" dirty="0" smtClean="0"/>
              <a:t>            break;</a:t>
            </a:r>
            <a:endParaRPr lang="en-US" dirty="0" smtClean="0"/>
          </a:p>
          <a:p>
            <a:pPr marL="0" indent="0">
              <a:buNone/>
            </a:pPr>
            <a:r>
              <a:rPr lang="en-US" dirty="0" smtClean="0"/>
              <a:t>        case SATURDAY:</a:t>
            </a:r>
            <a:endParaRPr lang="en-US" dirty="0" smtClean="0"/>
          </a:p>
          <a:p>
            <a:pPr marL="0" indent="0">
              <a:buNone/>
            </a:pPr>
            <a:r>
              <a:rPr lang="en-US" dirty="0" smtClean="0"/>
              <a:t>        case SUNDAY:</a:t>
            </a:r>
            <a:endParaRPr lang="en-US" dirty="0" smtClean="0"/>
          </a:p>
          <a:p>
            <a:pPr marL="0" indent="0">
              <a:buNone/>
            </a:pPr>
            <a:r>
              <a:rPr lang="en-US" dirty="0" smtClean="0"/>
              <a:t>            </a:t>
            </a:r>
            <a:r>
              <a:rPr lang="en-US" dirty="0" err="1" smtClean="0"/>
              <a:t>System.out.println</a:t>
            </a:r>
            <a:r>
              <a:rPr lang="en-US" dirty="0" smtClean="0"/>
              <a:t>("Weekends are best.");</a:t>
            </a:r>
            <a:endParaRPr lang="en-US" dirty="0" smtClean="0"/>
          </a:p>
          <a:p>
            <a:pPr marL="0" indent="0">
              <a:buNone/>
            </a:pPr>
            <a:r>
              <a:rPr lang="en-US" dirty="0" smtClean="0"/>
              <a:t>            break;</a:t>
            </a:r>
            <a:endParaRPr lang="en-US" dirty="0" smtClean="0"/>
          </a:p>
          <a:p>
            <a:pPr marL="0" indent="0">
              <a:buNone/>
            </a:pPr>
            <a:r>
              <a:rPr lang="en-US" dirty="0" smtClean="0"/>
              <a:t>        default:</a:t>
            </a:r>
            <a:endParaRPr lang="en-US" dirty="0" smtClean="0"/>
          </a:p>
          <a:p>
            <a:pPr marL="0" indent="0">
              <a:buNone/>
            </a:pPr>
            <a:r>
              <a:rPr lang="en-US" dirty="0" smtClean="0"/>
              <a:t>            </a:t>
            </a:r>
            <a:r>
              <a:rPr lang="en-US" dirty="0" err="1" smtClean="0"/>
              <a:t>System.out.println</a:t>
            </a:r>
            <a:r>
              <a:rPr lang="en-US" dirty="0" smtClean="0"/>
              <a:t>("Midweek days are so-so.");</a:t>
            </a:r>
            <a:endParaRPr lang="en-US" dirty="0" smtClean="0"/>
          </a:p>
          <a:p>
            <a:pPr marL="0" indent="0">
              <a:buNone/>
            </a:pPr>
            <a:r>
              <a:rPr lang="en-US" dirty="0" smtClean="0"/>
              <a:t>            break;</a:t>
            </a:r>
            <a:endParaRPr lang="en-US" dirty="0" smtClean="0"/>
          </a:p>
          <a:p>
            <a:pPr marL="0" indent="0">
              <a:buNone/>
            </a:pPr>
            <a:r>
              <a:rPr lang="en-US" dirty="0" smtClean="0"/>
              <a:t>        }</a:t>
            </a:r>
            <a:endParaRPr lang="en-US" dirty="0" smtClean="0"/>
          </a:p>
          <a:p>
            <a:pPr marL="0" indent="0">
              <a:buNone/>
            </a:pPr>
            <a:r>
              <a:rPr lang="en-US" dirty="0" smtClean="0"/>
              <a:t>    }</a:t>
            </a:r>
            <a:endParaRPr lang="en-US" dirty="0" smtClean="0"/>
          </a:p>
          <a:p>
            <a:pPr marL="0" indent="0">
              <a:buNone/>
            </a:pPr>
            <a:r>
              <a:rPr lang="en-US" dirty="0" smtClean="0"/>
              <a:t>public static void main(String[] </a:t>
            </a:r>
            <a:r>
              <a:rPr lang="en-US" dirty="0" err="1" smtClean="0"/>
              <a:t>args</a:t>
            </a:r>
            <a:r>
              <a:rPr lang="en-US" dirty="0" smtClean="0"/>
              <a:t>) {</a:t>
            </a:r>
            <a:endParaRPr lang="en-US" dirty="0" smtClean="0"/>
          </a:p>
          <a:p>
            <a:pPr marL="0" indent="0">
              <a:buNone/>
            </a:pPr>
            <a:r>
              <a:rPr lang="en-US" dirty="0" smtClean="0"/>
              <a:t>        String </a:t>
            </a:r>
            <a:r>
              <a:rPr lang="en-US" dirty="0" err="1" smtClean="0"/>
              <a:t>str</a:t>
            </a:r>
            <a:r>
              <a:rPr lang="en-US" dirty="0" smtClean="0"/>
              <a:t> = "MONDAY";</a:t>
            </a:r>
            <a:endParaRPr lang="en-US" dirty="0" smtClean="0"/>
          </a:p>
          <a:p>
            <a:pPr marL="0" indent="0">
              <a:buNone/>
            </a:pPr>
            <a:r>
              <a:rPr lang="en-US" dirty="0" smtClean="0"/>
              <a:t>        Test t1 = new Test(</a:t>
            </a:r>
            <a:r>
              <a:rPr lang="en-US" dirty="0" err="1" smtClean="0"/>
              <a:t>Day.valueOf</a:t>
            </a:r>
            <a:r>
              <a:rPr lang="en-US" dirty="0" smtClean="0"/>
              <a:t>(</a:t>
            </a:r>
            <a:r>
              <a:rPr lang="en-US" dirty="0" err="1" smtClean="0"/>
              <a:t>str</a:t>
            </a:r>
            <a:r>
              <a:rPr lang="en-US" dirty="0" smtClean="0"/>
              <a:t>));</a:t>
            </a:r>
            <a:endParaRPr lang="en-US" dirty="0" smtClean="0"/>
          </a:p>
          <a:p>
            <a:pPr marL="0" indent="0">
              <a:buNone/>
            </a:pPr>
            <a:r>
              <a:rPr lang="en-US" dirty="0" smtClean="0"/>
              <a:t>        t1.dayIsLike();</a:t>
            </a:r>
            <a:endParaRPr lang="en-US" dirty="0" smtClean="0"/>
          </a:p>
          <a:p>
            <a:pPr marL="0" indent="0">
              <a:buNone/>
            </a:pPr>
            <a:r>
              <a:rPr lang="en-US" dirty="0" smtClean="0"/>
              <a:t>    }</a:t>
            </a:r>
            <a:endParaRPr lang="en-US" dirty="0" smtClean="0"/>
          </a:p>
          <a:p>
            <a:pPr marL="0" indent="0">
              <a:buNone/>
            </a:pPr>
            <a:r>
              <a:rPr lang="en-US" dirty="0" smtClean="0"/>
              <a:t>}</a:t>
            </a:r>
            <a:endParaRPr lang="en-US" dirty="0" smtClean="0"/>
          </a:p>
          <a:p>
            <a:pPr marL="0" indent="0">
              <a:buNone/>
            </a:pPr>
            <a:endParaRPr lang="en-IN"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781" y="106508"/>
            <a:ext cx="5174673" cy="595456"/>
          </a:xfrm>
        </p:spPr>
        <p:txBody>
          <a:bodyPr>
            <a:normAutofit/>
          </a:bodyPr>
          <a:lstStyle/>
          <a:p>
            <a:r>
              <a:rPr lang="en-IN" sz="3600" b="1" dirty="0"/>
              <a:t>Main Function Inside </a:t>
            </a:r>
            <a:r>
              <a:rPr lang="en-IN" sz="3600" b="1" dirty="0" err="1" smtClean="0"/>
              <a:t>Enum</a:t>
            </a:r>
            <a:endParaRPr lang="en-IN" sz="3600" b="1" dirty="0"/>
          </a:p>
        </p:txBody>
      </p:sp>
      <p:sp>
        <p:nvSpPr>
          <p:cNvPr id="3" name="Content Placeholder 2"/>
          <p:cNvSpPr>
            <a:spLocks noGrp="1"/>
          </p:cNvSpPr>
          <p:nvPr>
            <p:ph idx="1"/>
          </p:nvPr>
        </p:nvSpPr>
        <p:spPr>
          <a:xfrm>
            <a:off x="838200" y="868218"/>
            <a:ext cx="10515600" cy="5308745"/>
          </a:xfrm>
        </p:spPr>
        <p:txBody>
          <a:bodyPr>
            <a:normAutofit fontScale="92500" lnSpcReduction="10000"/>
          </a:bodyPr>
          <a:lstStyle/>
          <a:p>
            <a:r>
              <a:rPr lang="en-US" dirty="0" err="1"/>
              <a:t>Enums</a:t>
            </a:r>
            <a:r>
              <a:rPr lang="en-US" dirty="0"/>
              <a:t> can have a main function, allowing them to be invoked directly from the command line</a:t>
            </a:r>
            <a:r>
              <a:rPr lang="en-US" dirty="0" smtClean="0"/>
              <a:t>.</a:t>
            </a:r>
            <a:endParaRPr lang="en-US" dirty="0" smtClean="0"/>
          </a:p>
          <a:p>
            <a:pPr marL="0" indent="0">
              <a:buNone/>
            </a:pPr>
            <a:endParaRPr lang="en-IN" dirty="0"/>
          </a:p>
          <a:p>
            <a:pPr marL="0" indent="0">
              <a:buNone/>
            </a:pPr>
            <a:r>
              <a:rPr lang="en-IN" dirty="0"/>
              <a:t>public </a:t>
            </a:r>
            <a:r>
              <a:rPr lang="en-IN" dirty="0" err="1"/>
              <a:t>enum</a:t>
            </a:r>
            <a:r>
              <a:rPr lang="en-IN" dirty="0"/>
              <a:t> </a:t>
            </a:r>
            <a:r>
              <a:rPr lang="en-IN" dirty="0" err="1"/>
              <a:t>Color</a:t>
            </a:r>
            <a:r>
              <a:rPr lang="en-IN" dirty="0"/>
              <a:t> {</a:t>
            </a:r>
            <a:endParaRPr lang="en-IN" dirty="0"/>
          </a:p>
          <a:p>
            <a:pPr marL="0" indent="0">
              <a:buNone/>
            </a:pPr>
            <a:r>
              <a:rPr lang="en-IN" dirty="0"/>
              <a:t>    RED,</a:t>
            </a:r>
            <a:endParaRPr lang="en-IN" dirty="0"/>
          </a:p>
          <a:p>
            <a:pPr marL="0" indent="0">
              <a:buNone/>
            </a:pPr>
            <a:r>
              <a:rPr lang="en-IN" dirty="0"/>
              <a:t>    GREEN,</a:t>
            </a:r>
            <a:endParaRPr lang="en-IN" dirty="0"/>
          </a:p>
          <a:p>
            <a:pPr marL="0" indent="0">
              <a:buNone/>
            </a:pPr>
            <a:r>
              <a:rPr lang="en-IN" dirty="0"/>
              <a:t>    BLUE;</a:t>
            </a:r>
            <a:endParaRPr lang="en-IN" dirty="0"/>
          </a:p>
          <a:p>
            <a:pPr marL="0" indent="0">
              <a:buNone/>
            </a:pPr>
            <a:r>
              <a:rPr lang="en-IN" dirty="0" smtClean="0"/>
              <a:t>public </a:t>
            </a:r>
            <a:r>
              <a:rPr lang="en-IN" dirty="0"/>
              <a:t>static void main(String[] </a:t>
            </a:r>
            <a:r>
              <a:rPr lang="en-IN" dirty="0" err="1"/>
              <a:t>args</a:t>
            </a:r>
            <a:r>
              <a:rPr lang="en-IN" dirty="0"/>
              <a:t>) {</a:t>
            </a:r>
            <a:endParaRPr lang="en-IN" dirty="0"/>
          </a:p>
          <a:p>
            <a:pPr marL="0" indent="0">
              <a:buNone/>
            </a:pPr>
            <a:r>
              <a:rPr lang="en-IN" dirty="0"/>
              <a:t>        </a:t>
            </a:r>
            <a:r>
              <a:rPr lang="en-IN" dirty="0" err="1"/>
              <a:t>Color</a:t>
            </a:r>
            <a:r>
              <a:rPr lang="en-IN" dirty="0"/>
              <a:t> c1 = </a:t>
            </a:r>
            <a:r>
              <a:rPr lang="en-IN" dirty="0" err="1"/>
              <a:t>Color.RED</a:t>
            </a:r>
            <a:r>
              <a:rPr lang="en-IN" dirty="0"/>
              <a:t>;</a:t>
            </a:r>
            <a:endParaRPr lang="en-IN" dirty="0"/>
          </a:p>
          <a:p>
            <a:pPr marL="0" indent="0">
              <a:buNone/>
            </a:pPr>
            <a:r>
              <a:rPr lang="en-IN" dirty="0"/>
              <a:t>        </a:t>
            </a:r>
            <a:r>
              <a:rPr lang="en-IN" dirty="0" err="1"/>
              <a:t>System.out.println</a:t>
            </a:r>
            <a:r>
              <a:rPr lang="en-IN" dirty="0"/>
              <a:t>(c1);</a:t>
            </a:r>
            <a:endParaRPr lang="en-IN" dirty="0"/>
          </a:p>
          <a:p>
            <a:pPr marL="0" indent="0">
              <a:buNone/>
            </a:pPr>
            <a:r>
              <a:rPr lang="en-IN" dirty="0"/>
              <a:t>    }</a:t>
            </a:r>
            <a:endParaRPr lang="en-IN" dirty="0"/>
          </a:p>
          <a:p>
            <a:pPr marL="0" indent="0">
              <a:buNone/>
            </a:pPr>
            <a:r>
              <a:rPr lang="en-IN" dirty="0" smtClean="0"/>
              <a:t>}</a:t>
            </a:r>
            <a:endParaRPr lang="en-IN" dirty="0" smtClean="0"/>
          </a:p>
          <a:p>
            <a:endParaRPr lang="en-IN" dirty="0"/>
          </a:p>
          <a:p>
            <a:endParaRPr lang="en-IN"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19966"/>
          </a:xfrm>
        </p:spPr>
        <p:txBody>
          <a:bodyPr>
            <a:normAutofit fontScale="90000"/>
          </a:bodyPr>
          <a:lstStyle/>
          <a:p>
            <a:r>
              <a:rPr lang="en-IN" b="1" dirty="0"/>
              <a:t> Loop through </a:t>
            </a:r>
            <a:r>
              <a:rPr lang="en-IN" b="1" dirty="0" err="1" smtClean="0"/>
              <a:t>Enum</a:t>
            </a:r>
            <a:endParaRPr lang="en-IN" dirty="0"/>
          </a:p>
        </p:txBody>
      </p:sp>
      <p:sp>
        <p:nvSpPr>
          <p:cNvPr id="3" name="Content Placeholder 2"/>
          <p:cNvSpPr>
            <a:spLocks noGrp="1"/>
          </p:cNvSpPr>
          <p:nvPr>
            <p:ph idx="1"/>
          </p:nvPr>
        </p:nvSpPr>
        <p:spPr>
          <a:xfrm>
            <a:off x="838200" y="1136073"/>
            <a:ext cx="6403109" cy="5606472"/>
          </a:xfrm>
        </p:spPr>
        <p:txBody>
          <a:bodyPr>
            <a:normAutofit fontScale="70000" lnSpcReduction="20000"/>
          </a:bodyPr>
          <a:lstStyle/>
          <a:p>
            <a:r>
              <a:rPr lang="en-US" dirty="0"/>
              <a:t>We can iterate over the </a:t>
            </a:r>
            <a:r>
              <a:rPr lang="en-US" dirty="0" err="1"/>
              <a:t>Enum</a:t>
            </a:r>
            <a:r>
              <a:rPr lang="en-US" dirty="0"/>
              <a:t> using the values() method, which returns an array of </a:t>
            </a:r>
            <a:r>
              <a:rPr lang="en-US" dirty="0" err="1"/>
              <a:t>enum</a:t>
            </a:r>
            <a:r>
              <a:rPr lang="en-US" dirty="0"/>
              <a:t> constants</a:t>
            </a:r>
            <a:r>
              <a:rPr lang="en-US" dirty="0" smtClean="0"/>
              <a:t>.</a:t>
            </a:r>
            <a:endParaRPr lang="en-US" dirty="0" smtClean="0"/>
          </a:p>
          <a:p>
            <a:endParaRPr lang="en-IN" dirty="0" smtClean="0"/>
          </a:p>
          <a:p>
            <a:pPr marL="0" indent="0">
              <a:buNone/>
            </a:pPr>
            <a:r>
              <a:rPr lang="en-IN" dirty="0" smtClean="0"/>
              <a:t>import java.io.*;</a:t>
            </a:r>
            <a:endParaRPr lang="en-IN" dirty="0" smtClean="0"/>
          </a:p>
          <a:p>
            <a:pPr marL="0" indent="0">
              <a:buNone/>
            </a:pPr>
            <a:r>
              <a:rPr lang="en-IN" dirty="0" err="1" smtClean="0"/>
              <a:t>enum</a:t>
            </a:r>
            <a:r>
              <a:rPr lang="en-IN" dirty="0" smtClean="0"/>
              <a:t> </a:t>
            </a:r>
            <a:r>
              <a:rPr lang="en-IN" dirty="0" err="1"/>
              <a:t>Color</a:t>
            </a:r>
            <a:r>
              <a:rPr lang="en-IN" dirty="0"/>
              <a:t> {</a:t>
            </a:r>
            <a:endParaRPr lang="en-IN" dirty="0"/>
          </a:p>
          <a:p>
            <a:pPr marL="0" indent="0">
              <a:buNone/>
            </a:pPr>
            <a:r>
              <a:rPr lang="en-IN" dirty="0"/>
              <a:t>    RED,</a:t>
            </a:r>
            <a:endParaRPr lang="en-IN" dirty="0"/>
          </a:p>
          <a:p>
            <a:pPr marL="0" indent="0">
              <a:buNone/>
            </a:pPr>
            <a:r>
              <a:rPr lang="en-IN" dirty="0"/>
              <a:t>    GREEN,</a:t>
            </a:r>
            <a:endParaRPr lang="en-IN" dirty="0"/>
          </a:p>
          <a:p>
            <a:pPr marL="0" indent="0">
              <a:buNone/>
            </a:pPr>
            <a:r>
              <a:rPr lang="en-IN" dirty="0"/>
              <a:t>    BLUE;</a:t>
            </a:r>
            <a:endParaRPr lang="en-IN" dirty="0"/>
          </a:p>
          <a:p>
            <a:pPr marL="0" indent="0">
              <a:buNone/>
            </a:pPr>
            <a:r>
              <a:rPr lang="en-IN" dirty="0" smtClean="0"/>
              <a:t>}</a:t>
            </a:r>
            <a:endParaRPr lang="en-IN" dirty="0"/>
          </a:p>
          <a:p>
            <a:pPr marL="0" indent="0">
              <a:buNone/>
            </a:pPr>
            <a:r>
              <a:rPr lang="en-IN" dirty="0" smtClean="0"/>
              <a:t>class </a:t>
            </a:r>
            <a:r>
              <a:rPr lang="en-IN" dirty="0"/>
              <a:t>GFG {</a:t>
            </a:r>
            <a:endParaRPr lang="en-IN" dirty="0"/>
          </a:p>
          <a:p>
            <a:pPr marL="0" indent="0">
              <a:buNone/>
            </a:pPr>
            <a:r>
              <a:rPr lang="en-IN" dirty="0" smtClean="0"/>
              <a:t>public </a:t>
            </a:r>
            <a:r>
              <a:rPr lang="en-IN" dirty="0"/>
              <a:t>static void main(String[] </a:t>
            </a:r>
            <a:r>
              <a:rPr lang="en-IN" dirty="0" err="1"/>
              <a:t>args</a:t>
            </a:r>
            <a:r>
              <a:rPr lang="en-IN" dirty="0"/>
              <a:t>) {</a:t>
            </a:r>
            <a:endParaRPr lang="en-IN" dirty="0"/>
          </a:p>
          <a:p>
            <a:pPr marL="0" indent="0">
              <a:buNone/>
            </a:pPr>
            <a:r>
              <a:rPr lang="en-IN" dirty="0" smtClean="0"/>
              <a:t>for </a:t>
            </a:r>
            <a:r>
              <a:rPr lang="en-IN" dirty="0"/>
              <a:t>(</a:t>
            </a:r>
            <a:r>
              <a:rPr lang="en-IN" dirty="0" err="1"/>
              <a:t>Color</a:t>
            </a:r>
            <a:r>
              <a:rPr lang="en-IN" dirty="0"/>
              <a:t> var_1 : </a:t>
            </a:r>
            <a:r>
              <a:rPr lang="en-IN" dirty="0" err="1"/>
              <a:t>Color.values</a:t>
            </a:r>
            <a:r>
              <a:rPr lang="en-IN" dirty="0"/>
              <a:t>()) {</a:t>
            </a:r>
            <a:endParaRPr lang="en-IN" dirty="0"/>
          </a:p>
          <a:p>
            <a:pPr marL="0" indent="0">
              <a:buNone/>
            </a:pPr>
            <a:r>
              <a:rPr lang="en-IN" dirty="0"/>
              <a:t>            </a:t>
            </a:r>
            <a:r>
              <a:rPr lang="en-IN" dirty="0" err="1"/>
              <a:t>System.out.println</a:t>
            </a:r>
            <a:r>
              <a:rPr lang="en-IN" dirty="0"/>
              <a:t>(var_1);</a:t>
            </a:r>
            <a:endParaRPr lang="en-IN" dirty="0"/>
          </a:p>
          <a:p>
            <a:pPr marL="0" indent="0">
              <a:buNone/>
            </a:pPr>
            <a:r>
              <a:rPr lang="en-IN" dirty="0"/>
              <a:t>        }</a:t>
            </a:r>
            <a:endParaRPr lang="en-IN" dirty="0"/>
          </a:p>
          <a:p>
            <a:pPr marL="0" indent="0">
              <a:buNone/>
            </a:pPr>
            <a:r>
              <a:rPr lang="en-IN" dirty="0"/>
              <a:t>    }</a:t>
            </a:r>
            <a:endParaRPr lang="en-IN" dirty="0"/>
          </a:p>
          <a:p>
            <a:pPr marL="0" indent="0">
              <a:buNone/>
            </a:pPr>
            <a:r>
              <a:rPr lang="en-IN" dirty="0" smtClean="0"/>
              <a:t>}</a:t>
            </a:r>
            <a:endParaRPr lang="en-IN" dirty="0" smtClean="0"/>
          </a:p>
          <a:p>
            <a:pPr marL="0" indent="0">
              <a:buNone/>
            </a:pPr>
            <a:endParaRPr lang="en-IN" dirty="0"/>
          </a:p>
          <a:p>
            <a:endParaRPr lang="en-IN"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455" y="254290"/>
            <a:ext cx="10515600" cy="530802"/>
          </a:xfrm>
        </p:spPr>
        <p:txBody>
          <a:bodyPr>
            <a:normAutofit fontScale="90000"/>
          </a:bodyPr>
          <a:lstStyle/>
          <a:p>
            <a:r>
              <a:rPr lang="en-US" sz="3600" dirty="0"/>
              <a:t> Can an </a:t>
            </a:r>
            <a:r>
              <a:rPr lang="en-US" sz="3600" dirty="0" err="1"/>
              <a:t>enum</a:t>
            </a:r>
            <a:r>
              <a:rPr lang="en-US" sz="3600" dirty="0"/>
              <a:t> have a constructor and methods?</a:t>
            </a:r>
            <a:endParaRPr lang="en-IN" sz="3600" dirty="0"/>
          </a:p>
        </p:txBody>
      </p:sp>
      <p:sp>
        <p:nvSpPr>
          <p:cNvPr id="3" name="Content Placeholder 2"/>
          <p:cNvSpPr>
            <a:spLocks noGrp="1"/>
          </p:cNvSpPr>
          <p:nvPr>
            <p:ph idx="1"/>
          </p:nvPr>
        </p:nvSpPr>
        <p:spPr>
          <a:xfrm>
            <a:off x="838200" y="988290"/>
            <a:ext cx="10515600" cy="5504873"/>
          </a:xfrm>
        </p:spPr>
        <p:txBody>
          <a:bodyPr>
            <a:normAutofit fontScale="55000" lnSpcReduction="20000"/>
          </a:bodyPr>
          <a:lstStyle/>
          <a:p>
            <a:r>
              <a:rPr lang="en-US" dirty="0"/>
              <a:t>Yes, an </a:t>
            </a:r>
            <a:r>
              <a:rPr lang="en-US" dirty="0" err="1"/>
              <a:t>enum</a:t>
            </a:r>
            <a:r>
              <a:rPr lang="en-US" dirty="0"/>
              <a:t> in Java can have constructors, methods, and even fields. The constructor is implicitly private</a:t>
            </a:r>
            <a:r>
              <a:rPr lang="en-US" dirty="0" smtClean="0"/>
              <a:t>.</a:t>
            </a:r>
            <a:endParaRPr lang="en-US" dirty="0" smtClean="0"/>
          </a:p>
          <a:p>
            <a:endParaRPr lang="en-IN" dirty="0" smtClean="0"/>
          </a:p>
          <a:p>
            <a:pPr marL="0" indent="0">
              <a:buNone/>
            </a:pPr>
            <a:r>
              <a:rPr lang="en-IN" dirty="0" err="1" smtClean="0"/>
              <a:t>enum</a:t>
            </a:r>
            <a:r>
              <a:rPr lang="en-IN" dirty="0" smtClean="0"/>
              <a:t> </a:t>
            </a:r>
            <a:r>
              <a:rPr lang="en-IN" dirty="0" err="1"/>
              <a:t>Color</a:t>
            </a:r>
            <a:r>
              <a:rPr lang="en-IN" dirty="0"/>
              <a:t> {</a:t>
            </a:r>
            <a:endParaRPr lang="en-IN" dirty="0"/>
          </a:p>
          <a:p>
            <a:pPr marL="0" indent="0">
              <a:buNone/>
            </a:pPr>
            <a:r>
              <a:rPr lang="en-IN" dirty="0"/>
              <a:t>    RED("Red"), GREEN("Green"), BLUE("Blue</a:t>
            </a:r>
            <a:r>
              <a:rPr lang="en-IN" dirty="0" smtClean="0"/>
              <a:t>"); </a:t>
            </a:r>
            <a:endParaRPr lang="en-IN" dirty="0"/>
          </a:p>
          <a:p>
            <a:pPr marL="0" indent="0">
              <a:buNone/>
            </a:pPr>
            <a:r>
              <a:rPr lang="en-IN" dirty="0"/>
              <a:t>    private String </a:t>
            </a:r>
            <a:r>
              <a:rPr lang="en-IN" dirty="0" err="1"/>
              <a:t>colorName</a:t>
            </a:r>
            <a:r>
              <a:rPr lang="en-IN" dirty="0" smtClean="0"/>
              <a:t>;</a:t>
            </a:r>
            <a:endParaRPr lang="en-IN" dirty="0"/>
          </a:p>
          <a:p>
            <a:pPr marL="0" indent="0">
              <a:buNone/>
            </a:pPr>
            <a:r>
              <a:rPr lang="en-IN" dirty="0"/>
              <a:t>    private </a:t>
            </a:r>
            <a:r>
              <a:rPr lang="en-IN" dirty="0" err="1"/>
              <a:t>Color</a:t>
            </a:r>
            <a:r>
              <a:rPr lang="en-IN" dirty="0"/>
              <a:t>(String </a:t>
            </a:r>
            <a:r>
              <a:rPr lang="en-IN" dirty="0" err="1"/>
              <a:t>colorName</a:t>
            </a:r>
            <a:r>
              <a:rPr lang="en-IN" dirty="0"/>
              <a:t>) {  // Constructor</a:t>
            </a:r>
            <a:endParaRPr lang="en-IN" dirty="0"/>
          </a:p>
          <a:p>
            <a:pPr marL="0" indent="0">
              <a:buNone/>
            </a:pPr>
            <a:r>
              <a:rPr lang="en-IN" dirty="0"/>
              <a:t>        </a:t>
            </a:r>
            <a:r>
              <a:rPr lang="en-IN" dirty="0" err="1"/>
              <a:t>this.colorName</a:t>
            </a:r>
            <a:r>
              <a:rPr lang="en-IN" dirty="0"/>
              <a:t> = </a:t>
            </a:r>
            <a:r>
              <a:rPr lang="en-IN" dirty="0" err="1"/>
              <a:t>colorName</a:t>
            </a:r>
            <a:r>
              <a:rPr lang="en-IN" dirty="0"/>
              <a:t>;</a:t>
            </a:r>
            <a:endParaRPr lang="en-IN" dirty="0"/>
          </a:p>
          <a:p>
            <a:pPr marL="0" indent="0">
              <a:buNone/>
            </a:pPr>
            <a:r>
              <a:rPr lang="en-IN" dirty="0"/>
              <a:t>    }</a:t>
            </a:r>
            <a:endParaRPr lang="en-IN" dirty="0"/>
          </a:p>
          <a:p>
            <a:pPr marL="0" indent="0">
              <a:buNone/>
            </a:pPr>
            <a:r>
              <a:rPr lang="en-IN" dirty="0" smtClean="0"/>
              <a:t>public </a:t>
            </a:r>
            <a:r>
              <a:rPr lang="en-IN" dirty="0"/>
              <a:t>String </a:t>
            </a:r>
            <a:r>
              <a:rPr lang="en-IN" dirty="0" err="1"/>
              <a:t>getColorName</a:t>
            </a:r>
            <a:r>
              <a:rPr lang="en-IN" dirty="0"/>
              <a:t>() {  // Method</a:t>
            </a:r>
            <a:endParaRPr lang="en-IN" dirty="0"/>
          </a:p>
          <a:p>
            <a:pPr marL="0" indent="0">
              <a:buNone/>
            </a:pPr>
            <a:r>
              <a:rPr lang="en-IN" dirty="0"/>
              <a:t>        return </a:t>
            </a:r>
            <a:r>
              <a:rPr lang="en-IN" dirty="0" err="1"/>
              <a:t>this.colorName</a:t>
            </a:r>
            <a:r>
              <a:rPr lang="en-IN" dirty="0"/>
              <a:t>;</a:t>
            </a:r>
            <a:endParaRPr lang="en-IN" dirty="0"/>
          </a:p>
          <a:p>
            <a:pPr marL="0" indent="0">
              <a:buNone/>
            </a:pPr>
            <a:r>
              <a:rPr lang="en-IN" dirty="0"/>
              <a:t>    }</a:t>
            </a:r>
            <a:endParaRPr lang="en-IN" dirty="0"/>
          </a:p>
          <a:p>
            <a:pPr marL="0" indent="0">
              <a:buNone/>
            </a:pPr>
            <a:r>
              <a:rPr lang="en-IN" dirty="0"/>
              <a:t>}</a:t>
            </a:r>
            <a:endParaRPr lang="en-IN" dirty="0"/>
          </a:p>
          <a:p>
            <a:pPr marL="0" indent="0">
              <a:buNone/>
            </a:pPr>
            <a:r>
              <a:rPr lang="en-IN" dirty="0" smtClean="0"/>
              <a:t>public </a:t>
            </a:r>
            <a:r>
              <a:rPr lang="en-IN" dirty="0"/>
              <a:t>class </a:t>
            </a:r>
            <a:r>
              <a:rPr lang="en-IN" dirty="0" err="1"/>
              <a:t>EnumExample</a:t>
            </a:r>
            <a:r>
              <a:rPr lang="en-IN" dirty="0"/>
              <a:t> {</a:t>
            </a:r>
            <a:endParaRPr lang="en-IN" dirty="0"/>
          </a:p>
          <a:p>
            <a:pPr marL="0" indent="0">
              <a:buNone/>
            </a:pPr>
            <a:r>
              <a:rPr lang="en-IN" dirty="0"/>
              <a:t>    public static void main(String[] </a:t>
            </a:r>
            <a:r>
              <a:rPr lang="en-IN" dirty="0" err="1"/>
              <a:t>args</a:t>
            </a:r>
            <a:r>
              <a:rPr lang="en-IN" dirty="0"/>
              <a:t>) {</a:t>
            </a:r>
            <a:endParaRPr lang="en-IN" dirty="0"/>
          </a:p>
          <a:p>
            <a:pPr marL="0" indent="0">
              <a:buNone/>
            </a:pPr>
            <a:r>
              <a:rPr lang="en-IN" dirty="0"/>
              <a:t>        </a:t>
            </a:r>
            <a:r>
              <a:rPr lang="en-IN" dirty="0" err="1"/>
              <a:t>Color</a:t>
            </a:r>
            <a:r>
              <a:rPr lang="en-IN" dirty="0"/>
              <a:t> </a:t>
            </a:r>
            <a:r>
              <a:rPr lang="en-IN" dirty="0" err="1"/>
              <a:t>color</a:t>
            </a:r>
            <a:r>
              <a:rPr lang="en-IN" dirty="0"/>
              <a:t> = </a:t>
            </a:r>
            <a:r>
              <a:rPr lang="en-IN" dirty="0" err="1"/>
              <a:t>Color.RED</a:t>
            </a:r>
            <a:r>
              <a:rPr lang="en-IN" dirty="0"/>
              <a:t>;</a:t>
            </a:r>
            <a:endParaRPr lang="en-IN" dirty="0"/>
          </a:p>
          <a:p>
            <a:pPr marL="0" indent="0">
              <a:buNone/>
            </a:pPr>
            <a:r>
              <a:rPr lang="en-IN" dirty="0"/>
              <a:t>        </a:t>
            </a:r>
            <a:r>
              <a:rPr lang="en-IN" dirty="0" err="1"/>
              <a:t>System.out.println</a:t>
            </a:r>
            <a:r>
              <a:rPr lang="en-IN" dirty="0"/>
              <a:t>(</a:t>
            </a:r>
            <a:r>
              <a:rPr lang="en-IN" dirty="0" err="1"/>
              <a:t>color.getColorName</a:t>
            </a:r>
            <a:r>
              <a:rPr lang="en-IN" dirty="0"/>
              <a:t>());  // Output: Red</a:t>
            </a:r>
            <a:endParaRPr lang="en-IN" dirty="0"/>
          </a:p>
          <a:p>
            <a:pPr marL="0" indent="0">
              <a:buNone/>
            </a:pPr>
            <a:r>
              <a:rPr lang="en-IN" dirty="0"/>
              <a:t>    }</a:t>
            </a:r>
            <a:endParaRPr lang="en-IN" dirty="0"/>
          </a:p>
          <a:p>
            <a:pPr marL="0" indent="0">
              <a:buNone/>
            </a:pPr>
            <a:r>
              <a:rPr lang="en-IN" dirty="0"/>
              <a:t>}</a:t>
            </a:r>
            <a:endParaRPr lang="en-IN" dirty="0"/>
          </a:p>
          <a:p>
            <a:endParaRPr lang="en-IN"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927" y="0"/>
            <a:ext cx="10515600" cy="775855"/>
          </a:xfrm>
        </p:spPr>
        <p:txBody>
          <a:bodyPr>
            <a:normAutofit/>
          </a:bodyPr>
          <a:lstStyle/>
          <a:p>
            <a:r>
              <a:rPr lang="en-IN" sz="4000" dirty="0" smtClean="0"/>
              <a:t>Can we have a class with ‘private’ access modifier?</a:t>
            </a:r>
            <a:endParaRPr lang="en-IN" sz="4000" dirty="0"/>
          </a:p>
        </p:txBody>
      </p:sp>
      <p:sp>
        <p:nvSpPr>
          <p:cNvPr id="3" name="Content Placeholder 2"/>
          <p:cNvSpPr>
            <a:spLocks noGrp="1"/>
          </p:cNvSpPr>
          <p:nvPr>
            <p:ph idx="1"/>
          </p:nvPr>
        </p:nvSpPr>
        <p:spPr>
          <a:xfrm>
            <a:off x="323273" y="775855"/>
            <a:ext cx="11619345" cy="5401108"/>
          </a:xfrm>
        </p:spPr>
        <p:txBody>
          <a:bodyPr>
            <a:noAutofit/>
          </a:bodyPr>
          <a:lstStyle/>
          <a:p>
            <a:r>
              <a:rPr lang="en-US" sz="2000" dirty="0"/>
              <a:t>In Java, classes cannot have the private access </a:t>
            </a:r>
            <a:r>
              <a:rPr lang="en-US" sz="2000" b="1" dirty="0"/>
              <a:t>modifier when they are declared at the top-level</a:t>
            </a:r>
            <a:r>
              <a:rPr lang="en-US" sz="2000" dirty="0"/>
              <a:t> (i.e., outside of another class). Top-level classes can only have two access modifiers</a:t>
            </a:r>
            <a:r>
              <a:rPr lang="en-US" sz="2000" dirty="0" smtClean="0"/>
              <a:t>: public &amp; default.</a:t>
            </a:r>
            <a:endParaRPr lang="en-US" sz="2000" dirty="0" smtClean="0"/>
          </a:p>
          <a:p>
            <a:r>
              <a:rPr lang="en-US" sz="2000" dirty="0"/>
              <a:t>However, inner classes (classes defined within another class) can be declared as private. In this case, the inner class will only be accessible within the enclosing outer class</a:t>
            </a:r>
            <a:r>
              <a:rPr lang="en-US" sz="2000" dirty="0" smtClean="0"/>
              <a:t>.</a:t>
            </a:r>
            <a:endParaRPr lang="en-US" sz="2000" dirty="0" smtClean="0"/>
          </a:p>
          <a:p>
            <a:endParaRPr lang="en-US" sz="2000" dirty="0"/>
          </a:p>
          <a:p>
            <a:endParaRPr lang="en-US" sz="2000" dirty="0" smtClean="0"/>
          </a:p>
          <a:p>
            <a:endParaRPr lang="en-IN" sz="2000" dirty="0"/>
          </a:p>
        </p:txBody>
      </p:sp>
      <p:graphicFrame>
        <p:nvGraphicFramePr>
          <p:cNvPr id="6" name="Table 5"/>
          <p:cNvGraphicFramePr>
            <a:graphicFrameLocks noGrp="1"/>
          </p:cNvGraphicFramePr>
          <p:nvPr/>
        </p:nvGraphicFramePr>
        <p:xfrm>
          <a:off x="230909" y="2287689"/>
          <a:ext cx="4719782" cy="1310640"/>
        </p:xfrm>
        <a:graphic>
          <a:graphicData uri="http://schemas.openxmlformats.org/drawingml/2006/table">
            <a:tbl>
              <a:tblPr firstRow="1" bandRow="1">
                <a:tableStyleId>{2D5ABB26-0587-4C30-8999-92F81FD0307C}</a:tableStyleId>
              </a:tblPr>
              <a:tblGrid>
                <a:gridCol w="4719782"/>
              </a:tblGrid>
              <a:tr h="370840">
                <a:tc>
                  <a:txBody>
                    <a:bodyPr/>
                    <a:lstStyle/>
                    <a:p>
                      <a:r>
                        <a:rPr lang="en-US" sz="2000" dirty="0" smtClean="0"/>
                        <a:t>// This will result in a compile-time error</a:t>
                      </a:r>
                      <a:endParaRPr lang="en-US" sz="2000" dirty="0" smtClean="0"/>
                    </a:p>
                    <a:p>
                      <a:r>
                        <a:rPr lang="en-US" sz="2000" dirty="0" smtClean="0"/>
                        <a:t>private class </a:t>
                      </a:r>
                      <a:r>
                        <a:rPr lang="en-US" sz="2000" dirty="0" err="1" smtClean="0"/>
                        <a:t>MyClass</a:t>
                      </a:r>
                      <a:r>
                        <a:rPr lang="en-US" sz="2000" dirty="0" smtClean="0"/>
                        <a:t> {</a:t>
                      </a:r>
                      <a:endParaRPr lang="en-US" sz="2000" dirty="0" smtClean="0"/>
                    </a:p>
                    <a:p>
                      <a:r>
                        <a:rPr lang="en-US" sz="2000" dirty="0" smtClean="0"/>
                        <a:t>    // Some code</a:t>
                      </a:r>
                      <a:endParaRPr lang="en-US" sz="2000" dirty="0" smtClean="0"/>
                    </a:p>
                    <a:p>
                      <a:r>
                        <a:rPr lang="en-US" sz="2000" dirty="0" smtClean="0"/>
                        <a:t>}</a:t>
                      </a:r>
                      <a:endParaRPr lang="en-IN" sz="2000" dirty="0"/>
                    </a:p>
                  </a:txBody>
                  <a:tcPr/>
                </a:tc>
              </a:tr>
            </a:tbl>
          </a:graphicData>
        </a:graphic>
      </p:graphicFrame>
      <p:graphicFrame>
        <p:nvGraphicFramePr>
          <p:cNvPr id="7" name="Table 6"/>
          <p:cNvGraphicFramePr>
            <a:graphicFrameLocks noGrp="1"/>
          </p:cNvGraphicFramePr>
          <p:nvPr/>
        </p:nvGraphicFramePr>
        <p:xfrm>
          <a:off x="5255491" y="2287689"/>
          <a:ext cx="6513945" cy="4053840"/>
        </p:xfrm>
        <a:graphic>
          <a:graphicData uri="http://schemas.openxmlformats.org/drawingml/2006/table">
            <a:tbl>
              <a:tblPr firstRow="1" bandRow="1">
                <a:tableStyleId>{5940675A-B579-460E-94D1-54222C63F5DA}</a:tableStyleId>
              </a:tblPr>
              <a:tblGrid>
                <a:gridCol w="6513945"/>
              </a:tblGrid>
              <a:tr h="370840">
                <a:tc>
                  <a:txBody>
                    <a:bodyPr/>
                    <a:lstStyle/>
                    <a:p>
                      <a:r>
                        <a:rPr lang="en-IN" sz="2000" dirty="0" smtClean="0"/>
                        <a:t>public class </a:t>
                      </a:r>
                      <a:r>
                        <a:rPr lang="en-IN" sz="2000" dirty="0" err="1" smtClean="0"/>
                        <a:t>OuterClass</a:t>
                      </a:r>
                      <a:r>
                        <a:rPr lang="en-IN" sz="2000" dirty="0" smtClean="0"/>
                        <a:t> {</a:t>
                      </a:r>
                      <a:endParaRPr lang="en-IN" sz="2000" dirty="0" smtClean="0"/>
                    </a:p>
                    <a:p>
                      <a:r>
                        <a:rPr lang="en-IN" sz="2000" dirty="0" smtClean="0"/>
                        <a:t>    private class </a:t>
                      </a:r>
                      <a:r>
                        <a:rPr lang="en-IN" sz="2000" dirty="0" err="1" smtClean="0"/>
                        <a:t>InnerClass</a:t>
                      </a:r>
                      <a:r>
                        <a:rPr lang="en-IN" sz="2000" dirty="0" smtClean="0"/>
                        <a:t> {</a:t>
                      </a:r>
                      <a:endParaRPr lang="en-IN" sz="2000" dirty="0" smtClean="0"/>
                    </a:p>
                    <a:p>
                      <a:r>
                        <a:rPr lang="en-IN" sz="2000" dirty="0" smtClean="0"/>
                        <a:t>        // Some code</a:t>
                      </a:r>
                      <a:endParaRPr lang="en-IN" sz="2000" dirty="0" smtClean="0"/>
                    </a:p>
                    <a:p>
                      <a:r>
                        <a:rPr lang="en-IN" sz="2000" dirty="0" smtClean="0"/>
                        <a:t>    }</a:t>
                      </a:r>
                      <a:endParaRPr lang="en-IN" sz="2000" dirty="0" smtClean="0"/>
                    </a:p>
                    <a:p>
                      <a:endParaRPr lang="en-IN" sz="2000" dirty="0" smtClean="0"/>
                    </a:p>
                    <a:p>
                      <a:r>
                        <a:rPr lang="en-IN" sz="2000" dirty="0" smtClean="0"/>
                        <a:t>    public void </a:t>
                      </a:r>
                      <a:r>
                        <a:rPr lang="en-IN" sz="2000" dirty="0" err="1" smtClean="0"/>
                        <a:t>accessInner</a:t>
                      </a:r>
                      <a:r>
                        <a:rPr lang="en-IN" sz="2000" dirty="0" smtClean="0"/>
                        <a:t>() {</a:t>
                      </a:r>
                      <a:endParaRPr lang="en-IN" sz="2000" dirty="0" smtClean="0"/>
                    </a:p>
                    <a:p>
                      <a:r>
                        <a:rPr lang="en-IN" sz="2000" dirty="0" smtClean="0"/>
                        <a:t>        </a:t>
                      </a:r>
                      <a:r>
                        <a:rPr lang="en-IN" sz="2000" dirty="0" err="1" smtClean="0"/>
                        <a:t>InnerClass</a:t>
                      </a:r>
                      <a:r>
                        <a:rPr lang="en-IN" sz="2000" dirty="0" smtClean="0"/>
                        <a:t> </a:t>
                      </a:r>
                      <a:r>
                        <a:rPr lang="en-IN" sz="2000" dirty="0" err="1" smtClean="0"/>
                        <a:t>obj</a:t>
                      </a:r>
                      <a:r>
                        <a:rPr lang="en-IN" sz="2000" dirty="0" smtClean="0"/>
                        <a:t> = new </a:t>
                      </a:r>
                      <a:r>
                        <a:rPr lang="en-IN" sz="2000" dirty="0" err="1" smtClean="0"/>
                        <a:t>InnerClass</a:t>
                      </a:r>
                      <a:r>
                        <a:rPr lang="en-IN" sz="2000" dirty="0" smtClean="0"/>
                        <a:t>(); // This is valid</a:t>
                      </a:r>
                      <a:endParaRPr lang="en-IN" sz="2000" dirty="0" smtClean="0"/>
                    </a:p>
                    <a:p>
                      <a:r>
                        <a:rPr lang="en-IN" sz="2000" dirty="0" smtClean="0"/>
                        <a:t>    }</a:t>
                      </a:r>
                      <a:endParaRPr lang="en-IN" sz="2000" dirty="0" smtClean="0"/>
                    </a:p>
                    <a:p>
                      <a:r>
                        <a:rPr lang="en-IN" sz="2000" dirty="0" smtClean="0"/>
                        <a:t>}</a:t>
                      </a:r>
                      <a:endParaRPr lang="en-IN" sz="2000" dirty="0" smtClean="0"/>
                    </a:p>
                    <a:p>
                      <a:endParaRPr lang="en-IN" sz="2000" dirty="0" smtClean="0"/>
                    </a:p>
                    <a:p>
                      <a:r>
                        <a:rPr lang="en-IN" sz="2000" dirty="0" smtClean="0"/>
                        <a:t>// This is not allowed outside </a:t>
                      </a:r>
                      <a:r>
                        <a:rPr lang="en-IN" sz="2000" dirty="0" err="1" smtClean="0"/>
                        <a:t>OuterClass</a:t>
                      </a:r>
                      <a:r>
                        <a:rPr lang="en-IN" sz="2000" dirty="0" smtClean="0"/>
                        <a:t>:</a:t>
                      </a:r>
                      <a:endParaRPr lang="en-IN" sz="2000" dirty="0" smtClean="0"/>
                    </a:p>
                    <a:p>
                      <a:r>
                        <a:rPr lang="en-IN" sz="2000" dirty="0" smtClean="0"/>
                        <a:t>// </a:t>
                      </a:r>
                      <a:r>
                        <a:rPr lang="en-IN" sz="2000" dirty="0" err="1" smtClean="0"/>
                        <a:t>OuterClass.InnerClass</a:t>
                      </a:r>
                      <a:r>
                        <a:rPr lang="en-IN" sz="2000" dirty="0" smtClean="0"/>
                        <a:t> </a:t>
                      </a:r>
                      <a:r>
                        <a:rPr lang="en-IN" sz="2000" dirty="0" err="1" smtClean="0"/>
                        <a:t>obj</a:t>
                      </a:r>
                      <a:r>
                        <a:rPr lang="en-IN" sz="2000" dirty="0" smtClean="0"/>
                        <a:t> = new </a:t>
                      </a:r>
                      <a:r>
                        <a:rPr lang="en-IN" sz="2000" dirty="0" err="1" smtClean="0"/>
                        <a:t>OuterClass.InnerClass</a:t>
                      </a:r>
                      <a:r>
                        <a:rPr lang="en-IN" sz="2000" dirty="0" smtClean="0"/>
                        <a:t>(); // Error</a:t>
                      </a:r>
                      <a:endParaRPr lang="en-IN" sz="2000" dirty="0" smtClean="0"/>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44336</Words>
  <Application>WPS Presentation</Application>
  <PresentationFormat>Widescreen</PresentationFormat>
  <Paragraphs>1426</Paragraphs>
  <Slides>78</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78</vt:i4>
      </vt:variant>
    </vt:vector>
  </HeadingPairs>
  <TitlesOfParts>
    <vt:vector size="91" baseType="lpstr">
      <vt:lpstr>Arial</vt:lpstr>
      <vt:lpstr>SimSun</vt:lpstr>
      <vt:lpstr>Wingdings</vt:lpstr>
      <vt:lpstr>Calibri Light</vt:lpstr>
      <vt:lpstr>Helvetica Neue</vt:lpstr>
      <vt:lpstr>Calibri</vt:lpstr>
      <vt:lpstr>Microsoft YaHei</vt:lpstr>
      <vt:lpstr>汉仪旗黑</vt:lpstr>
      <vt:lpstr>Arial Unicode MS</vt:lpstr>
      <vt:lpstr>Nunito</vt:lpstr>
      <vt:lpstr>Thonburi</vt:lpstr>
      <vt:lpstr>宋体-简</vt:lpstr>
      <vt:lpstr>Office Theme</vt:lpstr>
      <vt:lpstr>Class and Object</vt:lpstr>
      <vt:lpstr>Class &amp; Object</vt:lpstr>
      <vt:lpstr>Example</vt:lpstr>
      <vt:lpstr>PowerPoint 演示文稿</vt:lpstr>
      <vt:lpstr>Access Modifier</vt:lpstr>
      <vt:lpstr>Access Modifier</vt:lpstr>
      <vt:lpstr>PowerPoint 演示文稿</vt:lpstr>
      <vt:lpstr>Method overloading</vt:lpstr>
      <vt:lpstr>Example</vt:lpstr>
      <vt:lpstr>What if the exact prototype does not match with arguments? </vt:lpstr>
      <vt:lpstr>Example</vt:lpstr>
      <vt:lpstr>Static method</vt:lpstr>
      <vt:lpstr> The static method does not have access to the instance variable</vt:lpstr>
      <vt:lpstr>In both static and non-static methods, static methods are directly accessed. </vt:lpstr>
      <vt:lpstr>PowerPoint 演示文稿</vt:lpstr>
      <vt:lpstr>Difference Between the static method and instance method</vt:lpstr>
      <vt:lpstr>‘this’ keyword</vt:lpstr>
      <vt:lpstr>Example</vt:lpstr>
      <vt:lpstr>Java Memory Structure</vt:lpstr>
      <vt:lpstr>PowerPoint 演示文稿</vt:lpstr>
      <vt:lpstr>PowerPoint 演示文稿</vt:lpstr>
      <vt:lpstr>PowerPoint 演示文稿</vt:lpstr>
      <vt:lpstr>PowerPoint 演示文稿</vt:lpstr>
      <vt:lpstr>PowerPoint 演示文稿</vt:lpstr>
      <vt:lpstr>Garbage collection</vt:lpstr>
      <vt:lpstr>Constructor</vt:lpstr>
      <vt:lpstr>PowerPoint 演示文稿</vt:lpstr>
      <vt:lpstr>Types of Constructors in Java </vt:lpstr>
      <vt:lpstr>Default  constructor</vt:lpstr>
      <vt:lpstr>Parametrized constructor</vt:lpstr>
      <vt:lpstr>Constructor overloading</vt:lpstr>
      <vt:lpstr>PowerPoint 演示文稿</vt:lpstr>
      <vt:lpstr>Call of one constructor to another constructor</vt:lpstr>
      <vt:lpstr> Copy Constructor  </vt:lpstr>
      <vt:lpstr>Copy Constructor</vt:lpstr>
      <vt:lpstr>Wrapper class</vt:lpstr>
      <vt:lpstr>Primitive Data Types and their Corresponding Wrapper Class</vt:lpstr>
      <vt:lpstr>Features of Wrapper class</vt:lpstr>
      <vt:lpstr>Features of Wrapper class</vt:lpstr>
      <vt:lpstr>Example</vt:lpstr>
      <vt:lpstr>Example</vt:lpstr>
      <vt:lpstr>PowerPoint 演示文稿</vt:lpstr>
      <vt:lpstr>Array</vt:lpstr>
      <vt:lpstr>Example of Array Declaration, Initialization, and Usage:</vt:lpstr>
      <vt:lpstr>Types of Array</vt:lpstr>
      <vt:lpstr>Single Dimension Array</vt:lpstr>
      <vt:lpstr>Multi-Dimensional Arrays </vt:lpstr>
      <vt:lpstr>2D Array example</vt:lpstr>
      <vt:lpstr>Multi-Dimensional Arrays with More Than Two Dimensions</vt:lpstr>
      <vt:lpstr>Arrays of Objects </vt:lpstr>
      <vt:lpstr>Jagged Array</vt:lpstr>
      <vt:lpstr>Sample Program</vt:lpstr>
      <vt:lpstr>Passing Arrays to Methods</vt:lpstr>
      <vt:lpstr>Returning Arrays from Methods</vt:lpstr>
      <vt:lpstr>String</vt:lpstr>
      <vt:lpstr>String are immutable</vt:lpstr>
      <vt:lpstr>Memory Allotment of String</vt:lpstr>
      <vt:lpstr>Memory Allotment of String</vt:lpstr>
      <vt:lpstr>Methods of String class</vt:lpstr>
      <vt:lpstr>Methods of String class</vt:lpstr>
      <vt:lpstr>Methods of String class</vt:lpstr>
      <vt:lpstr>StringBuffer</vt:lpstr>
      <vt:lpstr>StringBuffer example</vt:lpstr>
      <vt:lpstr>Advantages of StringBuffer over String</vt:lpstr>
      <vt:lpstr>Methods of StringBuffer class</vt:lpstr>
      <vt:lpstr>Methods of StringBuffer class</vt:lpstr>
      <vt:lpstr>Methods of StringBuffer class</vt:lpstr>
      <vt:lpstr>Methods of StringBuffer class</vt:lpstr>
      <vt:lpstr>Methods of StringBuffer class</vt:lpstr>
      <vt:lpstr>Enumerated type</vt:lpstr>
      <vt:lpstr>Declaration of enum</vt:lpstr>
      <vt:lpstr>Declaration of enum</vt:lpstr>
      <vt:lpstr>Properties of enum</vt:lpstr>
      <vt:lpstr>Enum in switch</vt:lpstr>
      <vt:lpstr>Main Function Inside Enum</vt:lpstr>
      <vt:lpstr> Loop through Enum</vt:lpstr>
      <vt:lpstr> Can an enum have a constructor and methods?</vt:lpstr>
      <vt:lpstr>Can we have a class with ‘private’ access modifier?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and Object</dc:title>
  <dc:creator>krishan</dc:creator>
  <cp:lastModifiedBy>testing arena</cp:lastModifiedBy>
  <cp:revision>443</cp:revision>
  <dcterms:created xsi:type="dcterms:W3CDTF">2024-12-05T18:22:20Z</dcterms:created>
  <dcterms:modified xsi:type="dcterms:W3CDTF">2024-12-05T18:22:20Z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E1C355624085393A0B343F6724E2AB1D_42</vt:lpwstr>
  </property>
  <property fmtid="{D5CDD505-2E9C-101B-9397-08002B2CF9AE}" pid="3" name="KSOProductBuildVer">
    <vt:lpwstr>1033-6.10.2.8397</vt:lpwstr>
  </property>
</Properties>
</file>