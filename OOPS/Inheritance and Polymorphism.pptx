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sldIdLst>
    <p:sldId id="256" r:id="rId3"/>
    <p:sldId id="257" r:id="rId4"/>
    <p:sldId id="258" r:id="rId5"/>
    <p:sldId id="265" r:id="rId6"/>
    <p:sldId id="266" r:id="rId7"/>
    <p:sldId id="267" r:id="rId8"/>
    <p:sldId id="260" r:id="rId9"/>
    <p:sldId id="261" r:id="rId10"/>
    <p:sldId id="262" r:id="rId11"/>
    <p:sldId id="274" r:id="rId12"/>
    <p:sldId id="263" r:id="rId13"/>
    <p:sldId id="264" r:id="rId14"/>
    <p:sldId id="268" r:id="rId15"/>
    <p:sldId id="269" r:id="rId16"/>
    <p:sldId id="271" r:id="rId18"/>
    <p:sldId id="272" r:id="rId19"/>
    <p:sldId id="273" r:id="rId20"/>
    <p:sldId id="270" r:id="rId21"/>
    <p:sldId id="283" r:id="rId22"/>
    <p:sldId id="275" r:id="rId23"/>
    <p:sldId id="276" r:id="rId24"/>
    <p:sldId id="277" r:id="rId25"/>
    <p:sldId id="291" r:id="rId26"/>
    <p:sldId id="292" r:id="rId27"/>
    <p:sldId id="293" r:id="rId28"/>
    <p:sldId id="278" r:id="rId29"/>
    <p:sldId id="279" r:id="rId30"/>
    <p:sldId id="281" r:id="rId31"/>
    <p:sldId id="284" r:id="rId32"/>
    <p:sldId id="282" r:id="rId33"/>
    <p:sldId id="280" r:id="rId34"/>
    <p:sldId id="285" r:id="rId35"/>
    <p:sldId id="286" r:id="rId36"/>
    <p:sldId id="287" r:id="rId37"/>
    <p:sldId id="288" r:id="rId38"/>
    <p:sldId id="289" r:id="rId39"/>
    <p:sldId id="290" r:id="rId40"/>
    <p:sldId id="294" r:id="rId41"/>
    <p:sldId id="295" r:id="rId42"/>
    <p:sldId id="296" r:id="rId43"/>
    <p:sldId id="297" r:id="rId44"/>
    <p:sldId id="298" r:id="rId45"/>
    <p:sldId id="299" r:id="rId46"/>
    <p:sldId id="301" r:id="rId47"/>
    <p:sldId id="300" r:id="rId48"/>
    <p:sldId id="302" r:id="rId49"/>
    <p:sldId id="303" r:id="rId50"/>
    <p:sldId id="304" r:id="rId51"/>
    <p:sldId id="307" r:id="rId52"/>
    <p:sldId id="308" r:id="rId53"/>
    <p:sldId id="305" r:id="rId54"/>
    <p:sldId id="306" r:id="rId55"/>
    <p:sldId id="309" r:id="rId56"/>
  </p:sldIdLst>
  <p:sldSz cx="12192000" cy="6858000"/>
  <p:notesSz cx="6858000" cy="9144000"/>
  <p:embeddedFontLst>
    <p:embeddedFont>
      <p:font typeface="HYQiHei" panose="00020600040101010101" charset="-122"/>
      <p:regular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font" Target="fonts/font1.fntdata"/><Relationship Id="rId6" Type="http://schemas.openxmlformats.org/officeDocument/2006/relationships/slide" Target="slides/slide4.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F991E1-5AA4-4C02-8BE3-265B1B7FB49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D0BDBC-E62F-43CA-A5CF-722C5DB491FF}"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FD0BDBC-E62F-43CA-A5CF-722C5DB491FF}"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FD0BDBC-E62F-43CA-A5CF-722C5DB491FF}"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FD0BDBC-E62F-43CA-A5CF-722C5DB491FF}"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FD0BDBC-E62F-43CA-A5CF-722C5DB491FF}" type="slidenum">
              <a:rPr lang="en-IN" smtClean="0"/>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FD0BDBC-E62F-43CA-A5CF-722C5DB491FF}" type="slidenum">
              <a:rPr lang="en-IN" smtClean="0"/>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FD0BDBC-E62F-43CA-A5CF-722C5DB491FF}" type="slidenum">
              <a:rPr lang="en-IN" smtClean="0"/>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FD0BDBC-E62F-43CA-A5CF-722C5DB491FF}"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1344EC8-3832-42E6-8A26-22838C374F7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21344EC8-3832-42E6-8A26-22838C374F7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21344EC8-3832-42E6-8A26-22838C374F7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Date Placeholder 4"/>
          <p:cNvSpPr>
            <a:spLocks noGrp="1"/>
          </p:cNvSpPr>
          <p:nvPr>
            <p:ph type="dt" sz="half" idx="10"/>
          </p:nvPr>
        </p:nvSpPr>
        <p:spPr/>
        <p:txBody>
          <a:bodyPr/>
          <a:lstStyle/>
          <a:p>
            <a:fld id="{21344EC8-3832-42E6-8A26-22838C374F7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7" name="Date Placeholder 6"/>
          <p:cNvSpPr>
            <a:spLocks noGrp="1"/>
          </p:cNvSpPr>
          <p:nvPr>
            <p:ph type="dt" sz="half" idx="10"/>
          </p:nvPr>
        </p:nvSpPr>
        <p:spPr/>
        <p:txBody>
          <a:bodyPr/>
          <a:lstStyle/>
          <a:p>
            <a:fld id="{21344EC8-3832-42E6-8A26-22838C374F7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1344EC8-3832-42E6-8A26-22838C374F7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344EC8-3832-42E6-8A26-22838C374F7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21344EC8-3832-42E6-8A26-22838C374F7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21344EC8-3832-42E6-8A26-22838C374F7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21344EC8-3832-42E6-8A26-22838C374F7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21344EC8-3832-42E6-8A26-22838C374F7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4D54DF-5F33-4152-B078-512B424B1ADE}"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344EC8-3832-42E6-8A26-22838C374F7B}"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4D54DF-5F33-4152-B078-512B424B1ADE}"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Inheritance</a:t>
            </a:r>
            <a:endParaRPr lang="en-IN" dirty="0"/>
          </a:p>
        </p:txBody>
      </p:sp>
      <p:sp>
        <p:nvSpPr>
          <p:cNvPr id="3" name="Subtitle 2"/>
          <p:cNvSpPr>
            <a:spLocks noGrp="1"/>
          </p:cNvSpPr>
          <p:nvPr>
            <p:ph type="subTitle" idx="1"/>
          </p:nvPr>
        </p:nvSpPr>
        <p:spPr/>
        <p:txBody>
          <a:bodyPr/>
          <a:lstStyle/>
          <a:p>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152401"/>
            <a:ext cx="10515600" cy="762000"/>
          </a:xfrm>
        </p:spPr>
        <p:txBody>
          <a:bodyPr/>
          <a:lstStyle/>
          <a:p>
            <a:r>
              <a:rPr lang="en-IN" dirty="0" smtClean="0"/>
              <a:t>Introduction</a:t>
            </a:r>
            <a:endParaRPr lang="en-IN" dirty="0"/>
          </a:p>
        </p:txBody>
      </p:sp>
      <p:sp>
        <p:nvSpPr>
          <p:cNvPr id="3" name="Content Placeholder 2"/>
          <p:cNvSpPr>
            <a:spLocks noGrp="1"/>
          </p:cNvSpPr>
          <p:nvPr>
            <p:ph idx="1"/>
          </p:nvPr>
        </p:nvSpPr>
        <p:spPr>
          <a:xfrm>
            <a:off x="685800" y="1022985"/>
            <a:ext cx="11007436" cy="4351338"/>
          </a:xfrm>
        </p:spPr>
        <p:txBody>
          <a:bodyPr>
            <a:noAutofit/>
          </a:bodyPr>
          <a:lstStyle/>
          <a:p>
            <a:pPr>
              <a:spcBef>
                <a:spcPts val="200"/>
              </a:spcBef>
            </a:pPr>
            <a:r>
              <a:rPr lang="en-US" dirty="0"/>
              <a:t>The capability of a class to derive properties and characteristics from another class is called Inheritance</a:t>
            </a:r>
            <a:r>
              <a:rPr lang="en-US" dirty="0" smtClean="0"/>
              <a:t>.</a:t>
            </a:r>
            <a:endParaRPr lang="en-US" dirty="0" smtClean="0"/>
          </a:p>
          <a:p>
            <a:pPr>
              <a:spcBef>
                <a:spcPts val="200"/>
              </a:spcBef>
            </a:pPr>
            <a:r>
              <a:rPr lang="en-IN" dirty="0" smtClean="0"/>
              <a:t>Promotes ‘code reusability’.</a:t>
            </a:r>
            <a:endParaRPr lang="en-IN" dirty="0" smtClean="0"/>
          </a:p>
          <a:p>
            <a:pPr>
              <a:spcBef>
                <a:spcPts val="200"/>
              </a:spcBef>
            </a:pPr>
            <a:r>
              <a:rPr lang="en-US" dirty="0" smtClean="0"/>
              <a:t>Superclass (Parent class): The class from which properties and methods are inherited.</a:t>
            </a:r>
            <a:endParaRPr lang="en-US" dirty="0" smtClean="0"/>
          </a:p>
          <a:p>
            <a:pPr>
              <a:spcBef>
                <a:spcPts val="200"/>
              </a:spcBef>
            </a:pPr>
            <a:r>
              <a:rPr lang="en-US" dirty="0" smtClean="0"/>
              <a:t>Subclass (Child class): The class that inherits the properties and methods from the superclass.</a:t>
            </a:r>
            <a:endParaRPr lang="en-US" dirty="0" smtClean="0"/>
          </a:p>
          <a:p>
            <a:pPr>
              <a:spcBef>
                <a:spcPts val="200"/>
              </a:spcBef>
            </a:pPr>
            <a:r>
              <a:rPr lang="en-US" dirty="0" smtClean="0"/>
              <a:t>A subclass inherits all members of its superclass, but it cannot access members that are declared as </a:t>
            </a:r>
            <a:r>
              <a:rPr lang="en-US" i="1" dirty="0" smtClean="0"/>
              <a:t>private</a:t>
            </a:r>
            <a:r>
              <a:rPr lang="en-US" dirty="0" smtClean="0"/>
              <a:t> in the superclass.</a:t>
            </a:r>
            <a:endParaRPr lang="en-US" dirty="0" smtClean="0"/>
          </a:p>
          <a:p>
            <a:pPr>
              <a:spcBef>
                <a:spcPts val="200"/>
              </a:spcBef>
            </a:pPr>
            <a:r>
              <a:rPr lang="en-US" dirty="0" smtClean="0"/>
              <a:t>Syntax: </a:t>
            </a:r>
            <a:endParaRPr lang="en-US" dirty="0" smtClean="0"/>
          </a:p>
          <a:p>
            <a:pPr marL="0" indent="0">
              <a:spcBef>
                <a:spcPts val="200"/>
              </a:spcBef>
              <a:buNone/>
            </a:pPr>
            <a:r>
              <a:rPr lang="en-US" dirty="0"/>
              <a:t>	</a:t>
            </a:r>
            <a:r>
              <a:rPr lang="en-US" dirty="0" smtClean="0"/>
              <a:t>class </a:t>
            </a:r>
            <a:r>
              <a:rPr lang="en-US" dirty="0" err="1" smtClean="0"/>
              <a:t>DerivedClass</a:t>
            </a:r>
            <a:r>
              <a:rPr lang="en-US" dirty="0" smtClean="0"/>
              <a:t> extends </a:t>
            </a:r>
            <a:r>
              <a:rPr lang="en-US" dirty="0" err="1" smtClean="0"/>
              <a:t>BaseClass</a:t>
            </a:r>
            <a:r>
              <a:rPr lang="en-US" dirty="0" smtClean="0"/>
              <a:t>  </a:t>
            </a:r>
            <a:endParaRPr lang="en-US" dirty="0" smtClean="0"/>
          </a:p>
          <a:p>
            <a:pPr marL="0" indent="0">
              <a:spcBef>
                <a:spcPts val="200"/>
              </a:spcBef>
              <a:buNone/>
            </a:pPr>
            <a:r>
              <a:rPr lang="en-US" dirty="0" smtClean="0"/>
              <a:t>	{	  </a:t>
            </a:r>
            <a:endParaRPr lang="en-US" dirty="0" smtClean="0"/>
          </a:p>
          <a:p>
            <a:pPr marL="0" indent="0">
              <a:spcBef>
                <a:spcPts val="200"/>
              </a:spcBef>
              <a:buNone/>
            </a:pPr>
            <a:r>
              <a:rPr lang="en-US" dirty="0" smtClean="0"/>
              <a:t>   		//methods and fields  </a:t>
            </a:r>
            <a:endParaRPr lang="en-US" dirty="0" smtClean="0"/>
          </a:p>
          <a:p>
            <a:pPr marL="0" indent="0">
              <a:spcBef>
                <a:spcPts val="200"/>
              </a:spcBef>
              <a:buNone/>
            </a:pPr>
            <a:r>
              <a:rPr lang="en-US" dirty="0" smtClean="0"/>
              <a:t>	} </a:t>
            </a:r>
            <a:endParaRPr lang="en-US" dirty="0" smtClean="0"/>
          </a:p>
          <a:p>
            <a:pPr>
              <a:spcBef>
                <a:spcPts val="200"/>
              </a:spcBef>
            </a:pPr>
            <a:endParaRPr lang="en-IN" dirty="0" smtClean="0"/>
          </a:p>
          <a:p>
            <a:pPr>
              <a:spcBef>
                <a:spcPts val="200"/>
              </a:spcBef>
            </a:pPr>
            <a:endParaRPr lang="en-IN"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204" y="216421"/>
            <a:ext cx="1924396" cy="632402"/>
          </a:xfrm>
        </p:spPr>
        <p:txBody>
          <a:bodyPr>
            <a:normAutofit/>
          </a:bodyPr>
          <a:lstStyle/>
          <a:p>
            <a:r>
              <a:rPr lang="en-IN" sz="3600" b="1" dirty="0" smtClean="0"/>
              <a:t>Example</a:t>
            </a:r>
            <a:endParaRPr lang="en-IN" sz="3600" b="1" dirty="0"/>
          </a:p>
        </p:txBody>
      </p:sp>
      <p:graphicFrame>
        <p:nvGraphicFramePr>
          <p:cNvPr id="5" name="Content Placeholder 4"/>
          <p:cNvGraphicFramePr>
            <a:graphicFrameLocks noGrp="1"/>
          </p:cNvGraphicFramePr>
          <p:nvPr>
            <p:ph idx="1"/>
          </p:nvPr>
        </p:nvGraphicFramePr>
        <p:xfrm>
          <a:off x="2377441" y="94501"/>
          <a:ext cx="9814559" cy="6675120"/>
        </p:xfrm>
        <a:graphic>
          <a:graphicData uri="http://schemas.openxmlformats.org/drawingml/2006/table">
            <a:tbl>
              <a:tblPr firstRow="1" bandRow="1">
                <a:tableStyleId>{2D5ABB26-0587-4C30-8999-92F81FD0307C}</a:tableStyleId>
              </a:tblPr>
              <a:tblGrid>
                <a:gridCol w="9814559"/>
              </a:tblGrid>
              <a:tr h="6533033">
                <a:tc>
                  <a:txBody>
                    <a:bodyPr/>
                    <a:lstStyle/>
                    <a:p>
                      <a:pPr marL="0" indent="0">
                        <a:buNone/>
                      </a:pPr>
                      <a:r>
                        <a:rPr lang="en-US" sz="2400" dirty="0" smtClean="0"/>
                        <a:t>class A {</a:t>
                      </a:r>
                      <a:endParaRPr lang="en-US" sz="2400" dirty="0" smtClean="0"/>
                    </a:p>
                    <a:p>
                      <a:pPr marL="0" indent="0">
                        <a:buNone/>
                      </a:pPr>
                      <a:r>
                        <a:rPr lang="en-US" sz="2400" dirty="0" smtClean="0"/>
                        <a:t>Protected </a:t>
                      </a:r>
                      <a:r>
                        <a:rPr lang="en-US" sz="2400" dirty="0" err="1" smtClean="0"/>
                        <a:t>int</a:t>
                      </a:r>
                      <a:r>
                        <a:rPr lang="en-US" sz="2400" dirty="0" smtClean="0"/>
                        <a:t> number;</a:t>
                      </a:r>
                      <a:endParaRPr lang="en-US" sz="2400" dirty="0" smtClean="0"/>
                    </a:p>
                    <a:p>
                      <a:pPr marL="0" indent="0">
                        <a:buNone/>
                      </a:pPr>
                      <a:r>
                        <a:rPr lang="en-US" sz="2400" dirty="0" smtClean="0"/>
                        <a:t>    public void display() {</a:t>
                      </a:r>
                      <a:endParaRPr lang="en-US" sz="2400" dirty="0" smtClean="0"/>
                    </a:p>
                    <a:p>
                      <a:pPr marL="0" indent="0">
                        <a:buNone/>
                      </a:pPr>
                      <a:r>
                        <a:rPr lang="en-US" sz="2400" dirty="0" smtClean="0"/>
                        <a:t>        </a:t>
                      </a:r>
                      <a:r>
                        <a:rPr lang="en-US" sz="2400" dirty="0" err="1" smtClean="0"/>
                        <a:t>System.out.println</a:t>
                      </a:r>
                      <a:r>
                        <a:rPr lang="en-US" sz="2400" dirty="0" smtClean="0"/>
                        <a:t>("This is the display method of the superclass.");</a:t>
                      </a:r>
                      <a:endParaRPr lang="en-US" sz="2400" dirty="0" smtClean="0"/>
                    </a:p>
                    <a:p>
                      <a:pPr marL="0" indent="0">
                        <a:buNone/>
                      </a:pPr>
                      <a:r>
                        <a:rPr lang="en-US" sz="2400" dirty="0" smtClean="0"/>
                        <a:t>    }</a:t>
                      </a:r>
                      <a:endParaRPr lang="en-US" sz="2400" dirty="0" smtClean="0"/>
                    </a:p>
                    <a:p>
                      <a:pPr marL="0" indent="0">
                        <a:buNone/>
                      </a:pPr>
                      <a:r>
                        <a:rPr lang="en-US" sz="2400" dirty="0" smtClean="0"/>
                        <a:t>}</a:t>
                      </a:r>
                      <a:endParaRPr lang="en-US" sz="2400" dirty="0" smtClean="0"/>
                    </a:p>
                    <a:p>
                      <a:pPr marL="0" indent="0">
                        <a:buNone/>
                      </a:pPr>
                      <a:r>
                        <a:rPr lang="en-US" sz="2400" dirty="0" smtClean="0"/>
                        <a:t>class B extends A {</a:t>
                      </a:r>
                      <a:endParaRPr lang="en-US" sz="2400" dirty="0" smtClean="0"/>
                    </a:p>
                    <a:p>
                      <a:pPr marL="0" indent="0">
                        <a:buNone/>
                      </a:pPr>
                      <a:r>
                        <a:rPr lang="en-US" sz="2400" dirty="0" smtClean="0"/>
                        <a:t>    String message;</a:t>
                      </a:r>
                      <a:endParaRPr lang="en-US" sz="2400" dirty="0" smtClean="0"/>
                    </a:p>
                    <a:p>
                      <a:pPr marL="0" indent="0">
                        <a:buNone/>
                      </a:pPr>
                      <a:r>
                        <a:rPr lang="en-US" sz="2400" dirty="0" smtClean="0"/>
                        <a:t>    public void show() {</a:t>
                      </a:r>
                      <a:endParaRPr lang="en-US" sz="2400" dirty="0" smtClean="0"/>
                    </a:p>
                    <a:p>
                      <a:pPr marL="0" indent="0">
                        <a:buNone/>
                      </a:pPr>
                      <a:r>
                        <a:rPr lang="en-US" sz="2400" dirty="0" smtClean="0"/>
                        <a:t>        </a:t>
                      </a:r>
                      <a:r>
                        <a:rPr lang="en-US" sz="2400" dirty="0" err="1" smtClean="0"/>
                        <a:t>System.out.println</a:t>
                      </a:r>
                      <a:r>
                        <a:rPr lang="en-US" sz="2400" dirty="0" smtClean="0"/>
                        <a:t>("This is the show method of the subclass.");</a:t>
                      </a:r>
                      <a:endParaRPr lang="en-US" sz="2400" dirty="0" smtClean="0"/>
                    </a:p>
                    <a:p>
                      <a:pPr marL="0" indent="0">
                        <a:buNone/>
                      </a:pPr>
                      <a:r>
                        <a:rPr lang="en-US" sz="2400" dirty="0" smtClean="0"/>
                        <a:t>    }</a:t>
                      </a:r>
                      <a:endParaRPr lang="en-US" sz="2400" dirty="0" smtClean="0"/>
                    </a:p>
                    <a:p>
                      <a:pPr marL="0" indent="0">
                        <a:buNone/>
                      </a:pPr>
                      <a:r>
                        <a:rPr lang="en-US" sz="2400" dirty="0" smtClean="0"/>
                        <a:t>}</a:t>
                      </a:r>
                      <a:endParaRPr lang="en-US" sz="2400" dirty="0" smtClean="0"/>
                    </a:p>
                    <a:p>
                      <a:pPr marL="0" indent="0">
                        <a:buNone/>
                      </a:pPr>
                      <a:r>
                        <a:rPr lang="en-US" sz="2400" dirty="0" smtClean="0"/>
                        <a:t>public class Main {</a:t>
                      </a:r>
                      <a:endParaRPr lang="en-US" sz="2400" dirty="0" smtClean="0"/>
                    </a:p>
                    <a:p>
                      <a:pPr marL="0" indent="0">
                        <a:buNone/>
                      </a:pPr>
                      <a:r>
                        <a:rPr lang="en-US" sz="2400" dirty="0" smtClean="0"/>
                        <a:t>    public static void main(String[] </a:t>
                      </a:r>
                      <a:r>
                        <a:rPr lang="en-US" sz="2400" dirty="0" err="1" smtClean="0"/>
                        <a:t>args</a:t>
                      </a:r>
                      <a:r>
                        <a:rPr lang="en-US" sz="2400" dirty="0" smtClean="0"/>
                        <a:t>) {</a:t>
                      </a:r>
                      <a:endParaRPr lang="en-US" sz="2400" dirty="0" smtClean="0"/>
                    </a:p>
                    <a:p>
                      <a:pPr marL="0" indent="0">
                        <a:buNone/>
                      </a:pPr>
                      <a:r>
                        <a:rPr lang="en-US" sz="2400" dirty="0" smtClean="0"/>
                        <a:t>B </a:t>
                      </a:r>
                      <a:r>
                        <a:rPr lang="en-US" sz="2400" dirty="0" err="1" smtClean="0"/>
                        <a:t>obj</a:t>
                      </a:r>
                      <a:r>
                        <a:rPr lang="en-US" sz="2400" dirty="0" smtClean="0"/>
                        <a:t> = new B();</a:t>
                      </a:r>
                      <a:endParaRPr lang="en-US" sz="2400" dirty="0" smtClean="0"/>
                    </a:p>
                    <a:p>
                      <a:pPr marL="0" indent="0">
                        <a:buNone/>
                      </a:pPr>
                      <a:r>
                        <a:rPr lang="en-US" sz="2400" dirty="0" smtClean="0"/>
                        <a:t>        </a:t>
                      </a:r>
                      <a:r>
                        <a:rPr lang="en-US" sz="2400" dirty="0" err="1" smtClean="0"/>
                        <a:t>obj.display</a:t>
                      </a:r>
                      <a:r>
                        <a:rPr lang="en-US" sz="2400" dirty="0" smtClean="0"/>
                        <a:t>(); // Inherited from superclass </a:t>
                      </a:r>
                      <a:r>
                        <a:rPr lang="en-US" sz="2400" dirty="0" err="1" smtClean="0"/>
                        <a:t>obj.show</a:t>
                      </a:r>
                      <a:r>
                        <a:rPr lang="en-US" sz="2400" dirty="0" smtClean="0"/>
                        <a:t>();    // Defined in subclass</a:t>
                      </a:r>
                      <a:endParaRPr lang="en-US" sz="2400" dirty="0" smtClean="0"/>
                    </a:p>
                    <a:p>
                      <a:pPr marL="0" indent="0">
                        <a:buNone/>
                      </a:pPr>
                      <a:r>
                        <a:rPr lang="en-US" sz="2400" dirty="0" smtClean="0"/>
                        <a:t>    }</a:t>
                      </a:r>
                      <a:r>
                        <a:rPr lang="en-US" sz="2400" baseline="0" dirty="0" smtClean="0"/>
                        <a:t>   </a:t>
                      </a:r>
                      <a:r>
                        <a:rPr lang="en-US" sz="2400" dirty="0" smtClean="0"/>
                        <a:t>}</a:t>
                      </a:r>
                      <a:endParaRPr lang="en-US" sz="2400" dirty="0"/>
                    </a:p>
                  </a:txBody>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120" y="365125"/>
            <a:ext cx="10774680" cy="539115"/>
          </a:xfrm>
        </p:spPr>
        <p:txBody>
          <a:bodyPr>
            <a:noAutofit/>
          </a:bodyPr>
          <a:lstStyle/>
          <a:p>
            <a:r>
              <a:rPr lang="en-US" sz="4000" b="1" dirty="0" smtClean="0"/>
              <a:t>Access modifier for inheritance</a:t>
            </a:r>
            <a:endParaRPr lang="en-IN" sz="4000" b="1" dirty="0"/>
          </a:p>
        </p:txBody>
      </p:sp>
      <p:sp>
        <p:nvSpPr>
          <p:cNvPr id="4" name="Rectangle 1"/>
          <p:cNvSpPr>
            <a:spLocks noGrp="1" noChangeArrowheads="1"/>
          </p:cNvSpPr>
          <p:nvPr>
            <p:ph idx="1"/>
          </p:nvPr>
        </p:nvSpPr>
        <p:spPr bwMode="auto">
          <a:xfrm>
            <a:off x="403860" y="1016175"/>
            <a:ext cx="11125200" cy="570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ts val="200"/>
              </a:spcBef>
              <a:spcAft>
                <a:spcPct val="0"/>
              </a:spcAft>
              <a:buClrTx/>
              <a:buSzTx/>
              <a:buFontTx/>
              <a:buNone/>
            </a:pPr>
            <a:r>
              <a:rPr kumimoji="0" lang="en-US" altLang="en-US" sz="2000" b="1" i="0" u="none" strike="noStrike" cap="none" normalizeH="0" baseline="0" dirty="0" smtClean="0">
                <a:ln>
                  <a:noFill/>
                </a:ln>
                <a:solidFill>
                  <a:schemeClr val="tx1"/>
                </a:solidFill>
                <a:effectLst/>
              </a:rPr>
              <a:t>1. private:</a:t>
            </a:r>
            <a:endParaRPr kumimoji="0" lang="en-US" altLang="en-US" sz="2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Char char="•"/>
            </a:pPr>
            <a:r>
              <a:rPr kumimoji="0" lang="en-US" altLang="en-US" sz="2000" b="0" i="0" u="none" strike="noStrike" cap="none" normalizeH="0" baseline="0" dirty="0" smtClean="0">
                <a:ln>
                  <a:noFill/>
                </a:ln>
                <a:solidFill>
                  <a:schemeClr val="tx1"/>
                </a:solidFill>
                <a:effectLst/>
              </a:rPr>
              <a:t>The member is </a:t>
            </a:r>
            <a:r>
              <a:rPr kumimoji="0" lang="en-US" altLang="en-US" sz="2000" b="1" i="0" u="none" strike="noStrike" cap="none" normalizeH="0" baseline="0" dirty="0" smtClean="0">
                <a:ln>
                  <a:noFill/>
                </a:ln>
                <a:solidFill>
                  <a:schemeClr val="tx1"/>
                </a:solidFill>
                <a:effectLst/>
              </a:rPr>
              <a:t>accessible only within the same class</a:t>
            </a:r>
            <a:r>
              <a:rPr kumimoji="0" lang="en-US" altLang="en-US" sz="2000" b="0" i="0" u="none" strike="noStrike" cap="none" normalizeH="0" baseline="0" dirty="0" smtClean="0">
                <a:ln>
                  <a:noFill/>
                </a:ln>
                <a:solidFill>
                  <a:schemeClr val="tx1"/>
                </a:solidFill>
                <a:effectLst/>
              </a:rPr>
              <a:t>.</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Char char="•"/>
            </a:pPr>
            <a:r>
              <a:rPr kumimoji="0" lang="en-US" altLang="en-US" sz="2000" b="0" i="0" u="none" strike="noStrike" cap="none" normalizeH="0" baseline="0" dirty="0" smtClean="0">
                <a:ln>
                  <a:noFill/>
                </a:ln>
                <a:solidFill>
                  <a:schemeClr val="tx1"/>
                </a:solidFill>
                <a:effectLst/>
              </a:rPr>
              <a:t>It cannot be accessed by subclasses, even through inheritance.</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None/>
            </a:pPr>
            <a:endParaRPr kumimoji="0" lang="en-US" altLang="en-US" sz="2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None/>
            </a:pPr>
            <a:r>
              <a:rPr kumimoji="0" lang="en-US" altLang="en-US" sz="2000" b="1" i="0" u="none" strike="noStrike" cap="none" normalizeH="0" baseline="0" dirty="0" smtClean="0">
                <a:ln>
                  <a:noFill/>
                </a:ln>
                <a:solidFill>
                  <a:schemeClr val="tx1"/>
                </a:solidFill>
                <a:effectLst/>
              </a:rPr>
              <a:t>2. default (package-private):</a:t>
            </a:r>
            <a:endParaRPr kumimoji="0" lang="en-US" altLang="en-US" sz="2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Char char="•"/>
            </a:pPr>
            <a:r>
              <a:rPr kumimoji="0" lang="en-US" altLang="en-US" sz="2000" b="0" i="0" u="none" strike="noStrike" cap="none" normalizeH="0" baseline="0" dirty="0" smtClean="0">
                <a:ln>
                  <a:noFill/>
                </a:ln>
                <a:solidFill>
                  <a:schemeClr val="tx1"/>
                </a:solidFill>
                <a:effectLst/>
              </a:rPr>
              <a:t>If no modifier is specified, it is </a:t>
            </a:r>
            <a:r>
              <a:rPr kumimoji="0" lang="en-US" altLang="en-US" sz="2000" b="1" i="0" u="none" strike="noStrike" cap="none" normalizeH="0" baseline="0" dirty="0" smtClean="0">
                <a:ln>
                  <a:noFill/>
                </a:ln>
                <a:solidFill>
                  <a:schemeClr val="tx1"/>
                </a:solidFill>
                <a:effectLst/>
              </a:rPr>
              <a:t>accessible only within the same package</a:t>
            </a:r>
            <a:r>
              <a:rPr kumimoji="0" lang="en-US" altLang="en-US" sz="2000" b="0" i="0" u="none" strike="noStrike" cap="none" normalizeH="0" baseline="0" dirty="0" smtClean="0">
                <a:ln>
                  <a:noFill/>
                </a:ln>
                <a:solidFill>
                  <a:schemeClr val="tx1"/>
                </a:solidFill>
                <a:effectLst/>
              </a:rPr>
              <a:t>.</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Char char="•"/>
            </a:pPr>
            <a:r>
              <a:rPr kumimoji="0" lang="en-US" altLang="en-US" sz="2000" b="0" i="0" u="none" strike="noStrike" cap="none" normalizeH="0" baseline="0" dirty="0" smtClean="0">
                <a:ln>
                  <a:noFill/>
                </a:ln>
                <a:solidFill>
                  <a:schemeClr val="tx1"/>
                </a:solidFill>
                <a:effectLst/>
              </a:rPr>
              <a:t>It cannot be accessed by subclasses in a </a:t>
            </a:r>
            <a:r>
              <a:rPr kumimoji="0" lang="en-US" altLang="en-US" sz="2000" b="1" i="0" u="none" strike="noStrike" cap="none" normalizeH="0" baseline="0" dirty="0" smtClean="0">
                <a:ln>
                  <a:noFill/>
                </a:ln>
                <a:solidFill>
                  <a:schemeClr val="tx1"/>
                </a:solidFill>
                <a:effectLst/>
              </a:rPr>
              <a:t>different package</a:t>
            </a:r>
            <a:r>
              <a:rPr kumimoji="0" lang="en-US" altLang="en-US" sz="2000" b="0" i="0" u="none" strike="noStrike" cap="none" normalizeH="0" baseline="0" dirty="0" smtClean="0">
                <a:ln>
                  <a:noFill/>
                </a:ln>
                <a:solidFill>
                  <a:schemeClr val="tx1"/>
                </a:solidFill>
                <a:effectLst/>
              </a:rPr>
              <a:t>, even if inherited.</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None/>
            </a:pPr>
            <a:endParaRPr kumimoji="0" lang="en-US" altLang="en-US" sz="2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None/>
            </a:pPr>
            <a:r>
              <a:rPr kumimoji="0" lang="en-US" altLang="en-US" sz="2000" b="1" i="0" u="none" strike="noStrike" cap="none" normalizeH="0" baseline="0" dirty="0" smtClean="0">
                <a:ln>
                  <a:noFill/>
                </a:ln>
                <a:solidFill>
                  <a:schemeClr val="tx1"/>
                </a:solidFill>
                <a:effectLst/>
              </a:rPr>
              <a:t>3. protected:</a:t>
            </a:r>
            <a:endParaRPr kumimoji="0" lang="en-US" altLang="en-US" sz="2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Char char="•"/>
            </a:pPr>
            <a:r>
              <a:rPr kumimoji="0" lang="en-US" altLang="en-US" sz="2000" b="0" i="0" u="none" strike="noStrike" cap="none" normalizeH="0" baseline="0" dirty="0" smtClean="0">
                <a:ln>
                  <a:noFill/>
                </a:ln>
                <a:solidFill>
                  <a:schemeClr val="tx1"/>
                </a:solidFill>
                <a:effectLst/>
              </a:rPr>
              <a:t>The member is accessible within the </a:t>
            </a:r>
            <a:r>
              <a:rPr kumimoji="0" lang="en-US" altLang="en-US" sz="2000" b="1" i="0" u="none" strike="noStrike" cap="none" normalizeH="0" baseline="0" dirty="0" smtClean="0">
                <a:ln>
                  <a:noFill/>
                </a:ln>
                <a:solidFill>
                  <a:schemeClr val="tx1"/>
                </a:solidFill>
                <a:effectLst/>
              </a:rPr>
              <a:t>same package</a:t>
            </a:r>
            <a:r>
              <a:rPr kumimoji="0" lang="en-US" altLang="en-US" sz="2000" b="0" i="0" u="none" strike="noStrike" cap="none" normalizeH="0" baseline="0" dirty="0" smtClean="0">
                <a:ln>
                  <a:noFill/>
                </a:ln>
                <a:solidFill>
                  <a:schemeClr val="tx1"/>
                </a:solidFill>
                <a:effectLst/>
              </a:rPr>
              <a:t> (like default).</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Char char="•"/>
            </a:pPr>
            <a:r>
              <a:rPr kumimoji="0" lang="en-US" altLang="en-US" sz="2000" b="0" i="0" u="none" strike="noStrike" cap="none" normalizeH="0" baseline="0" dirty="0" smtClean="0">
                <a:ln>
                  <a:noFill/>
                </a:ln>
                <a:solidFill>
                  <a:schemeClr val="tx1"/>
                </a:solidFill>
                <a:effectLst/>
              </a:rPr>
              <a:t>It is also accessible by </a:t>
            </a:r>
            <a:r>
              <a:rPr kumimoji="0" lang="en-US" altLang="en-US" sz="2000" b="1" i="0" u="none" strike="noStrike" cap="none" normalizeH="0" baseline="0" dirty="0" smtClean="0">
                <a:ln>
                  <a:noFill/>
                </a:ln>
                <a:solidFill>
                  <a:schemeClr val="tx1"/>
                </a:solidFill>
                <a:effectLst/>
              </a:rPr>
              <a:t>subclasses</a:t>
            </a:r>
            <a:r>
              <a:rPr kumimoji="0" lang="en-US" altLang="en-US" sz="2000" b="0" i="0" u="none" strike="noStrike" cap="none" normalizeH="0" baseline="0" dirty="0" smtClean="0">
                <a:ln>
                  <a:noFill/>
                </a:ln>
                <a:solidFill>
                  <a:schemeClr val="tx1"/>
                </a:solidFill>
                <a:effectLst/>
              </a:rPr>
              <a:t>, even if they are in </a:t>
            </a:r>
            <a:r>
              <a:rPr kumimoji="0" lang="en-US" altLang="en-US" sz="2000" b="1" i="0" u="none" strike="noStrike" cap="none" normalizeH="0" baseline="0" dirty="0" smtClean="0">
                <a:ln>
                  <a:noFill/>
                </a:ln>
                <a:solidFill>
                  <a:schemeClr val="tx1"/>
                </a:solidFill>
                <a:effectLst/>
              </a:rPr>
              <a:t>different packages</a:t>
            </a:r>
            <a:r>
              <a:rPr kumimoji="0" lang="en-US" altLang="en-US" sz="2000" b="0" i="0" u="none" strike="noStrike" cap="none" normalizeH="0" baseline="0" dirty="0" smtClean="0">
                <a:ln>
                  <a:noFill/>
                </a:ln>
                <a:solidFill>
                  <a:schemeClr val="tx1"/>
                </a:solidFill>
                <a:effectLst/>
              </a:rPr>
              <a:t>.</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Char char="•"/>
            </a:pPr>
            <a:r>
              <a:rPr kumimoji="0" lang="en-US" altLang="en-US" sz="2000" b="0" i="0" u="none" strike="noStrike" cap="none" normalizeH="0" baseline="0" dirty="0" smtClean="0">
                <a:ln>
                  <a:noFill/>
                </a:ln>
                <a:solidFill>
                  <a:schemeClr val="tx1"/>
                </a:solidFill>
                <a:effectLst/>
              </a:rPr>
              <a:t>However, subclasses in different packages can access the protected members </a:t>
            </a:r>
            <a:r>
              <a:rPr kumimoji="0" lang="en-US" altLang="en-US" sz="2000" b="1" i="0" u="none" strike="noStrike" cap="none" normalizeH="0" baseline="0" dirty="0" smtClean="0">
                <a:ln>
                  <a:noFill/>
                </a:ln>
                <a:solidFill>
                  <a:schemeClr val="tx1"/>
                </a:solidFill>
                <a:effectLst/>
              </a:rPr>
              <a:t>only through inheritance</a:t>
            </a:r>
            <a:r>
              <a:rPr kumimoji="0" lang="en-US" altLang="en-US" sz="2000" b="0" i="0" u="none" strike="noStrike" cap="none" normalizeH="0" baseline="0" dirty="0" smtClean="0">
                <a:ln>
                  <a:noFill/>
                </a:ln>
                <a:solidFill>
                  <a:schemeClr val="tx1"/>
                </a:solidFill>
                <a:effectLst/>
              </a:rPr>
              <a:t>, not directly via an object reference.</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None/>
            </a:pPr>
            <a:endParaRPr kumimoji="0" lang="en-US" altLang="en-US" sz="2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None/>
            </a:pPr>
            <a:r>
              <a:rPr kumimoji="0" lang="en-US" altLang="en-US" sz="2000" b="1" i="0" u="none" strike="noStrike" cap="none" normalizeH="0" baseline="0" dirty="0" smtClean="0">
                <a:ln>
                  <a:noFill/>
                </a:ln>
                <a:solidFill>
                  <a:schemeClr val="tx1"/>
                </a:solidFill>
                <a:effectLst/>
              </a:rPr>
              <a:t>4. public:</a:t>
            </a:r>
            <a:endParaRPr kumimoji="0" lang="en-US" altLang="en-US" sz="2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Char char="•"/>
            </a:pPr>
            <a:r>
              <a:rPr kumimoji="0" lang="en-US" altLang="en-US" sz="2000" b="0" i="0" u="none" strike="noStrike" cap="none" normalizeH="0" baseline="0" dirty="0" smtClean="0">
                <a:ln>
                  <a:noFill/>
                </a:ln>
                <a:solidFill>
                  <a:schemeClr val="tx1"/>
                </a:solidFill>
                <a:effectLst/>
              </a:rPr>
              <a:t>The member is accessible </a:t>
            </a:r>
            <a:r>
              <a:rPr kumimoji="0" lang="en-US" altLang="en-US" sz="2000" b="1" i="0" u="none" strike="noStrike" cap="none" normalizeH="0" baseline="0" dirty="0" smtClean="0">
                <a:ln>
                  <a:noFill/>
                </a:ln>
                <a:solidFill>
                  <a:schemeClr val="tx1"/>
                </a:solidFill>
                <a:effectLst/>
              </a:rPr>
              <a:t>everywhere</a:t>
            </a:r>
            <a:r>
              <a:rPr kumimoji="0" lang="en-US" altLang="en-US" sz="2000" b="0" i="0" u="none" strike="noStrike" cap="none" normalizeH="0" baseline="0" dirty="0" smtClean="0">
                <a:ln>
                  <a:noFill/>
                </a:ln>
                <a:solidFill>
                  <a:schemeClr val="tx1"/>
                </a:solidFill>
                <a:effectLst/>
              </a:rPr>
              <a:t>—within the same class, package, subclass, or any other class.</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ts val="200"/>
              </a:spcBef>
              <a:spcAft>
                <a:spcPct val="0"/>
              </a:spcAft>
              <a:buClrTx/>
              <a:buSzTx/>
              <a:buFontTx/>
              <a:buNone/>
            </a:pPr>
            <a:endParaRPr kumimoji="0" lang="en-US" altLang="en-US" sz="2000" b="0" i="0" u="none" strike="noStrike" cap="none" normalizeH="0" baseline="0" dirty="0" smtClean="0">
              <a:ln>
                <a:noFill/>
              </a:ln>
              <a:solidFill>
                <a:schemeClr val="tx1"/>
              </a:solidFill>
              <a:effectLs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600" y="321945"/>
            <a:ext cx="11196320" cy="6363336"/>
          </a:xfrm>
        </p:spPr>
        <p:txBody>
          <a:bodyPr>
            <a:noAutofit/>
          </a:bodyPr>
          <a:lstStyle/>
          <a:p>
            <a:pPr marL="0" indent="0">
              <a:spcBef>
                <a:spcPts val="200"/>
              </a:spcBef>
              <a:buNone/>
            </a:pPr>
            <a:r>
              <a:rPr lang="en-IN" sz="1800" dirty="0" smtClean="0"/>
              <a:t>class Animal {</a:t>
            </a:r>
            <a:endParaRPr lang="en-IN" sz="1800" dirty="0" smtClean="0"/>
          </a:p>
          <a:p>
            <a:pPr marL="0" indent="0">
              <a:spcBef>
                <a:spcPts val="200"/>
              </a:spcBef>
              <a:buNone/>
            </a:pPr>
            <a:r>
              <a:rPr lang="en-IN" sz="1800" dirty="0" smtClean="0"/>
              <a:t>    private String type = "Mammal"; // private: Not accessible to subclass</a:t>
            </a:r>
            <a:endParaRPr lang="en-IN" sz="1800" dirty="0" smtClean="0"/>
          </a:p>
          <a:p>
            <a:pPr marL="0" indent="0">
              <a:spcBef>
                <a:spcPts val="200"/>
              </a:spcBef>
              <a:buNone/>
            </a:pPr>
            <a:r>
              <a:rPr lang="en-IN" sz="1800" dirty="0" smtClean="0"/>
              <a:t>    String habitat = "Land";        // default: Accessible only within the same package</a:t>
            </a:r>
            <a:endParaRPr lang="en-IN" sz="1800" dirty="0" smtClean="0"/>
          </a:p>
          <a:p>
            <a:pPr marL="0" indent="0">
              <a:spcBef>
                <a:spcPts val="200"/>
              </a:spcBef>
              <a:buNone/>
            </a:pPr>
            <a:r>
              <a:rPr lang="en-IN" sz="1800" dirty="0" smtClean="0"/>
              <a:t>    protected String name = "Animal"; // protected: Accessible within subclass (even in different packages)</a:t>
            </a:r>
            <a:endParaRPr lang="en-IN" sz="1800" dirty="0" smtClean="0"/>
          </a:p>
          <a:p>
            <a:pPr marL="0" indent="0">
              <a:spcBef>
                <a:spcPts val="200"/>
              </a:spcBef>
              <a:buNone/>
            </a:pPr>
            <a:r>
              <a:rPr lang="en-IN" sz="1800" dirty="0" smtClean="0"/>
              <a:t>    public </a:t>
            </a:r>
            <a:r>
              <a:rPr lang="en-IN" sz="1800" dirty="0" err="1" smtClean="0"/>
              <a:t>int</a:t>
            </a:r>
            <a:r>
              <a:rPr lang="en-IN" sz="1800" dirty="0" smtClean="0"/>
              <a:t> age = 5;              // public: Accessible everywhere</a:t>
            </a:r>
            <a:endParaRPr lang="en-IN" sz="1800" dirty="0" smtClean="0"/>
          </a:p>
          <a:p>
            <a:pPr marL="0" indent="0">
              <a:spcBef>
                <a:spcPts val="200"/>
              </a:spcBef>
              <a:buNone/>
            </a:pPr>
            <a:r>
              <a:rPr lang="en-IN" sz="1800" dirty="0" smtClean="0"/>
              <a:t>    private void </a:t>
            </a:r>
            <a:r>
              <a:rPr lang="en-IN" sz="1800" dirty="0" err="1" smtClean="0"/>
              <a:t>privateMethod</a:t>
            </a:r>
            <a:r>
              <a:rPr lang="en-IN" sz="1800" dirty="0" smtClean="0"/>
              <a:t>() {</a:t>
            </a:r>
            <a:endParaRPr lang="en-IN" sz="1800" dirty="0" smtClean="0"/>
          </a:p>
          <a:p>
            <a:pPr marL="0" indent="0">
              <a:spcBef>
                <a:spcPts val="200"/>
              </a:spcBef>
              <a:buNone/>
            </a:pPr>
            <a:r>
              <a:rPr lang="en-IN" sz="1800" dirty="0" smtClean="0"/>
              <a:t>        </a:t>
            </a:r>
            <a:r>
              <a:rPr lang="en-IN" sz="1800" dirty="0" err="1" smtClean="0"/>
              <a:t>System.out.println</a:t>
            </a:r>
            <a:r>
              <a:rPr lang="en-IN" sz="1800" dirty="0" smtClean="0"/>
              <a:t>("Private method in Animal");</a:t>
            </a:r>
            <a:endParaRPr lang="en-IN" sz="1800" dirty="0" smtClean="0"/>
          </a:p>
          <a:p>
            <a:pPr marL="0" indent="0">
              <a:spcBef>
                <a:spcPts val="200"/>
              </a:spcBef>
              <a:buNone/>
            </a:pPr>
            <a:r>
              <a:rPr lang="en-IN" sz="1800" dirty="0" smtClean="0"/>
              <a:t>    }</a:t>
            </a:r>
            <a:endParaRPr lang="en-IN" sz="1800" dirty="0" smtClean="0"/>
          </a:p>
          <a:p>
            <a:pPr marL="0" indent="0">
              <a:spcBef>
                <a:spcPts val="200"/>
              </a:spcBef>
              <a:buNone/>
            </a:pPr>
            <a:r>
              <a:rPr lang="en-IN" sz="1800" dirty="0" smtClean="0"/>
              <a:t>    protected void </a:t>
            </a:r>
            <a:r>
              <a:rPr lang="en-IN" sz="1800" dirty="0" err="1" smtClean="0"/>
              <a:t>protectedMethod</a:t>
            </a:r>
            <a:r>
              <a:rPr lang="en-IN" sz="1800" dirty="0" smtClean="0"/>
              <a:t>() {</a:t>
            </a:r>
            <a:endParaRPr lang="en-IN" sz="1800" dirty="0" smtClean="0"/>
          </a:p>
          <a:p>
            <a:pPr marL="0" indent="0">
              <a:spcBef>
                <a:spcPts val="200"/>
              </a:spcBef>
              <a:buNone/>
            </a:pPr>
            <a:r>
              <a:rPr lang="en-IN" sz="1800" dirty="0" smtClean="0"/>
              <a:t>        </a:t>
            </a:r>
            <a:r>
              <a:rPr lang="en-IN" sz="1800" dirty="0" err="1" smtClean="0"/>
              <a:t>System.out.println</a:t>
            </a:r>
            <a:r>
              <a:rPr lang="en-IN" sz="1800" dirty="0" smtClean="0"/>
              <a:t>("Protected method in Animal");</a:t>
            </a:r>
            <a:endParaRPr lang="en-IN" sz="1800" dirty="0" smtClean="0"/>
          </a:p>
          <a:p>
            <a:pPr marL="0" indent="0">
              <a:spcBef>
                <a:spcPts val="200"/>
              </a:spcBef>
              <a:buNone/>
            </a:pPr>
            <a:r>
              <a:rPr lang="en-IN" sz="1800" dirty="0" smtClean="0"/>
              <a:t>    }</a:t>
            </a:r>
            <a:endParaRPr lang="en-IN" sz="1800" dirty="0" smtClean="0"/>
          </a:p>
          <a:p>
            <a:pPr marL="0" indent="0">
              <a:spcBef>
                <a:spcPts val="200"/>
              </a:spcBef>
              <a:buNone/>
            </a:pPr>
            <a:r>
              <a:rPr lang="en-IN" sz="1800" dirty="0" smtClean="0"/>
              <a:t>}</a:t>
            </a:r>
            <a:endParaRPr lang="en-IN" sz="1800" dirty="0" smtClean="0"/>
          </a:p>
          <a:p>
            <a:pPr marL="0" indent="0">
              <a:spcBef>
                <a:spcPts val="200"/>
              </a:spcBef>
              <a:buNone/>
            </a:pPr>
            <a:r>
              <a:rPr lang="en-IN" sz="1800" dirty="0" smtClean="0"/>
              <a:t>class Dog extends Animal {             // Subclass in the same package</a:t>
            </a:r>
            <a:endParaRPr lang="en-IN" sz="1800" dirty="0" smtClean="0"/>
          </a:p>
          <a:p>
            <a:pPr marL="0" indent="0">
              <a:spcBef>
                <a:spcPts val="200"/>
              </a:spcBef>
              <a:buNone/>
            </a:pPr>
            <a:r>
              <a:rPr lang="en-IN" sz="1800" dirty="0" smtClean="0"/>
              <a:t>    public void </a:t>
            </a:r>
            <a:r>
              <a:rPr lang="en-IN" sz="1800" dirty="0" err="1" smtClean="0"/>
              <a:t>showInfo</a:t>
            </a:r>
            <a:r>
              <a:rPr lang="en-IN" sz="1800" dirty="0" smtClean="0"/>
              <a:t>() {</a:t>
            </a:r>
            <a:endParaRPr lang="en-IN" sz="1800" dirty="0" smtClean="0"/>
          </a:p>
          <a:p>
            <a:pPr marL="0" indent="0">
              <a:spcBef>
                <a:spcPts val="200"/>
              </a:spcBef>
              <a:buNone/>
            </a:pPr>
            <a:r>
              <a:rPr lang="en-IN" sz="1800" dirty="0" smtClean="0"/>
              <a:t>        // </a:t>
            </a:r>
            <a:r>
              <a:rPr lang="en-IN" sz="1800" dirty="0" err="1" smtClean="0"/>
              <a:t>System.out.println</a:t>
            </a:r>
            <a:r>
              <a:rPr lang="en-IN" sz="1800" dirty="0" smtClean="0"/>
              <a:t>(type); // ERROR: private member not accessible</a:t>
            </a:r>
            <a:endParaRPr lang="en-IN" sz="1800" dirty="0" smtClean="0"/>
          </a:p>
          <a:p>
            <a:pPr marL="0" indent="0">
              <a:spcBef>
                <a:spcPts val="200"/>
              </a:spcBef>
              <a:buNone/>
            </a:pPr>
            <a:r>
              <a:rPr lang="en-IN" sz="1800" dirty="0" smtClean="0"/>
              <a:t>        </a:t>
            </a:r>
            <a:r>
              <a:rPr lang="en-IN" sz="1800" dirty="0" err="1" smtClean="0"/>
              <a:t>System.out.println</a:t>
            </a:r>
            <a:r>
              <a:rPr lang="en-IN" sz="1800" dirty="0" smtClean="0"/>
              <a:t>(habitat); // Accessible: default member (same package)</a:t>
            </a:r>
            <a:endParaRPr lang="en-IN" sz="1800" dirty="0" smtClean="0"/>
          </a:p>
          <a:p>
            <a:pPr marL="0" indent="0">
              <a:spcBef>
                <a:spcPts val="200"/>
              </a:spcBef>
              <a:buNone/>
            </a:pPr>
            <a:r>
              <a:rPr lang="en-IN" sz="1800" dirty="0" smtClean="0"/>
              <a:t>        </a:t>
            </a:r>
            <a:r>
              <a:rPr lang="en-IN" sz="1800" dirty="0" err="1" smtClean="0"/>
              <a:t>System.out.println</a:t>
            </a:r>
            <a:r>
              <a:rPr lang="en-IN" sz="1800" dirty="0" smtClean="0"/>
              <a:t>(name);    // Accessible: protected member</a:t>
            </a:r>
            <a:endParaRPr lang="en-IN" sz="1800" dirty="0" smtClean="0"/>
          </a:p>
          <a:p>
            <a:pPr marL="0" indent="0">
              <a:spcBef>
                <a:spcPts val="200"/>
              </a:spcBef>
              <a:buNone/>
            </a:pPr>
            <a:r>
              <a:rPr lang="en-IN" sz="1800" dirty="0" smtClean="0"/>
              <a:t>        </a:t>
            </a:r>
            <a:r>
              <a:rPr lang="en-IN" sz="1800" dirty="0" err="1" smtClean="0"/>
              <a:t>System.out.println</a:t>
            </a:r>
            <a:r>
              <a:rPr lang="en-IN" sz="1800" dirty="0" smtClean="0"/>
              <a:t>(age);     // Accessible: public member</a:t>
            </a:r>
            <a:endParaRPr lang="en-IN" sz="1800" dirty="0" smtClean="0"/>
          </a:p>
          <a:p>
            <a:pPr marL="0" indent="0">
              <a:spcBef>
                <a:spcPts val="200"/>
              </a:spcBef>
              <a:buNone/>
            </a:pPr>
            <a:r>
              <a:rPr lang="en-IN" sz="1800" dirty="0" smtClean="0"/>
              <a:t>        // </a:t>
            </a:r>
            <a:r>
              <a:rPr lang="en-IN" sz="1800" dirty="0" err="1" smtClean="0"/>
              <a:t>privateMethod</a:t>
            </a:r>
            <a:r>
              <a:rPr lang="en-IN" sz="1800" dirty="0" smtClean="0"/>
              <a:t>(); // ERROR: private method not accessible</a:t>
            </a:r>
            <a:endParaRPr lang="en-IN" sz="1800" dirty="0" smtClean="0"/>
          </a:p>
          <a:p>
            <a:pPr marL="0" indent="0">
              <a:spcBef>
                <a:spcPts val="200"/>
              </a:spcBef>
              <a:buNone/>
            </a:pPr>
            <a:r>
              <a:rPr lang="en-IN" sz="1800" dirty="0" smtClean="0"/>
              <a:t>        </a:t>
            </a:r>
            <a:r>
              <a:rPr lang="en-IN" sz="1800" dirty="0" err="1" smtClean="0"/>
              <a:t>protectedMethod</a:t>
            </a:r>
            <a:r>
              <a:rPr lang="en-IN" sz="1800" dirty="0" smtClean="0"/>
              <a:t>(); // Accessible: protected method</a:t>
            </a:r>
            <a:endParaRPr lang="en-IN" sz="1800" dirty="0" smtClean="0"/>
          </a:p>
          <a:p>
            <a:pPr marL="0" indent="0">
              <a:spcBef>
                <a:spcPts val="200"/>
              </a:spcBef>
              <a:buNone/>
            </a:pPr>
            <a:r>
              <a:rPr lang="en-IN" sz="1800" dirty="0" smtClean="0"/>
              <a:t>    }</a:t>
            </a:r>
            <a:endParaRPr lang="en-IN" sz="1800" dirty="0" smtClean="0"/>
          </a:p>
          <a:p>
            <a:pPr marL="0" indent="0">
              <a:spcBef>
                <a:spcPts val="200"/>
              </a:spcBef>
              <a:buNone/>
            </a:pPr>
            <a:r>
              <a:rPr lang="en-IN" sz="1800" dirty="0" smtClean="0"/>
              <a:t>}</a:t>
            </a:r>
            <a:endParaRPr lang="en-IN" sz="1800" dirty="0" smtClean="0"/>
          </a:p>
          <a:p>
            <a:pPr marL="0" indent="0">
              <a:spcBef>
                <a:spcPts val="200"/>
              </a:spcBef>
              <a:buNone/>
            </a:pPr>
            <a:endParaRPr lang="en-IN" sz="1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280" y="202565"/>
            <a:ext cx="11729720" cy="650875"/>
          </a:xfrm>
        </p:spPr>
        <p:txBody>
          <a:bodyPr>
            <a:normAutofit/>
          </a:bodyPr>
          <a:lstStyle/>
          <a:p>
            <a:r>
              <a:rPr lang="en-US" altLang="en-US" sz="3200" b="1" dirty="0" smtClean="0"/>
              <a:t>Protected members are accessible in subclasses in </a:t>
            </a:r>
            <a:r>
              <a:rPr lang="en-US" altLang="en-US" sz="3200" b="1" dirty="0"/>
              <a:t>different packages</a:t>
            </a:r>
            <a:endParaRPr lang="en-IN" sz="3200" b="1" dirty="0"/>
          </a:p>
        </p:txBody>
      </p:sp>
      <p:sp>
        <p:nvSpPr>
          <p:cNvPr id="3" name="Content Placeholder 2"/>
          <p:cNvSpPr>
            <a:spLocks noGrp="1"/>
          </p:cNvSpPr>
          <p:nvPr>
            <p:ph idx="1"/>
          </p:nvPr>
        </p:nvSpPr>
        <p:spPr>
          <a:xfrm>
            <a:off x="208280" y="853440"/>
            <a:ext cx="4861560" cy="3771900"/>
          </a:xfrm>
          <a:ln>
            <a:solidFill>
              <a:schemeClr val="tx1"/>
            </a:solidFill>
          </a:ln>
        </p:spPr>
        <p:txBody>
          <a:bodyPr>
            <a:noAutofit/>
          </a:bodyPr>
          <a:lstStyle/>
          <a:p>
            <a:pPr marL="0" indent="0">
              <a:spcBef>
                <a:spcPts val="200"/>
              </a:spcBef>
              <a:buNone/>
            </a:pPr>
            <a:r>
              <a:rPr lang="en-IN" sz="2000" dirty="0" smtClean="0"/>
              <a:t>// File: Animal.java</a:t>
            </a:r>
            <a:endParaRPr lang="en-IN" sz="2000" dirty="0" smtClean="0"/>
          </a:p>
          <a:p>
            <a:pPr marL="0" indent="0">
              <a:spcBef>
                <a:spcPts val="200"/>
              </a:spcBef>
              <a:buNone/>
            </a:pPr>
            <a:r>
              <a:rPr lang="en-IN" sz="2000" dirty="0" smtClean="0"/>
              <a:t>// Package: </a:t>
            </a:r>
            <a:r>
              <a:rPr lang="en-IN" sz="2000" dirty="0" err="1" smtClean="0"/>
              <a:t>packageA</a:t>
            </a:r>
            <a:endParaRPr lang="en-IN" sz="2000" dirty="0" smtClean="0"/>
          </a:p>
          <a:p>
            <a:pPr marL="0" indent="0">
              <a:spcBef>
                <a:spcPts val="200"/>
              </a:spcBef>
              <a:buNone/>
            </a:pPr>
            <a:r>
              <a:rPr lang="en-IN" sz="2000" dirty="0" smtClean="0"/>
              <a:t>package </a:t>
            </a:r>
            <a:r>
              <a:rPr lang="en-IN" sz="2000" dirty="0" err="1" smtClean="0"/>
              <a:t>packageA</a:t>
            </a:r>
            <a:r>
              <a:rPr lang="en-IN" sz="2000" dirty="0" smtClean="0"/>
              <a:t>;</a:t>
            </a:r>
            <a:endParaRPr lang="en-IN" sz="2000" dirty="0" smtClean="0"/>
          </a:p>
          <a:p>
            <a:pPr marL="0" indent="0">
              <a:spcBef>
                <a:spcPts val="200"/>
              </a:spcBef>
              <a:buNone/>
            </a:pPr>
            <a:r>
              <a:rPr lang="en-IN" sz="2000" dirty="0" smtClean="0"/>
              <a:t>public class Animal {</a:t>
            </a:r>
            <a:endParaRPr lang="en-IN" sz="2000" dirty="0" smtClean="0"/>
          </a:p>
          <a:p>
            <a:pPr marL="0" indent="0">
              <a:spcBef>
                <a:spcPts val="200"/>
              </a:spcBef>
              <a:buNone/>
            </a:pPr>
            <a:r>
              <a:rPr lang="en-IN" sz="2000" dirty="0" smtClean="0"/>
              <a:t>    protected String name; </a:t>
            </a:r>
            <a:endParaRPr lang="en-IN" sz="2000" dirty="0" smtClean="0"/>
          </a:p>
          <a:p>
            <a:pPr marL="0" indent="0">
              <a:spcBef>
                <a:spcPts val="200"/>
              </a:spcBef>
              <a:buNone/>
            </a:pPr>
            <a:r>
              <a:rPr lang="en-IN" sz="2000" dirty="0" smtClean="0"/>
              <a:t>    public Animal(String name) {</a:t>
            </a:r>
            <a:endParaRPr lang="en-IN" sz="2000" dirty="0" smtClean="0"/>
          </a:p>
          <a:p>
            <a:pPr marL="0" indent="0">
              <a:spcBef>
                <a:spcPts val="200"/>
              </a:spcBef>
              <a:buNone/>
            </a:pPr>
            <a:r>
              <a:rPr lang="en-IN" sz="2000" dirty="0" smtClean="0"/>
              <a:t>        this.name = name; </a:t>
            </a:r>
            <a:endParaRPr lang="en-IN" sz="2000" dirty="0" smtClean="0"/>
          </a:p>
          <a:p>
            <a:pPr marL="0" indent="0">
              <a:spcBef>
                <a:spcPts val="200"/>
              </a:spcBef>
              <a:buNone/>
            </a:pPr>
            <a:r>
              <a:rPr lang="en-IN" sz="2000" dirty="0" smtClean="0"/>
              <a:t>    }</a:t>
            </a:r>
            <a:endParaRPr lang="en-IN" sz="2000" dirty="0" smtClean="0"/>
          </a:p>
          <a:p>
            <a:pPr marL="0" indent="0">
              <a:spcBef>
                <a:spcPts val="200"/>
              </a:spcBef>
              <a:buNone/>
            </a:pPr>
            <a:r>
              <a:rPr lang="en-IN" sz="2000" dirty="0" smtClean="0"/>
              <a:t>    protected void display() {</a:t>
            </a:r>
            <a:endParaRPr lang="en-IN" sz="2000" dirty="0" smtClean="0"/>
          </a:p>
          <a:p>
            <a:pPr marL="0" indent="0">
              <a:spcBef>
                <a:spcPts val="200"/>
              </a:spcBef>
              <a:buNone/>
            </a:pPr>
            <a:r>
              <a:rPr lang="en-IN" sz="2000" dirty="0" err="1" smtClean="0"/>
              <a:t>System.out.println</a:t>
            </a:r>
            <a:r>
              <a:rPr lang="en-IN" sz="2000" dirty="0" smtClean="0"/>
              <a:t>("Animal name: " + name);</a:t>
            </a:r>
            <a:endParaRPr lang="en-IN" sz="2000" dirty="0" smtClean="0"/>
          </a:p>
          <a:p>
            <a:pPr marL="0" indent="0">
              <a:spcBef>
                <a:spcPts val="200"/>
              </a:spcBef>
              <a:buNone/>
            </a:pPr>
            <a:r>
              <a:rPr lang="en-IN" sz="2000" dirty="0" smtClean="0"/>
              <a:t>    }</a:t>
            </a:r>
            <a:endParaRPr lang="en-IN" sz="2000" dirty="0" smtClean="0"/>
          </a:p>
          <a:p>
            <a:pPr marL="0" indent="0">
              <a:spcBef>
                <a:spcPts val="200"/>
              </a:spcBef>
              <a:buNone/>
            </a:pPr>
            <a:r>
              <a:rPr lang="en-IN" sz="2000" dirty="0" smtClean="0"/>
              <a:t>}</a:t>
            </a:r>
            <a:endParaRPr lang="en-IN" sz="2000" dirty="0" smtClean="0"/>
          </a:p>
        </p:txBody>
      </p:sp>
      <p:sp>
        <p:nvSpPr>
          <p:cNvPr id="4" name="Content Placeholder 2"/>
          <p:cNvSpPr txBox="1"/>
          <p:nvPr/>
        </p:nvSpPr>
        <p:spPr>
          <a:xfrm>
            <a:off x="5186680" y="863600"/>
            <a:ext cx="6558280" cy="424688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200"/>
              </a:spcBef>
              <a:buNone/>
            </a:pPr>
            <a:r>
              <a:rPr lang="en-IN" sz="2000" dirty="0" smtClean="0"/>
              <a:t>// File: Dog.java</a:t>
            </a:r>
            <a:endParaRPr lang="en-IN" sz="2000" dirty="0" smtClean="0"/>
          </a:p>
          <a:p>
            <a:pPr marL="0" indent="0">
              <a:spcBef>
                <a:spcPts val="200"/>
              </a:spcBef>
              <a:buNone/>
            </a:pPr>
            <a:r>
              <a:rPr lang="en-IN" sz="2000" dirty="0" smtClean="0"/>
              <a:t>// Package: </a:t>
            </a:r>
            <a:r>
              <a:rPr lang="en-IN" sz="2000" dirty="0" err="1" smtClean="0"/>
              <a:t>packageB</a:t>
            </a:r>
            <a:endParaRPr lang="en-IN" sz="2000" dirty="0" smtClean="0"/>
          </a:p>
          <a:p>
            <a:pPr marL="0" indent="0">
              <a:spcBef>
                <a:spcPts val="200"/>
              </a:spcBef>
              <a:buNone/>
            </a:pPr>
            <a:r>
              <a:rPr lang="en-IN" sz="2000" dirty="0" smtClean="0"/>
              <a:t>package </a:t>
            </a:r>
            <a:r>
              <a:rPr lang="en-IN" sz="2000" dirty="0" err="1" smtClean="0"/>
              <a:t>packageB</a:t>
            </a:r>
            <a:r>
              <a:rPr lang="en-IN" sz="2000" dirty="0" smtClean="0"/>
              <a:t>;</a:t>
            </a:r>
            <a:endParaRPr lang="en-IN" sz="2000" dirty="0" smtClean="0"/>
          </a:p>
          <a:p>
            <a:pPr marL="0" indent="0">
              <a:spcBef>
                <a:spcPts val="200"/>
              </a:spcBef>
              <a:buNone/>
            </a:pPr>
            <a:r>
              <a:rPr lang="en-IN" sz="2000" dirty="0" smtClean="0"/>
              <a:t>import </a:t>
            </a:r>
            <a:r>
              <a:rPr lang="en-IN" sz="2000" dirty="0" err="1" smtClean="0"/>
              <a:t>packageA.Animal</a:t>
            </a:r>
            <a:r>
              <a:rPr lang="en-IN" sz="2000" dirty="0" smtClean="0"/>
              <a:t>;</a:t>
            </a:r>
            <a:endParaRPr lang="en-IN" sz="2000" dirty="0" smtClean="0"/>
          </a:p>
          <a:p>
            <a:pPr marL="0" indent="0">
              <a:spcBef>
                <a:spcPts val="200"/>
              </a:spcBef>
              <a:buNone/>
            </a:pPr>
            <a:r>
              <a:rPr lang="en-IN" sz="2000" dirty="0" smtClean="0"/>
              <a:t>public class Dog extends Animal {</a:t>
            </a:r>
            <a:endParaRPr lang="en-IN" sz="2000" dirty="0" smtClean="0"/>
          </a:p>
          <a:p>
            <a:pPr marL="0" indent="0">
              <a:spcBef>
                <a:spcPts val="200"/>
              </a:spcBef>
              <a:buNone/>
            </a:pPr>
            <a:r>
              <a:rPr lang="en-IN" sz="2000" dirty="0" smtClean="0"/>
              <a:t>    public Dog(String name) {</a:t>
            </a:r>
            <a:endParaRPr lang="en-IN" sz="2000" dirty="0" smtClean="0"/>
          </a:p>
          <a:p>
            <a:pPr marL="0" indent="0">
              <a:spcBef>
                <a:spcPts val="200"/>
              </a:spcBef>
              <a:buNone/>
            </a:pPr>
            <a:r>
              <a:rPr lang="en-IN" sz="2000" dirty="0" smtClean="0"/>
              <a:t>this.name = name; // Accessing protected member directly</a:t>
            </a:r>
            <a:endParaRPr lang="en-IN" sz="2000" dirty="0" smtClean="0"/>
          </a:p>
          <a:p>
            <a:pPr marL="0" indent="0">
              <a:spcBef>
                <a:spcPts val="200"/>
              </a:spcBef>
              <a:buNone/>
            </a:pPr>
            <a:r>
              <a:rPr lang="en-IN" sz="2000" dirty="0" smtClean="0"/>
              <a:t>    }</a:t>
            </a:r>
            <a:endParaRPr lang="en-IN" sz="2000" dirty="0" smtClean="0"/>
          </a:p>
          <a:p>
            <a:pPr marL="0" indent="0">
              <a:spcBef>
                <a:spcPts val="200"/>
              </a:spcBef>
              <a:buNone/>
            </a:pPr>
            <a:r>
              <a:rPr lang="en-IN" sz="2000" dirty="0" smtClean="0"/>
              <a:t>    public void </a:t>
            </a:r>
            <a:r>
              <a:rPr lang="en-IN" sz="2000" dirty="0" err="1" smtClean="0"/>
              <a:t>showDetails</a:t>
            </a:r>
            <a:r>
              <a:rPr lang="en-IN" sz="2000" dirty="0" smtClean="0"/>
              <a:t>() {</a:t>
            </a:r>
            <a:endParaRPr lang="en-IN" sz="2000" dirty="0" smtClean="0"/>
          </a:p>
          <a:p>
            <a:pPr marL="0" indent="0">
              <a:spcBef>
                <a:spcPts val="200"/>
              </a:spcBef>
              <a:buNone/>
            </a:pPr>
            <a:r>
              <a:rPr lang="en-IN" sz="2000" dirty="0" smtClean="0"/>
              <a:t>        </a:t>
            </a:r>
            <a:r>
              <a:rPr lang="en-IN" sz="2000" dirty="0" err="1" smtClean="0"/>
              <a:t>System.out.println</a:t>
            </a:r>
            <a:r>
              <a:rPr lang="en-IN" sz="2000" dirty="0" smtClean="0"/>
              <a:t>("Dog name: " + name); // Accessing protected member directly</a:t>
            </a:r>
            <a:endParaRPr lang="en-IN" sz="2000" dirty="0" smtClean="0"/>
          </a:p>
          <a:p>
            <a:pPr marL="0" indent="0">
              <a:spcBef>
                <a:spcPts val="200"/>
              </a:spcBef>
              <a:buNone/>
            </a:pPr>
            <a:r>
              <a:rPr lang="en-IN" sz="2000" dirty="0" smtClean="0"/>
              <a:t>        display(); // Calling protected method</a:t>
            </a:r>
            <a:endParaRPr lang="en-IN" sz="2000" dirty="0" smtClean="0"/>
          </a:p>
          <a:p>
            <a:pPr marL="0" indent="0">
              <a:spcBef>
                <a:spcPts val="200"/>
              </a:spcBef>
              <a:buNone/>
            </a:pPr>
            <a:r>
              <a:rPr lang="en-IN" sz="2000" dirty="0" smtClean="0"/>
              <a:t>    }</a:t>
            </a:r>
            <a:endParaRPr lang="en-IN" sz="2000" dirty="0" smtClean="0"/>
          </a:p>
          <a:p>
            <a:pPr marL="0" indent="0">
              <a:spcBef>
                <a:spcPts val="200"/>
              </a:spcBef>
              <a:buNone/>
            </a:pPr>
            <a:r>
              <a:rPr lang="en-IN" sz="2000" dirty="0" smtClean="0"/>
              <a:t>}</a:t>
            </a:r>
            <a:endParaRPr lang="en-IN" sz="2000" dirty="0" smtClean="0"/>
          </a:p>
        </p:txBody>
      </p:sp>
      <p:graphicFrame>
        <p:nvGraphicFramePr>
          <p:cNvPr id="5" name="Table 4"/>
          <p:cNvGraphicFramePr>
            <a:graphicFrameLocks noGrp="1"/>
          </p:cNvGraphicFramePr>
          <p:nvPr/>
        </p:nvGraphicFramePr>
        <p:xfrm>
          <a:off x="208280" y="4722706"/>
          <a:ext cx="8128000" cy="2560320"/>
        </p:xfrm>
        <a:graphic>
          <a:graphicData uri="http://schemas.openxmlformats.org/drawingml/2006/table">
            <a:tbl>
              <a:tblPr firstRow="1" bandRow="1">
                <a:tableStyleId>{2D5ABB26-0587-4C30-8999-92F81FD0307C}</a:tableStyleId>
              </a:tblPr>
              <a:tblGrid>
                <a:gridCol w="8128000"/>
              </a:tblGrid>
              <a:tr h="370840">
                <a:tc>
                  <a:txBody>
                    <a:bodyPr/>
                    <a:lstStyle/>
                    <a:p>
                      <a:r>
                        <a:rPr lang="en-IN" dirty="0" smtClean="0"/>
                        <a:t>// File: Main.java</a:t>
                      </a:r>
                      <a:endParaRPr lang="en-IN" dirty="0" smtClean="0"/>
                    </a:p>
                    <a:p>
                      <a:r>
                        <a:rPr lang="en-IN" dirty="0" smtClean="0"/>
                        <a:t>// Package: </a:t>
                      </a:r>
                      <a:r>
                        <a:rPr lang="en-IN" dirty="0" err="1" smtClean="0"/>
                        <a:t>packageB</a:t>
                      </a:r>
                      <a:endParaRPr lang="en-IN" dirty="0" smtClean="0"/>
                    </a:p>
                    <a:p>
                      <a:r>
                        <a:rPr lang="en-IN" dirty="0" smtClean="0"/>
                        <a:t>package </a:t>
                      </a:r>
                      <a:r>
                        <a:rPr lang="en-IN" dirty="0" err="1" smtClean="0"/>
                        <a:t>packageB</a:t>
                      </a:r>
                      <a:r>
                        <a:rPr lang="en-IN" dirty="0" smtClean="0"/>
                        <a:t>;</a:t>
                      </a:r>
                      <a:endParaRPr lang="en-IN" dirty="0" smtClean="0"/>
                    </a:p>
                    <a:p>
                      <a:r>
                        <a:rPr lang="en-IN" dirty="0" smtClean="0"/>
                        <a:t>public class Main {</a:t>
                      </a:r>
                      <a:endParaRPr lang="en-IN" dirty="0" smtClean="0"/>
                    </a:p>
                    <a:p>
                      <a:r>
                        <a:rPr lang="en-IN" dirty="0" smtClean="0"/>
                        <a:t>    public static void main(String[] </a:t>
                      </a:r>
                      <a:r>
                        <a:rPr lang="en-IN" dirty="0" err="1" smtClean="0"/>
                        <a:t>args</a:t>
                      </a:r>
                      <a:r>
                        <a:rPr lang="en-IN" dirty="0" smtClean="0"/>
                        <a:t>) {</a:t>
                      </a:r>
                      <a:endParaRPr lang="en-IN" dirty="0" smtClean="0"/>
                    </a:p>
                    <a:p>
                      <a:r>
                        <a:rPr lang="en-IN" dirty="0" smtClean="0"/>
                        <a:t>        Dog </a:t>
                      </a:r>
                      <a:r>
                        <a:rPr lang="en-IN" dirty="0" err="1" smtClean="0"/>
                        <a:t>dog</a:t>
                      </a:r>
                      <a:r>
                        <a:rPr lang="en-IN" dirty="0" smtClean="0"/>
                        <a:t> = new Dog("Buddy");</a:t>
                      </a:r>
                      <a:endParaRPr lang="en-IN" dirty="0" smtClean="0"/>
                    </a:p>
                    <a:p>
                      <a:r>
                        <a:rPr lang="en-IN" dirty="0" smtClean="0"/>
                        <a:t>        </a:t>
                      </a:r>
                      <a:r>
                        <a:rPr lang="en-IN" dirty="0" err="1" smtClean="0"/>
                        <a:t>dog.showDetails</a:t>
                      </a:r>
                      <a:r>
                        <a:rPr lang="en-IN" dirty="0" smtClean="0"/>
                        <a:t>(); // Access protected members</a:t>
                      </a:r>
                      <a:endParaRPr lang="en-IN" dirty="0" smtClean="0"/>
                    </a:p>
                    <a:p>
                      <a:r>
                        <a:rPr lang="en-IN" dirty="0" smtClean="0"/>
                        <a:t>    }</a:t>
                      </a:r>
                      <a:r>
                        <a:rPr lang="en-IN" baseline="0" dirty="0" smtClean="0"/>
                        <a:t>  </a:t>
                      </a:r>
                      <a:r>
                        <a:rPr lang="en-IN" dirty="0" smtClean="0"/>
                        <a:t>}</a:t>
                      </a:r>
                      <a:endParaRPr lang="en-IN" dirty="0" smtClean="0"/>
                    </a:p>
                    <a:p>
                      <a:endParaRPr lang="en-IN" dirty="0"/>
                    </a:p>
                  </a:txBody>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Inheritance</a:t>
            </a:r>
            <a:endParaRPr lang="en-IN" dirty="0"/>
          </a:p>
        </p:txBody>
      </p:sp>
      <p:sp>
        <p:nvSpPr>
          <p:cNvPr id="3" name="Content Placeholder 2"/>
          <p:cNvSpPr>
            <a:spLocks noGrp="1"/>
          </p:cNvSpPr>
          <p:nvPr>
            <p:ph idx="1"/>
          </p:nvPr>
        </p:nvSpPr>
        <p:spPr/>
        <p:txBody>
          <a:bodyPr/>
          <a:lstStyle/>
          <a:p>
            <a:r>
              <a:rPr lang="en-IN" dirty="0" smtClean="0"/>
              <a:t>Single Inheritance</a:t>
            </a:r>
            <a:endParaRPr lang="en-IN" dirty="0" smtClean="0"/>
          </a:p>
          <a:p>
            <a:r>
              <a:rPr lang="en-IN" dirty="0" smtClean="0"/>
              <a:t>Multilevel Inheritance</a:t>
            </a:r>
            <a:endParaRPr lang="en-IN" dirty="0" smtClean="0"/>
          </a:p>
          <a:p>
            <a:r>
              <a:rPr lang="en-IN" dirty="0" smtClean="0"/>
              <a:t>Hierarchical Inheritance</a:t>
            </a:r>
            <a:endParaRPr lang="en-IN" dirty="0" smtClean="0"/>
          </a:p>
          <a:p>
            <a:r>
              <a:rPr lang="en-IN" dirty="0"/>
              <a:t>Multiple Inheritance</a:t>
            </a:r>
            <a:endParaRPr lang="en-IN" dirty="0"/>
          </a:p>
          <a:p>
            <a:pPr marL="0" indent="0">
              <a:buNone/>
            </a:pPr>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5457"/>
          </a:xfrm>
        </p:spPr>
        <p:txBody>
          <a:bodyPr>
            <a:normAutofit fontScale="90000"/>
          </a:bodyPr>
          <a:lstStyle/>
          <a:p>
            <a:r>
              <a:rPr lang="en-IN" dirty="0" smtClean="0"/>
              <a:t>Single Inheritance</a:t>
            </a:r>
            <a:endParaRPr lang="en-IN" dirty="0"/>
          </a:p>
        </p:txBody>
      </p:sp>
      <p:sp>
        <p:nvSpPr>
          <p:cNvPr id="3" name="Content Placeholder 2"/>
          <p:cNvSpPr>
            <a:spLocks noGrp="1"/>
          </p:cNvSpPr>
          <p:nvPr>
            <p:ph idx="1"/>
          </p:nvPr>
        </p:nvSpPr>
        <p:spPr>
          <a:xfrm>
            <a:off x="718127" y="1206787"/>
            <a:ext cx="10515600" cy="5471103"/>
          </a:xfrm>
        </p:spPr>
        <p:txBody>
          <a:bodyPr>
            <a:normAutofit fontScale="85000" lnSpcReduction="20000"/>
          </a:bodyPr>
          <a:lstStyle/>
          <a:p>
            <a:r>
              <a:rPr lang="en-US" dirty="0" smtClean="0"/>
              <a:t>When a class extends only one parent class.</a:t>
            </a:r>
            <a:endParaRPr lang="en-US" dirty="0" smtClean="0"/>
          </a:p>
          <a:p>
            <a:r>
              <a:rPr lang="en-US" dirty="0" smtClean="0"/>
              <a:t>Example: class B extends A </a:t>
            </a:r>
            <a:endParaRPr lang="en-US" dirty="0" smtClean="0"/>
          </a:p>
          <a:p>
            <a:pPr marL="0" indent="0">
              <a:buNone/>
            </a:pPr>
            <a:r>
              <a:rPr lang="en-IN" dirty="0"/>
              <a:t>class Animal{  </a:t>
            </a:r>
            <a:endParaRPr lang="en-IN" dirty="0"/>
          </a:p>
          <a:p>
            <a:pPr marL="0" indent="0">
              <a:buNone/>
            </a:pPr>
            <a:r>
              <a:rPr lang="en-IN" b="1" dirty="0"/>
              <a:t>void</a:t>
            </a:r>
            <a:r>
              <a:rPr lang="en-IN" dirty="0"/>
              <a:t> eat(){</a:t>
            </a:r>
            <a:r>
              <a:rPr lang="en-IN" dirty="0" err="1"/>
              <a:t>System.out.println</a:t>
            </a:r>
            <a:r>
              <a:rPr lang="en-IN" dirty="0"/>
              <a:t>("eating...");}  </a:t>
            </a:r>
            <a:endParaRPr lang="en-IN" dirty="0"/>
          </a:p>
          <a:p>
            <a:pPr marL="0" indent="0">
              <a:buNone/>
            </a:pPr>
            <a:r>
              <a:rPr lang="en-IN" dirty="0"/>
              <a:t>}  </a:t>
            </a:r>
            <a:endParaRPr lang="en-IN" dirty="0"/>
          </a:p>
          <a:p>
            <a:pPr marL="0" indent="0">
              <a:buNone/>
            </a:pPr>
            <a:r>
              <a:rPr lang="en-IN" b="1" dirty="0"/>
              <a:t>class</a:t>
            </a:r>
            <a:r>
              <a:rPr lang="en-IN" dirty="0"/>
              <a:t> Dog </a:t>
            </a:r>
            <a:r>
              <a:rPr lang="en-IN" b="1" dirty="0"/>
              <a:t>extends</a:t>
            </a:r>
            <a:r>
              <a:rPr lang="en-IN" dirty="0"/>
              <a:t> Animal{  </a:t>
            </a:r>
            <a:endParaRPr lang="en-IN" dirty="0"/>
          </a:p>
          <a:p>
            <a:pPr marL="0" indent="0">
              <a:buNone/>
            </a:pPr>
            <a:r>
              <a:rPr lang="en-IN" b="1" dirty="0"/>
              <a:t>void</a:t>
            </a:r>
            <a:r>
              <a:rPr lang="en-IN" dirty="0"/>
              <a:t> bark(){</a:t>
            </a:r>
            <a:r>
              <a:rPr lang="en-IN" dirty="0" err="1"/>
              <a:t>System.out.println</a:t>
            </a:r>
            <a:r>
              <a:rPr lang="en-IN" dirty="0"/>
              <a:t>("barking...");}  </a:t>
            </a:r>
            <a:endParaRPr lang="en-IN" dirty="0"/>
          </a:p>
          <a:p>
            <a:pPr marL="0" indent="0">
              <a:buNone/>
            </a:pPr>
            <a:r>
              <a:rPr lang="en-IN" dirty="0"/>
              <a:t>}  </a:t>
            </a:r>
            <a:endParaRPr lang="en-IN" dirty="0"/>
          </a:p>
          <a:p>
            <a:pPr marL="0" indent="0">
              <a:buNone/>
            </a:pPr>
            <a:r>
              <a:rPr lang="en-IN" b="1" dirty="0"/>
              <a:t>class</a:t>
            </a:r>
            <a:r>
              <a:rPr lang="en-IN" dirty="0"/>
              <a:t> </a:t>
            </a:r>
            <a:r>
              <a:rPr lang="en-IN" dirty="0" err="1"/>
              <a:t>TestInheritance</a:t>
            </a:r>
            <a:r>
              <a:rPr lang="en-IN" dirty="0"/>
              <a:t>{  </a:t>
            </a:r>
            <a:endParaRPr lang="en-IN" dirty="0"/>
          </a:p>
          <a:p>
            <a:pPr marL="0" indent="0">
              <a:buNone/>
            </a:pPr>
            <a:r>
              <a:rPr lang="en-IN" b="1" dirty="0"/>
              <a:t>public</a:t>
            </a:r>
            <a:r>
              <a:rPr lang="en-IN" dirty="0"/>
              <a:t> </a:t>
            </a:r>
            <a:r>
              <a:rPr lang="en-IN" b="1" dirty="0"/>
              <a:t>static</a:t>
            </a:r>
            <a:r>
              <a:rPr lang="en-IN" dirty="0"/>
              <a:t> </a:t>
            </a:r>
            <a:r>
              <a:rPr lang="en-IN" b="1" dirty="0"/>
              <a:t>void</a:t>
            </a:r>
            <a:r>
              <a:rPr lang="en-IN" dirty="0"/>
              <a:t> main(String </a:t>
            </a:r>
            <a:r>
              <a:rPr lang="en-IN" dirty="0" err="1"/>
              <a:t>args</a:t>
            </a:r>
            <a:r>
              <a:rPr lang="en-IN" dirty="0"/>
              <a:t>[]){  </a:t>
            </a:r>
            <a:endParaRPr lang="en-IN" dirty="0"/>
          </a:p>
          <a:p>
            <a:pPr marL="0" indent="0">
              <a:buNone/>
            </a:pPr>
            <a:r>
              <a:rPr lang="en-IN" dirty="0"/>
              <a:t>Dog d=</a:t>
            </a:r>
            <a:r>
              <a:rPr lang="en-IN" b="1" dirty="0"/>
              <a:t>new</a:t>
            </a:r>
            <a:r>
              <a:rPr lang="en-IN" dirty="0"/>
              <a:t> Dog();  </a:t>
            </a:r>
            <a:endParaRPr lang="en-IN" dirty="0"/>
          </a:p>
          <a:p>
            <a:pPr marL="0" indent="0">
              <a:buNone/>
            </a:pPr>
            <a:r>
              <a:rPr lang="en-IN" dirty="0" err="1"/>
              <a:t>d.bark</a:t>
            </a:r>
            <a:r>
              <a:rPr lang="en-IN" dirty="0"/>
              <a:t>();  </a:t>
            </a:r>
            <a:endParaRPr lang="en-IN" dirty="0"/>
          </a:p>
          <a:p>
            <a:pPr marL="0" indent="0">
              <a:buNone/>
            </a:pPr>
            <a:r>
              <a:rPr lang="en-IN" dirty="0" err="1"/>
              <a:t>d.eat</a:t>
            </a:r>
            <a:r>
              <a:rPr lang="en-IN" dirty="0"/>
              <a:t>();  </a:t>
            </a:r>
            <a:endParaRPr lang="en-IN" dirty="0"/>
          </a:p>
          <a:p>
            <a:pPr marL="0" indent="0">
              <a:buNone/>
            </a:pPr>
            <a:r>
              <a:rPr lang="en-IN" dirty="0"/>
              <a:t>}}  </a:t>
            </a:r>
            <a:endParaRPr lang="en-IN" dirty="0"/>
          </a:p>
          <a:p>
            <a:endParaRPr lang="en-US" dirty="0" smtClean="0"/>
          </a:p>
          <a:p>
            <a:endParaRPr lang="en-IN" dirty="0"/>
          </a:p>
        </p:txBody>
      </p:sp>
      <p:sp>
        <p:nvSpPr>
          <p:cNvPr id="5" name="Rectangle 4"/>
          <p:cNvSpPr/>
          <p:nvPr/>
        </p:nvSpPr>
        <p:spPr>
          <a:xfrm>
            <a:off x="8497455" y="2179782"/>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a:t>
            </a:r>
            <a:endParaRPr lang="en-IN" dirty="0"/>
          </a:p>
        </p:txBody>
      </p:sp>
      <p:sp>
        <p:nvSpPr>
          <p:cNvPr id="6" name="Rectangle 5"/>
          <p:cNvSpPr/>
          <p:nvPr/>
        </p:nvSpPr>
        <p:spPr>
          <a:xfrm>
            <a:off x="8497454" y="3218873"/>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t>B</a:t>
            </a:r>
            <a:endParaRPr lang="en-IN" dirty="0"/>
          </a:p>
        </p:txBody>
      </p:sp>
      <p:sp>
        <p:nvSpPr>
          <p:cNvPr id="7" name="Down Arrow 6"/>
          <p:cNvSpPr/>
          <p:nvPr/>
        </p:nvSpPr>
        <p:spPr>
          <a:xfrm flipH="1">
            <a:off x="8969707" y="2772252"/>
            <a:ext cx="137347" cy="42853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816" y="69062"/>
            <a:ext cx="10515600" cy="699746"/>
          </a:xfrm>
        </p:spPr>
        <p:txBody>
          <a:bodyPr/>
          <a:lstStyle/>
          <a:p>
            <a:r>
              <a:rPr lang="en-IN" dirty="0" smtClean="0"/>
              <a:t>Multilevel Inheritance</a:t>
            </a:r>
            <a:endParaRPr lang="en-IN" dirty="0"/>
          </a:p>
        </p:txBody>
      </p:sp>
      <p:sp>
        <p:nvSpPr>
          <p:cNvPr id="3" name="Content Placeholder 2"/>
          <p:cNvSpPr>
            <a:spLocks noGrp="1"/>
          </p:cNvSpPr>
          <p:nvPr>
            <p:ph idx="1"/>
          </p:nvPr>
        </p:nvSpPr>
        <p:spPr>
          <a:xfrm>
            <a:off x="234155" y="677367"/>
            <a:ext cx="11658704" cy="5896153"/>
          </a:xfrm>
        </p:spPr>
        <p:txBody>
          <a:bodyPr>
            <a:noAutofit/>
          </a:bodyPr>
          <a:lstStyle/>
          <a:p>
            <a:pPr>
              <a:spcBef>
                <a:spcPts val="100"/>
              </a:spcBef>
            </a:pPr>
            <a:r>
              <a:rPr lang="en-US" dirty="0"/>
              <a:t>When there is a chain of inheritance, it is known as </a:t>
            </a:r>
            <a:r>
              <a:rPr lang="en-US" i="1" dirty="0"/>
              <a:t>multilevel inheritance</a:t>
            </a:r>
            <a:r>
              <a:rPr lang="en-US" dirty="0"/>
              <a:t>. </a:t>
            </a:r>
            <a:endParaRPr lang="en-US" dirty="0" smtClean="0"/>
          </a:p>
          <a:p>
            <a:pPr marL="0" indent="0">
              <a:spcBef>
                <a:spcPts val="100"/>
              </a:spcBef>
              <a:buNone/>
            </a:pPr>
            <a:endParaRPr lang="en-IN" sz="2400" dirty="0" smtClean="0"/>
          </a:p>
          <a:p>
            <a:pPr marL="0" indent="0">
              <a:spcBef>
                <a:spcPts val="100"/>
              </a:spcBef>
              <a:buNone/>
            </a:pPr>
            <a:r>
              <a:rPr lang="en-IN" sz="2400" dirty="0" smtClean="0"/>
              <a:t>class</a:t>
            </a:r>
            <a:r>
              <a:rPr lang="en-IN" sz="2400" dirty="0"/>
              <a:t> Animal{  </a:t>
            </a:r>
            <a:endParaRPr lang="en-IN" sz="2400" dirty="0"/>
          </a:p>
          <a:p>
            <a:pPr marL="0" indent="0">
              <a:spcBef>
                <a:spcPts val="100"/>
              </a:spcBef>
              <a:buNone/>
            </a:pPr>
            <a:r>
              <a:rPr lang="en-IN" sz="2400" b="1" dirty="0"/>
              <a:t>void</a:t>
            </a:r>
            <a:r>
              <a:rPr lang="en-IN" sz="2400" dirty="0"/>
              <a:t> eat(){</a:t>
            </a:r>
            <a:r>
              <a:rPr lang="en-IN" sz="2400" dirty="0" err="1"/>
              <a:t>System.out.println</a:t>
            </a:r>
            <a:r>
              <a:rPr lang="en-IN" sz="2400" dirty="0"/>
              <a:t>("eating...");}  </a:t>
            </a:r>
            <a:endParaRPr lang="en-IN" sz="2400" dirty="0"/>
          </a:p>
          <a:p>
            <a:pPr marL="0" indent="0">
              <a:spcBef>
                <a:spcPts val="100"/>
              </a:spcBef>
              <a:buNone/>
            </a:pPr>
            <a:r>
              <a:rPr lang="en-IN" sz="2400" dirty="0"/>
              <a:t>}  </a:t>
            </a:r>
            <a:endParaRPr lang="en-IN" sz="2400" dirty="0"/>
          </a:p>
          <a:p>
            <a:pPr marL="0" indent="0">
              <a:spcBef>
                <a:spcPts val="100"/>
              </a:spcBef>
              <a:buNone/>
            </a:pPr>
            <a:r>
              <a:rPr lang="en-IN" sz="2400" b="1" dirty="0"/>
              <a:t>class</a:t>
            </a:r>
            <a:r>
              <a:rPr lang="en-IN" sz="2400" dirty="0"/>
              <a:t> Dog </a:t>
            </a:r>
            <a:r>
              <a:rPr lang="en-IN" sz="2400" b="1" dirty="0"/>
              <a:t>extends</a:t>
            </a:r>
            <a:r>
              <a:rPr lang="en-IN" sz="2400" dirty="0"/>
              <a:t> Animal{  </a:t>
            </a:r>
            <a:endParaRPr lang="en-IN" sz="2400" dirty="0"/>
          </a:p>
          <a:p>
            <a:pPr marL="0" indent="0">
              <a:spcBef>
                <a:spcPts val="100"/>
              </a:spcBef>
              <a:buNone/>
            </a:pPr>
            <a:r>
              <a:rPr lang="en-IN" sz="2400" b="1" dirty="0"/>
              <a:t>void</a:t>
            </a:r>
            <a:r>
              <a:rPr lang="en-IN" sz="2400" dirty="0"/>
              <a:t> bark(){</a:t>
            </a:r>
            <a:r>
              <a:rPr lang="en-IN" sz="2400" dirty="0" err="1"/>
              <a:t>System.out.println</a:t>
            </a:r>
            <a:r>
              <a:rPr lang="en-IN" sz="2400" dirty="0"/>
              <a:t>("barking...");}  </a:t>
            </a:r>
            <a:endParaRPr lang="en-IN" sz="2400" dirty="0"/>
          </a:p>
          <a:p>
            <a:pPr marL="0" indent="0">
              <a:spcBef>
                <a:spcPts val="100"/>
              </a:spcBef>
              <a:buNone/>
            </a:pPr>
            <a:r>
              <a:rPr lang="en-IN" sz="2400" dirty="0"/>
              <a:t>}  </a:t>
            </a:r>
            <a:endParaRPr lang="en-IN" sz="2400" dirty="0"/>
          </a:p>
          <a:p>
            <a:pPr marL="0" indent="0">
              <a:spcBef>
                <a:spcPts val="100"/>
              </a:spcBef>
              <a:buNone/>
            </a:pPr>
            <a:r>
              <a:rPr lang="en-IN" sz="2400" b="1" dirty="0"/>
              <a:t>class</a:t>
            </a:r>
            <a:r>
              <a:rPr lang="en-IN" sz="2400" dirty="0"/>
              <a:t> </a:t>
            </a:r>
            <a:r>
              <a:rPr lang="en-IN" sz="2400" dirty="0" err="1"/>
              <a:t>BabyDog</a:t>
            </a:r>
            <a:r>
              <a:rPr lang="en-IN" sz="2400" dirty="0"/>
              <a:t> </a:t>
            </a:r>
            <a:r>
              <a:rPr lang="en-IN" sz="2400" b="1" dirty="0"/>
              <a:t>extends</a:t>
            </a:r>
            <a:r>
              <a:rPr lang="en-IN" sz="2400" dirty="0"/>
              <a:t> Dog{  </a:t>
            </a:r>
            <a:endParaRPr lang="en-IN" sz="2400" dirty="0"/>
          </a:p>
          <a:p>
            <a:pPr marL="0" indent="0">
              <a:spcBef>
                <a:spcPts val="100"/>
              </a:spcBef>
              <a:buNone/>
            </a:pPr>
            <a:r>
              <a:rPr lang="en-IN" sz="2400" b="1" dirty="0"/>
              <a:t>void</a:t>
            </a:r>
            <a:r>
              <a:rPr lang="en-IN" sz="2400" dirty="0"/>
              <a:t> weep(){</a:t>
            </a:r>
            <a:r>
              <a:rPr lang="en-IN" sz="2400" dirty="0" err="1"/>
              <a:t>System.out.println</a:t>
            </a:r>
            <a:r>
              <a:rPr lang="en-IN" sz="2400" dirty="0"/>
              <a:t>("weeping...");}  </a:t>
            </a:r>
            <a:endParaRPr lang="en-IN" sz="2400" dirty="0"/>
          </a:p>
          <a:p>
            <a:pPr marL="0" indent="0">
              <a:spcBef>
                <a:spcPts val="100"/>
              </a:spcBef>
              <a:buNone/>
            </a:pPr>
            <a:r>
              <a:rPr lang="en-IN" sz="2400" dirty="0"/>
              <a:t>}  </a:t>
            </a:r>
            <a:endParaRPr lang="en-IN" sz="2400" dirty="0"/>
          </a:p>
          <a:p>
            <a:pPr marL="0" indent="0">
              <a:spcBef>
                <a:spcPts val="100"/>
              </a:spcBef>
              <a:buNone/>
            </a:pPr>
            <a:r>
              <a:rPr lang="en-IN" sz="2400" b="1" dirty="0"/>
              <a:t>class</a:t>
            </a:r>
            <a:r>
              <a:rPr lang="en-IN" sz="2400" dirty="0"/>
              <a:t> TestInheritance2{  </a:t>
            </a:r>
            <a:endParaRPr lang="en-IN" sz="2400" dirty="0"/>
          </a:p>
          <a:p>
            <a:pPr marL="0" indent="0">
              <a:spcBef>
                <a:spcPts val="100"/>
              </a:spcBef>
              <a:buNone/>
            </a:pPr>
            <a:r>
              <a:rPr lang="en-IN" sz="2400" b="1" dirty="0"/>
              <a:t>public</a:t>
            </a:r>
            <a:r>
              <a:rPr lang="en-IN" sz="2400" dirty="0"/>
              <a:t> </a:t>
            </a:r>
            <a:r>
              <a:rPr lang="en-IN" sz="2400" b="1" dirty="0"/>
              <a:t>static</a:t>
            </a:r>
            <a:r>
              <a:rPr lang="en-IN" sz="2400" dirty="0"/>
              <a:t> </a:t>
            </a:r>
            <a:r>
              <a:rPr lang="en-IN" sz="2400" b="1" dirty="0"/>
              <a:t>void</a:t>
            </a:r>
            <a:r>
              <a:rPr lang="en-IN" sz="2400" dirty="0"/>
              <a:t> main(String </a:t>
            </a:r>
            <a:r>
              <a:rPr lang="en-IN" sz="2400" dirty="0" err="1"/>
              <a:t>args</a:t>
            </a:r>
            <a:r>
              <a:rPr lang="en-IN" sz="2400" dirty="0"/>
              <a:t>[]){  </a:t>
            </a:r>
            <a:endParaRPr lang="en-IN" sz="2400" dirty="0"/>
          </a:p>
          <a:p>
            <a:pPr marL="0" indent="0">
              <a:spcBef>
                <a:spcPts val="100"/>
              </a:spcBef>
              <a:buNone/>
            </a:pPr>
            <a:r>
              <a:rPr lang="en-IN" sz="2400" dirty="0" err="1"/>
              <a:t>BabyDog</a:t>
            </a:r>
            <a:r>
              <a:rPr lang="en-IN" sz="2400" dirty="0"/>
              <a:t> d=</a:t>
            </a:r>
            <a:r>
              <a:rPr lang="en-IN" sz="2400" b="1" dirty="0"/>
              <a:t>new</a:t>
            </a:r>
            <a:r>
              <a:rPr lang="en-IN" sz="2400" dirty="0"/>
              <a:t> </a:t>
            </a:r>
            <a:r>
              <a:rPr lang="en-IN" sz="2400" dirty="0" err="1"/>
              <a:t>BabyDog</a:t>
            </a:r>
            <a:r>
              <a:rPr lang="en-IN" sz="2400" dirty="0"/>
              <a:t>();  </a:t>
            </a:r>
            <a:endParaRPr lang="en-IN" sz="2400" dirty="0"/>
          </a:p>
          <a:p>
            <a:pPr marL="0" indent="0">
              <a:spcBef>
                <a:spcPts val="100"/>
              </a:spcBef>
              <a:buNone/>
            </a:pPr>
            <a:r>
              <a:rPr lang="en-IN" sz="2400" dirty="0" err="1"/>
              <a:t>d.weep</a:t>
            </a:r>
            <a:r>
              <a:rPr lang="en-IN" sz="2400" dirty="0"/>
              <a:t>();  </a:t>
            </a:r>
            <a:endParaRPr lang="en-IN" sz="2400" dirty="0"/>
          </a:p>
          <a:p>
            <a:pPr marL="0" indent="0">
              <a:spcBef>
                <a:spcPts val="100"/>
              </a:spcBef>
              <a:buNone/>
            </a:pPr>
            <a:r>
              <a:rPr lang="en-IN" sz="2400" dirty="0" err="1"/>
              <a:t>d.bark</a:t>
            </a:r>
            <a:r>
              <a:rPr lang="en-IN" sz="2400" dirty="0"/>
              <a:t>();  </a:t>
            </a:r>
            <a:endParaRPr lang="en-IN" sz="2400" dirty="0"/>
          </a:p>
          <a:p>
            <a:pPr marL="0" indent="0">
              <a:spcBef>
                <a:spcPts val="100"/>
              </a:spcBef>
              <a:buNone/>
            </a:pPr>
            <a:r>
              <a:rPr lang="en-IN" sz="2400" dirty="0" err="1"/>
              <a:t>d.eat</a:t>
            </a:r>
            <a:r>
              <a:rPr lang="en-IN" sz="2400" dirty="0"/>
              <a:t>();  </a:t>
            </a:r>
            <a:endParaRPr lang="en-IN" sz="2400" dirty="0"/>
          </a:p>
          <a:p>
            <a:pPr marL="0" indent="0">
              <a:spcBef>
                <a:spcPts val="100"/>
              </a:spcBef>
              <a:buNone/>
            </a:pPr>
            <a:r>
              <a:rPr lang="en-IN" sz="2400" dirty="0"/>
              <a:t>}} </a:t>
            </a:r>
            <a:endParaRPr lang="en-IN" sz="2400" dirty="0"/>
          </a:p>
          <a:p>
            <a:pPr>
              <a:spcBef>
                <a:spcPts val="100"/>
              </a:spcBef>
            </a:pPr>
            <a:endParaRPr lang="en-IN" sz="2400" dirty="0"/>
          </a:p>
        </p:txBody>
      </p:sp>
      <p:sp>
        <p:nvSpPr>
          <p:cNvPr id="4" name="Rectangle 3"/>
          <p:cNvSpPr/>
          <p:nvPr/>
        </p:nvSpPr>
        <p:spPr>
          <a:xfrm>
            <a:off x="10638770" y="2214507"/>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a:t>
            </a:r>
            <a:endParaRPr lang="en-IN" dirty="0"/>
          </a:p>
        </p:txBody>
      </p:sp>
      <p:sp>
        <p:nvSpPr>
          <p:cNvPr id="5" name="Rectangle 4"/>
          <p:cNvSpPr/>
          <p:nvPr/>
        </p:nvSpPr>
        <p:spPr>
          <a:xfrm>
            <a:off x="10638769" y="3253598"/>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t>B</a:t>
            </a:r>
            <a:endParaRPr lang="en-IN" dirty="0"/>
          </a:p>
        </p:txBody>
      </p:sp>
      <p:sp>
        <p:nvSpPr>
          <p:cNvPr id="6" name="Down Arrow 5"/>
          <p:cNvSpPr/>
          <p:nvPr/>
        </p:nvSpPr>
        <p:spPr>
          <a:xfrm flipH="1">
            <a:off x="11111022" y="2806977"/>
            <a:ext cx="137347" cy="42853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Rectangle 6"/>
          <p:cNvSpPr/>
          <p:nvPr/>
        </p:nvSpPr>
        <p:spPr>
          <a:xfrm>
            <a:off x="10648604" y="4292689"/>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a:t>
            </a:r>
            <a:endParaRPr lang="en-IN" dirty="0"/>
          </a:p>
        </p:txBody>
      </p:sp>
      <p:sp>
        <p:nvSpPr>
          <p:cNvPr id="8" name="Down Arrow 7"/>
          <p:cNvSpPr/>
          <p:nvPr/>
        </p:nvSpPr>
        <p:spPr>
          <a:xfrm flipH="1">
            <a:off x="11097171" y="3846066"/>
            <a:ext cx="137347" cy="42853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040" y="172085"/>
            <a:ext cx="10515600" cy="305435"/>
          </a:xfrm>
        </p:spPr>
        <p:txBody>
          <a:bodyPr>
            <a:normAutofit fontScale="90000"/>
          </a:bodyPr>
          <a:lstStyle/>
          <a:p>
            <a:r>
              <a:rPr lang="en-IN" dirty="0" smtClean="0"/>
              <a:t>Order of Execution of constructors</a:t>
            </a:r>
            <a:endParaRPr lang="en-IN" dirty="0"/>
          </a:p>
        </p:txBody>
      </p:sp>
      <p:sp>
        <p:nvSpPr>
          <p:cNvPr id="3" name="Content Placeholder 2"/>
          <p:cNvSpPr>
            <a:spLocks noGrp="1"/>
          </p:cNvSpPr>
          <p:nvPr>
            <p:ph idx="1"/>
          </p:nvPr>
        </p:nvSpPr>
        <p:spPr>
          <a:xfrm>
            <a:off x="320040" y="677544"/>
            <a:ext cx="7401560" cy="6180456"/>
          </a:xfrm>
        </p:spPr>
        <p:txBody>
          <a:bodyPr>
            <a:noAutofit/>
          </a:bodyPr>
          <a:lstStyle/>
          <a:p>
            <a:pPr>
              <a:spcBef>
                <a:spcPts val="200"/>
              </a:spcBef>
            </a:pPr>
            <a:r>
              <a:rPr lang="en-US" sz="1800" dirty="0"/>
              <a:t> Order of execution of constructors is </a:t>
            </a:r>
            <a:r>
              <a:rPr lang="en-US" sz="1800" dirty="0" smtClean="0"/>
              <a:t>from superclass to subclass, or base to derived class.</a:t>
            </a:r>
            <a:endParaRPr lang="en-US" sz="1800" dirty="0" smtClean="0"/>
          </a:p>
          <a:p>
            <a:pPr>
              <a:spcBef>
                <a:spcPts val="200"/>
              </a:spcBef>
            </a:pPr>
            <a:endParaRPr lang="en-US" sz="1800" dirty="0" smtClean="0"/>
          </a:p>
          <a:p>
            <a:pPr marL="0" indent="0">
              <a:spcBef>
                <a:spcPts val="200"/>
              </a:spcBef>
              <a:buNone/>
            </a:pPr>
            <a:r>
              <a:rPr lang="en-IN" sz="1800" dirty="0" smtClean="0"/>
              <a:t>class Animal {</a:t>
            </a:r>
            <a:endParaRPr lang="en-IN" sz="1800" dirty="0" smtClean="0"/>
          </a:p>
          <a:p>
            <a:pPr marL="0" indent="0">
              <a:spcBef>
                <a:spcPts val="200"/>
              </a:spcBef>
              <a:buNone/>
            </a:pPr>
            <a:r>
              <a:rPr lang="en-IN" sz="1800" dirty="0" smtClean="0"/>
              <a:t>    public Animal() {</a:t>
            </a:r>
            <a:endParaRPr lang="en-IN" sz="1800" dirty="0" smtClean="0"/>
          </a:p>
          <a:p>
            <a:pPr marL="0" indent="0">
              <a:spcBef>
                <a:spcPts val="200"/>
              </a:spcBef>
              <a:buNone/>
            </a:pPr>
            <a:r>
              <a:rPr lang="en-IN" sz="1800" dirty="0" smtClean="0"/>
              <a:t>        </a:t>
            </a:r>
            <a:r>
              <a:rPr lang="en-IN" sz="1800" dirty="0" err="1" smtClean="0"/>
              <a:t>System.out.println</a:t>
            </a:r>
            <a:r>
              <a:rPr lang="en-IN" sz="1800" dirty="0" smtClean="0"/>
              <a:t>("Animal constructor called.");</a:t>
            </a:r>
            <a:endParaRPr lang="en-IN" sz="1800" dirty="0" smtClean="0"/>
          </a:p>
          <a:p>
            <a:pPr marL="0" indent="0">
              <a:spcBef>
                <a:spcPts val="200"/>
              </a:spcBef>
              <a:buNone/>
            </a:pPr>
            <a:r>
              <a:rPr lang="en-IN" sz="1800" dirty="0" smtClean="0"/>
              <a:t>    }</a:t>
            </a:r>
            <a:endParaRPr lang="en-IN" sz="1800" dirty="0" smtClean="0"/>
          </a:p>
          <a:p>
            <a:pPr marL="0" indent="0">
              <a:spcBef>
                <a:spcPts val="200"/>
              </a:spcBef>
              <a:buNone/>
            </a:pPr>
            <a:r>
              <a:rPr lang="en-IN" sz="1800" dirty="0" smtClean="0"/>
              <a:t>}</a:t>
            </a:r>
            <a:endParaRPr lang="en-IN" sz="1800" dirty="0" smtClean="0"/>
          </a:p>
          <a:p>
            <a:pPr marL="0" indent="0">
              <a:spcBef>
                <a:spcPts val="200"/>
              </a:spcBef>
              <a:buNone/>
            </a:pPr>
            <a:r>
              <a:rPr lang="en-IN" sz="1800" dirty="0" smtClean="0"/>
              <a:t>class Mammal extends Animal {</a:t>
            </a:r>
            <a:endParaRPr lang="en-IN" sz="1800" dirty="0" smtClean="0"/>
          </a:p>
          <a:p>
            <a:pPr marL="0" indent="0">
              <a:spcBef>
                <a:spcPts val="200"/>
              </a:spcBef>
              <a:buNone/>
            </a:pPr>
            <a:r>
              <a:rPr lang="en-IN" sz="1800" dirty="0" smtClean="0"/>
              <a:t>    public Mammal() {</a:t>
            </a:r>
            <a:endParaRPr lang="en-IN" sz="1800" dirty="0" smtClean="0"/>
          </a:p>
          <a:p>
            <a:pPr marL="0" indent="0">
              <a:spcBef>
                <a:spcPts val="200"/>
              </a:spcBef>
              <a:buNone/>
            </a:pPr>
            <a:r>
              <a:rPr lang="en-IN" sz="1800" dirty="0" smtClean="0"/>
              <a:t>        </a:t>
            </a:r>
            <a:r>
              <a:rPr lang="en-IN" sz="1800" dirty="0" err="1" smtClean="0"/>
              <a:t>System.out.println</a:t>
            </a:r>
            <a:r>
              <a:rPr lang="en-IN" sz="1800" dirty="0" smtClean="0"/>
              <a:t>("Mammal constructor called.");</a:t>
            </a:r>
            <a:endParaRPr lang="en-IN" sz="1800" dirty="0" smtClean="0"/>
          </a:p>
          <a:p>
            <a:pPr marL="0" indent="0">
              <a:spcBef>
                <a:spcPts val="200"/>
              </a:spcBef>
              <a:buNone/>
            </a:pPr>
            <a:r>
              <a:rPr lang="en-IN" sz="1800" dirty="0" smtClean="0"/>
              <a:t>    }</a:t>
            </a:r>
            <a:endParaRPr lang="en-IN" sz="1800" dirty="0" smtClean="0"/>
          </a:p>
          <a:p>
            <a:pPr marL="0" indent="0">
              <a:spcBef>
                <a:spcPts val="200"/>
              </a:spcBef>
              <a:buNone/>
            </a:pPr>
            <a:r>
              <a:rPr lang="en-IN" sz="1800" dirty="0" smtClean="0"/>
              <a:t>}</a:t>
            </a:r>
            <a:endParaRPr lang="en-IN" sz="1800" dirty="0" smtClean="0"/>
          </a:p>
          <a:p>
            <a:pPr marL="0" indent="0">
              <a:spcBef>
                <a:spcPts val="200"/>
              </a:spcBef>
              <a:buNone/>
            </a:pPr>
            <a:r>
              <a:rPr lang="en-IN" sz="1800" dirty="0" smtClean="0"/>
              <a:t>class Dog extends Mammal {</a:t>
            </a:r>
            <a:endParaRPr lang="en-IN" sz="1800" dirty="0" smtClean="0"/>
          </a:p>
          <a:p>
            <a:pPr marL="0" indent="0">
              <a:spcBef>
                <a:spcPts val="200"/>
              </a:spcBef>
              <a:buNone/>
            </a:pPr>
            <a:r>
              <a:rPr lang="en-IN" sz="1800" dirty="0" smtClean="0"/>
              <a:t>    public Dog() {</a:t>
            </a:r>
            <a:endParaRPr lang="en-IN" sz="1800" dirty="0" smtClean="0"/>
          </a:p>
          <a:p>
            <a:pPr marL="0" indent="0">
              <a:spcBef>
                <a:spcPts val="200"/>
              </a:spcBef>
              <a:buNone/>
            </a:pPr>
            <a:r>
              <a:rPr lang="en-IN" sz="1800" dirty="0" smtClean="0"/>
              <a:t>        </a:t>
            </a:r>
            <a:r>
              <a:rPr lang="en-IN" sz="1800" dirty="0" err="1" smtClean="0"/>
              <a:t>System.out.println</a:t>
            </a:r>
            <a:r>
              <a:rPr lang="en-IN" sz="1800" dirty="0" smtClean="0"/>
              <a:t>("Dog constructor called.");</a:t>
            </a:r>
            <a:endParaRPr lang="en-IN" sz="1800" dirty="0" smtClean="0"/>
          </a:p>
          <a:p>
            <a:pPr marL="0" indent="0">
              <a:spcBef>
                <a:spcPts val="200"/>
              </a:spcBef>
              <a:buNone/>
            </a:pPr>
            <a:r>
              <a:rPr lang="en-IN" sz="1800" dirty="0" smtClean="0"/>
              <a:t>    }</a:t>
            </a:r>
            <a:endParaRPr lang="en-IN" sz="1800" dirty="0" smtClean="0"/>
          </a:p>
          <a:p>
            <a:pPr marL="0" indent="0">
              <a:spcBef>
                <a:spcPts val="200"/>
              </a:spcBef>
              <a:buNone/>
            </a:pPr>
            <a:r>
              <a:rPr lang="en-IN" sz="1800" dirty="0" smtClean="0"/>
              <a:t>}</a:t>
            </a:r>
            <a:endParaRPr lang="en-IN" sz="1800" dirty="0" smtClean="0"/>
          </a:p>
          <a:p>
            <a:pPr marL="0" indent="0">
              <a:spcBef>
                <a:spcPts val="200"/>
              </a:spcBef>
              <a:buNone/>
            </a:pPr>
            <a:r>
              <a:rPr lang="en-IN" sz="1800" dirty="0" smtClean="0"/>
              <a:t>public class Main {</a:t>
            </a:r>
            <a:endParaRPr lang="en-IN" sz="1800" dirty="0" smtClean="0"/>
          </a:p>
          <a:p>
            <a:pPr marL="0" indent="0">
              <a:spcBef>
                <a:spcPts val="200"/>
              </a:spcBef>
              <a:buNone/>
            </a:pPr>
            <a:r>
              <a:rPr lang="en-IN" sz="1800" dirty="0" smtClean="0"/>
              <a:t>    public static void main(String[] </a:t>
            </a:r>
            <a:r>
              <a:rPr lang="en-IN" sz="1800" dirty="0" err="1" smtClean="0"/>
              <a:t>args</a:t>
            </a:r>
            <a:r>
              <a:rPr lang="en-IN" sz="1800" dirty="0" smtClean="0"/>
              <a:t>) {</a:t>
            </a:r>
            <a:endParaRPr lang="en-IN" sz="1800" dirty="0" smtClean="0"/>
          </a:p>
          <a:p>
            <a:pPr marL="0" indent="0">
              <a:spcBef>
                <a:spcPts val="200"/>
              </a:spcBef>
              <a:buNone/>
            </a:pPr>
            <a:r>
              <a:rPr lang="en-IN" sz="1800" dirty="0" smtClean="0"/>
              <a:t>        Dog </a:t>
            </a:r>
            <a:r>
              <a:rPr lang="en-IN" sz="1800" dirty="0" err="1" smtClean="0"/>
              <a:t>dog</a:t>
            </a:r>
            <a:r>
              <a:rPr lang="en-IN" sz="1800" dirty="0" smtClean="0"/>
              <a:t> = new Dog(); // Creating an object of Dog</a:t>
            </a:r>
            <a:endParaRPr lang="en-IN" sz="1800" dirty="0" smtClean="0"/>
          </a:p>
          <a:p>
            <a:pPr marL="0" indent="0">
              <a:spcBef>
                <a:spcPts val="200"/>
              </a:spcBef>
              <a:buNone/>
            </a:pPr>
            <a:r>
              <a:rPr lang="en-IN" sz="1800" dirty="0" smtClean="0"/>
              <a:t>    }</a:t>
            </a:r>
            <a:endParaRPr lang="en-IN" sz="1800" dirty="0" smtClean="0"/>
          </a:p>
          <a:p>
            <a:pPr marL="0" indent="0">
              <a:spcBef>
                <a:spcPts val="200"/>
              </a:spcBef>
              <a:buNone/>
            </a:pPr>
            <a:r>
              <a:rPr lang="en-IN" sz="1800" dirty="0" smtClean="0"/>
              <a:t>}</a:t>
            </a:r>
            <a:endParaRPr lang="en-IN" sz="1800" dirty="0" smtClean="0"/>
          </a:p>
          <a:p>
            <a:endParaRPr lang="en-IN" sz="1200" dirty="0"/>
          </a:p>
        </p:txBody>
      </p:sp>
      <p:sp>
        <p:nvSpPr>
          <p:cNvPr id="4" name="TextBox 3"/>
          <p:cNvSpPr txBox="1"/>
          <p:nvPr/>
        </p:nvSpPr>
        <p:spPr>
          <a:xfrm>
            <a:off x="8321040" y="2875280"/>
            <a:ext cx="2870658" cy="1200329"/>
          </a:xfrm>
          <a:prstGeom prst="rect">
            <a:avLst/>
          </a:prstGeom>
          <a:noFill/>
        </p:spPr>
        <p:txBody>
          <a:bodyPr wrap="none" rtlCol="0">
            <a:spAutoFit/>
          </a:bodyPr>
          <a:lstStyle/>
          <a:p>
            <a:r>
              <a:rPr lang="en-IN" dirty="0" smtClean="0"/>
              <a:t>O/P: </a:t>
            </a:r>
            <a:endParaRPr lang="en-IN" dirty="0" smtClean="0"/>
          </a:p>
          <a:p>
            <a:r>
              <a:rPr lang="en-US" dirty="0" smtClean="0"/>
              <a:t>Animal constructor called. </a:t>
            </a:r>
            <a:endParaRPr lang="en-US" dirty="0" smtClean="0"/>
          </a:p>
          <a:p>
            <a:r>
              <a:rPr lang="en-US" dirty="0" smtClean="0"/>
              <a:t>Mammal constructor called. </a:t>
            </a:r>
            <a:endParaRPr lang="en-US" dirty="0" smtClean="0"/>
          </a:p>
          <a:p>
            <a:r>
              <a:rPr lang="en-US" dirty="0" smtClean="0"/>
              <a:t>Dog constructor called.</a:t>
            </a:r>
            <a:endParaRPr lang="en-IN"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175464"/>
            <a:ext cx="10515600" cy="554210"/>
          </a:xfrm>
        </p:spPr>
        <p:txBody>
          <a:bodyPr>
            <a:normAutofit fontScale="90000"/>
          </a:bodyPr>
          <a:lstStyle/>
          <a:p>
            <a:r>
              <a:rPr lang="en-IN" dirty="0"/>
              <a:t>Hierarchical Inheritance </a:t>
            </a:r>
            <a:endParaRPr lang="en-IN" dirty="0"/>
          </a:p>
        </p:txBody>
      </p:sp>
      <p:sp>
        <p:nvSpPr>
          <p:cNvPr id="3" name="Content Placeholder 2"/>
          <p:cNvSpPr>
            <a:spLocks noGrp="1"/>
          </p:cNvSpPr>
          <p:nvPr>
            <p:ph idx="1"/>
          </p:nvPr>
        </p:nvSpPr>
        <p:spPr>
          <a:xfrm>
            <a:off x="396240" y="914400"/>
            <a:ext cx="10957560" cy="5811520"/>
          </a:xfrm>
        </p:spPr>
        <p:txBody>
          <a:bodyPr>
            <a:normAutofit fontScale="85000" lnSpcReduction="20000"/>
          </a:bodyPr>
          <a:lstStyle/>
          <a:p>
            <a:pPr>
              <a:spcBef>
                <a:spcPts val="100"/>
              </a:spcBef>
            </a:pPr>
            <a:r>
              <a:rPr lang="en-US" sz="3600" dirty="0"/>
              <a:t>When two or more classes inherits a single </a:t>
            </a:r>
            <a:r>
              <a:rPr lang="en-US" sz="3600" dirty="0" smtClean="0"/>
              <a:t>class.</a:t>
            </a:r>
            <a:endParaRPr lang="en-US" sz="3600" dirty="0" smtClean="0"/>
          </a:p>
          <a:p>
            <a:pPr marL="0" indent="0">
              <a:spcBef>
                <a:spcPts val="100"/>
              </a:spcBef>
              <a:buNone/>
            </a:pPr>
            <a:endParaRPr lang="en-US" dirty="0" smtClean="0"/>
          </a:p>
          <a:p>
            <a:pPr marL="0" indent="0">
              <a:spcBef>
                <a:spcPts val="100"/>
              </a:spcBef>
              <a:buNone/>
            </a:pPr>
            <a:r>
              <a:rPr lang="en-IN" sz="3100" dirty="0"/>
              <a:t>class Animal{  </a:t>
            </a:r>
            <a:endParaRPr lang="en-IN" sz="3100" dirty="0"/>
          </a:p>
          <a:p>
            <a:pPr marL="0" indent="0">
              <a:spcBef>
                <a:spcPts val="100"/>
              </a:spcBef>
              <a:buNone/>
            </a:pPr>
            <a:r>
              <a:rPr lang="en-IN" sz="3100" b="1" dirty="0"/>
              <a:t>void</a:t>
            </a:r>
            <a:r>
              <a:rPr lang="en-IN" sz="3100" dirty="0"/>
              <a:t> eat(){</a:t>
            </a:r>
            <a:r>
              <a:rPr lang="en-IN" sz="3100" dirty="0" err="1"/>
              <a:t>System.out.println</a:t>
            </a:r>
            <a:r>
              <a:rPr lang="en-IN" sz="3100" dirty="0"/>
              <a:t>("eating...");}  </a:t>
            </a:r>
            <a:endParaRPr lang="en-IN" sz="3100" dirty="0"/>
          </a:p>
          <a:p>
            <a:pPr marL="0" indent="0">
              <a:spcBef>
                <a:spcPts val="100"/>
              </a:spcBef>
              <a:buNone/>
            </a:pPr>
            <a:r>
              <a:rPr lang="en-IN" sz="3100" dirty="0"/>
              <a:t>}  </a:t>
            </a:r>
            <a:endParaRPr lang="en-IN" sz="3100" dirty="0"/>
          </a:p>
          <a:p>
            <a:pPr marL="0" indent="0">
              <a:spcBef>
                <a:spcPts val="100"/>
              </a:spcBef>
              <a:buNone/>
            </a:pPr>
            <a:r>
              <a:rPr lang="en-IN" sz="3100" b="1" dirty="0"/>
              <a:t>class</a:t>
            </a:r>
            <a:r>
              <a:rPr lang="en-IN" sz="3100" dirty="0"/>
              <a:t> Dog </a:t>
            </a:r>
            <a:r>
              <a:rPr lang="en-IN" sz="3100" b="1" dirty="0"/>
              <a:t>extends</a:t>
            </a:r>
            <a:r>
              <a:rPr lang="en-IN" sz="3100" dirty="0"/>
              <a:t> Animal{  </a:t>
            </a:r>
            <a:endParaRPr lang="en-IN" sz="3100" dirty="0"/>
          </a:p>
          <a:p>
            <a:pPr marL="0" indent="0">
              <a:spcBef>
                <a:spcPts val="100"/>
              </a:spcBef>
              <a:buNone/>
            </a:pPr>
            <a:r>
              <a:rPr lang="en-IN" sz="3100" b="1" dirty="0"/>
              <a:t>void</a:t>
            </a:r>
            <a:r>
              <a:rPr lang="en-IN" sz="3100" dirty="0"/>
              <a:t> bark(){</a:t>
            </a:r>
            <a:r>
              <a:rPr lang="en-IN" sz="3100" dirty="0" err="1"/>
              <a:t>System.out.println</a:t>
            </a:r>
            <a:r>
              <a:rPr lang="en-IN" sz="3100" dirty="0"/>
              <a:t>("barking...");}  </a:t>
            </a:r>
            <a:endParaRPr lang="en-IN" sz="3100" dirty="0"/>
          </a:p>
          <a:p>
            <a:pPr marL="0" indent="0">
              <a:spcBef>
                <a:spcPts val="100"/>
              </a:spcBef>
              <a:buNone/>
            </a:pPr>
            <a:r>
              <a:rPr lang="en-IN" sz="3100" dirty="0"/>
              <a:t>}  </a:t>
            </a:r>
            <a:endParaRPr lang="en-IN" sz="3100" dirty="0"/>
          </a:p>
          <a:p>
            <a:pPr marL="0" indent="0">
              <a:spcBef>
                <a:spcPts val="100"/>
              </a:spcBef>
              <a:buNone/>
            </a:pPr>
            <a:r>
              <a:rPr lang="en-IN" sz="3100" b="1" dirty="0"/>
              <a:t>class</a:t>
            </a:r>
            <a:r>
              <a:rPr lang="en-IN" sz="3100" dirty="0"/>
              <a:t> Cat </a:t>
            </a:r>
            <a:r>
              <a:rPr lang="en-IN" sz="3100" b="1" dirty="0"/>
              <a:t>extends</a:t>
            </a:r>
            <a:r>
              <a:rPr lang="en-IN" sz="3100" dirty="0"/>
              <a:t> Animal{  </a:t>
            </a:r>
            <a:endParaRPr lang="en-IN" sz="3100" dirty="0"/>
          </a:p>
          <a:p>
            <a:pPr marL="0" indent="0">
              <a:spcBef>
                <a:spcPts val="100"/>
              </a:spcBef>
              <a:buNone/>
            </a:pPr>
            <a:r>
              <a:rPr lang="en-IN" sz="3100" b="1" dirty="0"/>
              <a:t>void</a:t>
            </a:r>
            <a:r>
              <a:rPr lang="en-IN" sz="3100" dirty="0"/>
              <a:t> meow(){</a:t>
            </a:r>
            <a:r>
              <a:rPr lang="en-IN" sz="3100" dirty="0" err="1"/>
              <a:t>System.out.println</a:t>
            </a:r>
            <a:r>
              <a:rPr lang="en-IN" sz="3100" dirty="0"/>
              <a:t>("meowing...");}  </a:t>
            </a:r>
            <a:endParaRPr lang="en-IN" sz="3100" dirty="0"/>
          </a:p>
          <a:p>
            <a:pPr marL="0" indent="0">
              <a:spcBef>
                <a:spcPts val="100"/>
              </a:spcBef>
              <a:buNone/>
            </a:pPr>
            <a:r>
              <a:rPr lang="en-IN" sz="3100" dirty="0"/>
              <a:t>}  </a:t>
            </a:r>
            <a:endParaRPr lang="en-IN" sz="3100" dirty="0"/>
          </a:p>
          <a:p>
            <a:pPr marL="0" indent="0">
              <a:spcBef>
                <a:spcPts val="100"/>
              </a:spcBef>
              <a:buNone/>
            </a:pPr>
            <a:r>
              <a:rPr lang="en-IN" sz="3100" b="1" dirty="0"/>
              <a:t>class</a:t>
            </a:r>
            <a:r>
              <a:rPr lang="en-IN" sz="3100" dirty="0"/>
              <a:t> TestInheritance3{  </a:t>
            </a:r>
            <a:endParaRPr lang="en-IN" sz="3100" dirty="0"/>
          </a:p>
          <a:p>
            <a:pPr marL="0" indent="0">
              <a:spcBef>
                <a:spcPts val="100"/>
              </a:spcBef>
              <a:buNone/>
            </a:pPr>
            <a:r>
              <a:rPr lang="en-IN" sz="3100" b="1" dirty="0"/>
              <a:t>public</a:t>
            </a:r>
            <a:r>
              <a:rPr lang="en-IN" sz="3100" dirty="0"/>
              <a:t> </a:t>
            </a:r>
            <a:r>
              <a:rPr lang="en-IN" sz="3100" b="1" dirty="0"/>
              <a:t>static</a:t>
            </a:r>
            <a:r>
              <a:rPr lang="en-IN" sz="3100" dirty="0"/>
              <a:t> </a:t>
            </a:r>
            <a:r>
              <a:rPr lang="en-IN" sz="3100" b="1" dirty="0"/>
              <a:t>void</a:t>
            </a:r>
            <a:r>
              <a:rPr lang="en-IN" sz="3100" dirty="0"/>
              <a:t> main(String </a:t>
            </a:r>
            <a:r>
              <a:rPr lang="en-IN" sz="3100" dirty="0" err="1"/>
              <a:t>args</a:t>
            </a:r>
            <a:r>
              <a:rPr lang="en-IN" sz="3100" dirty="0"/>
              <a:t>[]){  </a:t>
            </a:r>
            <a:endParaRPr lang="en-IN" sz="3100" dirty="0"/>
          </a:p>
          <a:p>
            <a:pPr marL="0" indent="0">
              <a:spcBef>
                <a:spcPts val="100"/>
              </a:spcBef>
              <a:buNone/>
            </a:pPr>
            <a:r>
              <a:rPr lang="en-IN" sz="3100" dirty="0"/>
              <a:t>Cat c=</a:t>
            </a:r>
            <a:r>
              <a:rPr lang="en-IN" sz="3100" b="1" dirty="0"/>
              <a:t>new</a:t>
            </a:r>
            <a:r>
              <a:rPr lang="en-IN" sz="3100" dirty="0"/>
              <a:t> Cat();  </a:t>
            </a:r>
            <a:endParaRPr lang="en-IN" sz="3100" dirty="0"/>
          </a:p>
          <a:p>
            <a:pPr marL="0" indent="0">
              <a:spcBef>
                <a:spcPts val="100"/>
              </a:spcBef>
              <a:buNone/>
            </a:pPr>
            <a:r>
              <a:rPr lang="en-IN" sz="3100" dirty="0" err="1"/>
              <a:t>c.meow</a:t>
            </a:r>
            <a:r>
              <a:rPr lang="en-IN" sz="3100" dirty="0"/>
              <a:t>();  </a:t>
            </a:r>
            <a:endParaRPr lang="en-IN" sz="3100" dirty="0"/>
          </a:p>
          <a:p>
            <a:pPr marL="0" indent="0">
              <a:spcBef>
                <a:spcPts val="100"/>
              </a:spcBef>
              <a:buNone/>
            </a:pPr>
            <a:r>
              <a:rPr lang="en-IN" sz="3100" dirty="0" err="1"/>
              <a:t>c.eat</a:t>
            </a:r>
            <a:r>
              <a:rPr lang="en-IN" sz="3100" dirty="0"/>
              <a:t>();  </a:t>
            </a:r>
            <a:endParaRPr lang="en-IN" sz="3100" dirty="0"/>
          </a:p>
          <a:p>
            <a:pPr marL="0" indent="0">
              <a:spcBef>
                <a:spcPts val="100"/>
              </a:spcBef>
              <a:buNone/>
            </a:pPr>
            <a:r>
              <a:rPr lang="en-IN" sz="3100" dirty="0" smtClean="0"/>
              <a:t>//</a:t>
            </a:r>
            <a:r>
              <a:rPr lang="en-IN" sz="3100" dirty="0" err="1" smtClean="0"/>
              <a:t>c.bark</a:t>
            </a:r>
            <a:r>
              <a:rPr lang="en-IN" sz="3100" dirty="0" smtClean="0"/>
              <a:t>();//Error</a:t>
            </a:r>
            <a:r>
              <a:rPr lang="en-IN" sz="3100" dirty="0"/>
              <a:t>  </a:t>
            </a:r>
            <a:endParaRPr lang="en-IN" sz="3100" dirty="0"/>
          </a:p>
          <a:p>
            <a:pPr marL="0" indent="0">
              <a:spcBef>
                <a:spcPts val="100"/>
              </a:spcBef>
              <a:buNone/>
            </a:pPr>
            <a:r>
              <a:rPr lang="en-IN" sz="3100" dirty="0"/>
              <a:t>}}  </a:t>
            </a:r>
            <a:endParaRPr lang="en-IN" sz="3100" dirty="0"/>
          </a:p>
          <a:p>
            <a:pPr marL="0" indent="0">
              <a:spcBef>
                <a:spcPts val="100"/>
              </a:spcBef>
              <a:buNone/>
            </a:pPr>
            <a:endParaRPr lang="en-IN" dirty="0"/>
          </a:p>
        </p:txBody>
      </p:sp>
      <p:sp>
        <p:nvSpPr>
          <p:cNvPr id="4" name="Rectangle 3"/>
          <p:cNvSpPr/>
          <p:nvPr/>
        </p:nvSpPr>
        <p:spPr>
          <a:xfrm>
            <a:off x="10164208" y="2272380"/>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a:t>
            </a:r>
            <a:endParaRPr lang="en-IN" dirty="0"/>
          </a:p>
        </p:txBody>
      </p:sp>
      <p:sp>
        <p:nvSpPr>
          <p:cNvPr id="5" name="Rectangle 4"/>
          <p:cNvSpPr/>
          <p:nvPr/>
        </p:nvSpPr>
        <p:spPr>
          <a:xfrm>
            <a:off x="9411853" y="3396403"/>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t>B</a:t>
            </a:r>
            <a:endParaRPr lang="en-IN" dirty="0"/>
          </a:p>
        </p:txBody>
      </p:sp>
      <p:sp>
        <p:nvSpPr>
          <p:cNvPr id="6" name="Rectangle 5"/>
          <p:cNvSpPr/>
          <p:nvPr/>
        </p:nvSpPr>
        <p:spPr>
          <a:xfrm>
            <a:off x="10995845" y="3369317"/>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a:t>
            </a:r>
            <a:endParaRPr lang="en-IN" dirty="0"/>
          </a:p>
        </p:txBody>
      </p:sp>
      <p:cxnSp>
        <p:nvCxnSpPr>
          <p:cNvPr id="8" name="Straight Arrow Connector 7"/>
          <p:cNvCxnSpPr>
            <a:stCxn id="4" idx="2"/>
          </p:cNvCxnSpPr>
          <p:nvPr/>
        </p:nvCxnSpPr>
        <p:spPr>
          <a:xfrm flipH="1">
            <a:off x="9942943" y="2863507"/>
            <a:ext cx="752356" cy="5058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a:endCxn id="6" idx="0"/>
          </p:cNvCxnSpPr>
          <p:nvPr/>
        </p:nvCxnSpPr>
        <p:spPr>
          <a:xfrm>
            <a:off x="10677448" y="2863507"/>
            <a:ext cx="849488" cy="5058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Multiple Inheritance</a:t>
            </a:r>
            <a:endParaRPr lang="en-IN" dirty="0"/>
          </a:p>
        </p:txBody>
      </p:sp>
      <p:sp>
        <p:nvSpPr>
          <p:cNvPr id="3" name="Content Placeholder 2"/>
          <p:cNvSpPr>
            <a:spLocks noGrp="1"/>
          </p:cNvSpPr>
          <p:nvPr>
            <p:ph idx="1"/>
          </p:nvPr>
        </p:nvSpPr>
        <p:spPr>
          <a:xfrm>
            <a:off x="350520" y="1757534"/>
            <a:ext cx="8702040" cy="4351338"/>
          </a:xfrm>
        </p:spPr>
        <p:txBody>
          <a:bodyPr/>
          <a:lstStyle/>
          <a:p>
            <a:r>
              <a:rPr lang="en-US" dirty="0"/>
              <a:t>A</a:t>
            </a:r>
            <a:r>
              <a:rPr lang="en-US" dirty="0" smtClean="0"/>
              <a:t> class can inherit from more than one superclass. </a:t>
            </a:r>
            <a:endParaRPr lang="en-US" dirty="0" smtClean="0"/>
          </a:p>
          <a:p>
            <a:r>
              <a:rPr lang="en-US" b="1" dirty="0" smtClean="0"/>
              <a:t>Java doesn’t support multiple inheritance </a:t>
            </a:r>
            <a:r>
              <a:rPr lang="en-IN" b="1" dirty="0"/>
              <a:t>with classes</a:t>
            </a:r>
            <a:r>
              <a:rPr lang="en-US" b="1" dirty="0" smtClean="0"/>
              <a:t>.</a:t>
            </a:r>
            <a:endParaRPr lang="en-US" b="1" dirty="0" smtClean="0"/>
          </a:p>
          <a:p>
            <a:r>
              <a:rPr lang="en-US" dirty="0"/>
              <a:t>In Java, we can achieve multiple inheritances only through </a:t>
            </a:r>
            <a:r>
              <a:rPr lang="en-US" u="sng" dirty="0" smtClean="0"/>
              <a:t>Interfaces.</a:t>
            </a:r>
            <a:endParaRPr lang="en-US" u="sng" dirty="0" smtClean="0"/>
          </a:p>
          <a:p>
            <a:endParaRPr lang="en-IN" b="1" dirty="0"/>
          </a:p>
        </p:txBody>
      </p:sp>
      <p:sp>
        <p:nvSpPr>
          <p:cNvPr id="4" name="Rectangle 3"/>
          <p:cNvSpPr/>
          <p:nvPr/>
        </p:nvSpPr>
        <p:spPr>
          <a:xfrm>
            <a:off x="10723008" y="2288288"/>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a:t>
            </a:r>
            <a:endParaRPr lang="en-IN" dirty="0"/>
          </a:p>
        </p:txBody>
      </p:sp>
      <p:sp>
        <p:nvSpPr>
          <p:cNvPr id="5" name="Rectangle 4"/>
          <p:cNvSpPr/>
          <p:nvPr/>
        </p:nvSpPr>
        <p:spPr>
          <a:xfrm>
            <a:off x="9249297" y="2288287"/>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t>B</a:t>
            </a:r>
            <a:endParaRPr lang="en-IN" dirty="0"/>
          </a:p>
        </p:txBody>
      </p:sp>
      <p:sp>
        <p:nvSpPr>
          <p:cNvPr id="6" name="Rectangle 5"/>
          <p:cNvSpPr/>
          <p:nvPr/>
        </p:nvSpPr>
        <p:spPr>
          <a:xfrm>
            <a:off x="10191917" y="3342076"/>
            <a:ext cx="1062181" cy="5911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a:t>
            </a:r>
            <a:endParaRPr lang="en-IN" dirty="0"/>
          </a:p>
        </p:txBody>
      </p:sp>
      <p:cxnSp>
        <p:nvCxnSpPr>
          <p:cNvPr id="8" name="Straight Arrow Connector 7"/>
          <p:cNvCxnSpPr/>
          <p:nvPr/>
        </p:nvCxnSpPr>
        <p:spPr>
          <a:xfrm>
            <a:off x="9760528" y="2879414"/>
            <a:ext cx="862778" cy="4626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a:stCxn id="4" idx="2"/>
          </p:cNvCxnSpPr>
          <p:nvPr/>
        </p:nvCxnSpPr>
        <p:spPr>
          <a:xfrm flipH="1">
            <a:off x="10723008" y="2879415"/>
            <a:ext cx="531091" cy="4626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Super keyword</a:t>
            </a:r>
            <a:endParaRPr lang="en-IN" dirty="0"/>
          </a:p>
        </p:txBody>
      </p:sp>
      <p:sp>
        <p:nvSpPr>
          <p:cNvPr id="3" name="Content Placeholder 2"/>
          <p:cNvSpPr>
            <a:spLocks noGrp="1"/>
          </p:cNvSpPr>
          <p:nvPr>
            <p:ph idx="1"/>
          </p:nvPr>
        </p:nvSpPr>
        <p:spPr/>
        <p:txBody>
          <a:bodyPr/>
          <a:lstStyle/>
          <a:p>
            <a:r>
              <a:rPr lang="en-US" dirty="0" smtClean="0"/>
              <a:t>In Java, the super keyword denotes a </a:t>
            </a:r>
            <a:r>
              <a:rPr lang="en-IN" dirty="0"/>
              <a:t>reference </a:t>
            </a:r>
            <a:r>
              <a:rPr lang="en-IN" dirty="0" smtClean="0"/>
              <a:t>variable that</a:t>
            </a:r>
            <a:r>
              <a:rPr lang="en-US" dirty="0" smtClean="0"/>
              <a:t> is used to refer to the immediate superclass of a class. It can be used to:</a:t>
            </a:r>
            <a:endParaRPr lang="en-US" dirty="0" smtClean="0"/>
          </a:p>
          <a:p>
            <a:pPr lvl="1"/>
            <a:r>
              <a:rPr lang="en-US" dirty="0" smtClean="0"/>
              <a:t>Access superclass methods and fields that are hidden by subclass members.</a:t>
            </a:r>
            <a:endParaRPr lang="en-US" dirty="0" smtClean="0"/>
          </a:p>
          <a:p>
            <a:pPr lvl="1"/>
            <a:r>
              <a:rPr lang="en-US" dirty="0" smtClean="0"/>
              <a:t>Call the superclass constructor to initialize the superclass part of an object.</a:t>
            </a:r>
            <a:endParaRPr lang="en-US" dirty="0" smtClean="0"/>
          </a:p>
          <a:p>
            <a:r>
              <a:rPr lang="en-US" dirty="0" smtClean="0"/>
              <a:t>When </a:t>
            </a:r>
            <a:r>
              <a:rPr lang="en-US" dirty="0"/>
              <a:t>calling a superclass constructor, the super() statement must be the first statement in the constructor of the subclass.</a:t>
            </a:r>
            <a:endParaRPr lang="en-US" dirty="0"/>
          </a:p>
          <a:p>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9115"/>
          </a:xfrm>
        </p:spPr>
        <p:txBody>
          <a:bodyPr>
            <a:normAutofit fontScale="90000"/>
          </a:bodyPr>
          <a:lstStyle/>
          <a:p>
            <a:r>
              <a:rPr lang="en-US" b="1" dirty="0"/>
              <a:t>Use of super </a:t>
            </a:r>
            <a:r>
              <a:rPr lang="en-US" b="1" dirty="0" smtClean="0"/>
              <a:t>to access superclass Variables</a:t>
            </a:r>
            <a:endParaRPr lang="en-IN" dirty="0"/>
          </a:p>
        </p:txBody>
      </p:sp>
      <p:sp>
        <p:nvSpPr>
          <p:cNvPr id="3" name="Content Placeholder 2"/>
          <p:cNvSpPr>
            <a:spLocks noGrp="1"/>
          </p:cNvSpPr>
          <p:nvPr>
            <p:ph idx="1"/>
          </p:nvPr>
        </p:nvSpPr>
        <p:spPr>
          <a:xfrm>
            <a:off x="355600" y="1005840"/>
            <a:ext cx="11480800" cy="5730240"/>
          </a:xfrm>
        </p:spPr>
        <p:txBody>
          <a:bodyPr>
            <a:noAutofit/>
          </a:bodyPr>
          <a:lstStyle/>
          <a:p>
            <a:pPr marL="0" indent="0">
              <a:spcBef>
                <a:spcPts val="200"/>
              </a:spcBef>
              <a:buNone/>
            </a:pPr>
            <a:r>
              <a:rPr lang="en-IN" sz="2400" dirty="0" smtClean="0"/>
              <a:t>class Vehicle { </a:t>
            </a:r>
            <a:endParaRPr lang="en-IN" sz="2400" dirty="0" smtClean="0"/>
          </a:p>
          <a:p>
            <a:pPr marL="0" indent="0">
              <a:spcBef>
                <a:spcPts val="200"/>
              </a:spcBef>
              <a:buNone/>
            </a:pPr>
            <a:r>
              <a:rPr lang="en-IN" sz="2400" dirty="0" smtClean="0"/>
              <a:t>	</a:t>
            </a:r>
            <a:r>
              <a:rPr lang="en-IN" sz="2400" dirty="0" err="1" smtClean="0"/>
              <a:t>int</a:t>
            </a:r>
            <a:r>
              <a:rPr lang="en-IN" sz="2400" dirty="0" smtClean="0"/>
              <a:t> </a:t>
            </a:r>
            <a:r>
              <a:rPr lang="en-IN" sz="2400" dirty="0" err="1" smtClean="0"/>
              <a:t>maxSpeed</a:t>
            </a:r>
            <a:r>
              <a:rPr lang="en-IN" sz="2400" dirty="0" smtClean="0"/>
              <a:t> = 120; </a:t>
            </a:r>
            <a:endParaRPr lang="en-IN" sz="2400" dirty="0" smtClean="0"/>
          </a:p>
          <a:p>
            <a:pPr marL="0" indent="0">
              <a:spcBef>
                <a:spcPts val="200"/>
              </a:spcBef>
              <a:buNone/>
            </a:pPr>
            <a:r>
              <a:rPr lang="en-IN" sz="2400" dirty="0" smtClean="0"/>
              <a:t>} </a:t>
            </a:r>
            <a:endParaRPr lang="en-IN" sz="2400" dirty="0" smtClean="0"/>
          </a:p>
          <a:p>
            <a:pPr marL="0" indent="0">
              <a:spcBef>
                <a:spcPts val="200"/>
              </a:spcBef>
              <a:buNone/>
            </a:pPr>
            <a:r>
              <a:rPr lang="en-IN" sz="2400" dirty="0" smtClean="0"/>
              <a:t>class Car extends Vehicle { </a:t>
            </a:r>
            <a:endParaRPr lang="en-IN" sz="2400" dirty="0" smtClean="0"/>
          </a:p>
          <a:p>
            <a:pPr marL="0" indent="0">
              <a:spcBef>
                <a:spcPts val="200"/>
              </a:spcBef>
              <a:buNone/>
            </a:pPr>
            <a:r>
              <a:rPr lang="en-IN" sz="2400" dirty="0" smtClean="0"/>
              <a:t>	</a:t>
            </a:r>
            <a:r>
              <a:rPr lang="en-IN" sz="2400" dirty="0" err="1" smtClean="0"/>
              <a:t>int</a:t>
            </a:r>
            <a:r>
              <a:rPr lang="en-IN" sz="2400" dirty="0" smtClean="0"/>
              <a:t> </a:t>
            </a:r>
            <a:r>
              <a:rPr lang="en-IN" sz="2400" dirty="0" err="1" smtClean="0"/>
              <a:t>maxSpeed</a:t>
            </a:r>
            <a:r>
              <a:rPr lang="en-IN" sz="2400" dirty="0" smtClean="0"/>
              <a:t> = 180; </a:t>
            </a:r>
            <a:endParaRPr lang="en-IN" sz="2400" dirty="0" smtClean="0"/>
          </a:p>
          <a:p>
            <a:pPr marL="0" indent="0">
              <a:spcBef>
                <a:spcPts val="200"/>
              </a:spcBef>
              <a:buNone/>
            </a:pPr>
            <a:r>
              <a:rPr lang="en-IN" sz="2400" dirty="0" smtClean="0"/>
              <a:t>	void display() { </a:t>
            </a:r>
            <a:endParaRPr lang="en-IN" sz="2400" dirty="0" smtClean="0"/>
          </a:p>
          <a:p>
            <a:pPr marL="0" indent="0">
              <a:spcBef>
                <a:spcPts val="200"/>
              </a:spcBef>
              <a:buNone/>
            </a:pPr>
            <a:r>
              <a:rPr lang="en-IN" sz="2400" dirty="0" smtClean="0"/>
              <a:t>		// print </a:t>
            </a:r>
            <a:r>
              <a:rPr lang="en-IN" sz="2400" dirty="0" err="1" smtClean="0"/>
              <a:t>maxSpeed</a:t>
            </a:r>
            <a:r>
              <a:rPr lang="en-IN" sz="2400" dirty="0" smtClean="0"/>
              <a:t> of base class (vehicle) </a:t>
            </a:r>
            <a:endParaRPr lang="en-IN" sz="2400" dirty="0" smtClean="0"/>
          </a:p>
          <a:p>
            <a:pPr marL="0" indent="0">
              <a:spcBef>
                <a:spcPts val="200"/>
              </a:spcBef>
              <a:buNone/>
            </a:pPr>
            <a:r>
              <a:rPr lang="en-IN" sz="2400" dirty="0" smtClean="0"/>
              <a:t>		</a:t>
            </a:r>
            <a:r>
              <a:rPr lang="en-IN" sz="2400" dirty="0" err="1" smtClean="0"/>
              <a:t>System.out.println</a:t>
            </a:r>
            <a:r>
              <a:rPr lang="en-IN" sz="2400" dirty="0" smtClean="0"/>
              <a:t>("Maximum Speed: "+ </a:t>
            </a:r>
            <a:r>
              <a:rPr lang="en-IN" sz="2400" dirty="0" err="1" smtClean="0"/>
              <a:t>super.maxSpeed</a:t>
            </a:r>
            <a:r>
              <a:rPr lang="en-IN" sz="2400" dirty="0" smtClean="0"/>
              <a:t>); </a:t>
            </a:r>
            <a:endParaRPr lang="en-IN" sz="2400" dirty="0" smtClean="0"/>
          </a:p>
          <a:p>
            <a:pPr marL="0" indent="0">
              <a:spcBef>
                <a:spcPts val="200"/>
              </a:spcBef>
              <a:buNone/>
            </a:pPr>
            <a:r>
              <a:rPr lang="en-IN" sz="2400" dirty="0" smtClean="0"/>
              <a:t>	} </a:t>
            </a:r>
            <a:endParaRPr lang="en-IN" sz="2400" dirty="0" smtClean="0"/>
          </a:p>
          <a:p>
            <a:pPr marL="0" indent="0">
              <a:spcBef>
                <a:spcPts val="200"/>
              </a:spcBef>
              <a:buNone/>
            </a:pPr>
            <a:r>
              <a:rPr lang="en-IN" sz="2400" dirty="0" smtClean="0"/>
              <a:t>} </a:t>
            </a:r>
            <a:endParaRPr lang="en-IN" sz="2400" dirty="0" smtClean="0"/>
          </a:p>
          <a:p>
            <a:pPr marL="0" indent="0">
              <a:spcBef>
                <a:spcPts val="200"/>
              </a:spcBef>
              <a:buNone/>
            </a:pPr>
            <a:r>
              <a:rPr lang="en-IN" sz="2400" dirty="0" smtClean="0"/>
              <a:t>class Test { </a:t>
            </a:r>
            <a:endParaRPr lang="en-IN" sz="2400" dirty="0" smtClean="0"/>
          </a:p>
          <a:p>
            <a:pPr marL="0" indent="0">
              <a:spcBef>
                <a:spcPts val="200"/>
              </a:spcBef>
              <a:buNone/>
            </a:pPr>
            <a:r>
              <a:rPr lang="en-IN" sz="2400" dirty="0" smtClean="0"/>
              <a:t>	public static void main(String[] </a:t>
            </a:r>
            <a:r>
              <a:rPr lang="en-IN" sz="2400" dirty="0" err="1" smtClean="0"/>
              <a:t>args</a:t>
            </a:r>
            <a:r>
              <a:rPr lang="en-IN" sz="2400" dirty="0" smtClean="0"/>
              <a:t>) { </a:t>
            </a:r>
            <a:endParaRPr lang="en-IN" sz="2400" dirty="0" smtClean="0"/>
          </a:p>
          <a:p>
            <a:pPr marL="0" indent="0">
              <a:spcBef>
                <a:spcPts val="200"/>
              </a:spcBef>
              <a:buNone/>
            </a:pPr>
            <a:r>
              <a:rPr lang="en-IN" sz="2400" dirty="0" smtClean="0"/>
              <a:t>		Car small = new Car(); </a:t>
            </a:r>
            <a:endParaRPr lang="en-IN" sz="2400" dirty="0" smtClean="0"/>
          </a:p>
          <a:p>
            <a:pPr marL="0" indent="0">
              <a:spcBef>
                <a:spcPts val="200"/>
              </a:spcBef>
              <a:buNone/>
            </a:pPr>
            <a:r>
              <a:rPr lang="en-IN" sz="2400" dirty="0" smtClean="0"/>
              <a:t>		</a:t>
            </a:r>
            <a:r>
              <a:rPr lang="en-IN" sz="2400" dirty="0" err="1" smtClean="0"/>
              <a:t>small.display</a:t>
            </a:r>
            <a:r>
              <a:rPr lang="en-IN" sz="2400" dirty="0" smtClean="0"/>
              <a:t>(); </a:t>
            </a:r>
            <a:endParaRPr lang="en-IN" sz="2400" dirty="0" smtClean="0"/>
          </a:p>
          <a:p>
            <a:pPr marL="0" indent="0">
              <a:spcBef>
                <a:spcPts val="200"/>
              </a:spcBef>
              <a:buNone/>
            </a:pPr>
            <a:r>
              <a:rPr lang="en-IN" sz="2400" dirty="0" smtClean="0"/>
              <a:t>	} </a:t>
            </a:r>
            <a:endParaRPr lang="en-IN" sz="2400" dirty="0" smtClean="0"/>
          </a:p>
          <a:p>
            <a:pPr marL="0" indent="0">
              <a:spcBef>
                <a:spcPts val="200"/>
              </a:spcBef>
              <a:buNone/>
            </a:pPr>
            <a:r>
              <a:rPr lang="en-IN" sz="2400" dirty="0" smtClean="0"/>
              <a:t>}</a:t>
            </a:r>
            <a:endParaRPr lang="en-IN" sz="2400" dirty="0" smtClean="0"/>
          </a:p>
          <a:p>
            <a:pPr marL="0" indent="0">
              <a:spcBef>
                <a:spcPts val="200"/>
              </a:spcBef>
              <a:buNone/>
            </a:pPr>
            <a:endParaRPr lang="en-IN"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60" y="192405"/>
            <a:ext cx="10515600" cy="539115"/>
          </a:xfrm>
        </p:spPr>
        <p:txBody>
          <a:bodyPr>
            <a:normAutofit fontScale="90000"/>
          </a:bodyPr>
          <a:lstStyle/>
          <a:p>
            <a:pPr fontAlgn="base"/>
            <a:r>
              <a:rPr lang="en-US" b="1" dirty="0"/>
              <a:t> Use of super </a:t>
            </a:r>
            <a:r>
              <a:rPr lang="en-US" b="1" dirty="0" smtClean="0"/>
              <a:t>to access superclass </a:t>
            </a:r>
            <a:r>
              <a:rPr lang="en-US" b="1" dirty="0"/>
              <a:t>Methods</a:t>
            </a:r>
            <a:endParaRPr lang="en-US" b="1" dirty="0"/>
          </a:p>
        </p:txBody>
      </p:sp>
      <p:sp>
        <p:nvSpPr>
          <p:cNvPr id="3" name="Content Placeholder 2"/>
          <p:cNvSpPr>
            <a:spLocks noGrp="1"/>
          </p:cNvSpPr>
          <p:nvPr>
            <p:ph idx="1"/>
          </p:nvPr>
        </p:nvSpPr>
        <p:spPr>
          <a:xfrm>
            <a:off x="355600" y="1005840"/>
            <a:ext cx="11480800" cy="5730240"/>
          </a:xfrm>
        </p:spPr>
        <p:txBody>
          <a:bodyPr numCol="2">
            <a:noAutofit/>
          </a:bodyPr>
          <a:lstStyle/>
          <a:p>
            <a:pPr marL="0" indent="0">
              <a:spcBef>
                <a:spcPts val="200"/>
              </a:spcBef>
              <a:buNone/>
            </a:pPr>
            <a:r>
              <a:rPr lang="en-IN" sz="1000" dirty="0" smtClean="0"/>
              <a:t>class Person { </a:t>
            </a:r>
            <a:endParaRPr lang="en-IN" sz="1000" dirty="0" smtClean="0"/>
          </a:p>
          <a:p>
            <a:pPr marL="0" indent="0">
              <a:spcBef>
                <a:spcPts val="200"/>
              </a:spcBef>
              <a:buNone/>
            </a:pPr>
            <a:r>
              <a:rPr lang="en-IN" sz="1000" dirty="0" smtClean="0"/>
              <a:t>	void message() </a:t>
            </a:r>
            <a:endParaRPr lang="en-IN" sz="1000" dirty="0" smtClean="0"/>
          </a:p>
          <a:p>
            <a:pPr marL="0" indent="0">
              <a:spcBef>
                <a:spcPts val="200"/>
              </a:spcBef>
              <a:buNone/>
            </a:pPr>
            <a:r>
              <a:rPr lang="en-IN" sz="1000" dirty="0" smtClean="0"/>
              <a:t>	{ </a:t>
            </a:r>
            <a:endParaRPr lang="en-IN" sz="1000" dirty="0" smtClean="0"/>
          </a:p>
          <a:p>
            <a:pPr marL="0" indent="0">
              <a:spcBef>
                <a:spcPts val="200"/>
              </a:spcBef>
              <a:buNone/>
            </a:pPr>
            <a:r>
              <a:rPr lang="en-IN" sz="1000" dirty="0" smtClean="0"/>
              <a:t>	</a:t>
            </a:r>
            <a:r>
              <a:rPr lang="en-IN" sz="1000" dirty="0" err="1" smtClean="0"/>
              <a:t>System.out.println</a:t>
            </a:r>
            <a:r>
              <a:rPr lang="en-IN" sz="1000" dirty="0" smtClean="0"/>
              <a:t>("This is person class\n"); </a:t>
            </a:r>
            <a:endParaRPr lang="en-IN" sz="1000" dirty="0" smtClean="0"/>
          </a:p>
          <a:p>
            <a:pPr marL="0" indent="0">
              <a:spcBef>
                <a:spcPts val="200"/>
              </a:spcBef>
              <a:buNone/>
            </a:pPr>
            <a:r>
              <a:rPr lang="en-IN" sz="1000" dirty="0" smtClean="0"/>
              <a:t>	} </a:t>
            </a:r>
            <a:endParaRPr lang="en-IN" sz="1000" dirty="0" smtClean="0"/>
          </a:p>
          <a:p>
            <a:pPr marL="0" indent="0">
              <a:spcBef>
                <a:spcPts val="200"/>
              </a:spcBef>
              <a:buNone/>
            </a:pPr>
            <a:r>
              <a:rPr lang="en-IN" sz="1000" dirty="0" smtClean="0"/>
              <a:t>} </a:t>
            </a:r>
            <a:endParaRPr lang="en-IN" sz="1000" dirty="0" smtClean="0"/>
          </a:p>
          <a:p>
            <a:pPr marL="0" indent="0">
              <a:spcBef>
                <a:spcPts val="200"/>
              </a:spcBef>
              <a:buNone/>
            </a:pPr>
            <a:r>
              <a:rPr lang="en-IN" sz="1000" dirty="0" smtClean="0"/>
              <a:t>class Student extends Person { </a:t>
            </a:r>
            <a:endParaRPr lang="en-IN" sz="1000" dirty="0" smtClean="0"/>
          </a:p>
          <a:p>
            <a:pPr marL="0" indent="0">
              <a:spcBef>
                <a:spcPts val="200"/>
              </a:spcBef>
              <a:buNone/>
            </a:pPr>
            <a:r>
              <a:rPr lang="en-IN" sz="1000" dirty="0" smtClean="0"/>
              <a:t>	void message() </a:t>
            </a:r>
            <a:endParaRPr lang="en-IN" sz="1000" dirty="0" smtClean="0"/>
          </a:p>
          <a:p>
            <a:pPr marL="0" indent="0">
              <a:spcBef>
                <a:spcPts val="200"/>
              </a:spcBef>
              <a:buNone/>
            </a:pPr>
            <a:r>
              <a:rPr lang="en-IN" sz="1000" dirty="0" smtClean="0"/>
              <a:t>	{ </a:t>
            </a:r>
            <a:endParaRPr lang="en-IN" sz="1000" dirty="0" smtClean="0"/>
          </a:p>
          <a:p>
            <a:pPr marL="0" indent="0">
              <a:spcBef>
                <a:spcPts val="200"/>
              </a:spcBef>
              <a:buNone/>
            </a:pPr>
            <a:r>
              <a:rPr lang="en-IN" sz="1000" dirty="0" smtClean="0"/>
              <a:t>	</a:t>
            </a:r>
            <a:r>
              <a:rPr lang="en-IN" sz="1000" dirty="0" err="1" smtClean="0"/>
              <a:t>System.out.println</a:t>
            </a:r>
            <a:r>
              <a:rPr lang="en-IN" sz="1000" dirty="0" smtClean="0"/>
              <a:t>("This is student class"); </a:t>
            </a:r>
            <a:endParaRPr lang="en-IN" sz="1000" dirty="0" smtClean="0"/>
          </a:p>
          <a:p>
            <a:pPr marL="0" indent="0">
              <a:spcBef>
                <a:spcPts val="200"/>
              </a:spcBef>
              <a:buNone/>
            </a:pPr>
            <a:r>
              <a:rPr lang="en-IN" sz="1000" dirty="0" smtClean="0"/>
              <a:t>	} </a:t>
            </a:r>
            <a:endParaRPr lang="en-IN" sz="1000" dirty="0" smtClean="0"/>
          </a:p>
          <a:p>
            <a:pPr marL="0" indent="0">
              <a:spcBef>
                <a:spcPts val="200"/>
              </a:spcBef>
              <a:buNone/>
            </a:pPr>
            <a:r>
              <a:rPr lang="en-IN" sz="1000" dirty="0" smtClean="0"/>
              <a:t>	void display() </a:t>
            </a:r>
            <a:endParaRPr lang="en-IN" sz="1000" dirty="0" smtClean="0"/>
          </a:p>
          <a:p>
            <a:pPr marL="0" indent="0">
              <a:spcBef>
                <a:spcPts val="200"/>
              </a:spcBef>
              <a:buNone/>
            </a:pPr>
            <a:r>
              <a:rPr lang="en-IN" sz="1000" dirty="0" smtClean="0"/>
              <a:t>	{ </a:t>
            </a:r>
            <a:endParaRPr lang="en-IN" sz="1000" dirty="0" smtClean="0"/>
          </a:p>
          <a:p>
            <a:pPr marL="0" indent="0">
              <a:spcBef>
                <a:spcPts val="200"/>
              </a:spcBef>
              <a:buNone/>
            </a:pPr>
            <a:r>
              <a:rPr lang="en-IN" sz="1000" dirty="0" smtClean="0"/>
              <a:t>	// invoke current  class message() method </a:t>
            </a:r>
            <a:endParaRPr lang="en-IN" sz="1000" dirty="0" smtClean="0"/>
          </a:p>
          <a:p>
            <a:pPr marL="0" indent="0">
              <a:spcBef>
                <a:spcPts val="200"/>
              </a:spcBef>
              <a:buNone/>
            </a:pPr>
            <a:r>
              <a:rPr lang="en-IN" sz="1000" dirty="0" smtClean="0"/>
              <a:t>		message(); </a:t>
            </a:r>
            <a:endParaRPr lang="en-IN" sz="1000" dirty="0" smtClean="0"/>
          </a:p>
          <a:p>
            <a:pPr marL="0" indent="0">
              <a:spcBef>
                <a:spcPts val="200"/>
              </a:spcBef>
              <a:buNone/>
            </a:pPr>
            <a:endParaRPr lang="en-IN" sz="1000" dirty="0" smtClean="0"/>
          </a:p>
          <a:p>
            <a:pPr marL="0" indent="0">
              <a:spcBef>
                <a:spcPts val="200"/>
              </a:spcBef>
              <a:buNone/>
            </a:pPr>
            <a:r>
              <a:rPr lang="en-IN" sz="1000" dirty="0" smtClean="0"/>
              <a:t>	// will invoke class message() method </a:t>
            </a:r>
            <a:endParaRPr lang="en-IN" sz="1000" dirty="0" smtClean="0"/>
          </a:p>
          <a:p>
            <a:pPr marL="0" indent="0">
              <a:spcBef>
                <a:spcPts val="200"/>
              </a:spcBef>
              <a:buNone/>
            </a:pPr>
            <a:r>
              <a:rPr lang="en-IN" sz="1000" dirty="0" smtClean="0"/>
              <a:t>		</a:t>
            </a:r>
            <a:r>
              <a:rPr lang="en-IN" sz="1000" dirty="0" err="1" smtClean="0"/>
              <a:t>super.message</a:t>
            </a:r>
            <a:r>
              <a:rPr lang="en-IN" sz="1000" dirty="0" smtClean="0"/>
              <a:t>(); </a:t>
            </a:r>
            <a:endParaRPr lang="en-IN" sz="1000" dirty="0" smtClean="0"/>
          </a:p>
          <a:p>
            <a:pPr marL="0" indent="0">
              <a:spcBef>
                <a:spcPts val="200"/>
              </a:spcBef>
              <a:buNone/>
            </a:pPr>
            <a:r>
              <a:rPr lang="en-IN" sz="1000" dirty="0" smtClean="0"/>
              <a:t>	} </a:t>
            </a:r>
            <a:endParaRPr lang="en-IN" sz="1000" dirty="0" smtClean="0"/>
          </a:p>
          <a:p>
            <a:pPr marL="0" indent="0">
              <a:spcBef>
                <a:spcPts val="200"/>
              </a:spcBef>
              <a:buNone/>
            </a:pPr>
            <a:r>
              <a:rPr lang="en-IN" sz="1000" dirty="0" smtClean="0"/>
              <a:t>} </a:t>
            </a:r>
            <a:endParaRPr lang="en-IN" sz="1000" dirty="0" smtClean="0"/>
          </a:p>
          <a:p>
            <a:pPr marL="0" indent="0">
              <a:spcBef>
                <a:spcPts val="200"/>
              </a:spcBef>
              <a:buNone/>
            </a:pPr>
            <a:endParaRPr lang="en-IN" sz="1000" dirty="0" smtClean="0"/>
          </a:p>
          <a:p>
            <a:pPr marL="0" indent="0">
              <a:spcBef>
                <a:spcPts val="200"/>
              </a:spcBef>
              <a:buNone/>
            </a:pPr>
            <a:r>
              <a:rPr lang="en-IN" sz="1000" dirty="0" smtClean="0"/>
              <a:t>             class Test { </a:t>
            </a:r>
            <a:endParaRPr lang="en-IN" sz="1000" dirty="0" smtClean="0"/>
          </a:p>
          <a:p>
            <a:pPr marL="0" indent="0">
              <a:spcBef>
                <a:spcPts val="200"/>
              </a:spcBef>
              <a:buNone/>
            </a:pPr>
            <a:r>
              <a:rPr lang="en-IN" sz="1000" dirty="0" smtClean="0"/>
              <a:t>	public static void main(String </a:t>
            </a:r>
            <a:r>
              <a:rPr lang="en-IN" sz="1000" dirty="0" err="1" smtClean="0"/>
              <a:t>args</a:t>
            </a:r>
            <a:r>
              <a:rPr lang="en-IN" sz="1000" dirty="0" smtClean="0"/>
              <a:t>[]) </a:t>
            </a:r>
            <a:endParaRPr lang="en-IN" sz="1000" dirty="0" smtClean="0"/>
          </a:p>
          <a:p>
            <a:pPr marL="0" indent="0">
              <a:spcBef>
                <a:spcPts val="200"/>
              </a:spcBef>
              <a:buNone/>
            </a:pPr>
            <a:r>
              <a:rPr lang="en-IN" sz="1000" dirty="0" smtClean="0"/>
              <a:t>	{ </a:t>
            </a:r>
            <a:endParaRPr lang="en-IN" sz="1000" dirty="0" smtClean="0"/>
          </a:p>
          <a:p>
            <a:pPr marL="0" indent="0">
              <a:spcBef>
                <a:spcPts val="200"/>
              </a:spcBef>
              <a:buNone/>
            </a:pPr>
            <a:r>
              <a:rPr lang="en-IN" sz="1000" dirty="0" smtClean="0"/>
              <a:t>		Student s = new Student(); </a:t>
            </a:r>
            <a:endParaRPr lang="en-IN" sz="1000" dirty="0" smtClean="0"/>
          </a:p>
          <a:p>
            <a:pPr marL="0" indent="0">
              <a:spcBef>
                <a:spcPts val="200"/>
              </a:spcBef>
              <a:buNone/>
            </a:pPr>
            <a:endParaRPr lang="en-IN" sz="1000" dirty="0" smtClean="0"/>
          </a:p>
          <a:p>
            <a:pPr marL="0" indent="0">
              <a:spcBef>
                <a:spcPts val="200"/>
              </a:spcBef>
              <a:buNone/>
            </a:pPr>
            <a:r>
              <a:rPr lang="en-IN" sz="1000" dirty="0" smtClean="0"/>
              <a:t>		// calling display() of Student </a:t>
            </a:r>
            <a:endParaRPr lang="en-IN" sz="1000" dirty="0" smtClean="0"/>
          </a:p>
          <a:p>
            <a:pPr marL="0" indent="0">
              <a:spcBef>
                <a:spcPts val="200"/>
              </a:spcBef>
              <a:buNone/>
            </a:pPr>
            <a:r>
              <a:rPr lang="en-IN" sz="1000" dirty="0" smtClean="0"/>
              <a:t>		</a:t>
            </a:r>
            <a:r>
              <a:rPr lang="en-IN" sz="1000" dirty="0" err="1" smtClean="0"/>
              <a:t>s.display</a:t>
            </a:r>
            <a:r>
              <a:rPr lang="en-IN" sz="1000" dirty="0" smtClean="0"/>
              <a:t>(); </a:t>
            </a:r>
            <a:endParaRPr lang="en-IN" sz="1000" dirty="0" smtClean="0"/>
          </a:p>
          <a:p>
            <a:pPr marL="0" indent="0">
              <a:spcBef>
                <a:spcPts val="200"/>
              </a:spcBef>
              <a:buNone/>
            </a:pPr>
            <a:r>
              <a:rPr lang="en-IN" sz="1000" dirty="0" smtClean="0"/>
              <a:t>	} </a:t>
            </a:r>
            <a:endParaRPr lang="en-IN" sz="1000" dirty="0" smtClean="0"/>
          </a:p>
          <a:p>
            <a:pPr marL="0" indent="0">
              <a:spcBef>
                <a:spcPts val="200"/>
              </a:spcBef>
              <a:buNone/>
            </a:pPr>
            <a:r>
              <a:rPr lang="en-IN" sz="1000" dirty="0" smtClean="0"/>
              <a:t>              }</a:t>
            </a:r>
            <a:endParaRPr lang="en-IN" sz="10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60" y="192405"/>
            <a:ext cx="10515600" cy="539115"/>
          </a:xfrm>
        </p:spPr>
        <p:txBody>
          <a:bodyPr>
            <a:normAutofit fontScale="90000"/>
          </a:bodyPr>
          <a:lstStyle/>
          <a:p>
            <a:pPr fontAlgn="base"/>
            <a:r>
              <a:rPr lang="en-US" b="1" dirty="0"/>
              <a:t>Use of super </a:t>
            </a:r>
            <a:r>
              <a:rPr lang="en-US" b="1" dirty="0" smtClean="0"/>
              <a:t>to access superclass </a:t>
            </a:r>
            <a:r>
              <a:rPr lang="en-US" b="1" dirty="0"/>
              <a:t>constructors</a:t>
            </a:r>
            <a:endParaRPr lang="en-US" b="1" dirty="0"/>
          </a:p>
        </p:txBody>
      </p:sp>
      <p:sp>
        <p:nvSpPr>
          <p:cNvPr id="3" name="Content Placeholder 2"/>
          <p:cNvSpPr>
            <a:spLocks noGrp="1"/>
          </p:cNvSpPr>
          <p:nvPr>
            <p:ph idx="1"/>
          </p:nvPr>
        </p:nvSpPr>
        <p:spPr>
          <a:xfrm>
            <a:off x="355600" y="1005840"/>
            <a:ext cx="11480800" cy="5730240"/>
          </a:xfrm>
        </p:spPr>
        <p:txBody>
          <a:bodyPr numCol="2">
            <a:noAutofit/>
          </a:bodyPr>
          <a:lstStyle/>
          <a:p>
            <a:pPr marL="0" indent="0">
              <a:spcBef>
                <a:spcPts val="200"/>
              </a:spcBef>
              <a:buNone/>
            </a:pPr>
            <a:r>
              <a:rPr lang="en-IN" sz="1200" dirty="0" smtClean="0"/>
              <a:t>class Person { </a:t>
            </a:r>
            <a:endParaRPr lang="en-IN" sz="1200" dirty="0" smtClean="0"/>
          </a:p>
          <a:p>
            <a:pPr marL="0" indent="0">
              <a:spcBef>
                <a:spcPts val="200"/>
              </a:spcBef>
              <a:buNone/>
            </a:pPr>
            <a:r>
              <a:rPr lang="en-IN" sz="1200" dirty="0" smtClean="0"/>
              <a:t>Person(){}   </a:t>
            </a:r>
            <a:endParaRPr lang="en-IN" sz="1200" dirty="0" smtClean="0"/>
          </a:p>
          <a:p>
            <a:pPr marL="0" indent="0">
              <a:spcBef>
                <a:spcPts val="200"/>
              </a:spcBef>
              <a:buNone/>
            </a:pPr>
            <a:endParaRPr lang="en-IN" sz="1200" dirty="0"/>
          </a:p>
          <a:p>
            <a:pPr marL="0" indent="0">
              <a:spcBef>
                <a:spcPts val="200"/>
              </a:spcBef>
              <a:buNone/>
            </a:pPr>
            <a:r>
              <a:rPr lang="en-IN" sz="1200" dirty="0" smtClean="0"/>
              <a:t>Person(</a:t>
            </a:r>
            <a:r>
              <a:rPr lang="en-IN" sz="1200" dirty="0" err="1" smtClean="0"/>
              <a:t>int</a:t>
            </a:r>
            <a:r>
              <a:rPr lang="en-IN" sz="1200" dirty="0" smtClean="0"/>
              <a:t> </a:t>
            </a:r>
            <a:r>
              <a:rPr lang="en-IN" sz="1200" dirty="0" err="1" smtClean="0"/>
              <a:t>i</a:t>
            </a:r>
            <a:r>
              <a:rPr lang="en-IN" sz="1200" dirty="0" smtClean="0"/>
              <a:t>) { </a:t>
            </a:r>
            <a:endParaRPr lang="en-IN" sz="1200" dirty="0" smtClean="0"/>
          </a:p>
          <a:p>
            <a:pPr marL="0" indent="0">
              <a:spcBef>
                <a:spcPts val="200"/>
              </a:spcBef>
              <a:buNone/>
            </a:pPr>
            <a:r>
              <a:rPr lang="en-IN" sz="1200" dirty="0" smtClean="0"/>
              <a:t>    </a:t>
            </a:r>
            <a:r>
              <a:rPr lang="en-IN" sz="1200" dirty="0" err="1" smtClean="0"/>
              <a:t>System.out.println</a:t>
            </a:r>
            <a:r>
              <a:rPr lang="en-IN" sz="1200" dirty="0" smtClean="0"/>
              <a:t>("Person class Constructor"); </a:t>
            </a:r>
            <a:endParaRPr lang="en-IN" sz="1200" dirty="0" smtClean="0"/>
          </a:p>
          <a:p>
            <a:pPr marL="0" indent="0">
              <a:spcBef>
                <a:spcPts val="200"/>
              </a:spcBef>
              <a:buNone/>
            </a:pPr>
            <a:r>
              <a:rPr lang="en-IN" sz="1200" dirty="0"/>
              <a:t> </a:t>
            </a:r>
            <a:r>
              <a:rPr lang="en-IN" sz="1200" dirty="0" smtClean="0"/>
              <a:t>    } </a:t>
            </a:r>
            <a:endParaRPr lang="en-IN" sz="1200" dirty="0" smtClean="0"/>
          </a:p>
          <a:p>
            <a:pPr marL="0" indent="0">
              <a:spcBef>
                <a:spcPts val="200"/>
              </a:spcBef>
              <a:buNone/>
            </a:pPr>
            <a:r>
              <a:rPr lang="en-IN" sz="1200" dirty="0" smtClean="0"/>
              <a:t>} </a:t>
            </a:r>
            <a:endParaRPr lang="en-IN" sz="1200" dirty="0" smtClean="0"/>
          </a:p>
          <a:p>
            <a:pPr marL="0" indent="0">
              <a:spcBef>
                <a:spcPts val="200"/>
              </a:spcBef>
              <a:buNone/>
            </a:pPr>
            <a:r>
              <a:rPr lang="en-IN" sz="1200" dirty="0" smtClean="0"/>
              <a:t>class Student</a:t>
            </a:r>
            <a:r>
              <a:rPr lang="en-US" altLang="en-IN" sz="1200" dirty="0" smtClean="0"/>
              <a:t>x</a:t>
            </a:r>
            <a:r>
              <a:rPr lang="en-IN" sz="1200" dirty="0" smtClean="0"/>
              <a:t> extends Person { </a:t>
            </a:r>
            <a:endParaRPr lang="en-IN" sz="1200" dirty="0" smtClean="0"/>
          </a:p>
          <a:p>
            <a:pPr marL="0" indent="0">
              <a:spcBef>
                <a:spcPts val="200"/>
              </a:spcBef>
              <a:buNone/>
            </a:pPr>
            <a:r>
              <a:rPr lang="en-IN" sz="1200" dirty="0" smtClean="0"/>
              <a:t>     Student() { </a:t>
            </a:r>
            <a:endParaRPr lang="en-IN" sz="1200" dirty="0" smtClean="0"/>
          </a:p>
          <a:p>
            <a:pPr marL="0" indent="0">
              <a:spcBef>
                <a:spcPts val="200"/>
              </a:spcBef>
              <a:buNone/>
            </a:pPr>
            <a:r>
              <a:rPr lang="en-IN" sz="1200" dirty="0"/>
              <a:t> </a:t>
            </a:r>
            <a:r>
              <a:rPr lang="en-IN" sz="1200" dirty="0" smtClean="0"/>
              <a:t>   // invoke or call parent class constructor 	</a:t>
            </a:r>
            <a:endParaRPr lang="en-IN" sz="1200" dirty="0" smtClean="0"/>
          </a:p>
          <a:p>
            <a:pPr marL="0" indent="0">
              <a:spcBef>
                <a:spcPts val="200"/>
              </a:spcBef>
              <a:buNone/>
            </a:pPr>
            <a:r>
              <a:rPr lang="en-IN" sz="1200"/>
              <a:t> </a:t>
            </a:r>
            <a:r>
              <a:rPr lang="en-IN" sz="1200" smtClean="0"/>
              <a:t>       super(10</a:t>
            </a:r>
            <a:r>
              <a:rPr lang="en-IN" sz="1200" dirty="0" smtClean="0"/>
              <a:t>); </a:t>
            </a:r>
            <a:endParaRPr lang="en-IN" sz="1200" dirty="0" smtClean="0"/>
          </a:p>
          <a:p>
            <a:pPr marL="0" indent="0">
              <a:spcBef>
                <a:spcPts val="200"/>
              </a:spcBef>
              <a:buNone/>
            </a:pPr>
            <a:r>
              <a:rPr lang="en-IN" sz="1200" dirty="0"/>
              <a:t> </a:t>
            </a:r>
            <a:r>
              <a:rPr lang="en-IN" sz="1200" dirty="0" smtClean="0"/>
              <a:t>       </a:t>
            </a:r>
            <a:r>
              <a:rPr lang="en-IN" sz="1200" dirty="0" err="1" smtClean="0"/>
              <a:t>System.out.println</a:t>
            </a:r>
            <a:r>
              <a:rPr lang="en-IN" sz="1200" dirty="0" smtClean="0"/>
              <a:t>("Student class Constructor"); </a:t>
            </a:r>
            <a:endParaRPr lang="en-IN" sz="1200" dirty="0" smtClean="0"/>
          </a:p>
          <a:p>
            <a:pPr marL="0" indent="0">
              <a:spcBef>
                <a:spcPts val="200"/>
              </a:spcBef>
              <a:buNone/>
            </a:pPr>
            <a:r>
              <a:rPr lang="en-IN" sz="1200" dirty="0"/>
              <a:t> </a:t>
            </a:r>
            <a:r>
              <a:rPr lang="en-IN" sz="1200" dirty="0" smtClean="0"/>
              <a:t>    } </a:t>
            </a:r>
            <a:endParaRPr lang="en-IN" sz="1200" dirty="0" smtClean="0"/>
          </a:p>
          <a:p>
            <a:pPr marL="0" indent="0">
              <a:spcBef>
                <a:spcPts val="200"/>
              </a:spcBef>
              <a:buNone/>
            </a:pPr>
            <a:r>
              <a:rPr lang="en-IN" sz="1200" dirty="0" smtClean="0"/>
              <a:t>} </a:t>
            </a:r>
            <a:endParaRPr lang="en-IN" sz="1200" dirty="0" smtClean="0"/>
          </a:p>
          <a:p>
            <a:pPr marL="0" indent="0">
              <a:spcBef>
                <a:spcPts val="200"/>
              </a:spcBef>
              <a:buNone/>
            </a:pPr>
            <a:r>
              <a:rPr lang="en-IN" sz="1200" dirty="0" smtClean="0"/>
              <a:t>class Test { </a:t>
            </a:r>
            <a:endParaRPr lang="en-IN" sz="1200" dirty="0" smtClean="0"/>
          </a:p>
          <a:p>
            <a:pPr marL="0" indent="0">
              <a:spcBef>
                <a:spcPts val="200"/>
              </a:spcBef>
              <a:buNone/>
            </a:pPr>
            <a:r>
              <a:rPr lang="en-IN" sz="1200" dirty="0" smtClean="0"/>
              <a:t>	public static void main(String[] </a:t>
            </a:r>
            <a:r>
              <a:rPr lang="en-IN" sz="1200" dirty="0" err="1" smtClean="0"/>
              <a:t>args</a:t>
            </a:r>
            <a:r>
              <a:rPr lang="en-IN" sz="1200" dirty="0" smtClean="0"/>
              <a:t>) </a:t>
            </a:r>
            <a:endParaRPr lang="en-IN" sz="1200" dirty="0" smtClean="0"/>
          </a:p>
          <a:p>
            <a:pPr marL="0" indent="0">
              <a:spcBef>
                <a:spcPts val="200"/>
              </a:spcBef>
              <a:buNone/>
            </a:pPr>
            <a:r>
              <a:rPr lang="en-IN" sz="1200" dirty="0" smtClean="0"/>
              <a:t>	{ </a:t>
            </a:r>
            <a:endParaRPr lang="en-IN" sz="1200" dirty="0" smtClean="0"/>
          </a:p>
          <a:p>
            <a:pPr marL="0" indent="0">
              <a:spcBef>
                <a:spcPts val="200"/>
              </a:spcBef>
              <a:buNone/>
            </a:pPr>
            <a:r>
              <a:rPr lang="en-IN" sz="1200" dirty="0" smtClean="0"/>
              <a:t>		Student s = new Student(); </a:t>
            </a:r>
            <a:endParaRPr lang="en-IN" sz="1200" dirty="0" smtClean="0"/>
          </a:p>
          <a:p>
            <a:pPr marL="0" indent="0">
              <a:spcBef>
                <a:spcPts val="200"/>
              </a:spcBef>
              <a:buNone/>
            </a:pPr>
            <a:r>
              <a:rPr lang="en-IN" sz="1200" dirty="0" smtClean="0"/>
              <a:t>	} </a:t>
            </a:r>
            <a:endParaRPr lang="en-IN" sz="1200" dirty="0" smtClean="0"/>
          </a:p>
          <a:p>
            <a:pPr marL="0" indent="0">
              <a:spcBef>
                <a:spcPts val="200"/>
              </a:spcBef>
              <a:buNone/>
            </a:pPr>
            <a:r>
              <a:rPr lang="en-IN" sz="1200" dirty="0" smtClean="0"/>
              <a:t>}</a:t>
            </a:r>
            <a:endParaRPr lang="en-IN" sz="12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60" y="192405"/>
            <a:ext cx="10515600" cy="539115"/>
          </a:xfrm>
        </p:spPr>
        <p:txBody>
          <a:bodyPr>
            <a:normAutofit fontScale="90000"/>
          </a:bodyPr>
          <a:lstStyle/>
          <a:p>
            <a:pPr fontAlgn="base"/>
            <a:r>
              <a:rPr lang="en-US" b="1" dirty="0"/>
              <a:t>Use of super </a:t>
            </a:r>
            <a:r>
              <a:rPr lang="en-US" b="1" dirty="0" smtClean="0"/>
              <a:t>to access superclass </a:t>
            </a:r>
            <a:r>
              <a:rPr lang="en-US" b="1" dirty="0"/>
              <a:t>constructors</a:t>
            </a:r>
            <a:endParaRPr lang="en-US" b="1" dirty="0"/>
          </a:p>
        </p:txBody>
      </p:sp>
      <p:sp>
        <p:nvSpPr>
          <p:cNvPr id="3" name="Content Placeholder 2"/>
          <p:cNvSpPr>
            <a:spLocks noGrp="1"/>
          </p:cNvSpPr>
          <p:nvPr>
            <p:ph idx="1"/>
          </p:nvPr>
        </p:nvSpPr>
        <p:spPr>
          <a:xfrm>
            <a:off x="142240" y="1005840"/>
            <a:ext cx="11694160" cy="5730240"/>
          </a:xfrm>
        </p:spPr>
        <p:txBody>
          <a:bodyPr numCol="2">
            <a:noAutofit/>
          </a:bodyPr>
          <a:lstStyle/>
          <a:p>
            <a:pPr marL="0" indent="0">
              <a:spcBef>
                <a:spcPts val="200"/>
              </a:spcBef>
              <a:buNone/>
            </a:pPr>
            <a:r>
              <a:rPr lang="en-IN" sz="1100" dirty="0" smtClean="0"/>
              <a:t>class </a:t>
            </a:r>
            <a:r>
              <a:rPr lang="en-IN" sz="1100" b="1" dirty="0" smtClean="0"/>
              <a:t>Vehicle</a:t>
            </a:r>
            <a:r>
              <a:rPr lang="en-IN" sz="1100" dirty="0" smtClean="0"/>
              <a:t> {</a:t>
            </a:r>
            <a:endParaRPr lang="en-IN" sz="1100" dirty="0" smtClean="0"/>
          </a:p>
          <a:p>
            <a:pPr marL="0" indent="0">
              <a:spcBef>
                <a:spcPts val="200"/>
              </a:spcBef>
              <a:buNone/>
            </a:pPr>
            <a:r>
              <a:rPr lang="en-IN" sz="1100" dirty="0" smtClean="0"/>
              <a:t>    protected String model; // Protected member</a:t>
            </a:r>
            <a:endParaRPr lang="en-IN" sz="1100" dirty="0" smtClean="0"/>
          </a:p>
          <a:p>
            <a:pPr marL="0" indent="0">
              <a:spcBef>
                <a:spcPts val="200"/>
              </a:spcBef>
              <a:buNone/>
            </a:pPr>
            <a:r>
              <a:rPr lang="en-IN" sz="1100" dirty="0" smtClean="0"/>
              <a:t>    protected </a:t>
            </a:r>
            <a:r>
              <a:rPr lang="en-IN" sz="1100" dirty="0" err="1" smtClean="0"/>
              <a:t>int</a:t>
            </a:r>
            <a:r>
              <a:rPr lang="en-IN" sz="1100" dirty="0" smtClean="0"/>
              <a:t> year;</a:t>
            </a:r>
            <a:endParaRPr lang="en-IN" sz="1100" dirty="0" smtClean="0"/>
          </a:p>
          <a:p>
            <a:pPr marL="0" indent="0">
              <a:spcBef>
                <a:spcPts val="200"/>
              </a:spcBef>
              <a:buNone/>
            </a:pPr>
            <a:r>
              <a:rPr lang="en-IN" sz="1100" dirty="0"/>
              <a:t> </a:t>
            </a:r>
            <a:r>
              <a:rPr lang="en-IN" sz="1100" dirty="0" smtClean="0"/>
              <a:t>   public Vehicle(String model, </a:t>
            </a:r>
            <a:r>
              <a:rPr lang="en-IN" sz="1100" dirty="0" err="1" smtClean="0"/>
              <a:t>int</a:t>
            </a:r>
            <a:r>
              <a:rPr lang="en-IN" sz="1100" dirty="0" smtClean="0"/>
              <a:t> year) {</a:t>
            </a:r>
            <a:endParaRPr lang="en-IN" sz="1100" dirty="0" smtClean="0"/>
          </a:p>
          <a:p>
            <a:pPr marL="0" indent="0">
              <a:spcBef>
                <a:spcPts val="200"/>
              </a:spcBef>
              <a:buNone/>
            </a:pPr>
            <a:r>
              <a:rPr lang="en-IN" sz="1100" dirty="0" smtClean="0"/>
              <a:t>        </a:t>
            </a:r>
            <a:r>
              <a:rPr lang="en-IN" sz="1100" dirty="0" err="1" smtClean="0"/>
              <a:t>this.model</a:t>
            </a:r>
            <a:r>
              <a:rPr lang="en-IN" sz="1100" dirty="0" smtClean="0"/>
              <a:t> = model; </a:t>
            </a:r>
            <a:endParaRPr lang="en-IN" sz="1100" dirty="0" smtClean="0"/>
          </a:p>
          <a:p>
            <a:pPr marL="0" indent="0">
              <a:spcBef>
                <a:spcPts val="200"/>
              </a:spcBef>
              <a:buNone/>
            </a:pPr>
            <a:r>
              <a:rPr lang="en-IN" sz="1100" dirty="0" smtClean="0"/>
              <a:t>        </a:t>
            </a:r>
            <a:r>
              <a:rPr lang="en-IN" sz="1100" dirty="0" err="1" smtClean="0"/>
              <a:t>this.year</a:t>
            </a:r>
            <a:r>
              <a:rPr lang="en-IN" sz="1100" dirty="0" smtClean="0"/>
              <a:t> = year; </a:t>
            </a:r>
            <a:endParaRPr lang="en-IN" sz="1100" dirty="0" smtClean="0"/>
          </a:p>
          <a:p>
            <a:pPr marL="0" indent="0">
              <a:spcBef>
                <a:spcPts val="200"/>
              </a:spcBef>
              <a:buNone/>
            </a:pPr>
            <a:r>
              <a:rPr lang="en-IN" sz="1100" dirty="0" smtClean="0"/>
              <a:t> </a:t>
            </a:r>
            <a:r>
              <a:rPr lang="en-US" altLang="en-IN" sz="1100" dirty="0" smtClean="0"/>
              <a:t>    </a:t>
            </a:r>
            <a:r>
              <a:rPr lang="en-IN" sz="1100" dirty="0" smtClean="0"/>
              <a:t>}</a:t>
            </a:r>
            <a:endParaRPr lang="en-IN" sz="1100" dirty="0" smtClean="0"/>
          </a:p>
          <a:p>
            <a:pPr marL="0" indent="0">
              <a:spcBef>
                <a:spcPts val="200"/>
              </a:spcBef>
              <a:buNone/>
            </a:pPr>
            <a:r>
              <a:rPr lang="en-IN" sz="1100" dirty="0" smtClean="0"/>
              <a:t> public void </a:t>
            </a:r>
            <a:r>
              <a:rPr lang="en-IN" sz="1100" dirty="0" err="1" smtClean="0"/>
              <a:t>displayInfo</a:t>
            </a:r>
            <a:r>
              <a:rPr lang="en-IN" sz="1100" dirty="0" smtClean="0"/>
              <a:t>() {</a:t>
            </a:r>
            <a:endParaRPr lang="en-IN" sz="1100" dirty="0" smtClean="0"/>
          </a:p>
          <a:p>
            <a:pPr marL="0" indent="0">
              <a:spcBef>
                <a:spcPts val="200"/>
              </a:spcBef>
              <a:buNone/>
            </a:pPr>
            <a:r>
              <a:rPr lang="en-IN" sz="1100" dirty="0" smtClean="0"/>
              <a:t>  </a:t>
            </a:r>
            <a:r>
              <a:rPr lang="en-IN" sz="1100" dirty="0" err="1" smtClean="0"/>
              <a:t>System.out.println</a:t>
            </a:r>
            <a:r>
              <a:rPr lang="en-IN" sz="1100" dirty="0" smtClean="0"/>
              <a:t>("Model: " + model + ", Year: " + year);</a:t>
            </a:r>
            <a:endParaRPr lang="en-IN" sz="1100" dirty="0" smtClean="0"/>
          </a:p>
          <a:p>
            <a:pPr marL="0" indent="0">
              <a:spcBef>
                <a:spcPts val="200"/>
              </a:spcBef>
              <a:buNone/>
            </a:pPr>
            <a:r>
              <a:rPr lang="en-IN" sz="1100" dirty="0" smtClean="0"/>
              <a:t>  }</a:t>
            </a:r>
            <a:endParaRPr lang="en-IN" sz="1100" dirty="0" smtClean="0"/>
          </a:p>
          <a:p>
            <a:pPr marL="0" indent="0">
              <a:spcBef>
                <a:spcPts val="200"/>
              </a:spcBef>
              <a:buNone/>
            </a:pPr>
            <a:r>
              <a:rPr lang="en-IN" sz="1100" dirty="0" smtClean="0"/>
              <a:t>}</a:t>
            </a:r>
            <a:endParaRPr lang="en-IN" sz="1100" dirty="0" smtClean="0"/>
          </a:p>
          <a:p>
            <a:pPr marL="0" indent="0">
              <a:spcBef>
                <a:spcPts val="200"/>
              </a:spcBef>
              <a:buNone/>
            </a:pPr>
            <a:r>
              <a:rPr lang="en-IN" sz="1100" dirty="0" smtClean="0"/>
              <a:t>class </a:t>
            </a:r>
            <a:r>
              <a:rPr lang="en-IN" sz="1100" b="1" dirty="0" smtClean="0"/>
              <a:t>Car extends Vehicle </a:t>
            </a:r>
            <a:r>
              <a:rPr lang="en-IN" sz="1100" dirty="0" smtClean="0"/>
              <a:t>{</a:t>
            </a:r>
            <a:endParaRPr lang="en-IN" sz="1100" dirty="0" smtClean="0"/>
          </a:p>
          <a:p>
            <a:pPr marL="0" indent="0">
              <a:spcBef>
                <a:spcPts val="200"/>
              </a:spcBef>
              <a:buNone/>
            </a:pPr>
            <a:r>
              <a:rPr lang="en-IN" sz="1100" dirty="0" smtClean="0"/>
              <a:t>    private String </a:t>
            </a:r>
            <a:r>
              <a:rPr lang="en-IN" sz="1100" dirty="0" err="1" smtClean="0"/>
              <a:t>color</a:t>
            </a:r>
            <a:r>
              <a:rPr lang="en-IN" sz="1100" dirty="0" smtClean="0"/>
              <a:t>; // Subclass member</a:t>
            </a:r>
            <a:endParaRPr lang="en-IN" sz="1100" dirty="0" smtClean="0"/>
          </a:p>
          <a:p>
            <a:pPr marL="0" indent="0">
              <a:spcBef>
                <a:spcPts val="200"/>
              </a:spcBef>
              <a:buNone/>
            </a:pPr>
            <a:r>
              <a:rPr lang="en-US" altLang="en-IN" sz="1100" dirty="0" smtClean="0"/>
              <a:t>    </a:t>
            </a:r>
            <a:r>
              <a:rPr lang="en-IN" sz="1100" dirty="0" smtClean="0"/>
              <a:t>public Car(String model, </a:t>
            </a:r>
            <a:r>
              <a:rPr lang="en-IN" sz="1100" dirty="0" err="1" smtClean="0"/>
              <a:t>int</a:t>
            </a:r>
            <a:r>
              <a:rPr lang="en-IN" sz="1100" dirty="0" smtClean="0"/>
              <a:t> year, String </a:t>
            </a:r>
            <a:r>
              <a:rPr lang="en-IN" sz="1100" dirty="0" err="1" smtClean="0"/>
              <a:t>color</a:t>
            </a:r>
            <a:r>
              <a:rPr lang="en-IN" sz="1100" dirty="0" smtClean="0"/>
              <a:t>) {</a:t>
            </a:r>
            <a:endParaRPr lang="en-IN" sz="1100" dirty="0" smtClean="0"/>
          </a:p>
          <a:p>
            <a:pPr marL="0" indent="0">
              <a:spcBef>
                <a:spcPts val="200"/>
              </a:spcBef>
              <a:buNone/>
            </a:pPr>
            <a:r>
              <a:rPr lang="en-US" altLang="en-IN" sz="1100" dirty="0" smtClean="0"/>
              <a:t>    </a:t>
            </a:r>
            <a:r>
              <a:rPr lang="en-IN" sz="1100" dirty="0" smtClean="0"/>
              <a:t>// Call the superclass constructor to initialize model and year</a:t>
            </a:r>
            <a:endParaRPr lang="en-IN" sz="1100" dirty="0" smtClean="0"/>
          </a:p>
          <a:p>
            <a:pPr marL="0" indent="0">
              <a:spcBef>
                <a:spcPts val="200"/>
              </a:spcBef>
              <a:buNone/>
            </a:pPr>
            <a:r>
              <a:rPr lang="en-IN" sz="1100" dirty="0" smtClean="0"/>
              <a:t>      super(model, year);</a:t>
            </a:r>
            <a:endParaRPr lang="en-IN" sz="1100" dirty="0" smtClean="0"/>
          </a:p>
          <a:p>
            <a:pPr marL="0" indent="0">
              <a:spcBef>
                <a:spcPts val="200"/>
              </a:spcBef>
              <a:buNone/>
            </a:pPr>
            <a:r>
              <a:rPr lang="en-IN" sz="1100" dirty="0" smtClean="0"/>
              <a:t>        </a:t>
            </a:r>
            <a:r>
              <a:rPr lang="en-IN" sz="1100" dirty="0" err="1" smtClean="0"/>
              <a:t>this.color</a:t>
            </a:r>
            <a:r>
              <a:rPr lang="en-IN" sz="1100" dirty="0" smtClean="0"/>
              <a:t> = </a:t>
            </a:r>
            <a:r>
              <a:rPr lang="en-IN" sz="1100" dirty="0" err="1" smtClean="0"/>
              <a:t>color</a:t>
            </a:r>
            <a:r>
              <a:rPr lang="en-IN" sz="1100" dirty="0" smtClean="0"/>
              <a:t>; // Initialize </a:t>
            </a:r>
            <a:r>
              <a:rPr lang="en-IN" sz="1100" dirty="0" err="1" smtClean="0"/>
              <a:t>color</a:t>
            </a:r>
            <a:endParaRPr lang="en-IN" sz="1100" dirty="0" smtClean="0"/>
          </a:p>
          <a:p>
            <a:pPr marL="0" indent="0">
              <a:spcBef>
                <a:spcPts val="200"/>
              </a:spcBef>
              <a:buNone/>
            </a:pPr>
            <a:r>
              <a:rPr lang="en-IN" sz="1100" dirty="0" smtClean="0"/>
              <a:t>    }</a:t>
            </a:r>
            <a:endParaRPr lang="en-IN" sz="1100" dirty="0" smtClean="0"/>
          </a:p>
          <a:p>
            <a:pPr marL="0" indent="0">
              <a:spcBef>
                <a:spcPts val="200"/>
              </a:spcBef>
              <a:buNone/>
            </a:pPr>
            <a:endParaRPr lang="en-IN" sz="1100" dirty="0" smtClean="0"/>
          </a:p>
          <a:p>
            <a:pPr marL="0" indent="0">
              <a:spcBef>
                <a:spcPts val="200"/>
              </a:spcBef>
              <a:buNone/>
            </a:pPr>
            <a:r>
              <a:rPr lang="en-IN" sz="1100" dirty="0" smtClean="0"/>
              <a:t>    // Method to display car information</a:t>
            </a:r>
            <a:endParaRPr lang="en-IN" sz="1100" dirty="0" smtClean="0"/>
          </a:p>
          <a:p>
            <a:pPr marL="0" indent="0">
              <a:spcBef>
                <a:spcPts val="200"/>
              </a:spcBef>
              <a:buNone/>
            </a:pPr>
            <a:r>
              <a:rPr lang="en-IN" sz="1100" dirty="0" smtClean="0"/>
              <a:t>    public void </a:t>
            </a:r>
            <a:r>
              <a:rPr lang="en-IN" sz="1100" dirty="0" err="1" smtClean="0"/>
              <a:t>displayCarInfo</a:t>
            </a:r>
            <a:r>
              <a:rPr lang="en-IN" sz="1100" dirty="0" smtClean="0"/>
              <a:t>() {</a:t>
            </a:r>
            <a:endParaRPr lang="en-IN" sz="1100" dirty="0" smtClean="0"/>
          </a:p>
          <a:p>
            <a:pPr marL="0" indent="0">
              <a:spcBef>
                <a:spcPts val="200"/>
              </a:spcBef>
              <a:buNone/>
            </a:pPr>
            <a:r>
              <a:rPr lang="en-IN" sz="1100" dirty="0" smtClean="0"/>
              <a:t>        </a:t>
            </a:r>
            <a:r>
              <a:rPr lang="en-IN" sz="1100" dirty="0" err="1" smtClean="0"/>
              <a:t>System.out.println</a:t>
            </a:r>
            <a:r>
              <a:rPr lang="en-IN" sz="1100" dirty="0" smtClean="0"/>
              <a:t>("Car </a:t>
            </a:r>
            <a:r>
              <a:rPr lang="en-IN" sz="1100" dirty="0" err="1" smtClean="0"/>
              <a:t>Color</a:t>
            </a:r>
            <a:r>
              <a:rPr lang="en-IN" sz="1100" dirty="0" smtClean="0"/>
              <a:t>: " + </a:t>
            </a:r>
            <a:r>
              <a:rPr lang="en-IN" sz="1100" dirty="0" err="1" smtClean="0"/>
              <a:t>color</a:t>
            </a:r>
            <a:r>
              <a:rPr lang="en-IN" sz="1100" dirty="0" smtClean="0"/>
              <a:t>);</a:t>
            </a:r>
            <a:endParaRPr lang="en-IN" sz="1100" dirty="0" smtClean="0"/>
          </a:p>
          <a:p>
            <a:pPr marL="0" indent="0">
              <a:spcBef>
                <a:spcPts val="200"/>
              </a:spcBef>
              <a:buNone/>
            </a:pPr>
            <a:r>
              <a:rPr lang="en-IN" sz="1100" dirty="0" smtClean="0"/>
              <a:t>        </a:t>
            </a:r>
            <a:r>
              <a:rPr lang="en-IN" sz="1100" dirty="0" err="1" smtClean="0"/>
              <a:t>displayInfo</a:t>
            </a:r>
            <a:r>
              <a:rPr lang="en-IN" sz="1100" dirty="0" smtClean="0"/>
              <a:t>(); // Call superclass method to display model and year</a:t>
            </a:r>
            <a:endParaRPr lang="en-IN" sz="1100" dirty="0" smtClean="0"/>
          </a:p>
          <a:p>
            <a:pPr marL="0" indent="0">
              <a:spcBef>
                <a:spcPts val="200"/>
              </a:spcBef>
              <a:buNone/>
            </a:pPr>
            <a:r>
              <a:rPr lang="en-IN" sz="1100" dirty="0" smtClean="0"/>
              <a:t>    }</a:t>
            </a:r>
            <a:endParaRPr lang="en-IN" sz="1100" dirty="0" smtClean="0"/>
          </a:p>
          <a:p>
            <a:pPr marL="0" indent="0">
              <a:spcBef>
                <a:spcPts val="200"/>
              </a:spcBef>
              <a:buNone/>
            </a:pPr>
            <a:r>
              <a:rPr lang="en-IN" sz="1100" dirty="0" smtClean="0"/>
              <a:t>}</a:t>
            </a:r>
            <a:endParaRPr lang="en-IN" sz="1100" dirty="0" smtClean="0"/>
          </a:p>
          <a:p>
            <a:pPr marL="0" indent="0">
              <a:spcBef>
                <a:spcPts val="200"/>
              </a:spcBef>
              <a:buNone/>
            </a:pPr>
            <a:endParaRPr lang="en-IN" sz="1100" dirty="0" smtClean="0"/>
          </a:p>
          <a:p>
            <a:pPr marL="0" indent="0">
              <a:spcBef>
                <a:spcPts val="200"/>
              </a:spcBef>
              <a:buNone/>
            </a:pPr>
            <a:r>
              <a:rPr lang="en-IN" sz="1100" dirty="0" smtClean="0"/>
              <a:t>public class </a:t>
            </a:r>
            <a:r>
              <a:rPr lang="en-IN" sz="1100" dirty="0" err="1" smtClean="0"/>
              <a:t>SuperExample</a:t>
            </a:r>
            <a:r>
              <a:rPr lang="en-IN" sz="1100" dirty="0" smtClean="0"/>
              <a:t> {</a:t>
            </a:r>
            <a:endParaRPr lang="en-IN" sz="1100" dirty="0" smtClean="0"/>
          </a:p>
          <a:p>
            <a:pPr marL="0" indent="0">
              <a:spcBef>
                <a:spcPts val="200"/>
              </a:spcBef>
              <a:buNone/>
            </a:pPr>
            <a:r>
              <a:rPr lang="en-IN" sz="1100" dirty="0" smtClean="0"/>
              <a:t>    public static void main(String[] </a:t>
            </a:r>
            <a:r>
              <a:rPr lang="en-IN" sz="1100" dirty="0" err="1" smtClean="0"/>
              <a:t>args</a:t>
            </a:r>
            <a:r>
              <a:rPr lang="en-IN" sz="1100" dirty="0" smtClean="0"/>
              <a:t>) {</a:t>
            </a:r>
            <a:endParaRPr lang="en-IN" sz="1100" dirty="0" smtClean="0"/>
          </a:p>
          <a:p>
            <a:pPr marL="0" indent="0">
              <a:spcBef>
                <a:spcPts val="200"/>
              </a:spcBef>
              <a:buNone/>
            </a:pPr>
            <a:r>
              <a:rPr lang="en-IN" sz="1100" dirty="0" smtClean="0"/>
              <a:t>        Car </a:t>
            </a:r>
            <a:r>
              <a:rPr lang="en-IN" sz="1100" dirty="0" err="1" smtClean="0"/>
              <a:t>car</a:t>
            </a:r>
            <a:r>
              <a:rPr lang="en-IN" sz="1100" dirty="0" smtClean="0"/>
              <a:t> = new Car("Toyota", 2022, "Red"); // Create a Car object</a:t>
            </a:r>
            <a:endParaRPr lang="en-IN" sz="1100" dirty="0" smtClean="0"/>
          </a:p>
          <a:p>
            <a:pPr marL="0" indent="0">
              <a:spcBef>
                <a:spcPts val="200"/>
              </a:spcBef>
              <a:buNone/>
            </a:pPr>
            <a:r>
              <a:rPr lang="en-IN" sz="1100" dirty="0" smtClean="0"/>
              <a:t>        </a:t>
            </a:r>
            <a:r>
              <a:rPr lang="en-IN" sz="1100" dirty="0" err="1" smtClean="0"/>
              <a:t>car.displayCarInfo</a:t>
            </a:r>
            <a:r>
              <a:rPr lang="en-IN" sz="1100" dirty="0" smtClean="0"/>
              <a:t>(); // Call method to display car information</a:t>
            </a:r>
            <a:endParaRPr lang="en-IN" sz="1100" dirty="0" smtClean="0"/>
          </a:p>
          <a:p>
            <a:pPr marL="0" indent="0">
              <a:spcBef>
                <a:spcPts val="200"/>
              </a:spcBef>
              <a:buNone/>
            </a:pPr>
            <a:r>
              <a:rPr lang="en-IN" sz="1100" dirty="0" smtClean="0"/>
              <a:t>    }</a:t>
            </a:r>
            <a:endParaRPr lang="en-IN" sz="1100" dirty="0" smtClean="0"/>
          </a:p>
          <a:p>
            <a:pPr marL="0" indent="0">
              <a:spcBef>
                <a:spcPts val="200"/>
              </a:spcBef>
              <a:buNone/>
            </a:pPr>
            <a:r>
              <a:rPr lang="en-IN" sz="1100" dirty="0" smtClean="0"/>
              <a:t>}</a:t>
            </a:r>
            <a:endParaRPr lang="en-IN" sz="11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121285"/>
            <a:ext cx="10515600" cy="508635"/>
          </a:xfrm>
        </p:spPr>
        <p:txBody>
          <a:bodyPr>
            <a:normAutofit fontScale="90000"/>
          </a:bodyPr>
          <a:lstStyle/>
          <a:p>
            <a:r>
              <a:rPr lang="en-IN" dirty="0" smtClean="0"/>
              <a:t>Order of execution</a:t>
            </a:r>
            <a:endParaRPr lang="en-IN" dirty="0"/>
          </a:p>
        </p:txBody>
      </p:sp>
      <p:sp>
        <p:nvSpPr>
          <p:cNvPr id="3" name="Content Placeholder 2"/>
          <p:cNvSpPr>
            <a:spLocks noGrp="1"/>
          </p:cNvSpPr>
          <p:nvPr>
            <p:ph idx="1"/>
          </p:nvPr>
        </p:nvSpPr>
        <p:spPr>
          <a:xfrm>
            <a:off x="213360" y="629920"/>
            <a:ext cx="11673840" cy="6228080"/>
          </a:xfrm>
        </p:spPr>
        <p:txBody>
          <a:bodyPr numCol="1">
            <a:noAutofit/>
          </a:bodyPr>
          <a:lstStyle/>
          <a:p>
            <a:pPr>
              <a:spcBef>
                <a:spcPts val="200"/>
              </a:spcBef>
            </a:pPr>
            <a:r>
              <a:rPr lang="en-US" sz="1600" dirty="0" smtClean="0"/>
              <a:t>When you use super() in the subclass constructor, it explicitly calls the constructor of the superclass. If super() is not explicitly called, Java automatically calls the no-argument constructor of the superclass (if available).</a:t>
            </a:r>
            <a:endParaRPr lang="en-US" sz="1600" dirty="0" smtClean="0"/>
          </a:p>
          <a:p>
            <a:pPr>
              <a:spcBef>
                <a:spcPts val="200"/>
              </a:spcBef>
            </a:pPr>
            <a:endParaRPr lang="en-US" sz="1600" dirty="0" smtClean="0"/>
          </a:p>
          <a:p>
            <a:pPr marL="0" indent="0">
              <a:spcBef>
                <a:spcPts val="200"/>
              </a:spcBef>
              <a:buNone/>
            </a:pPr>
            <a:r>
              <a:rPr lang="en-IN" sz="1600" dirty="0" smtClean="0"/>
              <a:t>class Animal {</a:t>
            </a:r>
            <a:endParaRPr lang="en-IN" sz="1600" dirty="0" smtClean="0"/>
          </a:p>
          <a:p>
            <a:pPr marL="0" indent="0">
              <a:spcBef>
                <a:spcPts val="200"/>
              </a:spcBef>
              <a:buNone/>
            </a:pPr>
            <a:r>
              <a:rPr lang="en-IN" sz="1600" dirty="0" smtClean="0"/>
              <a:t>    public Animal(String name) {</a:t>
            </a:r>
            <a:endParaRPr lang="en-IN" sz="1600" dirty="0" smtClean="0"/>
          </a:p>
          <a:p>
            <a:pPr marL="0" indent="0">
              <a:spcBef>
                <a:spcPts val="200"/>
              </a:spcBef>
              <a:buNone/>
            </a:pPr>
            <a:r>
              <a:rPr lang="en-IN" sz="1600" dirty="0" smtClean="0"/>
              <a:t>    </a:t>
            </a:r>
            <a:r>
              <a:rPr lang="en-IN" sz="1600" dirty="0" err="1" smtClean="0"/>
              <a:t>System.out.println</a:t>
            </a:r>
            <a:r>
              <a:rPr lang="en-IN" sz="1600" dirty="0" smtClean="0"/>
              <a:t>("Animal constructor called. Name: " + name);</a:t>
            </a:r>
            <a:endParaRPr lang="en-IN" sz="1600" dirty="0" smtClean="0"/>
          </a:p>
          <a:p>
            <a:pPr marL="0" indent="0">
              <a:spcBef>
                <a:spcPts val="200"/>
              </a:spcBef>
              <a:buNone/>
            </a:pPr>
            <a:r>
              <a:rPr lang="en-IN" sz="1600" dirty="0" smtClean="0"/>
              <a:t>    }</a:t>
            </a:r>
            <a:endParaRPr lang="en-IN" sz="1600" dirty="0" smtClean="0"/>
          </a:p>
          <a:p>
            <a:pPr marL="0" indent="0">
              <a:spcBef>
                <a:spcPts val="200"/>
              </a:spcBef>
              <a:buNone/>
            </a:pPr>
            <a:r>
              <a:rPr lang="en-IN" sz="1600" dirty="0" smtClean="0"/>
              <a:t>}</a:t>
            </a:r>
            <a:endParaRPr lang="en-IN" sz="1600" dirty="0" smtClean="0"/>
          </a:p>
          <a:p>
            <a:pPr marL="0" indent="0">
              <a:spcBef>
                <a:spcPts val="200"/>
              </a:spcBef>
              <a:buNone/>
            </a:pPr>
            <a:r>
              <a:rPr lang="en-IN" sz="1600" dirty="0" smtClean="0"/>
              <a:t>class Mammal extends Animal {</a:t>
            </a:r>
            <a:endParaRPr lang="en-IN" sz="1600" dirty="0" smtClean="0"/>
          </a:p>
          <a:p>
            <a:pPr marL="0" indent="0">
              <a:spcBef>
                <a:spcPts val="200"/>
              </a:spcBef>
              <a:buNone/>
            </a:pPr>
            <a:r>
              <a:rPr lang="en-IN" sz="1600" dirty="0" smtClean="0"/>
              <a:t>    public Mammal(String name) {</a:t>
            </a:r>
            <a:endParaRPr lang="en-IN" sz="1600" dirty="0" smtClean="0"/>
          </a:p>
          <a:p>
            <a:pPr marL="0" indent="0">
              <a:spcBef>
                <a:spcPts val="200"/>
              </a:spcBef>
              <a:buNone/>
            </a:pPr>
            <a:r>
              <a:rPr lang="en-IN" sz="1600" dirty="0" smtClean="0"/>
              <a:t>        super(name); // Explicitly calling Animal constructor</a:t>
            </a:r>
            <a:endParaRPr lang="en-IN" sz="1600" dirty="0" smtClean="0"/>
          </a:p>
          <a:p>
            <a:pPr marL="0" indent="0">
              <a:spcBef>
                <a:spcPts val="200"/>
              </a:spcBef>
              <a:buNone/>
            </a:pPr>
            <a:r>
              <a:rPr lang="en-IN" sz="1600" dirty="0" smtClean="0"/>
              <a:t>        </a:t>
            </a:r>
            <a:r>
              <a:rPr lang="en-IN" sz="1600" dirty="0" err="1" smtClean="0"/>
              <a:t>System.out.println</a:t>
            </a:r>
            <a:r>
              <a:rPr lang="en-IN" sz="1600" dirty="0" smtClean="0"/>
              <a:t>("Mammal constructor called.");</a:t>
            </a:r>
            <a:endParaRPr lang="en-IN" sz="1600" dirty="0" smtClean="0"/>
          </a:p>
          <a:p>
            <a:pPr marL="0" indent="0">
              <a:spcBef>
                <a:spcPts val="200"/>
              </a:spcBef>
              <a:buNone/>
            </a:pPr>
            <a:r>
              <a:rPr lang="en-IN" sz="1600" dirty="0" smtClean="0"/>
              <a:t>    }</a:t>
            </a:r>
            <a:endParaRPr lang="en-IN" sz="1600" dirty="0" smtClean="0"/>
          </a:p>
          <a:p>
            <a:pPr marL="0" indent="0">
              <a:spcBef>
                <a:spcPts val="200"/>
              </a:spcBef>
              <a:buNone/>
            </a:pPr>
            <a:r>
              <a:rPr lang="en-IN" sz="1600" dirty="0" smtClean="0"/>
              <a:t>}</a:t>
            </a:r>
            <a:endParaRPr lang="en-IN" sz="1600" dirty="0" smtClean="0"/>
          </a:p>
          <a:p>
            <a:pPr marL="0" indent="0">
              <a:spcBef>
                <a:spcPts val="200"/>
              </a:spcBef>
              <a:buNone/>
            </a:pPr>
            <a:r>
              <a:rPr lang="en-IN" sz="1600" dirty="0" smtClean="0"/>
              <a:t>class Dog extends Mammal {</a:t>
            </a:r>
            <a:endParaRPr lang="en-IN" sz="1600" dirty="0" smtClean="0"/>
          </a:p>
          <a:p>
            <a:pPr marL="0" indent="0">
              <a:spcBef>
                <a:spcPts val="200"/>
              </a:spcBef>
              <a:buNone/>
            </a:pPr>
            <a:r>
              <a:rPr lang="en-IN" sz="1600" dirty="0" smtClean="0"/>
              <a:t>    public Dog(String name) {</a:t>
            </a:r>
            <a:endParaRPr lang="en-IN" sz="1600" dirty="0" smtClean="0"/>
          </a:p>
          <a:p>
            <a:pPr marL="0" indent="0">
              <a:spcBef>
                <a:spcPts val="200"/>
              </a:spcBef>
              <a:buNone/>
            </a:pPr>
            <a:r>
              <a:rPr lang="en-IN" sz="1600" dirty="0" smtClean="0"/>
              <a:t>        super(name); // Explicitly calling Mammal constructor</a:t>
            </a:r>
            <a:endParaRPr lang="en-IN" sz="1600" dirty="0" smtClean="0"/>
          </a:p>
          <a:p>
            <a:pPr marL="0" indent="0">
              <a:spcBef>
                <a:spcPts val="200"/>
              </a:spcBef>
              <a:buNone/>
            </a:pPr>
            <a:r>
              <a:rPr lang="en-IN" sz="1600" dirty="0" smtClean="0"/>
              <a:t>        </a:t>
            </a:r>
            <a:r>
              <a:rPr lang="en-IN" sz="1600" dirty="0" err="1" smtClean="0"/>
              <a:t>System.out.println</a:t>
            </a:r>
            <a:r>
              <a:rPr lang="en-IN" sz="1600" dirty="0" smtClean="0"/>
              <a:t>("Dog constructor called.");</a:t>
            </a:r>
            <a:endParaRPr lang="en-IN" sz="1600" dirty="0" smtClean="0"/>
          </a:p>
          <a:p>
            <a:pPr marL="0" indent="0">
              <a:spcBef>
                <a:spcPts val="200"/>
              </a:spcBef>
              <a:buNone/>
            </a:pPr>
            <a:r>
              <a:rPr lang="en-IN" sz="1600" dirty="0" smtClean="0"/>
              <a:t>    }</a:t>
            </a:r>
            <a:endParaRPr lang="en-IN" sz="1600" dirty="0" smtClean="0"/>
          </a:p>
          <a:p>
            <a:pPr marL="0" indent="0">
              <a:spcBef>
                <a:spcPts val="200"/>
              </a:spcBef>
              <a:buNone/>
            </a:pPr>
            <a:r>
              <a:rPr lang="en-IN" sz="1600" dirty="0" smtClean="0"/>
              <a:t>}</a:t>
            </a:r>
            <a:endParaRPr lang="en-IN" sz="1600" dirty="0" smtClean="0"/>
          </a:p>
          <a:p>
            <a:pPr marL="0" indent="0">
              <a:spcBef>
                <a:spcPts val="200"/>
              </a:spcBef>
              <a:buNone/>
            </a:pPr>
            <a:r>
              <a:rPr lang="en-IN" sz="1600" dirty="0" smtClean="0"/>
              <a:t>public class Main {</a:t>
            </a:r>
            <a:endParaRPr lang="en-IN" sz="1600" dirty="0" smtClean="0"/>
          </a:p>
          <a:p>
            <a:pPr marL="0" indent="0">
              <a:spcBef>
                <a:spcPts val="200"/>
              </a:spcBef>
              <a:buNone/>
            </a:pPr>
            <a:r>
              <a:rPr lang="en-IN" sz="1600" dirty="0" smtClean="0"/>
              <a:t>    public static void main(String[] </a:t>
            </a:r>
            <a:r>
              <a:rPr lang="en-IN" sz="1600" dirty="0" err="1" smtClean="0"/>
              <a:t>args</a:t>
            </a:r>
            <a:r>
              <a:rPr lang="en-IN" sz="1600" dirty="0" smtClean="0"/>
              <a:t>) {</a:t>
            </a:r>
            <a:endParaRPr lang="en-IN" sz="1600" dirty="0" smtClean="0"/>
          </a:p>
          <a:p>
            <a:pPr marL="0" indent="0">
              <a:spcBef>
                <a:spcPts val="200"/>
              </a:spcBef>
              <a:buNone/>
            </a:pPr>
            <a:r>
              <a:rPr lang="en-IN" sz="1600" dirty="0" smtClean="0"/>
              <a:t>        Dog </a:t>
            </a:r>
            <a:r>
              <a:rPr lang="en-IN" sz="1600" dirty="0" err="1" smtClean="0"/>
              <a:t>dog</a:t>
            </a:r>
            <a:r>
              <a:rPr lang="en-IN" sz="1600" dirty="0" smtClean="0"/>
              <a:t> = new Dog("Buddy"); // Creating an object of Dog</a:t>
            </a:r>
            <a:endParaRPr lang="en-IN" sz="1600" dirty="0" smtClean="0"/>
          </a:p>
          <a:p>
            <a:pPr marL="0" indent="0">
              <a:spcBef>
                <a:spcPts val="200"/>
              </a:spcBef>
              <a:buNone/>
            </a:pPr>
            <a:r>
              <a:rPr lang="en-IN" sz="1600" dirty="0" smtClean="0"/>
              <a:t>    }</a:t>
            </a:r>
            <a:endParaRPr lang="en-IN" sz="1600" dirty="0" smtClean="0"/>
          </a:p>
          <a:p>
            <a:pPr marL="0" indent="0">
              <a:spcBef>
                <a:spcPts val="200"/>
              </a:spcBef>
              <a:buNone/>
            </a:pPr>
            <a:r>
              <a:rPr lang="en-IN" sz="1600" dirty="0" smtClean="0"/>
              <a:t>}</a:t>
            </a:r>
            <a:endParaRPr lang="en-IN" sz="1600" dirty="0" smtClean="0"/>
          </a:p>
          <a:p>
            <a:pPr>
              <a:spcBef>
                <a:spcPts val="200"/>
              </a:spcBef>
            </a:pPr>
            <a:endParaRPr lang="en-IN" sz="1600" dirty="0"/>
          </a:p>
        </p:txBody>
      </p:sp>
      <p:sp>
        <p:nvSpPr>
          <p:cNvPr id="5" name="TextBox 4"/>
          <p:cNvSpPr txBox="1"/>
          <p:nvPr/>
        </p:nvSpPr>
        <p:spPr>
          <a:xfrm>
            <a:off x="7385396" y="3570778"/>
            <a:ext cx="3955891" cy="1477328"/>
          </a:xfrm>
          <a:prstGeom prst="rect">
            <a:avLst/>
          </a:prstGeom>
          <a:noFill/>
        </p:spPr>
        <p:txBody>
          <a:bodyPr wrap="none" rtlCol="0">
            <a:spAutoFit/>
          </a:bodyPr>
          <a:lstStyle/>
          <a:p>
            <a:r>
              <a:rPr lang="en-US" dirty="0" smtClean="0"/>
              <a:t>O/P</a:t>
            </a:r>
            <a:endParaRPr lang="en-US" dirty="0" smtClean="0"/>
          </a:p>
          <a:p>
            <a:r>
              <a:rPr lang="en-US" dirty="0" smtClean="0"/>
              <a:t>Animal constructor called. Name: Buddy</a:t>
            </a:r>
            <a:endParaRPr lang="en-US" dirty="0" smtClean="0"/>
          </a:p>
          <a:p>
            <a:r>
              <a:rPr lang="en-US" dirty="0" smtClean="0"/>
              <a:t>Mammal constructor called.</a:t>
            </a:r>
            <a:endParaRPr lang="en-US" dirty="0" smtClean="0"/>
          </a:p>
          <a:p>
            <a:r>
              <a:rPr lang="en-US" dirty="0" smtClean="0"/>
              <a:t>Dog constructor called.</a:t>
            </a:r>
            <a:endParaRPr lang="en-US" dirty="0" smtClean="0"/>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360" y="90805"/>
            <a:ext cx="10515600" cy="610235"/>
          </a:xfrm>
        </p:spPr>
        <p:txBody>
          <a:bodyPr>
            <a:normAutofit fontScale="90000"/>
          </a:bodyPr>
          <a:lstStyle/>
          <a:p>
            <a:r>
              <a:rPr lang="en-IN" dirty="0" smtClean="0"/>
              <a:t>Real-life Example</a:t>
            </a:r>
            <a:endParaRPr lang="en-IN" dirty="0"/>
          </a:p>
        </p:txBody>
      </p:sp>
      <p:sp>
        <p:nvSpPr>
          <p:cNvPr id="3" name="Content Placeholder 2"/>
          <p:cNvSpPr>
            <a:spLocks noGrp="1"/>
          </p:cNvSpPr>
          <p:nvPr>
            <p:ph idx="1"/>
          </p:nvPr>
        </p:nvSpPr>
        <p:spPr>
          <a:xfrm>
            <a:off x="6339378" y="533297"/>
            <a:ext cx="5639262" cy="5798071"/>
          </a:xfrm>
        </p:spPr>
        <p:txBody>
          <a:bodyPr>
            <a:normAutofit fontScale="92500" lnSpcReduction="20000"/>
          </a:bodyPr>
          <a:lstStyle/>
          <a:p>
            <a:pPr marL="0" indent="0">
              <a:spcBef>
                <a:spcPts val="300"/>
              </a:spcBef>
              <a:buNone/>
            </a:pPr>
            <a:r>
              <a:rPr lang="en-IN" sz="1800" dirty="0" smtClean="0"/>
              <a:t>class Bike extends Vehicle {       // Subclass: Bike</a:t>
            </a:r>
            <a:endParaRPr lang="en-IN" sz="1800" dirty="0" smtClean="0"/>
          </a:p>
          <a:p>
            <a:pPr marL="0" indent="0">
              <a:spcBef>
                <a:spcPts val="300"/>
              </a:spcBef>
              <a:buNone/>
            </a:pPr>
            <a:r>
              <a:rPr lang="en-IN" sz="1800" dirty="0" smtClean="0"/>
              <a:t>    private </a:t>
            </a:r>
            <a:r>
              <a:rPr lang="en-IN" sz="1800" dirty="0" err="1" smtClean="0"/>
              <a:t>boolean</a:t>
            </a:r>
            <a:r>
              <a:rPr lang="en-IN" sz="1800" dirty="0" smtClean="0"/>
              <a:t> </a:t>
            </a:r>
            <a:r>
              <a:rPr lang="en-IN" sz="1800" dirty="0" err="1" smtClean="0"/>
              <a:t>hasCarrier</a:t>
            </a:r>
            <a:r>
              <a:rPr lang="en-IN" sz="1800" dirty="0" smtClean="0"/>
              <a:t>;</a:t>
            </a:r>
            <a:endParaRPr lang="en-IN" sz="1800" dirty="0" smtClean="0"/>
          </a:p>
          <a:p>
            <a:pPr marL="0" indent="0">
              <a:spcBef>
                <a:spcPts val="300"/>
              </a:spcBef>
              <a:buNone/>
            </a:pPr>
            <a:r>
              <a:rPr lang="en-IN" sz="1800" dirty="0" smtClean="0"/>
              <a:t>    </a:t>
            </a:r>
            <a:endParaRPr lang="en-IN" sz="1800" dirty="0" smtClean="0"/>
          </a:p>
          <a:p>
            <a:pPr marL="0" indent="0">
              <a:spcBef>
                <a:spcPts val="300"/>
              </a:spcBef>
              <a:buNone/>
            </a:pPr>
            <a:r>
              <a:rPr lang="en-IN" sz="1800" dirty="0" smtClean="0"/>
              <a:t>    public Bike(String brand, </a:t>
            </a:r>
            <a:r>
              <a:rPr lang="en-IN" sz="1800" dirty="0" err="1" smtClean="0"/>
              <a:t>int</a:t>
            </a:r>
            <a:r>
              <a:rPr lang="en-IN" sz="1800" dirty="0" smtClean="0"/>
              <a:t> speed, </a:t>
            </a:r>
            <a:r>
              <a:rPr lang="en-IN" sz="1800" dirty="0" err="1" smtClean="0"/>
              <a:t>boolean</a:t>
            </a:r>
            <a:r>
              <a:rPr lang="en-IN" sz="1800" dirty="0" smtClean="0"/>
              <a:t> </a:t>
            </a:r>
            <a:r>
              <a:rPr lang="en-IN" sz="1800" dirty="0" err="1" smtClean="0"/>
              <a:t>hasCarrier</a:t>
            </a:r>
            <a:r>
              <a:rPr lang="en-IN" sz="1800" dirty="0" smtClean="0"/>
              <a:t>) {</a:t>
            </a:r>
            <a:endParaRPr lang="en-IN" sz="1800" dirty="0" smtClean="0"/>
          </a:p>
          <a:p>
            <a:pPr marL="0" indent="0">
              <a:spcBef>
                <a:spcPts val="300"/>
              </a:spcBef>
              <a:buNone/>
            </a:pPr>
            <a:r>
              <a:rPr lang="en-IN" sz="1800" dirty="0" smtClean="0"/>
              <a:t>        super(brand, speed); // Call the constructor of the superclass</a:t>
            </a:r>
            <a:endParaRPr lang="en-IN" sz="1800" dirty="0" smtClean="0"/>
          </a:p>
          <a:p>
            <a:pPr marL="0" indent="0">
              <a:spcBef>
                <a:spcPts val="300"/>
              </a:spcBef>
              <a:buNone/>
            </a:pPr>
            <a:r>
              <a:rPr lang="en-IN" sz="1800" dirty="0" smtClean="0"/>
              <a:t>        </a:t>
            </a:r>
            <a:r>
              <a:rPr lang="en-IN" sz="1800" dirty="0" err="1" smtClean="0"/>
              <a:t>this.hasCarrier</a:t>
            </a:r>
            <a:r>
              <a:rPr lang="en-IN" sz="1800" dirty="0" smtClean="0"/>
              <a:t> = </a:t>
            </a:r>
            <a:r>
              <a:rPr lang="en-IN" sz="1800" dirty="0" err="1" smtClean="0"/>
              <a:t>hasCarrier</a:t>
            </a:r>
            <a:r>
              <a:rPr lang="en-IN" sz="1800" dirty="0" smtClean="0"/>
              <a:t>;</a:t>
            </a:r>
            <a:endParaRPr lang="en-IN" sz="1800" dirty="0" smtClean="0"/>
          </a:p>
          <a:p>
            <a:pPr marL="0" indent="0">
              <a:spcBef>
                <a:spcPts val="300"/>
              </a:spcBef>
              <a:buNone/>
            </a:pPr>
            <a:r>
              <a:rPr lang="en-IN" sz="1800" dirty="0" smtClean="0"/>
              <a:t>    }</a:t>
            </a:r>
            <a:endParaRPr lang="en-IN" sz="1800" dirty="0" smtClean="0"/>
          </a:p>
          <a:p>
            <a:pPr marL="0" indent="0">
              <a:spcBef>
                <a:spcPts val="300"/>
              </a:spcBef>
              <a:buNone/>
            </a:pPr>
            <a:r>
              <a:rPr lang="en-IN" sz="1800" dirty="0" smtClean="0"/>
              <a:t>public void </a:t>
            </a:r>
            <a:r>
              <a:rPr lang="en-IN" sz="1800" dirty="0" err="1" smtClean="0"/>
              <a:t>displayBikeDetails</a:t>
            </a:r>
            <a:r>
              <a:rPr lang="en-IN" sz="1800" dirty="0" smtClean="0"/>
              <a:t>() {</a:t>
            </a:r>
            <a:endParaRPr lang="en-IN" sz="1800" dirty="0" smtClean="0"/>
          </a:p>
          <a:p>
            <a:pPr marL="0" indent="0">
              <a:spcBef>
                <a:spcPts val="300"/>
              </a:spcBef>
              <a:buNone/>
            </a:pPr>
            <a:r>
              <a:rPr lang="en-IN" sz="1800" dirty="0" smtClean="0"/>
              <a:t>        </a:t>
            </a:r>
            <a:r>
              <a:rPr lang="en-IN" sz="1800" dirty="0" err="1" smtClean="0"/>
              <a:t>displayInfo</a:t>
            </a:r>
            <a:r>
              <a:rPr lang="en-IN" sz="1800" dirty="0" smtClean="0"/>
              <a:t>(); // Reuse the superclass method</a:t>
            </a:r>
            <a:endParaRPr lang="en-IN" sz="1800" dirty="0" smtClean="0"/>
          </a:p>
          <a:p>
            <a:pPr marL="0" indent="0">
              <a:spcBef>
                <a:spcPts val="300"/>
              </a:spcBef>
              <a:buNone/>
            </a:pPr>
            <a:r>
              <a:rPr lang="en-IN" sz="1800" dirty="0" smtClean="0"/>
              <a:t>        </a:t>
            </a:r>
            <a:r>
              <a:rPr lang="en-IN" sz="1800" dirty="0" err="1" smtClean="0"/>
              <a:t>System.out.println</a:t>
            </a:r>
            <a:r>
              <a:rPr lang="en-IN" sz="1800" dirty="0" smtClean="0"/>
              <a:t>("Has carrier: " + (</a:t>
            </a:r>
            <a:r>
              <a:rPr lang="en-IN" sz="1800" dirty="0" err="1" smtClean="0"/>
              <a:t>hasCarrier</a:t>
            </a:r>
            <a:r>
              <a:rPr lang="en-IN" sz="1800" dirty="0" smtClean="0"/>
              <a:t> ? "Yes" : "No"));</a:t>
            </a:r>
            <a:endParaRPr lang="en-IN" sz="1800" dirty="0" smtClean="0"/>
          </a:p>
          <a:p>
            <a:pPr marL="0" indent="0">
              <a:spcBef>
                <a:spcPts val="300"/>
              </a:spcBef>
              <a:buNone/>
            </a:pPr>
            <a:r>
              <a:rPr lang="en-IN" sz="1800" dirty="0" smtClean="0"/>
              <a:t>    }</a:t>
            </a:r>
            <a:endParaRPr lang="en-IN" sz="1800" dirty="0" smtClean="0"/>
          </a:p>
          <a:p>
            <a:pPr marL="0" indent="0">
              <a:spcBef>
                <a:spcPts val="300"/>
              </a:spcBef>
              <a:buNone/>
            </a:pPr>
            <a:r>
              <a:rPr lang="en-IN" sz="1800" dirty="0" smtClean="0"/>
              <a:t>}</a:t>
            </a:r>
            <a:endParaRPr lang="en-IN" sz="1800" dirty="0" smtClean="0"/>
          </a:p>
          <a:p>
            <a:pPr marL="0" indent="0">
              <a:spcBef>
                <a:spcPts val="300"/>
              </a:spcBef>
              <a:buNone/>
            </a:pPr>
            <a:endParaRPr lang="en-IN" sz="1800" dirty="0" smtClean="0"/>
          </a:p>
          <a:p>
            <a:pPr marL="0" indent="0">
              <a:spcBef>
                <a:spcPts val="300"/>
              </a:spcBef>
              <a:buNone/>
            </a:pPr>
            <a:r>
              <a:rPr lang="en-IN" sz="1800" dirty="0" smtClean="0"/>
              <a:t>public class Main { </a:t>
            </a:r>
            <a:endParaRPr lang="en-IN" sz="1800" dirty="0" smtClean="0"/>
          </a:p>
          <a:p>
            <a:pPr marL="0" indent="0">
              <a:spcBef>
                <a:spcPts val="300"/>
              </a:spcBef>
              <a:buNone/>
            </a:pPr>
            <a:r>
              <a:rPr lang="en-IN" sz="1800" dirty="0" smtClean="0"/>
              <a:t>public static void main(String[] </a:t>
            </a:r>
            <a:r>
              <a:rPr lang="en-IN" sz="1800" dirty="0" err="1" smtClean="0"/>
              <a:t>args</a:t>
            </a:r>
            <a:r>
              <a:rPr lang="en-IN" sz="1800" dirty="0" smtClean="0"/>
              <a:t>) { </a:t>
            </a:r>
            <a:endParaRPr lang="en-IN" sz="1800" dirty="0" smtClean="0"/>
          </a:p>
          <a:p>
            <a:pPr marL="0" indent="0">
              <a:spcBef>
                <a:spcPts val="300"/>
              </a:spcBef>
              <a:buNone/>
            </a:pPr>
            <a:endParaRPr lang="en-IN" sz="1800" dirty="0" smtClean="0"/>
          </a:p>
          <a:p>
            <a:pPr marL="0" indent="0">
              <a:spcBef>
                <a:spcPts val="300"/>
              </a:spcBef>
              <a:buNone/>
            </a:pPr>
            <a:r>
              <a:rPr lang="en-IN" sz="1800" dirty="0" smtClean="0"/>
              <a:t>Car </a:t>
            </a:r>
            <a:r>
              <a:rPr lang="en-IN" sz="1800" dirty="0" err="1" smtClean="0"/>
              <a:t>car</a:t>
            </a:r>
            <a:r>
              <a:rPr lang="en-IN" sz="1800" dirty="0" smtClean="0"/>
              <a:t> = new Car("Toyota", 180, 4); </a:t>
            </a:r>
            <a:endParaRPr lang="en-IN" sz="1800" dirty="0" smtClean="0"/>
          </a:p>
          <a:p>
            <a:pPr marL="0" indent="0">
              <a:spcBef>
                <a:spcPts val="300"/>
              </a:spcBef>
              <a:buNone/>
            </a:pPr>
            <a:r>
              <a:rPr lang="en-IN" sz="1800" dirty="0" err="1" smtClean="0"/>
              <a:t>car.displayCarDetails</a:t>
            </a:r>
            <a:r>
              <a:rPr lang="en-IN" sz="1800" dirty="0" smtClean="0"/>
              <a:t>(); </a:t>
            </a:r>
            <a:endParaRPr lang="en-IN" sz="1800" dirty="0" smtClean="0"/>
          </a:p>
          <a:p>
            <a:pPr marL="0" indent="0">
              <a:spcBef>
                <a:spcPts val="300"/>
              </a:spcBef>
              <a:buNone/>
            </a:pPr>
            <a:r>
              <a:rPr lang="en-IN" sz="1800" dirty="0" err="1" smtClean="0"/>
              <a:t>System.out.println</a:t>
            </a:r>
            <a:r>
              <a:rPr lang="en-IN" sz="1800" dirty="0" smtClean="0"/>
              <a:t>(); </a:t>
            </a:r>
            <a:endParaRPr lang="en-IN" sz="1800" dirty="0" smtClean="0"/>
          </a:p>
          <a:p>
            <a:pPr marL="0" indent="0">
              <a:spcBef>
                <a:spcPts val="300"/>
              </a:spcBef>
              <a:buNone/>
            </a:pPr>
            <a:r>
              <a:rPr lang="en-IN" sz="1800" dirty="0" smtClean="0"/>
              <a:t>Bike </a:t>
            </a:r>
            <a:r>
              <a:rPr lang="en-IN" sz="1800" dirty="0" err="1" smtClean="0"/>
              <a:t>bike</a:t>
            </a:r>
            <a:r>
              <a:rPr lang="en-IN" sz="1800" dirty="0" smtClean="0"/>
              <a:t> = new Bike("Yamaha", 120, true); </a:t>
            </a:r>
            <a:r>
              <a:rPr lang="en-IN" sz="1800" dirty="0" err="1" smtClean="0"/>
              <a:t>bike.displayBikeDetails</a:t>
            </a:r>
            <a:r>
              <a:rPr lang="en-IN" sz="1800" dirty="0" smtClean="0"/>
              <a:t>(); </a:t>
            </a:r>
            <a:endParaRPr lang="en-IN" sz="1800" dirty="0" smtClean="0"/>
          </a:p>
          <a:p>
            <a:pPr marL="0" indent="0">
              <a:spcBef>
                <a:spcPts val="300"/>
              </a:spcBef>
              <a:buNone/>
            </a:pPr>
            <a:r>
              <a:rPr lang="en-IN" sz="1800" dirty="0" smtClean="0"/>
              <a:t>} </a:t>
            </a:r>
            <a:endParaRPr lang="en-IN" sz="1800" dirty="0" smtClean="0"/>
          </a:p>
          <a:p>
            <a:pPr marL="0" indent="0">
              <a:spcBef>
                <a:spcPts val="300"/>
              </a:spcBef>
              <a:buNone/>
            </a:pPr>
            <a:r>
              <a:rPr lang="en-IN" sz="1800" dirty="0" smtClean="0"/>
              <a:t>}</a:t>
            </a:r>
            <a:endParaRPr lang="en-IN" sz="1800" dirty="0" smtClean="0"/>
          </a:p>
        </p:txBody>
      </p:sp>
      <p:sp>
        <p:nvSpPr>
          <p:cNvPr id="4" name="Content Placeholder 2"/>
          <p:cNvSpPr txBox="1"/>
          <p:nvPr/>
        </p:nvSpPr>
        <p:spPr>
          <a:xfrm>
            <a:off x="6995160" y="1266825"/>
            <a:ext cx="540004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lang="en-IN" dirty="0"/>
          </a:p>
        </p:txBody>
      </p:sp>
      <p:sp>
        <p:nvSpPr>
          <p:cNvPr id="5" name="Content Placeholder 2"/>
          <p:cNvSpPr txBox="1"/>
          <p:nvPr/>
        </p:nvSpPr>
        <p:spPr>
          <a:xfrm>
            <a:off x="340360" y="711098"/>
            <a:ext cx="5400040" cy="54424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100"/>
              </a:spcBef>
              <a:buFont typeface="Arial" panose="020B0604020202090204" pitchFamily="34" charset="0"/>
              <a:buNone/>
            </a:pPr>
            <a:r>
              <a:rPr lang="en-IN" sz="1600" dirty="0" smtClean="0"/>
              <a:t>class Vehicle {                    // Superclass: Vehicle</a:t>
            </a:r>
            <a:endParaRPr lang="en-IN" sz="1600" dirty="0" smtClean="0"/>
          </a:p>
          <a:p>
            <a:pPr marL="0" indent="0">
              <a:lnSpc>
                <a:spcPct val="120000"/>
              </a:lnSpc>
              <a:spcBef>
                <a:spcPts val="100"/>
              </a:spcBef>
              <a:buFont typeface="Arial" panose="020B0604020202090204" pitchFamily="34" charset="0"/>
              <a:buNone/>
            </a:pPr>
            <a:r>
              <a:rPr lang="en-IN" sz="1600" dirty="0" smtClean="0"/>
              <a:t>    protected String brand;</a:t>
            </a:r>
            <a:endParaRPr lang="en-IN" sz="1600" dirty="0" smtClean="0"/>
          </a:p>
          <a:p>
            <a:pPr marL="0" indent="0">
              <a:lnSpc>
                <a:spcPct val="120000"/>
              </a:lnSpc>
              <a:spcBef>
                <a:spcPts val="100"/>
              </a:spcBef>
              <a:buFont typeface="Arial" panose="020B0604020202090204" pitchFamily="34" charset="0"/>
              <a:buNone/>
            </a:pPr>
            <a:r>
              <a:rPr lang="en-IN" sz="1600" dirty="0" smtClean="0"/>
              <a:t>    protected </a:t>
            </a:r>
            <a:r>
              <a:rPr lang="en-IN" sz="1600" dirty="0" err="1" smtClean="0"/>
              <a:t>int</a:t>
            </a:r>
            <a:r>
              <a:rPr lang="en-IN" sz="1600" dirty="0" smtClean="0"/>
              <a:t> speed;</a:t>
            </a:r>
            <a:endParaRPr lang="en-IN" sz="1600" dirty="0" smtClean="0"/>
          </a:p>
          <a:p>
            <a:pPr marL="0" indent="0">
              <a:lnSpc>
                <a:spcPct val="120000"/>
              </a:lnSpc>
              <a:spcBef>
                <a:spcPts val="100"/>
              </a:spcBef>
              <a:buFont typeface="Arial" panose="020B0604020202090204" pitchFamily="34" charset="0"/>
              <a:buNone/>
            </a:pPr>
            <a:r>
              <a:rPr lang="en-IN" sz="1600" dirty="0" smtClean="0"/>
              <a:t>    public Vehicle(String brand, </a:t>
            </a:r>
            <a:r>
              <a:rPr lang="en-IN" sz="1600" dirty="0" err="1" smtClean="0"/>
              <a:t>int</a:t>
            </a:r>
            <a:r>
              <a:rPr lang="en-IN" sz="1600" dirty="0" smtClean="0"/>
              <a:t> speed) {</a:t>
            </a:r>
            <a:endParaRPr lang="en-IN" sz="1600" dirty="0" smtClean="0"/>
          </a:p>
          <a:p>
            <a:pPr marL="0" indent="0">
              <a:lnSpc>
                <a:spcPct val="120000"/>
              </a:lnSpc>
              <a:spcBef>
                <a:spcPts val="100"/>
              </a:spcBef>
              <a:buFont typeface="Arial" panose="020B0604020202090204" pitchFamily="34" charset="0"/>
              <a:buNone/>
            </a:pPr>
            <a:r>
              <a:rPr lang="en-IN" sz="1600" dirty="0" smtClean="0"/>
              <a:t>        </a:t>
            </a:r>
            <a:r>
              <a:rPr lang="en-IN" sz="1600" dirty="0" err="1" smtClean="0"/>
              <a:t>this.brand</a:t>
            </a:r>
            <a:r>
              <a:rPr lang="en-IN" sz="1600" dirty="0" smtClean="0"/>
              <a:t> = brand;</a:t>
            </a:r>
            <a:endParaRPr lang="en-IN" sz="1600" dirty="0" smtClean="0"/>
          </a:p>
          <a:p>
            <a:pPr marL="0" indent="0">
              <a:lnSpc>
                <a:spcPct val="120000"/>
              </a:lnSpc>
              <a:spcBef>
                <a:spcPts val="100"/>
              </a:spcBef>
              <a:buFont typeface="Arial" panose="020B0604020202090204" pitchFamily="34" charset="0"/>
              <a:buNone/>
            </a:pPr>
            <a:r>
              <a:rPr lang="en-IN" sz="1600" dirty="0" smtClean="0"/>
              <a:t>        </a:t>
            </a:r>
            <a:r>
              <a:rPr lang="en-IN" sz="1600" dirty="0" err="1" smtClean="0"/>
              <a:t>this.speed</a:t>
            </a:r>
            <a:r>
              <a:rPr lang="en-IN" sz="1600" dirty="0" smtClean="0"/>
              <a:t> = speed;</a:t>
            </a:r>
            <a:endParaRPr lang="en-IN" sz="1600" dirty="0" smtClean="0"/>
          </a:p>
          <a:p>
            <a:pPr marL="0" indent="0">
              <a:lnSpc>
                <a:spcPct val="120000"/>
              </a:lnSpc>
              <a:spcBef>
                <a:spcPts val="100"/>
              </a:spcBef>
              <a:buFont typeface="Arial" panose="020B0604020202090204" pitchFamily="34" charset="0"/>
              <a:buNone/>
            </a:pPr>
            <a:r>
              <a:rPr lang="en-IN" sz="1600" dirty="0" smtClean="0"/>
              <a:t>    }</a:t>
            </a:r>
            <a:endParaRPr lang="en-IN" sz="1600" dirty="0" smtClean="0"/>
          </a:p>
          <a:p>
            <a:pPr marL="0" indent="0">
              <a:spcBef>
                <a:spcPts val="100"/>
              </a:spcBef>
              <a:buFont typeface="Arial" panose="020B0604020202090204" pitchFamily="34" charset="0"/>
              <a:buNone/>
            </a:pPr>
            <a:r>
              <a:rPr lang="en-IN" sz="1600" dirty="0" smtClean="0"/>
              <a:t>public void </a:t>
            </a:r>
            <a:r>
              <a:rPr lang="en-IN" sz="1600" dirty="0" err="1" smtClean="0"/>
              <a:t>displayInfo</a:t>
            </a:r>
            <a:r>
              <a:rPr lang="en-IN" sz="1600" dirty="0" smtClean="0"/>
              <a:t>() {</a:t>
            </a:r>
            <a:endParaRPr lang="en-IN" sz="1600" dirty="0" smtClean="0"/>
          </a:p>
          <a:p>
            <a:pPr marL="0" indent="0">
              <a:spcBef>
                <a:spcPts val="100"/>
              </a:spcBef>
              <a:buFont typeface="Arial" panose="020B0604020202090204" pitchFamily="34" charset="0"/>
              <a:buNone/>
            </a:pPr>
            <a:r>
              <a:rPr lang="en-IN" sz="1600" dirty="0" smtClean="0"/>
              <a:t>        </a:t>
            </a:r>
            <a:r>
              <a:rPr lang="en-IN" sz="1600" dirty="0" err="1" smtClean="0"/>
              <a:t>System.out.println</a:t>
            </a:r>
            <a:r>
              <a:rPr lang="en-IN" sz="1600" dirty="0" smtClean="0"/>
              <a:t>("Brand: " + brand + " | Speed: " + speed + " km/h");</a:t>
            </a:r>
            <a:endParaRPr lang="en-IN" sz="1600" dirty="0" smtClean="0"/>
          </a:p>
          <a:p>
            <a:pPr marL="0" indent="0">
              <a:spcBef>
                <a:spcPts val="100"/>
              </a:spcBef>
              <a:buFont typeface="Arial" panose="020B0604020202090204" pitchFamily="34" charset="0"/>
              <a:buNone/>
            </a:pPr>
            <a:r>
              <a:rPr lang="en-IN" sz="1600" dirty="0" smtClean="0"/>
              <a:t>    }</a:t>
            </a:r>
            <a:endParaRPr lang="en-IN" sz="1600" dirty="0" smtClean="0"/>
          </a:p>
          <a:p>
            <a:pPr marL="0" indent="0">
              <a:spcBef>
                <a:spcPts val="100"/>
              </a:spcBef>
              <a:buFont typeface="Arial" panose="020B0604020202090204" pitchFamily="34" charset="0"/>
              <a:buNone/>
            </a:pPr>
            <a:r>
              <a:rPr lang="en-IN" sz="1600" dirty="0" smtClean="0"/>
              <a:t>}</a:t>
            </a:r>
            <a:endParaRPr lang="en-IN" sz="1600" dirty="0" smtClean="0"/>
          </a:p>
          <a:p>
            <a:pPr marL="0" indent="0">
              <a:spcBef>
                <a:spcPts val="100"/>
              </a:spcBef>
              <a:buFont typeface="Arial" panose="020B0604020202090204" pitchFamily="34" charset="0"/>
              <a:buNone/>
            </a:pPr>
            <a:r>
              <a:rPr lang="en-IN" sz="1600" dirty="0" smtClean="0"/>
              <a:t>class Car extends Vehicle {              // Subclass: Car</a:t>
            </a:r>
            <a:endParaRPr lang="en-IN" sz="1600" dirty="0" smtClean="0"/>
          </a:p>
          <a:p>
            <a:pPr marL="0" indent="0">
              <a:spcBef>
                <a:spcPts val="100"/>
              </a:spcBef>
              <a:buFont typeface="Arial" panose="020B0604020202090204" pitchFamily="34" charset="0"/>
              <a:buNone/>
            </a:pPr>
            <a:r>
              <a:rPr lang="en-IN" sz="1600" dirty="0" smtClean="0"/>
              <a:t>    private </a:t>
            </a:r>
            <a:r>
              <a:rPr lang="en-IN" sz="1600" dirty="0" err="1" smtClean="0"/>
              <a:t>int</a:t>
            </a:r>
            <a:r>
              <a:rPr lang="en-IN" sz="1600" dirty="0" smtClean="0"/>
              <a:t> </a:t>
            </a:r>
            <a:r>
              <a:rPr lang="en-IN" sz="1600" dirty="0" err="1" smtClean="0"/>
              <a:t>numDoors</a:t>
            </a:r>
            <a:r>
              <a:rPr lang="en-IN" sz="1600" dirty="0" smtClean="0"/>
              <a:t>;</a:t>
            </a:r>
            <a:endParaRPr lang="en-IN" sz="1600" dirty="0" smtClean="0"/>
          </a:p>
          <a:p>
            <a:pPr marL="0" indent="0">
              <a:spcBef>
                <a:spcPts val="100"/>
              </a:spcBef>
              <a:buFont typeface="Arial" panose="020B0604020202090204" pitchFamily="34" charset="0"/>
              <a:buNone/>
            </a:pPr>
            <a:r>
              <a:rPr lang="en-IN" sz="1600" dirty="0" smtClean="0"/>
              <a:t>    public Car(String brand, </a:t>
            </a:r>
            <a:r>
              <a:rPr lang="en-IN" sz="1600" dirty="0" err="1" smtClean="0"/>
              <a:t>int</a:t>
            </a:r>
            <a:r>
              <a:rPr lang="en-IN" sz="1600" dirty="0" smtClean="0"/>
              <a:t> speed, </a:t>
            </a:r>
            <a:r>
              <a:rPr lang="en-IN" sz="1600" dirty="0" err="1" smtClean="0"/>
              <a:t>int</a:t>
            </a:r>
            <a:r>
              <a:rPr lang="en-IN" sz="1600" dirty="0" smtClean="0"/>
              <a:t> </a:t>
            </a:r>
            <a:r>
              <a:rPr lang="en-IN" sz="1600" dirty="0" err="1" smtClean="0"/>
              <a:t>numDoors</a:t>
            </a:r>
            <a:r>
              <a:rPr lang="en-IN" sz="1600" dirty="0" smtClean="0"/>
              <a:t>) {</a:t>
            </a:r>
            <a:endParaRPr lang="en-IN" sz="1600" dirty="0" smtClean="0"/>
          </a:p>
          <a:p>
            <a:pPr marL="0" indent="0">
              <a:spcBef>
                <a:spcPts val="100"/>
              </a:spcBef>
              <a:buFont typeface="Arial" panose="020B0604020202090204" pitchFamily="34" charset="0"/>
              <a:buNone/>
            </a:pPr>
            <a:r>
              <a:rPr lang="en-IN" sz="1600" dirty="0" smtClean="0"/>
              <a:t>        super(brand, speed); // Call the constructor of the superclass</a:t>
            </a:r>
            <a:endParaRPr lang="en-IN" sz="1600" dirty="0" smtClean="0"/>
          </a:p>
          <a:p>
            <a:pPr marL="0" indent="0">
              <a:spcBef>
                <a:spcPts val="100"/>
              </a:spcBef>
              <a:buFont typeface="Arial" panose="020B0604020202090204" pitchFamily="34" charset="0"/>
              <a:buNone/>
            </a:pPr>
            <a:r>
              <a:rPr lang="en-IN" sz="1600" dirty="0" smtClean="0"/>
              <a:t>        </a:t>
            </a:r>
            <a:r>
              <a:rPr lang="en-IN" sz="1600" dirty="0" err="1" smtClean="0"/>
              <a:t>this.numDoors</a:t>
            </a:r>
            <a:r>
              <a:rPr lang="en-IN" sz="1600" dirty="0" smtClean="0"/>
              <a:t> = </a:t>
            </a:r>
            <a:r>
              <a:rPr lang="en-IN" sz="1600" dirty="0" err="1" smtClean="0"/>
              <a:t>numDoors</a:t>
            </a:r>
            <a:r>
              <a:rPr lang="en-IN" sz="1600" dirty="0" smtClean="0"/>
              <a:t>;</a:t>
            </a:r>
            <a:endParaRPr lang="en-IN" sz="1600" dirty="0" smtClean="0"/>
          </a:p>
          <a:p>
            <a:pPr marL="0" indent="0">
              <a:spcBef>
                <a:spcPts val="100"/>
              </a:spcBef>
              <a:buFont typeface="Arial" panose="020B0604020202090204" pitchFamily="34" charset="0"/>
              <a:buNone/>
            </a:pPr>
            <a:r>
              <a:rPr lang="en-IN" sz="1600" dirty="0" smtClean="0"/>
              <a:t>    }</a:t>
            </a:r>
            <a:endParaRPr lang="en-IN" sz="1600" dirty="0" smtClean="0"/>
          </a:p>
          <a:p>
            <a:pPr marL="0" indent="0">
              <a:spcBef>
                <a:spcPts val="100"/>
              </a:spcBef>
              <a:buFont typeface="Arial" panose="020B0604020202090204" pitchFamily="34" charset="0"/>
              <a:buNone/>
            </a:pPr>
            <a:r>
              <a:rPr lang="en-IN" sz="1600" dirty="0" smtClean="0"/>
              <a:t>public void </a:t>
            </a:r>
            <a:r>
              <a:rPr lang="en-IN" sz="1600" dirty="0" err="1" smtClean="0"/>
              <a:t>displayCarDetails</a:t>
            </a:r>
            <a:r>
              <a:rPr lang="en-IN" sz="1600" dirty="0" smtClean="0"/>
              <a:t>() {</a:t>
            </a:r>
            <a:endParaRPr lang="en-IN" sz="1600" dirty="0" smtClean="0"/>
          </a:p>
          <a:p>
            <a:pPr marL="0" indent="0">
              <a:spcBef>
                <a:spcPts val="100"/>
              </a:spcBef>
              <a:buFont typeface="Arial" panose="020B0604020202090204" pitchFamily="34" charset="0"/>
              <a:buNone/>
            </a:pPr>
            <a:r>
              <a:rPr lang="en-IN" sz="1600" dirty="0" smtClean="0"/>
              <a:t>        </a:t>
            </a:r>
            <a:r>
              <a:rPr lang="en-IN" sz="1600" dirty="0" err="1" smtClean="0"/>
              <a:t>displayInfo</a:t>
            </a:r>
            <a:r>
              <a:rPr lang="en-IN" sz="1600" dirty="0" smtClean="0"/>
              <a:t>(); // Reuse the superclass method</a:t>
            </a:r>
            <a:endParaRPr lang="en-IN" sz="1600" dirty="0" smtClean="0"/>
          </a:p>
          <a:p>
            <a:pPr marL="0" indent="0">
              <a:spcBef>
                <a:spcPts val="100"/>
              </a:spcBef>
              <a:buFont typeface="Arial" panose="020B0604020202090204" pitchFamily="34" charset="0"/>
              <a:buNone/>
            </a:pPr>
            <a:r>
              <a:rPr lang="en-IN" sz="1600" dirty="0" smtClean="0"/>
              <a:t>        </a:t>
            </a:r>
            <a:r>
              <a:rPr lang="en-IN" sz="1600" dirty="0" err="1" smtClean="0"/>
              <a:t>System.out.println</a:t>
            </a:r>
            <a:r>
              <a:rPr lang="en-IN" sz="1600" dirty="0" smtClean="0"/>
              <a:t>("Number of doors: " + </a:t>
            </a:r>
            <a:r>
              <a:rPr lang="en-IN" sz="1600" dirty="0" err="1" smtClean="0"/>
              <a:t>numDoors</a:t>
            </a:r>
            <a:r>
              <a:rPr lang="en-IN" sz="1600" dirty="0" smtClean="0"/>
              <a:t>);</a:t>
            </a:r>
            <a:endParaRPr lang="en-IN" sz="1600" dirty="0" smtClean="0"/>
          </a:p>
          <a:p>
            <a:pPr marL="0" indent="0">
              <a:spcBef>
                <a:spcPts val="100"/>
              </a:spcBef>
              <a:buFont typeface="Arial" panose="020B0604020202090204" pitchFamily="34" charset="0"/>
              <a:buNone/>
            </a:pPr>
            <a:r>
              <a:rPr lang="en-IN" sz="1600" dirty="0" smtClean="0"/>
              <a:t>    }</a:t>
            </a:r>
            <a:endParaRPr lang="en-IN" sz="1600" dirty="0" smtClean="0"/>
          </a:p>
          <a:p>
            <a:pPr marL="0" indent="0">
              <a:spcBef>
                <a:spcPts val="100"/>
              </a:spcBef>
              <a:buFont typeface="Arial" panose="020B0604020202090204" pitchFamily="34" charset="0"/>
              <a:buNone/>
            </a:pPr>
            <a:r>
              <a:rPr lang="en-IN" sz="1600" dirty="0" smtClean="0"/>
              <a:t>}</a:t>
            </a:r>
            <a:endParaRPr lang="en-IN" sz="1600" dirty="0" smtClean="0"/>
          </a:p>
          <a:p>
            <a:pPr marL="0" indent="0">
              <a:spcBef>
                <a:spcPts val="100"/>
              </a:spcBef>
              <a:buFont typeface="Arial" panose="020B0604020202090204" pitchFamily="34" charset="0"/>
              <a:buNone/>
            </a:pPr>
            <a:endParaRPr lang="en-IN" sz="1600" dirty="0" smtClean="0"/>
          </a:p>
          <a:p>
            <a:pPr marL="0" indent="0">
              <a:spcBef>
                <a:spcPts val="100"/>
              </a:spcBef>
              <a:buFont typeface="Arial" panose="020B0604020202090204" pitchFamily="34" charset="0"/>
              <a:buNone/>
            </a:pPr>
            <a:endParaRPr lang="en-IN" sz="1600" dirty="0" smtClean="0"/>
          </a:p>
          <a:p>
            <a:pPr marL="0" indent="0">
              <a:spcBef>
                <a:spcPts val="100"/>
              </a:spcBef>
              <a:buFont typeface="Arial" panose="020B0604020202090204" pitchFamily="34" charset="0"/>
              <a:buNone/>
            </a:pPr>
            <a:endParaRPr lang="en-IN" sz="16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Final keyword</a:t>
            </a:r>
            <a:endParaRPr lang="en-IN" dirty="0"/>
          </a:p>
        </p:txBody>
      </p:sp>
      <p:sp>
        <p:nvSpPr>
          <p:cNvPr id="3" name="Content Placeholder 2"/>
          <p:cNvSpPr>
            <a:spLocks noGrp="1"/>
          </p:cNvSpPr>
          <p:nvPr>
            <p:ph idx="1"/>
          </p:nvPr>
        </p:nvSpPr>
        <p:spPr/>
        <p:txBody>
          <a:bodyPr/>
          <a:lstStyle/>
          <a:p>
            <a:r>
              <a:rPr lang="en-US" dirty="0" smtClean="0"/>
              <a:t>Final keyword is a modifier that can be applied to variables, methods, and classes to indicate that they cannot be changed or overridden.</a:t>
            </a:r>
            <a:endParaRPr lang="en-US" dirty="0" smtClean="0"/>
          </a:p>
          <a:p>
            <a:r>
              <a:rPr lang="en-US" dirty="0" smtClean="0"/>
              <a:t>When a variable is declared as final, it means that its value cannot be changed once it has been assigned.</a:t>
            </a:r>
            <a:endParaRPr lang="en-US" dirty="0" smtClean="0"/>
          </a:p>
          <a:p>
            <a:pPr lvl="1"/>
            <a:r>
              <a:rPr lang="en-IN" dirty="0" smtClean="0"/>
              <a:t>final </a:t>
            </a:r>
            <a:r>
              <a:rPr lang="en-IN" dirty="0" err="1" smtClean="0"/>
              <a:t>int</a:t>
            </a:r>
            <a:r>
              <a:rPr lang="en-IN" dirty="0" smtClean="0"/>
              <a:t> x = 10;</a:t>
            </a:r>
            <a:endParaRPr lang="en-IN" dirty="0" smtClean="0"/>
          </a:p>
          <a:p>
            <a:pPr lvl="1"/>
            <a:r>
              <a:rPr lang="en-US" dirty="0" smtClean="0"/>
              <a:t>x = 20; // This will cause a compilation error</a:t>
            </a:r>
            <a:endParaRPr lang="en-US" dirty="0" smtClean="0"/>
          </a:p>
          <a:p>
            <a:r>
              <a:rPr lang="en-US" dirty="0" smtClean="0"/>
              <a:t>When a method is declared as final, it cannot be overridden by subclasses.</a:t>
            </a:r>
            <a:endParaRPr lang="en-US" dirty="0" smtClean="0"/>
          </a:p>
          <a:p>
            <a:r>
              <a:rPr lang="en-US" dirty="0" smtClean="0"/>
              <a:t>When a class is declared as final, no other class can extend it.</a:t>
            </a:r>
            <a:endParaRPr lang="en-I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27355"/>
          </a:xfrm>
        </p:spPr>
        <p:txBody>
          <a:bodyPr>
            <a:normAutofit fontScale="90000"/>
          </a:bodyPr>
          <a:lstStyle/>
          <a:p>
            <a:r>
              <a:rPr lang="en-IN" dirty="0" smtClean="0"/>
              <a:t>Final Methods</a:t>
            </a:r>
            <a:endParaRPr lang="en-IN" dirty="0"/>
          </a:p>
        </p:txBody>
      </p:sp>
      <p:sp>
        <p:nvSpPr>
          <p:cNvPr id="3" name="Content Placeholder 2"/>
          <p:cNvSpPr>
            <a:spLocks noGrp="1"/>
          </p:cNvSpPr>
          <p:nvPr>
            <p:ph idx="1"/>
          </p:nvPr>
        </p:nvSpPr>
        <p:spPr>
          <a:xfrm>
            <a:off x="838200" y="975360"/>
            <a:ext cx="10515600" cy="5801360"/>
          </a:xfrm>
        </p:spPr>
        <p:txBody>
          <a:bodyPr>
            <a:normAutofit fontScale="85000" lnSpcReduction="20000"/>
          </a:bodyPr>
          <a:lstStyle/>
          <a:p>
            <a:pPr marL="0" indent="0">
              <a:spcBef>
                <a:spcPts val="200"/>
              </a:spcBef>
              <a:buNone/>
            </a:pPr>
            <a:r>
              <a:rPr lang="en-IN" dirty="0" smtClean="0"/>
              <a:t>class Parent {</a:t>
            </a:r>
            <a:endParaRPr lang="en-IN" dirty="0" smtClean="0"/>
          </a:p>
          <a:p>
            <a:pPr marL="0" indent="0">
              <a:spcBef>
                <a:spcPts val="200"/>
              </a:spcBef>
              <a:buNone/>
            </a:pPr>
            <a:r>
              <a:rPr lang="en-IN" dirty="0" smtClean="0"/>
              <a:t>    public final void display() {</a:t>
            </a:r>
            <a:endParaRPr lang="en-IN" dirty="0" smtClean="0"/>
          </a:p>
          <a:p>
            <a:pPr marL="0" indent="0">
              <a:spcBef>
                <a:spcPts val="200"/>
              </a:spcBef>
              <a:buNone/>
            </a:pPr>
            <a:r>
              <a:rPr lang="en-IN" dirty="0" smtClean="0"/>
              <a:t>        </a:t>
            </a:r>
            <a:r>
              <a:rPr lang="en-IN" dirty="0" err="1" smtClean="0"/>
              <a:t>System.out.println</a:t>
            </a:r>
            <a:r>
              <a:rPr lang="en-IN" dirty="0" smtClean="0"/>
              <a:t>("This is a final method.");</a:t>
            </a:r>
            <a:endParaRPr lang="en-IN" dirty="0" smtClean="0"/>
          </a:p>
          <a:p>
            <a:pPr marL="0" indent="0">
              <a:spcBef>
                <a:spcPts val="200"/>
              </a:spcBef>
              <a:buNone/>
            </a:pPr>
            <a:r>
              <a:rPr lang="en-IN" dirty="0" smtClean="0"/>
              <a:t>    }</a:t>
            </a:r>
            <a:endParaRPr lang="en-IN" dirty="0" smtClean="0"/>
          </a:p>
          <a:p>
            <a:pPr marL="0" indent="0">
              <a:spcBef>
                <a:spcPts val="200"/>
              </a:spcBef>
              <a:buNone/>
            </a:pPr>
            <a:r>
              <a:rPr lang="en-IN" dirty="0" smtClean="0"/>
              <a:t>}</a:t>
            </a:r>
            <a:endParaRPr lang="en-IN" dirty="0" smtClean="0"/>
          </a:p>
          <a:p>
            <a:pPr marL="0" indent="0">
              <a:spcBef>
                <a:spcPts val="200"/>
              </a:spcBef>
              <a:buNone/>
            </a:pPr>
            <a:endParaRPr lang="en-IN" dirty="0" smtClean="0"/>
          </a:p>
          <a:p>
            <a:pPr marL="0" indent="0">
              <a:spcBef>
                <a:spcPts val="200"/>
              </a:spcBef>
              <a:buNone/>
            </a:pPr>
            <a:r>
              <a:rPr lang="en-IN" dirty="0" smtClean="0"/>
              <a:t>class Child extends Parent {</a:t>
            </a:r>
            <a:endParaRPr lang="en-IN" dirty="0" smtClean="0"/>
          </a:p>
          <a:p>
            <a:pPr marL="0" indent="0">
              <a:spcBef>
                <a:spcPts val="200"/>
              </a:spcBef>
              <a:buNone/>
            </a:pPr>
            <a:r>
              <a:rPr lang="en-IN" dirty="0" smtClean="0"/>
              <a:t>    // This will cause a compilation error</a:t>
            </a:r>
            <a:endParaRPr lang="en-IN" dirty="0" smtClean="0"/>
          </a:p>
          <a:p>
            <a:pPr marL="0" indent="0">
              <a:spcBef>
                <a:spcPts val="200"/>
              </a:spcBef>
              <a:buNone/>
            </a:pPr>
            <a:r>
              <a:rPr lang="en-IN" dirty="0" smtClean="0"/>
              <a:t>    // public void display() {</a:t>
            </a:r>
            <a:endParaRPr lang="en-IN" dirty="0" smtClean="0"/>
          </a:p>
          <a:p>
            <a:pPr marL="0" indent="0">
              <a:spcBef>
                <a:spcPts val="200"/>
              </a:spcBef>
              <a:buNone/>
            </a:pPr>
            <a:r>
              <a:rPr lang="en-IN" dirty="0" smtClean="0"/>
              <a:t>    //     </a:t>
            </a:r>
            <a:r>
              <a:rPr lang="en-IN" dirty="0" err="1" smtClean="0"/>
              <a:t>System.out.println</a:t>
            </a:r>
            <a:r>
              <a:rPr lang="en-IN" dirty="0" smtClean="0"/>
              <a:t>("Trying to override final method.");</a:t>
            </a:r>
            <a:endParaRPr lang="en-IN" dirty="0" smtClean="0"/>
          </a:p>
          <a:p>
            <a:pPr marL="0" indent="0">
              <a:spcBef>
                <a:spcPts val="200"/>
              </a:spcBef>
              <a:buNone/>
            </a:pPr>
            <a:r>
              <a:rPr lang="en-IN" dirty="0" smtClean="0"/>
              <a:t>    // }</a:t>
            </a:r>
            <a:endParaRPr lang="en-IN" dirty="0" smtClean="0"/>
          </a:p>
          <a:p>
            <a:pPr marL="0" indent="0">
              <a:spcBef>
                <a:spcPts val="200"/>
              </a:spcBef>
              <a:buNone/>
            </a:pPr>
            <a:r>
              <a:rPr lang="en-IN" dirty="0" smtClean="0"/>
              <a:t>}</a:t>
            </a:r>
            <a:endParaRPr lang="en-IN" dirty="0" smtClean="0"/>
          </a:p>
          <a:p>
            <a:pPr marL="0" indent="0">
              <a:spcBef>
                <a:spcPts val="200"/>
              </a:spcBef>
              <a:buNone/>
            </a:pPr>
            <a:endParaRPr lang="en-IN" dirty="0" smtClean="0"/>
          </a:p>
          <a:p>
            <a:pPr marL="0" indent="0">
              <a:spcBef>
                <a:spcPts val="200"/>
              </a:spcBef>
              <a:buNone/>
            </a:pPr>
            <a:r>
              <a:rPr lang="en-IN" dirty="0" smtClean="0"/>
              <a:t>public class </a:t>
            </a:r>
            <a:r>
              <a:rPr lang="en-IN" dirty="0" err="1" smtClean="0"/>
              <a:t>FinalMethodExample</a:t>
            </a:r>
            <a:r>
              <a:rPr lang="en-IN" dirty="0" smtClean="0"/>
              <a:t> {</a:t>
            </a:r>
            <a:endParaRPr lang="en-IN" dirty="0" smtClean="0"/>
          </a:p>
          <a:p>
            <a:pPr marL="0" indent="0">
              <a:spcBef>
                <a:spcPts val="200"/>
              </a:spcBef>
              <a:buNone/>
            </a:pPr>
            <a:r>
              <a:rPr lang="en-IN" dirty="0" smtClean="0"/>
              <a:t>    public static void main(String[] </a:t>
            </a:r>
            <a:r>
              <a:rPr lang="en-IN" dirty="0" err="1" smtClean="0"/>
              <a:t>args</a:t>
            </a:r>
            <a:r>
              <a:rPr lang="en-IN" dirty="0" smtClean="0"/>
              <a:t>) {</a:t>
            </a:r>
            <a:endParaRPr lang="en-IN" dirty="0" smtClean="0"/>
          </a:p>
          <a:p>
            <a:pPr marL="0" indent="0">
              <a:spcBef>
                <a:spcPts val="200"/>
              </a:spcBef>
              <a:buNone/>
            </a:pPr>
            <a:r>
              <a:rPr lang="en-IN" dirty="0" smtClean="0"/>
              <a:t>        Child </a:t>
            </a:r>
            <a:r>
              <a:rPr lang="en-IN" dirty="0" err="1" smtClean="0"/>
              <a:t>child</a:t>
            </a:r>
            <a:r>
              <a:rPr lang="en-IN" dirty="0" smtClean="0"/>
              <a:t> = new Child();</a:t>
            </a:r>
            <a:endParaRPr lang="en-IN" dirty="0" smtClean="0"/>
          </a:p>
          <a:p>
            <a:pPr marL="0" indent="0">
              <a:spcBef>
                <a:spcPts val="200"/>
              </a:spcBef>
              <a:buNone/>
            </a:pPr>
            <a:r>
              <a:rPr lang="en-IN" dirty="0" smtClean="0"/>
              <a:t>        </a:t>
            </a:r>
            <a:r>
              <a:rPr lang="en-IN" dirty="0" err="1" smtClean="0"/>
              <a:t>child.display</a:t>
            </a:r>
            <a:r>
              <a:rPr lang="en-IN" dirty="0" smtClean="0"/>
              <a:t>(); // Calls the final method from the Parent class</a:t>
            </a:r>
            <a:endParaRPr lang="en-IN" dirty="0" smtClean="0"/>
          </a:p>
          <a:p>
            <a:pPr marL="0" indent="0">
              <a:spcBef>
                <a:spcPts val="200"/>
              </a:spcBef>
              <a:buNone/>
            </a:pPr>
            <a:r>
              <a:rPr lang="en-IN" dirty="0" smtClean="0"/>
              <a:t>    }</a:t>
            </a:r>
            <a:endParaRPr lang="en-IN" dirty="0" smtClean="0"/>
          </a:p>
          <a:p>
            <a:pPr marL="0" indent="0">
              <a:spcBef>
                <a:spcPts val="200"/>
              </a:spcBef>
              <a:buNone/>
            </a:pPr>
            <a:r>
              <a:rPr lang="en-IN" dirty="0" smtClean="0"/>
              <a:t>}</a:t>
            </a:r>
            <a:endParaRPr lang="en-IN" dirty="0" smtClean="0"/>
          </a:p>
          <a:p>
            <a:pPr marL="0" indent="0">
              <a:spcBef>
                <a:spcPts val="200"/>
              </a:spcBef>
              <a:buNone/>
            </a:pPr>
            <a:endParaRPr lang="en-I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Final Classes</a:t>
            </a:r>
            <a:endParaRPr lang="en-IN" dirty="0"/>
          </a:p>
        </p:txBody>
      </p:sp>
      <p:sp>
        <p:nvSpPr>
          <p:cNvPr id="3" name="Content Placeholder 2"/>
          <p:cNvSpPr>
            <a:spLocks noGrp="1"/>
          </p:cNvSpPr>
          <p:nvPr>
            <p:ph idx="1"/>
          </p:nvPr>
        </p:nvSpPr>
        <p:spPr/>
        <p:txBody>
          <a:bodyPr>
            <a:normAutofit fontScale="77500" lnSpcReduction="20000"/>
          </a:bodyPr>
          <a:lstStyle/>
          <a:p>
            <a:pPr marL="0" indent="0">
              <a:spcBef>
                <a:spcPts val="200"/>
              </a:spcBef>
              <a:buNone/>
            </a:pPr>
            <a:r>
              <a:rPr lang="en-IN" dirty="0" smtClean="0"/>
              <a:t>final class </a:t>
            </a:r>
            <a:r>
              <a:rPr lang="en-IN" dirty="0" err="1" smtClean="0"/>
              <a:t>FinalClass</a:t>
            </a:r>
            <a:r>
              <a:rPr lang="en-IN" dirty="0" smtClean="0"/>
              <a:t> {</a:t>
            </a:r>
            <a:endParaRPr lang="en-IN" dirty="0" smtClean="0"/>
          </a:p>
          <a:p>
            <a:pPr marL="0" indent="0">
              <a:spcBef>
                <a:spcPts val="200"/>
              </a:spcBef>
              <a:buNone/>
            </a:pPr>
            <a:r>
              <a:rPr lang="en-IN" dirty="0" smtClean="0"/>
              <a:t>    public void show() {</a:t>
            </a:r>
            <a:endParaRPr lang="en-IN" dirty="0" smtClean="0"/>
          </a:p>
          <a:p>
            <a:pPr marL="0" indent="0">
              <a:spcBef>
                <a:spcPts val="200"/>
              </a:spcBef>
              <a:buNone/>
            </a:pPr>
            <a:r>
              <a:rPr lang="en-IN" dirty="0" smtClean="0"/>
              <a:t>        </a:t>
            </a:r>
            <a:r>
              <a:rPr lang="en-IN" dirty="0" err="1" smtClean="0"/>
              <a:t>System.out.println</a:t>
            </a:r>
            <a:r>
              <a:rPr lang="en-IN" dirty="0" smtClean="0"/>
              <a:t>("This is a final class.");</a:t>
            </a:r>
            <a:endParaRPr lang="en-IN" dirty="0" smtClean="0"/>
          </a:p>
          <a:p>
            <a:pPr marL="0" indent="0">
              <a:spcBef>
                <a:spcPts val="200"/>
              </a:spcBef>
              <a:buNone/>
            </a:pPr>
            <a:r>
              <a:rPr lang="en-IN" dirty="0" smtClean="0"/>
              <a:t>    }</a:t>
            </a:r>
            <a:endParaRPr lang="en-IN" dirty="0" smtClean="0"/>
          </a:p>
          <a:p>
            <a:pPr marL="0" indent="0">
              <a:spcBef>
                <a:spcPts val="200"/>
              </a:spcBef>
              <a:buNone/>
            </a:pPr>
            <a:r>
              <a:rPr lang="en-IN" dirty="0" smtClean="0"/>
              <a:t>}</a:t>
            </a:r>
            <a:endParaRPr lang="en-IN" dirty="0" smtClean="0"/>
          </a:p>
          <a:p>
            <a:pPr marL="0" indent="0">
              <a:spcBef>
                <a:spcPts val="200"/>
              </a:spcBef>
              <a:buNone/>
            </a:pPr>
            <a:endParaRPr lang="en-IN" dirty="0" smtClean="0"/>
          </a:p>
          <a:p>
            <a:pPr marL="0" indent="0">
              <a:spcBef>
                <a:spcPts val="200"/>
              </a:spcBef>
              <a:buNone/>
            </a:pPr>
            <a:r>
              <a:rPr lang="en-IN" dirty="0" smtClean="0"/>
              <a:t>// This will cause a compilation error</a:t>
            </a:r>
            <a:endParaRPr lang="en-IN" dirty="0" smtClean="0"/>
          </a:p>
          <a:p>
            <a:pPr marL="0" indent="0">
              <a:spcBef>
                <a:spcPts val="200"/>
              </a:spcBef>
              <a:buNone/>
            </a:pPr>
            <a:r>
              <a:rPr lang="en-IN" dirty="0" smtClean="0"/>
              <a:t>// class </a:t>
            </a:r>
            <a:r>
              <a:rPr lang="en-IN" dirty="0" err="1" smtClean="0"/>
              <a:t>SubClass</a:t>
            </a:r>
            <a:r>
              <a:rPr lang="en-IN" dirty="0" smtClean="0"/>
              <a:t> extends </a:t>
            </a:r>
            <a:r>
              <a:rPr lang="en-IN" dirty="0" err="1" smtClean="0"/>
              <a:t>FinalClass</a:t>
            </a:r>
            <a:r>
              <a:rPr lang="en-IN" dirty="0" smtClean="0"/>
              <a:t> {</a:t>
            </a:r>
            <a:endParaRPr lang="en-IN" dirty="0" smtClean="0"/>
          </a:p>
          <a:p>
            <a:pPr marL="0" indent="0">
              <a:spcBef>
                <a:spcPts val="200"/>
              </a:spcBef>
              <a:buNone/>
            </a:pPr>
            <a:r>
              <a:rPr lang="en-IN" dirty="0" smtClean="0"/>
              <a:t>// }</a:t>
            </a:r>
            <a:endParaRPr lang="en-IN" dirty="0" smtClean="0"/>
          </a:p>
          <a:p>
            <a:pPr marL="0" indent="0">
              <a:spcBef>
                <a:spcPts val="200"/>
              </a:spcBef>
              <a:buNone/>
            </a:pPr>
            <a:endParaRPr lang="en-IN" dirty="0" smtClean="0"/>
          </a:p>
          <a:p>
            <a:pPr marL="0" indent="0">
              <a:spcBef>
                <a:spcPts val="200"/>
              </a:spcBef>
              <a:buNone/>
            </a:pPr>
            <a:r>
              <a:rPr lang="en-IN" dirty="0" smtClean="0"/>
              <a:t>public class </a:t>
            </a:r>
            <a:r>
              <a:rPr lang="en-IN" dirty="0" err="1" smtClean="0"/>
              <a:t>FinalClassExample</a:t>
            </a:r>
            <a:r>
              <a:rPr lang="en-IN" dirty="0" smtClean="0"/>
              <a:t> {</a:t>
            </a:r>
            <a:endParaRPr lang="en-IN" dirty="0" smtClean="0"/>
          </a:p>
          <a:p>
            <a:pPr marL="0" indent="0">
              <a:spcBef>
                <a:spcPts val="200"/>
              </a:spcBef>
              <a:buNone/>
            </a:pPr>
            <a:r>
              <a:rPr lang="en-IN" dirty="0" smtClean="0"/>
              <a:t>    public static void main(String[] </a:t>
            </a:r>
            <a:r>
              <a:rPr lang="en-IN" dirty="0" err="1" smtClean="0"/>
              <a:t>args</a:t>
            </a:r>
            <a:r>
              <a:rPr lang="en-IN" dirty="0" smtClean="0"/>
              <a:t>) {</a:t>
            </a:r>
            <a:endParaRPr lang="en-IN" dirty="0" smtClean="0"/>
          </a:p>
          <a:p>
            <a:pPr marL="0" indent="0">
              <a:spcBef>
                <a:spcPts val="200"/>
              </a:spcBef>
              <a:buNone/>
            </a:pPr>
            <a:r>
              <a:rPr lang="en-IN" dirty="0" smtClean="0"/>
              <a:t>        </a:t>
            </a:r>
            <a:r>
              <a:rPr lang="en-IN" dirty="0" err="1" smtClean="0"/>
              <a:t>FinalClass</a:t>
            </a:r>
            <a:r>
              <a:rPr lang="en-IN" dirty="0" smtClean="0"/>
              <a:t> </a:t>
            </a:r>
            <a:r>
              <a:rPr lang="en-IN" dirty="0" err="1" smtClean="0"/>
              <a:t>obj</a:t>
            </a:r>
            <a:r>
              <a:rPr lang="en-IN" dirty="0" smtClean="0"/>
              <a:t> = new </a:t>
            </a:r>
            <a:r>
              <a:rPr lang="en-IN" dirty="0" err="1" smtClean="0"/>
              <a:t>FinalClass</a:t>
            </a:r>
            <a:r>
              <a:rPr lang="en-IN" dirty="0" smtClean="0"/>
              <a:t>();</a:t>
            </a:r>
            <a:endParaRPr lang="en-IN" dirty="0" smtClean="0"/>
          </a:p>
          <a:p>
            <a:pPr marL="0" indent="0">
              <a:spcBef>
                <a:spcPts val="200"/>
              </a:spcBef>
              <a:buNone/>
            </a:pPr>
            <a:r>
              <a:rPr lang="en-IN" dirty="0" smtClean="0"/>
              <a:t>        </a:t>
            </a:r>
            <a:r>
              <a:rPr lang="en-IN" dirty="0" err="1" smtClean="0"/>
              <a:t>obj.show</a:t>
            </a:r>
            <a:r>
              <a:rPr lang="en-IN" dirty="0" smtClean="0"/>
              <a:t>();</a:t>
            </a:r>
            <a:endParaRPr lang="en-IN" dirty="0" smtClean="0"/>
          </a:p>
          <a:p>
            <a:pPr marL="0" indent="0">
              <a:spcBef>
                <a:spcPts val="200"/>
              </a:spcBef>
              <a:buNone/>
            </a:pPr>
            <a:r>
              <a:rPr lang="en-IN" dirty="0" smtClean="0"/>
              <a:t>    }</a:t>
            </a:r>
            <a:endParaRPr lang="en-IN" dirty="0" smtClean="0"/>
          </a:p>
          <a:p>
            <a:pPr marL="0" indent="0">
              <a:spcBef>
                <a:spcPts val="200"/>
              </a:spcBef>
              <a:buNone/>
            </a:pPr>
            <a:r>
              <a:rPr lang="en-IN" dirty="0" smtClean="0"/>
              <a:t>}</a:t>
            </a:r>
            <a:endParaRPr lang="en-IN" dirty="0" smtClean="0"/>
          </a:p>
          <a:p>
            <a:pPr marL="0" indent="0">
              <a:spcBef>
                <a:spcPts val="200"/>
              </a:spcBef>
              <a:buNone/>
            </a:pPr>
            <a:endParaRPr lang="en-I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Polymorphism</a:t>
            </a:r>
            <a:endParaRPr lang="en-IN" dirty="0"/>
          </a:p>
        </p:txBody>
      </p:sp>
      <p:sp>
        <p:nvSpPr>
          <p:cNvPr id="3" name="Content Placeholder 2"/>
          <p:cNvSpPr>
            <a:spLocks noGrp="1"/>
          </p:cNvSpPr>
          <p:nvPr>
            <p:ph idx="1"/>
          </p:nvPr>
        </p:nvSpPr>
        <p:spPr/>
        <p:txBody>
          <a:bodyPr/>
          <a:lstStyle/>
          <a:p>
            <a:r>
              <a:rPr lang="en-US" dirty="0"/>
              <a:t>The word ‘polymorphism’ means ‘having many forms’. </a:t>
            </a:r>
            <a:endParaRPr lang="en-US" dirty="0" smtClean="0"/>
          </a:p>
          <a:p>
            <a:r>
              <a:rPr lang="en-US" dirty="0"/>
              <a:t>I</a:t>
            </a:r>
            <a:r>
              <a:rPr lang="en-US" dirty="0" smtClean="0"/>
              <a:t>n </a:t>
            </a:r>
            <a:r>
              <a:rPr lang="en-US" dirty="0"/>
              <a:t>Java, it refers to the ability of an object to take on multiple forms</a:t>
            </a:r>
            <a:r>
              <a:rPr lang="en-US" dirty="0" smtClean="0"/>
              <a:t>.</a:t>
            </a:r>
            <a:endParaRPr lang="en-US" dirty="0" smtClean="0"/>
          </a:p>
          <a:p>
            <a:r>
              <a:rPr lang="en-IN" dirty="0" smtClean="0"/>
              <a:t>Types: </a:t>
            </a:r>
            <a:endParaRPr lang="en-IN" dirty="0" smtClean="0"/>
          </a:p>
          <a:p>
            <a:pPr lvl="1"/>
            <a:r>
              <a:rPr lang="en-IN" dirty="0" smtClean="0"/>
              <a:t>Compile time Polymorphism</a:t>
            </a:r>
            <a:endParaRPr lang="en-IN" dirty="0" smtClean="0"/>
          </a:p>
          <a:p>
            <a:pPr lvl="1"/>
            <a:r>
              <a:rPr lang="en-IN" dirty="0" smtClean="0"/>
              <a:t>Run time Polymorphism</a:t>
            </a:r>
            <a:endParaRPr lang="en-IN" dirty="0"/>
          </a:p>
          <a:p>
            <a:endParaRPr lang="en-IN" dirty="0" smtClean="0"/>
          </a:p>
          <a:p>
            <a:endParaRPr lang="en-IN" dirty="0"/>
          </a:p>
          <a:p>
            <a:endParaRPr lang="en-IN" dirty="0" smtClean="0"/>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Compile time polymorphism</a:t>
            </a:r>
            <a:endParaRPr lang="en-IN" dirty="0"/>
          </a:p>
        </p:txBody>
      </p:sp>
      <p:sp>
        <p:nvSpPr>
          <p:cNvPr id="3" name="Content Placeholder 2"/>
          <p:cNvSpPr>
            <a:spLocks noGrp="1"/>
          </p:cNvSpPr>
          <p:nvPr>
            <p:ph idx="1"/>
          </p:nvPr>
        </p:nvSpPr>
        <p:spPr/>
        <p:txBody>
          <a:bodyPr/>
          <a:lstStyle/>
          <a:p>
            <a:r>
              <a:rPr lang="en-US" dirty="0"/>
              <a:t>It is also known as static polymorphism. </a:t>
            </a:r>
            <a:endParaRPr lang="en-US" dirty="0" smtClean="0"/>
          </a:p>
          <a:p>
            <a:r>
              <a:rPr lang="en-US" dirty="0"/>
              <a:t>This type of polymorphism is achieved by </a:t>
            </a:r>
            <a:r>
              <a:rPr lang="en-US" b="1" dirty="0"/>
              <a:t>function overloading </a:t>
            </a:r>
            <a:r>
              <a:rPr lang="en-US" dirty="0"/>
              <a:t>or operator </a:t>
            </a:r>
            <a:r>
              <a:rPr lang="en-US" dirty="0" smtClean="0"/>
              <a:t>overloading.</a:t>
            </a:r>
            <a:endParaRPr lang="en-US" dirty="0" smtClean="0"/>
          </a:p>
          <a:p>
            <a:r>
              <a:rPr lang="en-US" dirty="0" smtClean="0"/>
              <a:t>Java does not support operator overloading.</a:t>
            </a:r>
            <a:endParaRPr lang="en-US" dirty="0" smtClean="0"/>
          </a:p>
          <a:p>
            <a:r>
              <a:rPr lang="en-US" dirty="0" smtClean="0"/>
              <a:t>The </a:t>
            </a:r>
            <a:r>
              <a:rPr lang="en-US" dirty="0"/>
              <a:t>method </a:t>
            </a:r>
            <a:r>
              <a:rPr lang="en-US" dirty="0" smtClean="0"/>
              <a:t>call is bound with method body at compile-time.</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Run time polymorphism</a:t>
            </a:r>
            <a:endParaRPr lang="en-IN" dirty="0"/>
          </a:p>
        </p:txBody>
      </p:sp>
      <p:sp>
        <p:nvSpPr>
          <p:cNvPr id="3" name="Content Placeholder 2"/>
          <p:cNvSpPr>
            <a:spLocks noGrp="1"/>
          </p:cNvSpPr>
          <p:nvPr>
            <p:ph idx="1"/>
          </p:nvPr>
        </p:nvSpPr>
        <p:spPr/>
        <p:txBody>
          <a:bodyPr/>
          <a:lstStyle/>
          <a:p>
            <a:r>
              <a:rPr lang="en-US" dirty="0"/>
              <a:t>It is also known as Dynamic Method Dispatch.</a:t>
            </a:r>
            <a:endParaRPr lang="en-US" dirty="0" smtClean="0"/>
          </a:p>
          <a:p>
            <a:r>
              <a:rPr lang="en-US" dirty="0" smtClean="0"/>
              <a:t>This </a:t>
            </a:r>
            <a:r>
              <a:rPr lang="en-US" dirty="0"/>
              <a:t>type of polymorphism is achieved by </a:t>
            </a:r>
            <a:r>
              <a:rPr lang="en-US" b="1" dirty="0"/>
              <a:t>Method </a:t>
            </a:r>
            <a:r>
              <a:rPr lang="en-US" b="1" dirty="0" smtClean="0"/>
              <a:t>Overriding.</a:t>
            </a:r>
            <a:endParaRPr lang="en-IN" b="1" dirty="0" smtClean="0"/>
          </a:p>
          <a:p>
            <a:r>
              <a:rPr lang="en-IN" dirty="0" smtClean="0"/>
              <a:t>Method call is resolved at run time.</a:t>
            </a:r>
            <a:endParaRPr lang="en-IN" dirty="0" smtClean="0"/>
          </a:p>
          <a:p>
            <a:r>
              <a:rPr lang="en-IN" dirty="0" smtClean="0"/>
              <a:t>Supports late binding.</a:t>
            </a:r>
            <a:endParaRPr lang="en-IN" dirty="0" smtClean="0"/>
          </a:p>
          <a:p>
            <a:r>
              <a:rPr lang="en-US" dirty="0"/>
              <a:t>In runtime polymorphism, a subclass provides a specific implementation of a method that is already defined in its superclass</a:t>
            </a:r>
            <a:r>
              <a:rPr lang="en-US" dirty="0" smtClean="0"/>
              <a:t>.</a:t>
            </a:r>
            <a:endParaRPr lang="en-US" dirty="0" smtClean="0"/>
          </a:p>
          <a:p>
            <a:r>
              <a:rPr lang="en-US" dirty="0" smtClean="0"/>
              <a:t> </a:t>
            </a:r>
            <a:r>
              <a:rPr lang="en-US" dirty="0"/>
              <a:t>The method to be executed is determined at </a:t>
            </a:r>
            <a:r>
              <a:rPr lang="en-US" b="1" dirty="0"/>
              <a:t>runtime</a:t>
            </a:r>
            <a:r>
              <a:rPr lang="en-US" dirty="0"/>
              <a:t>, depending on the object type, even if the reference is of the superclass type.</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2257"/>
          </a:xfrm>
        </p:spPr>
        <p:txBody>
          <a:bodyPr>
            <a:normAutofit fontScale="90000"/>
          </a:bodyPr>
          <a:lstStyle/>
          <a:p>
            <a:r>
              <a:rPr lang="en-IN" b="1" dirty="0"/>
              <a:t>Method Overriding</a:t>
            </a:r>
            <a:endParaRPr lang="en-IN" dirty="0"/>
          </a:p>
        </p:txBody>
      </p:sp>
      <p:sp>
        <p:nvSpPr>
          <p:cNvPr id="3" name="Content Placeholder 2"/>
          <p:cNvSpPr>
            <a:spLocks noGrp="1"/>
          </p:cNvSpPr>
          <p:nvPr>
            <p:ph idx="1"/>
          </p:nvPr>
        </p:nvSpPr>
        <p:spPr>
          <a:xfrm>
            <a:off x="173181" y="1015999"/>
            <a:ext cx="11741728" cy="5652655"/>
          </a:xfrm>
        </p:spPr>
        <p:txBody>
          <a:bodyPr>
            <a:normAutofit fontScale="92500" lnSpcReduction="10000"/>
          </a:bodyPr>
          <a:lstStyle/>
          <a:p>
            <a:r>
              <a:rPr lang="en-US" dirty="0"/>
              <a:t>Overriding is a feature that allows a subclass or child class to provide a specific implementation of a method that is already provided by one of its super-classes or parent </a:t>
            </a:r>
            <a:r>
              <a:rPr lang="en-US" dirty="0" smtClean="0"/>
              <a:t>classes.</a:t>
            </a:r>
            <a:endParaRPr lang="en-US" dirty="0" smtClean="0"/>
          </a:p>
          <a:p>
            <a:r>
              <a:rPr lang="en-US" dirty="0" smtClean="0"/>
              <a:t>Used for run time polymorphism.</a:t>
            </a:r>
            <a:endParaRPr lang="en-US" dirty="0" smtClean="0"/>
          </a:p>
          <a:p>
            <a:endParaRPr lang="en-US" dirty="0"/>
          </a:p>
          <a:p>
            <a:endParaRPr lang="en-US" dirty="0" smtClean="0"/>
          </a:p>
          <a:p>
            <a:endParaRPr lang="en-US" dirty="0"/>
          </a:p>
          <a:p>
            <a:endParaRPr lang="en-US" dirty="0" smtClean="0"/>
          </a:p>
          <a:p>
            <a:r>
              <a:rPr lang="en-US" dirty="0" smtClean="0"/>
              <a:t>Conditions:</a:t>
            </a:r>
            <a:endParaRPr lang="en-US" dirty="0" smtClean="0"/>
          </a:p>
          <a:p>
            <a:pPr lvl="1"/>
            <a:r>
              <a:rPr lang="en-US" dirty="0" smtClean="0"/>
              <a:t>The </a:t>
            </a:r>
            <a:r>
              <a:rPr lang="en-US" dirty="0"/>
              <a:t>method in the subclass must have the same name, return type (or a covariant return type), and parameter list as the method in the superclass</a:t>
            </a:r>
            <a:r>
              <a:rPr lang="en-US" dirty="0" smtClean="0"/>
              <a:t>.</a:t>
            </a:r>
            <a:endParaRPr lang="en-US" dirty="0" smtClean="0"/>
          </a:p>
          <a:p>
            <a:pPr lvl="1"/>
            <a:r>
              <a:rPr lang="en-US" dirty="0"/>
              <a:t>if there is a relationship through inheritance between the subclass and the superclass</a:t>
            </a:r>
            <a:r>
              <a:rPr lang="en-US" dirty="0" smtClean="0"/>
              <a:t>.</a:t>
            </a:r>
            <a:endParaRPr lang="en-US" dirty="0" smtClean="0"/>
          </a:p>
          <a:p>
            <a:pPr lvl="1"/>
            <a:r>
              <a:rPr lang="en-US" dirty="0"/>
              <a:t>Access Level: The access level of the overriding method cannot be more restrictive than the overridden method in the superclass. For example, if the superclass method is public, the subclass method must also be public or less restrictive.</a:t>
            </a:r>
            <a:endParaRPr lang="en-US" dirty="0" smtClean="0"/>
          </a:p>
          <a:p>
            <a:endParaRPr lang="en-US" dirty="0" smtClean="0"/>
          </a:p>
          <a:p>
            <a:endParaRPr lang="en-IN" dirty="0"/>
          </a:p>
        </p:txBody>
      </p:sp>
      <p:pic>
        <p:nvPicPr>
          <p:cNvPr id="6" name="Picture 5"/>
          <p:cNvPicPr>
            <a:picLocks noChangeAspect="1"/>
          </p:cNvPicPr>
          <p:nvPr/>
        </p:nvPicPr>
        <p:blipFill>
          <a:blip r:embed="rId1"/>
          <a:stretch>
            <a:fillRect/>
          </a:stretch>
        </p:blipFill>
        <p:spPr>
          <a:xfrm>
            <a:off x="6363854" y="1759124"/>
            <a:ext cx="4091710" cy="2813482"/>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673" y="115744"/>
            <a:ext cx="10515600" cy="650875"/>
          </a:xfrm>
        </p:spPr>
        <p:txBody>
          <a:bodyPr>
            <a:normAutofit fontScale="90000"/>
          </a:bodyPr>
          <a:lstStyle/>
          <a:p>
            <a:r>
              <a:rPr lang="en-IN" b="1" dirty="0"/>
              <a:t>Method Overriding</a:t>
            </a:r>
            <a:endParaRPr lang="en-IN" dirty="0"/>
          </a:p>
        </p:txBody>
      </p:sp>
      <p:sp>
        <p:nvSpPr>
          <p:cNvPr id="3" name="Content Placeholder 2"/>
          <p:cNvSpPr>
            <a:spLocks noGrp="1"/>
          </p:cNvSpPr>
          <p:nvPr>
            <p:ph idx="1"/>
          </p:nvPr>
        </p:nvSpPr>
        <p:spPr>
          <a:xfrm>
            <a:off x="146397" y="1158240"/>
            <a:ext cx="6203603" cy="5028797"/>
          </a:xfrm>
        </p:spPr>
        <p:txBody>
          <a:bodyPr>
            <a:normAutofit/>
          </a:bodyPr>
          <a:lstStyle/>
          <a:p>
            <a:pPr algn="just"/>
            <a:r>
              <a:rPr lang="en-US" dirty="0"/>
              <a:t>It is recommended (though not mandatory) to use the @Override annotation when overriding a method. This helps the compiler identify mistakes, like incorrect method signatures</a:t>
            </a:r>
            <a:r>
              <a:rPr lang="en-US" dirty="0" smtClean="0"/>
              <a:t>.</a:t>
            </a:r>
            <a:endParaRPr lang="en-US" dirty="0" smtClean="0"/>
          </a:p>
          <a:p>
            <a:pPr algn="just"/>
            <a:r>
              <a:rPr lang="en-US" b="1" dirty="0"/>
              <a:t>Static, Final, and Private Methods</a:t>
            </a:r>
            <a:r>
              <a:rPr lang="en-US" dirty="0"/>
              <a:t>: These methods cannot be overridden because static methods are bound at compile-time, and final and private methods are not inherited by subclasses.</a:t>
            </a:r>
            <a:endParaRPr lang="en-IN" dirty="0"/>
          </a:p>
        </p:txBody>
      </p:sp>
      <p:graphicFrame>
        <p:nvGraphicFramePr>
          <p:cNvPr id="5" name="Table 4"/>
          <p:cNvGraphicFramePr>
            <a:graphicFrameLocks noGrp="1"/>
          </p:cNvGraphicFramePr>
          <p:nvPr/>
        </p:nvGraphicFramePr>
        <p:xfrm>
          <a:off x="6614160" y="441181"/>
          <a:ext cx="5394960" cy="6167523"/>
        </p:xfrm>
        <a:graphic>
          <a:graphicData uri="http://schemas.openxmlformats.org/drawingml/2006/table">
            <a:tbl>
              <a:tblPr firstRow="1" bandRow="1">
                <a:tableStyleId>{5C22544A-7EE6-4342-B048-85BDC9FD1C3A}</a:tableStyleId>
              </a:tblPr>
              <a:tblGrid>
                <a:gridCol w="5394960"/>
              </a:tblGrid>
              <a:tr h="6167523">
                <a:tc>
                  <a:txBody>
                    <a:bodyPr/>
                    <a:lstStyle/>
                    <a:p>
                      <a:r>
                        <a:rPr lang="en-IN" dirty="0" smtClean="0">
                          <a:solidFill>
                            <a:schemeClr val="tx1"/>
                          </a:solidFill>
                        </a:rPr>
                        <a:t>Example:</a:t>
                      </a:r>
                      <a:endParaRPr lang="en-IN" dirty="0" smtClean="0">
                        <a:solidFill>
                          <a:schemeClr val="tx1"/>
                        </a:solidFill>
                      </a:endParaRPr>
                    </a:p>
                    <a:p>
                      <a:endParaRPr lang="en-IN" dirty="0" smtClean="0">
                        <a:solidFill>
                          <a:schemeClr val="tx1"/>
                        </a:solidFill>
                      </a:endParaRPr>
                    </a:p>
                    <a:p>
                      <a:r>
                        <a:rPr lang="en-IN" dirty="0" smtClean="0">
                          <a:solidFill>
                            <a:schemeClr val="tx1"/>
                          </a:solidFill>
                        </a:rPr>
                        <a:t>class Animal {</a:t>
                      </a:r>
                      <a:endParaRPr lang="en-IN" dirty="0" smtClean="0">
                        <a:solidFill>
                          <a:schemeClr val="tx1"/>
                        </a:solidFill>
                      </a:endParaRPr>
                    </a:p>
                    <a:p>
                      <a:r>
                        <a:rPr lang="en-IN" dirty="0" smtClean="0">
                          <a:solidFill>
                            <a:schemeClr val="tx1"/>
                          </a:solidFill>
                        </a:rPr>
                        <a:t>    void sound() {</a:t>
                      </a:r>
                      <a:endParaRPr lang="en-IN" dirty="0" smtClean="0">
                        <a:solidFill>
                          <a:schemeClr val="tx1"/>
                        </a:solidFill>
                      </a:endParaRPr>
                    </a:p>
                    <a:p>
                      <a:r>
                        <a:rPr lang="en-IN" dirty="0" smtClean="0">
                          <a:solidFill>
                            <a:schemeClr val="tx1"/>
                          </a:solidFill>
                        </a:rPr>
                        <a:t>        </a:t>
                      </a:r>
                      <a:r>
                        <a:rPr lang="en-IN" dirty="0" err="1" smtClean="0">
                          <a:solidFill>
                            <a:schemeClr val="tx1"/>
                          </a:solidFill>
                        </a:rPr>
                        <a:t>System.out.println</a:t>
                      </a:r>
                      <a:r>
                        <a:rPr lang="en-IN" dirty="0" smtClean="0">
                          <a:solidFill>
                            <a:schemeClr val="tx1"/>
                          </a:solidFill>
                        </a:rPr>
                        <a:t>("Animal makes a sound");</a:t>
                      </a:r>
                      <a:endParaRPr lang="en-IN" dirty="0" smtClean="0">
                        <a:solidFill>
                          <a:schemeClr val="tx1"/>
                        </a:solidFill>
                      </a:endParaRPr>
                    </a:p>
                    <a:p>
                      <a:r>
                        <a:rPr lang="en-IN" dirty="0" smtClean="0">
                          <a:solidFill>
                            <a:schemeClr val="tx1"/>
                          </a:solidFill>
                        </a:rPr>
                        <a:t>    }</a:t>
                      </a:r>
                      <a:endParaRPr lang="en-IN" dirty="0" smtClean="0">
                        <a:solidFill>
                          <a:schemeClr val="tx1"/>
                        </a:solidFill>
                      </a:endParaRPr>
                    </a:p>
                    <a:p>
                      <a:r>
                        <a:rPr lang="en-IN" dirty="0" smtClean="0">
                          <a:solidFill>
                            <a:schemeClr val="tx1"/>
                          </a:solidFill>
                        </a:rPr>
                        <a:t>}</a:t>
                      </a:r>
                      <a:endParaRPr lang="en-IN" dirty="0" smtClean="0">
                        <a:solidFill>
                          <a:schemeClr val="tx1"/>
                        </a:solidFill>
                      </a:endParaRPr>
                    </a:p>
                    <a:p>
                      <a:endParaRPr lang="en-IN" dirty="0" smtClean="0">
                        <a:solidFill>
                          <a:schemeClr val="tx1"/>
                        </a:solidFill>
                      </a:endParaRPr>
                    </a:p>
                    <a:p>
                      <a:r>
                        <a:rPr lang="en-IN" dirty="0" smtClean="0">
                          <a:solidFill>
                            <a:schemeClr val="tx1"/>
                          </a:solidFill>
                        </a:rPr>
                        <a:t>class Dog extends Animal {</a:t>
                      </a:r>
                      <a:endParaRPr lang="en-IN" dirty="0" smtClean="0">
                        <a:solidFill>
                          <a:schemeClr val="tx1"/>
                        </a:solidFill>
                      </a:endParaRPr>
                    </a:p>
                    <a:p>
                      <a:r>
                        <a:rPr lang="en-IN" dirty="0" smtClean="0">
                          <a:solidFill>
                            <a:schemeClr val="tx1"/>
                          </a:solidFill>
                        </a:rPr>
                        <a:t>    @Override</a:t>
                      </a:r>
                      <a:endParaRPr lang="en-IN" dirty="0" smtClean="0">
                        <a:solidFill>
                          <a:schemeClr val="tx1"/>
                        </a:solidFill>
                      </a:endParaRPr>
                    </a:p>
                    <a:p>
                      <a:r>
                        <a:rPr lang="en-IN" dirty="0" smtClean="0">
                          <a:solidFill>
                            <a:schemeClr val="tx1"/>
                          </a:solidFill>
                        </a:rPr>
                        <a:t>    void sound() {    //</a:t>
                      </a:r>
                      <a:r>
                        <a:rPr lang="en-IN" dirty="0" err="1" smtClean="0">
                          <a:solidFill>
                            <a:schemeClr val="tx1"/>
                          </a:solidFill>
                        </a:rPr>
                        <a:t>super.sound</a:t>
                      </a:r>
                      <a:r>
                        <a:rPr lang="en-IN" dirty="0" smtClean="0">
                          <a:solidFill>
                            <a:schemeClr val="tx1"/>
                          </a:solidFill>
                        </a:rPr>
                        <a:t>();</a:t>
                      </a:r>
                      <a:endParaRPr lang="en-IN" dirty="0" smtClean="0">
                        <a:solidFill>
                          <a:schemeClr val="tx1"/>
                        </a:solidFill>
                      </a:endParaRPr>
                    </a:p>
                    <a:p>
                      <a:r>
                        <a:rPr lang="en-IN" dirty="0" smtClean="0">
                          <a:solidFill>
                            <a:schemeClr val="tx1"/>
                          </a:solidFill>
                        </a:rPr>
                        <a:t>        </a:t>
                      </a:r>
                      <a:r>
                        <a:rPr lang="en-IN" dirty="0" err="1" smtClean="0">
                          <a:solidFill>
                            <a:schemeClr val="tx1"/>
                          </a:solidFill>
                        </a:rPr>
                        <a:t>System.out.println</a:t>
                      </a:r>
                      <a:r>
                        <a:rPr lang="en-IN" dirty="0" smtClean="0">
                          <a:solidFill>
                            <a:schemeClr val="tx1"/>
                          </a:solidFill>
                        </a:rPr>
                        <a:t>("Dog barks");</a:t>
                      </a:r>
                      <a:endParaRPr lang="en-IN" dirty="0" smtClean="0">
                        <a:solidFill>
                          <a:schemeClr val="tx1"/>
                        </a:solidFill>
                      </a:endParaRPr>
                    </a:p>
                    <a:p>
                      <a:r>
                        <a:rPr lang="en-IN" dirty="0" smtClean="0">
                          <a:solidFill>
                            <a:schemeClr val="tx1"/>
                          </a:solidFill>
                        </a:rPr>
                        <a:t>    }</a:t>
                      </a:r>
                      <a:endParaRPr lang="en-IN" dirty="0" smtClean="0">
                        <a:solidFill>
                          <a:schemeClr val="tx1"/>
                        </a:solidFill>
                      </a:endParaRPr>
                    </a:p>
                    <a:p>
                      <a:r>
                        <a:rPr lang="en-IN" dirty="0" smtClean="0">
                          <a:solidFill>
                            <a:schemeClr val="tx1"/>
                          </a:solidFill>
                        </a:rPr>
                        <a:t>}</a:t>
                      </a:r>
                      <a:endParaRPr lang="en-IN" dirty="0" smtClean="0">
                        <a:solidFill>
                          <a:schemeClr val="tx1"/>
                        </a:solidFill>
                      </a:endParaRPr>
                    </a:p>
                    <a:p>
                      <a:endParaRPr lang="en-IN" dirty="0" smtClean="0">
                        <a:solidFill>
                          <a:schemeClr val="tx1"/>
                        </a:solidFill>
                      </a:endParaRPr>
                    </a:p>
                    <a:p>
                      <a:r>
                        <a:rPr lang="en-IN" dirty="0" smtClean="0">
                          <a:solidFill>
                            <a:schemeClr val="tx1"/>
                          </a:solidFill>
                        </a:rPr>
                        <a:t>public class Main {</a:t>
                      </a:r>
                      <a:endParaRPr lang="en-IN" dirty="0" smtClean="0">
                        <a:solidFill>
                          <a:schemeClr val="tx1"/>
                        </a:solidFill>
                      </a:endParaRPr>
                    </a:p>
                    <a:p>
                      <a:r>
                        <a:rPr lang="en-IN" dirty="0" smtClean="0">
                          <a:solidFill>
                            <a:schemeClr val="tx1"/>
                          </a:solidFill>
                        </a:rPr>
                        <a:t>    public static void main(String[] </a:t>
                      </a:r>
                      <a:r>
                        <a:rPr lang="en-IN" dirty="0" err="1" smtClean="0">
                          <a:solidFill>
                            <a:schemeClr val="tx1"/>
                          </a:solidFill>
                        </a:rPr>
                        <a:t>args</a:t>
                      </a:r>
                      <a:r>
                        <a:rPr lang="en-IN" dirty="0" smtClean="0">
                          <a:solidFill>
                            <a:schemeClr val="tx1"/>
                          </a:solidFill>
                        </a:rPr>
                        <a:t>) {</a:t>
                      </a:r>
                      <a:endParaRPr lang="en-IN" dirty="0" smtClean="0">
                        <a:solidFill>
                          <a:schemeClr val="tx1"/>
                        </a:solidFill>
                      </a:endParaRPr>
                    </a:p>
                    <a:p>
                      <a:r>
                        <a:rPr lang="en-IN" dirty="0" smtClean="0">
                          <a:solidFill>
                            <a:schemeClr val="tx1"/>
                          </a:solidFill>
                        </a:rPr>
                        <a:t>        Dog </a:t>
                      </a:r>
                      <a:r>
                        <a:rPr lang="en-IN" dirty="0" err="1" smtClean="0">
                          <a:solidFill>
                            <a:schemeClr val="tx1"/>
                          </a:solidFill>
                        </a:rPr>
                        <a:t>myDog</a:t>
                      </a:r>
                      <a:r>
                        <a:rPr lang="en-IN" dirty="0" smtClean="0">
                          <a:solidFill>
                            <a:schemeClr val="tx1"/>
                          </a:solidFill>
                        </a:rPr>
                        <a:t> = new Dog(); </a:t>
                      </a:r>
                      <a:endParaRPr lang="en-IN" dirty="0" smtClean="0">
                        <a:solidFill>
                          <a:schemeClr val="tx1"/>
                        </a:solidFill>
                      </a:endParaRPr>
                    </a:p>
                    <a:p>
                      <a:r>
                        <a:rPr lang="en-IN" dirty="0" smtClean="0">
                          <a:solidFill>
                            <a:schemeClr val="tx1"/>
                          </a:solidFill>
                        </a:rPr>
                        <a:t>         </a:t>
                      </a:r>
                      <a:r>
                        <a:rPr lang="en-IN" dirty="0" err="1" smtClean="0">
                          <a:solidFill>
                            <a:schemeClr val="tx1"/>
                          </a:solidFill>
                        </a:rPr>
                        <a:t>myDog.sound</a:t>
                      </a:r>
                      <a:r>
                        <a:rPr lang="en-IN" dirty="0" smtClean="0">
                          <a:solidFill>
                            <a:schemeClr val="tx1"/>
                          </a:solidFill>
                        </a:rPr>
                        <a:t>();</a:t>
                      </a:r>
                      <a:endParaRPr lang="en-IN" dirty="0" smtClean="0">
                        <a:solidFill>
                          <a:schemeClr val="tx1"/>
                        </a:solidFill>
                      </a:endParaRPr>
                    </a:p>
                    <a:p>
                      <a:r>
                        <a:rPr lang="en-IN" dirty="0" smtClean="0">
                          <a:solidFill>
                            <a:schemeClr val="tx1"/>
                          </a:solidFill>
                        </a:rPr>
                        <a:t>}</a:t>
                      </a:r>
                      <a:endParaRPr lang="en-IN" dirty="0" smtClean="0">
                        <a:solidFill>
                          <a:schemeClr val="tx1"/>
                        </a:solidFill>
                      </a:endParaRPr>
                    </a:p>
                    <a:p>
                      <a:r>
                        <a:rPr lang="en-IN" dirty="0" smtClean="0">
                          <a:solidFill>
                            <a:schemeClr val="tx1"/>
                          </a:solidFill>
                        </a:rPr>
                        <a:t>}</a:t>
                      </a:r>
                      <a:endParaRPr lang="en-IN" dirty="0" smtClean="0">
                        <a:solidFill>
                          <a:schemeClr val="tx1"/>
                        </a:solidFill>
                      </a:endParaRPr>
                    </a:p>
                  </a:txBody>
                  <a:tcPr>
                    <a:solidFill>
                      <a:schemeClr val="bg1"/>
                    </a:solidFill>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 real-world example</a:t>
            </a:r>
            <a:endParaRPr lang="en-IN" dirty="0"/>
          </a:p>
        </p:txBody>
      </p:sp>
      <p:pic>
        <p:nvPicPr>
          <p:cNvPr id="4" name="Content Placeholder 3"/>
          <p:cNvPicPr>
            <a:picLocks noGrp="1" noChangeAspect="1"/>
          </p:cNvPicPr>
          <p:nvPr>
            <p:ph idx="1"/>
          </p:nvPr>
        </p:nvPicPr>
        <p:blipFill>
          <a:blip r:embed="rId1"/>
          <a:stretch>
            <a:fillRect/>
          </a:stretch>
        </p:blipFill>
        <p:spPr>
          <a:xfrm>
            <a:off x="838200" y="1690688"/>
            <a:ext cx="10774680" cy="4430871"/>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527" y="198871"/>
            <a:ext cx="10515600" cy="447675"/>
          </a:xfrm>
        </p:spPr>
        <p:txBody>
          <a:bodyPr>
            <a:normAutofit fontScale="90000"/>
          </a:bodyPr>
          <a:lstStyle/>
          <a:p>
            <a:r>
              <a:rPr lang="en-IN" dirty="0" smtClean="0"/>
              <a:t>Banking example</a:t>
            </a:r>
            <a:endParaRPr lang="en-IN" dirty="0"/>
          </a:p>
        </p:txBody>
      </p:sp>
      <p:sp>
        <p:nvSpPr>
          <p:cNvPr id="4" name="Rectangle 1"/>
          <p:cNvSpPr>
            <a:spLocks noGrp="1" noChangeArrowheads="1"/>
          </p:cNvSpPr>
          <p:nvPr>
            <p:ph idx="1"/>
          </p:nvPr>
        </p:nvSpPr>
        <p:spPr bwMode="auto">
          <a:xfrm>
            <a:off x="764309" y="-535464"/>
            <a:ext cx="8564418" cy="846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class Bank{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int</a:t>
            </a:r>
            <a:r>
              <a:rPr kumimoji="0" lang="en-US" altLang="en-US" sz="1400" b="0" i="0" u="none" strike="noStrike" cap="none" normalizeH="0" baseline="0" dirty="0" err="1" smtClean="0">
                <a:ln>
                  <a:noFill/>
                </a:ln>
                <a:solidFill>
                  <a:srgbClr val="2B2A29"/>
                </a:solidFill>
                <a:effectLst/>
                <a:latin typeface="montserrat"/>
              </a:rPr>
              <a:t> getRateOfInterest(){</a:t>
            </a:r>
            <a:r>
              <a:rPr kumimoji="0" lang="en-US" altLang="en-US" sz="1400" i="0" u="none" strike="noStrike" cap="none" normalizeH="0" baseline="0" dirty="0" err="1" smtClean="0">
                <a:ln>
                  <a:noFill/>
                </a:ln>
                <a:solidFill>
                  <a:srgbClr val="2B2A29"/>
                </a:solidFill>
                <a:effectLst/>
                <a:latin typeface="montserrat"/>
              </a:rPr>
              <a:t>return</a:t>
            </a:r>
            <a:r>
              <a:rPr kumimoji="0" lang="en-US" altLang="en-US" sz="1400" b="0" i="0" u="none" strike="noStrike" cap="none" normalizeH="0" baseline="0" dirty="0" err="1" smtClean="0">
                <a:ln>
                  <a:noFill/>
                </a:ln>
                <a:solidFill>
                  <a:srgbClr val="2B2A29"/>
                </a:solidFill>
                <a:effectLst/>
                <a:latin typeface="montserrat"/>
              </a:rPr>
              <a:t> 0;}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//Creating child classes.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class</a:t>
            </a:r>
            <a:r>
              <a:rPr kumimoji="0" lang="en-US" altLang="en-US" sz="1400" b="0" i="0" u="none" strike="noStrike" cap="none" normalizeH="0" baseline="0" dirty="0" err="1" smtClean="0">
                <a:ln>
                  <a:noFill/>
                </a:ln>
                <a:solidFill>
                  <a:srgbClr val="2B2A29"/>
                </a:solidFill>
                <a:effectLst/>
                <a:latin typeface="montserrat"/>
              </a:rPr>
              <a:t> SBI </a:t>
            </a:r>
            <a:r>
              <a:rPr kumimoji="0" lang="en-US" altLang="en-US" sz="1400" i="0" u="none" strike="noStrike" cap="none" normalizeH="0" baseline="0" dirty="0" err="1" smtClean="0">
                <a:ln>
                  <a:noFill/>
                </a:ln>
                <a:solidFill>
                  <a:srgbClr val="2B2A29"/>
                </a:solidFill>
                <a:effectLst/>
                <a:latin typeface="montserrat"/>
              </a:rPr>
              <a:t>extends</a:t>
            </a:r>
            <a:r>
              <a:rPr kumimoji="0" lang="en-US" altLang="en-US" sz="1400" b="0" i="0" u="none" strike="noStrike" cap="none" normalizeH="0" baseline="0" dirty="0" err="1" smtClean="0">
                <a:ln>
                  <a:noFill/>
                </a:ln>
                <a:solidFill>
                  <a:srgbClr val="2B2A29"/>
                </a:solidFill>
                <a:effectLst/>
                <a:latin typeface="montserrat"/>
              </a:rPr>
              <a:t> Bank{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int</a:t>
            </a:r>
            <a:r>
              <a:rPr kumimoji="0" lang="en-US" altLang="en-US" sz="1400" b="0" i="0" u="none" strike="noStrike" cap="none" normalizeH="0" baseline="0" dirty="0" err="1" smtClean="0">
                <a:ln>
                  <a:noFill/>
                </a:ln>
                <a:solidFill>
                  <a:srgbClr val="2B2A29"/>
                </a:solidFill>
                <a:effectLst/>
                <a:latin typeface="montserrat"/>
              </a:rPr>
              <a:t> getRateOfInterest(){</a:t>
            </a:r>
            <a:r>
              <a:rPr kumimoji="0" lang="en-US" altLang="en-US" sz="1400" i="0" u="none" strike="noStrike" cap="none" normalizeH="0" baseline="0" dirty="0" err="1" smtClean="0">
                <a:ln>
                  <a:noFill/>
                </a:ln>
                <a:solidFill>
                  <a:srgbClr val="2B2A29"/>
                </a:solidFill>
                <a:effectLst/>
                <a:latin typeface="montserrat"/>
              </a:rPr>
              <a:t>return</a:t>
            </a:r>
            <a:r>
              <a:rPr kumimoji="0" lang="en-US" altLang="en-US" sz="1400" b="0" i="0" u="none" strike="noStrike" cap="none" normalizeH="0" baseline="0" dirty="0" err="1" smtClean="0">
                <a:ln>
                  <a:noFill/>
                </a:ln>
                <a:solidFill>
                  <a:srgbClr val="2B2A29"/>
                </a:solidFill>
                <a:effectLst/>
                <a:latin typeface="montserrat"/>
              </a:rPr>
              <a:t> 8;}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class</a:t>
            </a:r>
            <a:r>
              <a:rPr kumimoji="0" lang="en-US" altLang="en-US" sz="1400" b="0" i="0" u="none" strike="noStrike" cap="none" normalizeH="0" baseline="0" dirty="0" err="1" smtClean="0">
                <a:ln>
                  <a:noFill/>
                </a:ln>
                <a:solidFill>
                  <a:srgbClr val="2B2A29"/>
                </a:solidFill>
                <a:effectLst/>
                <a:latin typeface="montserrat"/>
              </a:rPr>
              <a:t> ICICI </a:t>
            </a:r>
            <a:r>
              <a:rPr kumimoji="0" lang="en-US" altLang="en-US" sz="1400" i="0" u="none" strike="noStrike" cap="none" normalizeH="0" baseline="0" dirty="0" err="1" smtClean="0">
                <a:ln>
                  <a:noFill/>
                </a:ln>
                <a:solidFill>
                  <a:srgbClr val="2B2A29"/>
                </a:solidFill>
                <a:effectLst/>
                <a:latin typeface="montserrat"/>
              </a:rPr>
              <a:t>extends</a:t>
            </a:r>
            <a:r>
              <a:rPr kumimoji="0" lang="en-US" altLang="en-US" sz="1400" b="0" i="0" u="none" strike="noStrike" cap="none" normalizeH="0" baseline="0" dirty="0" err="1" smtClean="0">
                <a:ln>
                  <a:noFill/>
                </a:ln>
                <a:solidFill>
                  <a:srgbClr val="2B2A29"/>
                </a:solidFill>
                <a:effectLst/>
                <a:latin typeface="montserrat"/>
              </a:rPr>
              <a:t> Bank{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int</a:t>
            </a:r>
            <a:r>
              <a:rPr kumimoji="0" lang="en-US" altLang="en-US" sz="1400" b="0" i="0" u="none" strike="noStrike" cap="none" normalizeH="0" baseline="0" dirty="0" err="1" smtClean="0">
                <a:ln>
                  <a:noFill/>
                </a:ln>
                <a:solidFill>
                  <a:srgbClr val="2B2A29"/>
                </a:solidFill>
                <a:effectLst/>
                <a:latin typeface="montserrat"/>
              </a:rPr>
              <a:t> getRateOfInterest(){</a:t>
            </a:r>
            <a:r>
              <a:rPr kumimoji="0" lang="en-US" altLang="en-US" sz="1400" i="0" u="none" strike="noStrike" cap="none" normalizeH="0" baseline="0" dirty="0" err="1" smtClean="0">
                <a:ln>
                  <a:noFill/>
                </a:ln>
                <a:solidFill>
                  <a:srgbClr val="2B2A29"/>
                </a:solidFill>
                <a:effectLst/>
                <a:latin typeface="montserrat"/>
              </a:rPr>
              <a:t>return</a:t>
            </a:r>
            <a:r>
              <a:rPr kumimoji="0" lang="en-US" altLang="en-US" sz="1400" b="0" i="0" u="none" strike="noStrike" cap="none" normalizeH="0" baseline="0" dirty="0" err="1" smtClean="0">
                <a:ln>
                  <a:noFill/>
                </a:ln>
                <a:solidFill>
                  <a:srgbClr val="2B2A29"/>
                </a:solidFill>
                <a:effectLst/>
                <a:latin typeface="montserrat"/>
              </a:rPr>
              <a:t> 7;}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class</a:t>
            </a:r>
            <a:r>
              <a:rPr kumimoji="0" lang="en-US" altLang="en-US" sz="1400" b="0" i="0" u="none" strike="noStrike" cap="none" normalizeH="0" baseline="0" dirty="0" err="1" smtClean="0">
                <a:ln>
                  <a:noFill/>
                </a:ln>
                <a:solidFill>
                  <a:srgbClr val="2B2A29"/>
                </a:solidFill>
                <a:effectLst/>
                <a:latin typeface="montserrat"/>
              </a:rPr>
              <a:t> AXIS </a:t>
            </a:r>
            <a:r>
              <a:rPr kumimoji="0" lang="en-US" altLang="en-US" sz="1400" i="0" u="none" strike="noStrike" cap="none" normalizeH="0" baseline="0" dirty="0" err="1" smtClean="0">
                <a:ln>
                  <a:noFill/>
                </a:ln>
                <a:solidFill>
                  <a:srgbClr val="2B2A29"/>
                </a:solidFill>
                <a:effectLst/>
                <a:latin typeface="montserrat"/>
              </a:rPr>
              <a:t>extends</a:t>
            </a:r>
            <a:r>
              <a:rPr kumimoji="0" lang="en-US" altLang="en-US" sz="1400" b="0" i="0" u="none" strike="noStrike" cap="none" normalizeH="0" baseline="0" dirty="0" err="1" smtClean="0">
                <a:ln>
                  <a:noFill/>
                </a:ln>
                <a:solidFill>
                  <a:srgbClr val="2B2A29"/>
                </a:solidFill>
                <a:effectLst/>
                <a:latin typeface="montserrat"/>
              </a:rPr>
              <a:t> Bank{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int</a:t>
            </a:r>
            <a:r>
              <a:rPr kumimoji="0" lang="en-US" altLang="en-US" sz="1400" b="0" i="0" u="none" strike="noStrike" cap="none" normalizeH="0" baseline="0" dirty="0" err="1" smtClean="0">
                <a:ln>
                  <a:noFill/>
                </a:ln>
                <a:solidFill>
                  <a:srgbClr val="2B2A29"/>
                </a:solidFill>
                <a:effectLst/>
                <a:latin typeface="montserrat"/>
              </a:rPr>
              <a:t> getRateOfInterest(){</a:t>
            </a:r>
            <a:r>
              <a:rPr kumimoji="0" lang="en-US" altLang="en-US" sz="1400" i="0" u="none" strike="noStrike" cap="none" normalizeH="0" baseline="0" dirty="0" err="1" smtClean="0">
                <a:ln>
                  <a:noFill/>
                </a:ln>
                <a:solidFill>
                  <a:srgbClr val="2B2A29"/>
                </a:solidFill>
                <a:effectLst/>
                <a:latin typeface="montserrat"/>
              </a:rPr>
              <a:t>return</a:t>
            </a:r>
            <a:r>
              <a:rPr kumimoji="0" lang="en-US" altLang="en-US" sz="1400" b="0" i="0" u="none" strike="noStrike" cap="none" normalizeH="0" baseline="0" dirty="0" err="1" smtClean="0">
                <a:ln>
                  <a:noFill/>
                </a:ln>
                <a:solidFill>
                  <a:srgbClr val="2B2A29"/>
                </a:solidFill>
                <a:effectLst/>
                <a:latin typeface="montserrat"/>
              </a:rPr>
              <a:t> 9;}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//Test class to create objects and call the methods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class</a:t>
            </a:r>
            <a:r>
              <a:rPr kumimoji="0" lang="en-US" altLang="en-US" sz="1400" b="0" i="0" u="none" strike="noStrike" cap="none" normalizeH="0" baseline="0" dirty="0" err="1" smtClean="0">
                <a:ln>
                  <a:noFill/>
                </a:ln>
                <a:solidFill>
                  <a:srgbClr val="2B2A29"/>
                </a:solidFill>
                <a:effectLst/>
                <a:latin typeface="montserrat"/>
              </a:rPr>
              <a:t> Test{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i="0" u="none" strike="noStrike" cap="none" normalizeH="0" baseline="0" dirty="0" err="1" smtClean="0">
                <a:ln>
                  <a:noFill/>
                </a:ln>
                <a:solidFill>
                  <a:srgbClr val="2B2A29"/>
                </a:solidFill>
                <a:effectLst/>
                <a:latin typeface="montserrat"/>
              </a:rPr>
              <a:t>public</a:t>
            </a:r>
            <a:r>
              <a:rPr kumimoji="0" lang="en-US" altLang="en-US" sz="1400" b="0" i="0" u="none" strike="noStrike" cap="none" normalizeH="0" baseline="0" dirty="0" err="1" smtClean="0">
                <a:ln>
                  <a:noFill/>
                </a:ln>
                <a:solidFill>
                  <a:srgbClr val="2B2A29"/>
                </a:solidFill>
                <a:effectLst/>
                <a:latin typeface="montserrat"/>
              </a:rPr>
              <a:t> </a:t>
            </a:r>
            <a:r>
              <a:rPr kumimoji="0" lang="en-US" altLang="en-US" sz="1400" i="0" u="none" strike="noStrike" cap="none" normalizeH="0" baseline="0" dirty="0" err="1" smtClean="0">
                <a:ln>
                  <a:noFill/>
                </a:ln>
                <a:solidFill>
                  <a:srgbClr val="2B2A29"/>
                </a:solidFill>
                <a:effectLst/>
                <a:latin typeface="montserrat"/>
              </a:rPr>
              <a:t>static</a:t>
            </a:r>
            <a:r>
              <a:rPr kumimoji="0" lang="en-US" altLang="en-US" sz="1400" b="0" i="0" u="none" strike="noStrike" cap="none" normalizeH="0" baseline="0" dirty="0" err="1" smtClean="0">
                <a:ln>
                  <a:noFill/>
                </a:ln>
                <a:solidFill>
                  <a:srgbClr val="2B2A29"/>
                </a:solidFill>
                <a:effectLst/>
                <a:latin typeface="montserrat"/>
              </a:rPr>
              <a:t> </a:t>
            </a:r>
            <a:r>
              <a:rPr kumimoji="0" lang="en-US" altLang="en-US" sz="1400" i="0" u="none" strike="noStrike" cap="none" normalizeH="0" baseline="0" dirty="0" err="1" smtClean="0">
                <a:ln>
                  <a:noFill/>
                </a:ln>
                <a:solidFill>
                  <a:srgbClr val="2B2A29"/>
                </a:solidFill>
                <a:effectLst/>
                <a:latin typeface="montserrat"/>
              </a:rPr>
              <a:t>void</a:t>
            </a:r>
            <a:r>
              <a:rPr kumimoji="0" lang="en-US" altLang="en-US" sz="1400" b="0" i="0" u="none" strike="noStrike" cap="none" normalizeH="0" baseline="0" dirty="0" err="1" smtClean="0">
                <a:ln>
                  <a:noFill/>
                </a:ln>
                <a:solidFill>
                  <a:srgbClr val="2B2A29"/>
                </a:solidFill>
                <a:effectLst/>
                <a:latin typeface="montserrat"/>
              </a:rPr>
              <a:t> main(String args[]){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SBI s=</a:t>
            </a:r>
            <a:r>
              <a:rPr kumimoji="0" lang="en-US" altLang="en-US" sz="1400" i="0" u="none" strike="noStrike" cap="none" normalizeH="0" baseline="0" dirty="0" err="1" smtClean="0">
                <a:ln>
                  <a:noFill/>
                </a:ln>
                <a:solidFill>
                  <a:srgbClr val="2B2A29"/>
                </a:solidFill>
                <a:effectLst/>
                <a:latin typeface="montserrat"/>
              </a:rPr>
              <a:t>new</a:t>
            </a:r>
            <a:r>
              <a:rPr kumimoji="0" lang="en-US" altLang="en-US" sz="1400" b="0" i="0" u="none" strike="noStrike" cap="none" normalizeH="0" baseline="0" dirty="0" err="1" smtClean="0">
                <a:ln>
                  <a:noFill/>
                </a:ln>
                <a:solidFill>
                  <a:srgbClr val="2B2A29"/>
                </a:solidFill>
                <a:effectLst/>
                <a:latin typeface="montserrat"/>
              </a:rPr>
              <a:t> SBI();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ICICI i=</a:t>
            </a:r>
            <a:r>
              <a:rPr kumimoji="0" lang="en-US" altLang="en-US" sz="1400" i="0" u="none" strike="noStrike" cap="none" normalizeH="0" baseline="0" dirty="0" err="1" smtClean="0">
                <a:ln>
                  <a:noFill/>
                </a:ln>
                <a:solidFill>
                  <a:srgbClr val="2B2A29"/>
                </a:solidFill>
                <a:effectLst/>
                <a:latin typeface="montserrat"/>
              </a:rPr>
              <a:t>new</a:t>
            </a:r>
            <a:r>
              <a:rPr kumimoji="0" lang="en-US" altLang="en-US" sz="1400" b="0" i="0" u="none" strike="noStrike" cap="none" normalizeH="0" baseline="0" dirty="0" err="1" smtClean="0">
                <a:ln>
                  <a:noFill/>
                </a:ln>
                <a:solidFill>
                  <a:srgbClr val="2B2A29"/>
                </a:solidFill>
                <a:effectLst/>
                <a:latin typeface="montserrat"/>
              </a:rPr>
              <a:t> ICICI();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AXIS a=</a:t>
            </a:r>
            <a:r>
              <a:rPr kumimoji="0" lang="en-US" altLang="en-US" sz="1400" i="0" u="none" strike="noStrike" cap="none" normalizeH="0" baseline="0" dirty="0" err="1" smtClean="0">
                <a:ln>
                  <a:noFill/>
                </a:ln>
                <a:solidFill>
                  <a:srgbClr val="2B2A29"/>
                </a:solidFill>
                <a:effectLst/>
                <a:latin typeface="montserrat"/>
              </a:rPr>
              <a:t>new</a:t>
            </a:r>
            <a:r>
              <a:rPr kumimoji="0" lang="en-US" altLang="en-US" sz="1400" b="0" i="0" u="none" strike="noStrike" cap="none" normalizeH="0" baseline="0" dirty="0" err="1" smtClean="0">
                <a:ln>
                  <a:noFill/>
                </a:ln>
                <a:solidFill>
                  <a:srgbClr val="2B2A29"/>
                </a:solidFill>
                <a:effectLst/>
                <a:latin typeface="montserrat"/>
              </a:rPr>
              <a:t> AXIS();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System.out.println</a:t>
            </a:r>
            <a:r>
              <a:rPr kumimoji="0" lang="en-US" altLang="en-US" sz="1400" b="0" i="0" u="none" strike="noStrike" cap="none" normalizeH="0" baseline="0" dirty="0" err="1" smtClean="0">
                <a:ln>
                  <a:noFill/>
                </a:ln>
                <a:solidFill>
                  <a:srgbClr val="2B2A29"/>
                </a:solidFill>
                <a:effectLst/>
                <a:latin typeface="montserrat"/>
              </a:rPr>
              <a:t>("SBI Rate of Interest: "+s.getRateOfInterest());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System.out.println</a:t>
            </a:r>
            <a:r>
              <a:rPr kumimoji="0" lang="en-US" altLang="en-US" sz="1400" b="0" i="0" u="none" strike="noStrike" cap="none" normalizeH="0" baseline="0" dirty="0" err="1" smtClean="0">
                <a:ln>
                  <a:noFill/>
                </a:ln>
                <a:solidFill>
                  <a:srgbClr val="2B2A29"/>
                </a:solidFill>
                <a:effectLst/>
                <a:latin typeface="montserrat"/>
              </a:rPr>
              <a:t>("ICICI Rate of Interest: "+i.getRateOfInterest());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System.out.println</a:t>
            </a:r>
            <a:r>
              <a:rPr kumimoji="0" lang="en-US" altLang="en-US" sz="1400" b="0" i="0" u="none" strike="noStrike" cap="none" normalizeH="0" baseline="0" dirty="0" err="1" smtClean="0">
                <a:ln>
                  <a:noFill/>
                </a:ln>
                <a:solidFill>
                  <a:srgbClr val="2B2A29"/>
                </a:solidFill>
                <a:effectLst/>
                <a:latin typeface="montserrat"/>
              </a:rPr>
              <a:t>("AXIS Rate of Interest: "+a.getRateOfInterest());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 </a:t>
            </a:r>
            <a:endParaRPr kumimoji="0" lang="en-US" altLang="en-US" sz="1400" b="0" i="0" u="none" strike="noStrike" cap="none" normalizeH="0" baseline="0" dirty="0" err="1" smtClean="0">
              <a:ln>
                <a:noFill/>
              </a:ln>
              <a:solidFill>
                <a:srgbClr val="2B2A29"/>
              </a:solidFill>
              <a:effectLst/>
              <a:latin typeface="montserrat"/>
            </a:endParaRPr>
          </a:p>
          <a:p>
            <a:pPr marL="0" marR="0" lvl="0" algn="l" defTabSz="914400" rtl="0" eaLnBrk="0" fontAlgn="base" latinLnBrk="0" hangingPunct="0">
              <a:lnSpc>
                <a:spcPct val="100000"/>
              </a:lnSpc>
              <a:buClrTx/>
              <a:buSzTx/>
              <a:buNone/>
            </a:pPr>
            <a:r>
              <a:rPr kumimoji="0" lang="en-US" altLang="en-US" sz="1400" b="0" i="0" u="none" strike="noStrike" cap="none" normalizeH="0" baseline="0" dirty="0" err="1" smtClean="0">
                <a:ln>
                  <a:noFill/>
                </a:ln>
                <a:solidFill>
                  <a:srgbClr val="2B2A29"/>
                </a:solidFill>
                <a:effectLst/>
                <a:latin typeface="montserrat"/>
              </a:rPr>
              <a:t>}  </a:t>
            </a:r>
            <a:endParaRPr kumimoji="0" lang="en-US" altLang="en-US" sz="1400" b="0" i="0" u="none" strike="noStrike" cap="none" normalizeH="0" baseline="0" dirty="0" err="1" smtClean="0">
              <a:ln>
                <a:noFill/>
              </a:ln>
              <a:solidFill>
                <a:srgbClr val="2B2A29"/>
              </a:solidFill>
              <a:effectLst/>
              <a:latin typeface="montserra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b="1" dirty="0"/>
              <a:t>Method Overriding vs Method </a:t>
            </a:r>
            <a:r>
              <a:rPr lang="nl-NL" b="1" dirty="0" smtClean="0"/>
              <a:t>Hiding</a:t>
            </a:r>
            <a:endParaRPr lang="en-IN" dirty="0"/>
          </a:p>
        </p:txBody>
      </p:sp>
      <p:sp>
        <p:nvSpPr>
          <p:cNvPr id="3" name="Content Placeholder 2"/>
          <p:cNvSpPr>
            <a:spLocks noGrp="1"/>
          </p:cNvSpPr>
          <p:nvPr>
            <p:ph idx="1"/>
          </p:nvPr>
        </p:nvSpPr>
        <p:spPr>
          <a:xfrm>
            <a:off x="838200" y="1825625"/>
            <a:ext cx="10515600" cy="1268557"/>
          </a:xfrm>
        </p:spPr>
        <p:txBody>
          <a:bodyPr/>
          <a:lstStyle/>
          <a:p>
            <a:r>
              <a:rPr lang="en-US" dirty="0"/>
              <a:t>When you define a static method with the same signature as a static method in the base class, it is known as </a:t>
            </a:r>
            <a:r>
              <a:rPr lang="en-US" u="sng" dirty="0"/>
              <a:t>method </a:t>
            </a:r>
            <a:r>
              <a:rPr lang="en-US" u="sng" dirty="0" smtClean="0"/>
              <a:t>hiding.</a:t>
            </a:r>
            <a:endParaRPr lang="en-US" u="sng" dirty="0" smtClean="0"/>
          </a:p>
          <a:p>
            <a:endParaRPr lang="en-IN" dirty="0"/>
          </a:p>
        </p:txBody>
      </p:sp>
      <p:graphicFrame>
        <p:nvGraphicFramePr>
          <p:cNvPr id="4" name="Table 3"/>
          <p:cNvGraphicFramePr>
            <a:graphicFrameLocks noGrp="1"/>
          </p:cNvGraphicFramePr>
          <p:nvPr/>
        </p:nvGraphicFramePr>
        <p:xfrm>
          <a:off x="406400" y="3307874"/>
          <a:ext cx="11297920" cy="2229326"/>
        </p:xfrm>
        <a:graphic>
          <a:graphicData uri="http://schemas.openxmlformats.org/drawingml/2006/table">
            <a:tbl>
              <a:tblPr/>
              <a:tblGrid>
                <a:gridCol w="3562407"/>
                <a:gridCol w="3562407"/>
                <a:gridCol w="4173106"/>
              </a:tblGrid>
              <a:tr h="932264">
                <a:tc>
                  <a:txBody>
                    <a:bodyPr/>
                    <a:lstStyle/>
                    <a:p>
                      <a:pPr algn="ctr" fontAlgn="base"/>
                      <a:endParaRPr lang="en-IN" sz="2000" b="1" dirty="0">
                        <a:effectLst/>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2000" b="1" dirty="0" smtClean="0">
                          <a:effectLst/>
                        </a:rPr>
                        <a:t>Superclass Instance Method</a:t>
                      </a:r>
                      <a:endParaRPr lang="en-IN" sz="2000" b="1" dirty="0">
                        <a:effectLst/>
                      </a:endParaRP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fontAlgn="base" latinLnBrk="0" hangingPunct="1"/>
                      <a:endParaRPr lang="en-IN" sz="2000" b="1" kern="1200" dirty="0" smtClean="0">
                        <a:solidFill>
                          <a:schemeClr val="tx1"/>
                        </a:solidFill>
                        <a:effectLst/>
                        <a:latin typeface="+mn-lt"/>
                        <a:ea typeface="+mn-ea"/>
                        <a:cs typeface="+mn-cs"/>
                      </a:endParaRPr>
                    </a:p>
                    <a:p>
                      <a:pPr marL="0" algn="ctr" defTabSz="914400" rtl="0" eaLnBrk="1" fontAlgn="base" latinLnBrk="0" hangingPunct="1"/>
                      <a:r>
                        <a:rPr lang="en-IN" sz="2000" b="1" kern="1200" dirty="0" smtClean="0">
                          <a:solidFill>
                            <a:schemeClr val="tx1"/>
                          </a:solidFill>
                          <a:effectLst/>
                          <a:latin typeface="+mn-lt"/>
                          <a:ea typeface="+mn-ea"/>
                          <a:cs typeface="+mn-cs"/>
                        </a:rPr>
                        <a:t>Superclass Static Method</a:t>
                      </a:r>
                      <a:endParaRPr lang="en-IN" sz="2000" b="1"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8531">
                <a:tc>
                  <a:txBody>
                    <a:bodyPr/>
                    <a:lstStyle/>
                    <a:p>
                      <a:pPr algn="ctr" fontAlgn="base"/>
                      <a:r>
                        <a:rPr lang="en-IN" sz="2000" b="1">
                          <a:effectLst/>
                        </a:rPr>
                        <a:t>Subclass Instance Method</a:t>
                      </a:r>
                      <a:endParaRPr lang="en-IN" sz="2000" b="1">
                        <a:effectLst/>
                      </a:endParaRPr>
                    </a:p>
                  </a:txBody>
                  <a:tcPr marL="38100" marR="38100" marT="53081" marB="53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Overrides</a:t>
                      </a:r>
                      <a:endParaRPr lang="en-IN" sz="2000" b="0" dirty="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Generates a compile-time error</a:t>
                      </a:r>
                      <a:endParaRPr lang="en-IN" sz="2000" b="0" dirty="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648531">
                <a:tc>
                  <a:txBody>
                    <a:bodyPr/>
                    <a:lstStyle/>
                    <a:p>
                      <a:pPr algn="ctr" fontAlgn="base"/>
                      <a:r>
                        <a:rPr lang="en-IN" sz="2000" b="1">
                          <a:effectLst/>
                        </a:rPr>
                        <a:t>Subclass Static Method</a:t>
                      </a:r>
                      <a:endParaRPr lang="en-IN" sz="2000" b="1">
                        <a:effectLst/>
                      </a:endParaRPr>
                    </a:p>
                  </a:txBody>
                  <a:tcPr marL="38100" marR="38100" marT="53081" marB="53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a:effectLst/>
                        </a:rPr>
                        <a:t>Generates a compile-time error</a:t>
                      </a:r>
                      <a:endParaRPr lang="en-IN" sz="2000" b="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Hides</a:t>
                      </a:r>
                      <a:endParaRPr lang="en-IN" sz="2000" b="0" dirty="0">
                        <a:effectLst/>
                      </a:endParaRP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7091"/>
            <a:ext cx="10515600" cy="794327"/>
          </a:xfrm>
        </p:spPr>
        <p:txBody>
          <a:bodyPr>
            <a:normAutofit/>
          </a:bodyPr>
          <a:lstStyle/>
          <a:p>
            <a:r>
              <a:rPr lang="en-IN" b="1" dirty="0"/>
              <a:t>Dynamic Method </a:t>
            </a:r>
            <a:r>
              <a:rPr lang="en-IN" b="1" dirty="0" smtClean="0"/>
              <a:t>Dispatch</a:t>
            </a:r>
            <a:endParaRPr lang="en-IN" dirty="0"/>
          </a:p>
        </p:txBody>
      </p:sp>
      <p:sp>
        <p:nvSpPr>
          <p:cNvPr id="3" name="Content Placeholder 2"/>
          <p:cNvSpPr>
            <a:spLocks noGrp="1"/>
          </p:cNvSpPr>
          <p:nvPr>
            <p:ph idx="1"/>
          </p:nvPr>
        </p:nvSpPr>
        <p:spPr>
          <a:xfrm>
            <a:off x="535709" y="1311564"/>
            <a:ext cx="10818091" cy="4865399"/>
          </a:xfrm>
        </p:spPr>
        <p:txBody>
          <a:bodyPr/>
          <a:lstStyle/>
          <a:p>
            <a:r>
              <a:rPr lang="en-US" dirty="0"/>
              <a:t>Dynamic method dispatch is the mechanism by which </a:t>
            </a:r>
            <a:r>
              <a:rPr lang="en-US" dirty="0" smtClean="0"/>
              <a:t>calling of </a:t>
            </a:r>
            <a:r>
              <a:rPr lang="en-US" dirty="0"/>
              <a:t>overridden method is resolved at run time, rather than compile time</a:t>
            </a:r>
            <a:r>
              <a:rPr lang="en-US" dirty="0" smtClean="0"/>
              <a:t>.</a:t>
            </a:r>
            <a:endParaRPr lang="en-US" dirty="0" smtClean="0"/>
          </a:p>
          <a:p>
            <a:r>
              <a:rPr lang="en-US" dirty="0" smtClean="0"/>
              <a:t>It allows </a:t>
            </a:r>
            <a:r>
              <a:rPr lang="en-US" dirty="0"/>
              <a:t>the program to choose which method to invoke based on the actual object's type, not the reference type</a:t>
            </a:r>
            <a:r>
              <a:rPr lang="en-US" dirty="0" smtClean="0"/>
              <a:t>.</a:t>
            </a:r>
            <a:endParaRPr lang="en-US" dirty="0" smtClean="0"/>
          </a:p>
          <a:p>
            <a:r>
              <a:rPr lang="en-US" b="1" dirty="0" smtClean="0"/>
              <a:t>Working</a:t>
            </a:r>
            <a:r>
              <a:rPr lang="en-US" dirty="0" smtClean="0"/>
              <a:t>:</a:t>
            </a:r>
            <a:endParaRPr lang="en-US" dirty="0" smtClean="0"/>
          </a:p>
          <a:p>
            <a:pPr lvl="1"/>
            <a:r>
              <a:rPr lang="en-US" dirty="0"/>
              <a:t>when a superclass reference variable is used to refer to a subclass object, the method that gets called is determined by the actual type of the object, not the reference type</a:t>
            </a:r>
            <a:r>
              <a:rPr lang="en-US" dirty="0" smtClean="0"/>
              <a:t>.</a:t>
            </a:r>
            <a:endParaRPr lang="en-US" dirty="0" smtClean="0"/>
          </a:p>
          <a:p>
            <a:pPr lvl="1"/>
            <a:r>
              <a:rPr lang="en-US" dirty="0"/>
              <a:t>Dynamic Method Dispatch enables runtime method overriding, meaning if a subclass overrides a method in its superclass, the overridden method in the subclass will be called, even if the reference is of the superclass type.</a:t>
            </a:r>
            <a:endParaRPr lang="en-IN" dirty="0" smtClean="0"/>
          </a:p>
          <a:p>
            <a:endParaRPr lang="en-IN" dirty="0"/>
          </a:p>
          <a:p>
            <a:endParaRPr lang="en-I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Dynamic Method </a:t>
            </a:r>
            <a:r>
              <a:rPr lang="en-IN" b="1" dirty="0" smtClean="0"/>
              <a:t>Dispatch</a:t>
            </a:r>
            <a:endParaRPr lang="en-IN" dirty="0"/>
          </a:p>
        </p:txBody>
      </p:sp>
      <p:sp>
        <p:nvSpPr>
          <p:cNvPr id="3" name="Content Placeholder 2"/>
          <p:cNvSpPr>
            <a:spLocks noGrp="1"/>
          </p:cNvSpPr>
          <p:nvPr>
            <p:ph idx="1"/>
          </p:nvPr>
        </p:nvSpPr>
        <p:spPr/>
        <p:txBody>
          <a:bodyPr/>
          <a:lstStyle/>
          <a:p>
            <a:r>
              <a:rPr lang="en-US" dirty="0"/>
              <a:t>A superclass reference variable can refer to a subclass object. This is also known as </a:t>
            </a:r>
            <a:r>
              <a:rPr lang="en-US" b="1" dirty="0" err="1"/>
              <a:t>upcasting</a:t>
            </a:r>
            <a:r>
              <a:rPr lang="en-US" dirty="0"/>
              <a:t>. Java uses this fact to resolve calls to overridden methods at run time</a:t>
            </a:r>
            <a:r>
              <a:rPr lang="en-US" dirty="0" smtClean="0"/>
              <a:t>.</a:t>
            </a:r>
            <a:endParaRPr lang="en-US" dirty="0" smtClean="0"/>
          </a:p>
          <a:p>
            <a:r>
              <a:rPr lang="en-US" dirty="0"/>
              <a:t>It is </a:t>
            </a:r>
            <a:r>
              <a:rPr lang="en-US" b="1" dirty="0"/>
              <a:t>automatic</a:t>
            </a:r>
            <a:r>
              <a:rPr lang="en-US" dirty="0"/>
              <a:t> and </a:t>
            </a:r>
            <a:r>
              <a:rPr lang="en-US" b="1" dirty="0"/>
              <a:t>implicit</a:t>
            </a:r>
            <a:r>
              <a:rPr lang="en-US" dirty="0"/>
              <a:t> in Java and does not require explicit casting.</a:t>
            </a:r>
            <a:endParaRPr lang="en-US" dirty="0" smtClean="0"/>
          </a:p>
          <a:p>
            <a:endParaRPr lang="en-US" dirty="0"/>
          </a:p>
          <a:p>
            <a:endParaRPr lang="en-IN" dirty="0"/>
          </a:p>
        </p:txBody>
      </p:sp>
      <p:pic>
        <p:nvPicPr>
          <p:cNvPr id="2052" name="Picture 4" descr="Lightbo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14484" y="3692958"/>
            <a:ext cx="3067050" cy="2981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7291" y="180398"/>
            <a:ext cx="10515600" cy="493857"/>
          </a:xfrm>
        </p:spPr>
        <p:txBody>
          <a:bodyPr>
            <a:normAutofit fontScale="90000"/>
          </a:bodyPr>
          <a:lstStyle/>
          <a:p>
            <a:r>
              <a:rPr lang="en-IN" dirty="0" smtClean="0"/>
              <a:t>Example (</a:t>
            </a:r>
            <a:r>
              <a:rPr lang="en-IN" dirty="0" err="1" smtClean="0"/>
              <a:t>Upcasting</a:t>
            </a:r>
            <a:r>
              <a:rPr lang="en-IN" dirty="0" smtClean="0"/>
              <a:t>)</a:t>
            </a:r>
            <a:endParaRPr lang="en-IN" dirty="0"/>
          </a:p>
        </p:txBody>
      </p:sp>
      <p:sp>
        <p:nvSpPr>
          <p:cNvPr id="3" name="Content Placeholder 2"/>
          <p:cNvSpPr>
            <a:spLocks noGrp="1"/>
          </p:cNvSpPr>
          <p:nvPr>
            <p:ph idx="1"/>
          </p:nvPr>
        </p:nvSpPr>
        <p:spPr>
          <a:xfrm>
            <a:off x="406400" y="803564"/>
            <a:ext cx="11480800" cy="5373399"/>
          </a:xfrm>
        </p:spPr>
        <p:txBody>
          <a:bodyPr>
            <a:noAutofit/>
          </a:bodyPr>
          <a:lstStyle/>
          <a:p>
            <a:pPr marL="0" indent="0">
              <a:spcBef>
                <a:spcPts val="200"/>
              </a:spcBef>
              <a:buNone/>
            </a:pPr>
            <a:r>
              <a:rPr lang="en-IN" sz="2400" dirty="0"/>
              <a:t>class Animal {</a:t>
            </a:r>
            <a:endParaRPr lang="en-IN" sz="2400" dirty="0"/>
          </a:p>
          <a:p>
            <a:pPr marL="0" indent="0">
              <a:spcBef>
                <a:spcPts val="200"/>
              </a:spcBef>
              <a:buNone/>
            </a:pPr>
            <a:r>
              <a:rPr lang="en-IN" sz="2400" dirty="0"/>
              <a:t>    void sound() {</a:t>
            </a:r>
            <a:endParaRPr lang="en-IN" sz="2400" dirty="0"/>
          </a:p>
          <a:p>
            <a:pPr marL="0" indent="0">
              <a:spcBef>
                <a:spcPts val="200"/>
              </a:spcBef>
              <a:buNone/>
            </a:pPr>
            <a:r>
              <a:rPr lang="en-IN" sz="2400" dirty="0"/>
              <a:t>        </a:t>
            </a:r>
            <a:r>
              <a:rPr lang="en-IN" sz="2400" dirty="0" err="1"/>
              <a:t>System.out.println</a:t>
            </a:r>
            <a:r>
              <a:rPr lang="en-IN" sz="2400" dirty="0"/>
              <a:t>("Animal makes a sound");</a:t>
            </a:r>
            <a:endParaRPr lang="en-IN" sz="2400" dirty="0"/>
          </a:p>
          <a:p>
            <a:pPr marL="0" indent="0">
              <a:spcBef>
                <a:spcPts val="200"/>
              </a:spcBef>
              <a:buNone/>
            </a:pPr>
            <a:r>
              <a:rPr lang="en-IN" sz="2400" dirty="0"/>
              <a:t>    }</a:t>
            </a:r>
            <a:endParaRPr lang="en-IN" sz="2400" dirty="0"/>
          </a:p>
          <a:p>
            <a:pPr marL="0" indent="0">
              <a:spcBef>
                <a:spcPts val="200"/>
              </a:spcBef>
              <a:buNone/>
            </a:pPr>
            <a:r>
              <a:rPr lang="en-IN" sz="2400" dirty="0" smtClean="0"/>
              <a:t>}</a:t>
            </a:r>
            <a:endParaRPr lang="en-IN" sz="2400" dirty="0"/>
          </a:p>
          <a:p>
            <a:pPr marL="0" indent="0">
              <a:spcBef>
                <a:spcPts val="200"/>
              </a:spcBef>
              <a:buNone/>
            </a:pPr>
            <a:r>
              <a:rPr lang="en-IN" sz="2400" dirty="0"/>
              <a:t>class Dog extends Animal {</a:t>
            </a:r>
            <a:endParaRPr lang="en-IN" sz="2400" dirty="0"/>
          </a:p>
          <a:p>
            <a:pPr marL="0" indent="0">
              <a:spcBef>
                <a:spcPts val="200"/>
              </a:spcBef>
              <a:buNone/>
            </a:pPr>
            <a:r>
              <a:rPr lang="en-IN" sz="2400" dirty="0"/>
              <a:t>    @Override</a:t>
            </a:r>
            <a:endParaRPr lang="en-IN" sz="2400" dirty="0"/>
          </a:p>
          <a:p>
            <a:pPr marL="0" indent="0">
              <a:spcBef>
                <a:spcPts val="200"/>
              </a:spcBef>
              <a:buNone/>
            </a:pPr>
            <a:r>
              <a:rPr lang="en-IN" sz="2400" dirty="0"/>
              <a:t>    void sound() {</a:t>
            </a:r>
            <a:endParaRPr lang="en-IN" sz="2400" dirty="0"/>
          </a:p>
          <a:p>
            <a:pPr marL="0" indent="0">
              <a:spcBef>
                <a:spcPts val="200"/>
              </a:spcBef>
              <a:buNone/>
            </a:pPr>
            <a:r>
              <a:rPr lang="en-IN" sz="2400" dirty="0"/>
              <a:t>        </a:t>
            </a:r>
            <a:r>
              <a:rPr lang="en-IN" sz="2400" dirty="0" err="1"/>
              <a:t>System.out.println</a:t>
            </a:r>
            <a:r>
              <a:rPr lang="en-IN" sz="2400" dirty="0"/>
              <a:t>("Dog barks");</a:t>
            </a:r>
            <a:endParaRPr lang="en-IN" sz="2400" dirty="0"/>
          </a:p>
          <a:p>
            <a:pPr marL="0" indent="0">
              <a:spcBef>
                <a:spcPts val="200"/>
              </a:spcBef>
              <a:buNone/>
            </a:pPr>
            <a:r>
              <a:rPr lang="en-IN" sz="2400" dirty="0"/>
              <a:t>    }</a:t>
            </a:r>
            <a:endParaRPr lang="en-IN" sz="2400" dirty="0"/>
          </a:p>
          <a:p>
            <a:pPr marL="0" indent="0">
              <a:spcBef>
                <a:spcPts val="200"/>
              </a:spcBef>
              <a:buNone/>
            </a:pPr>
            <a:r>
              <a:rPr lang="en-IN" sz="2400" dirty="0" smtClean="0"/>
              <a:t>}</a:t>
            </a:r>
            <a:endParaRPr lang="en-IN" sz="2400" dirty="0"/>
          </a:p>
          <a:p>
            <a:pPr marL="0" indent="0">
              <a:spcBef>
                <a:spcPts val="200"/>
              </a:spcBef>
              <a:buNone/>
            </a:pPr>
            <a:r>
              <a:rPr lang="en-IN" sz="2400" dirty="0"/>
              <a:t>public class Test {</a:t>
            </a:r>
            <a:endParaRPr lang="en-IN" sz="2400" dirty="0"/>
          </a:p>
          <a:p>
            <a:pPr marL="0" indent="0">
              <a:spcBef>
                <a:spcPts val="200"/>
              </a:spcBef>
              <a:buNone/>
            </a:pPr>
            <a:r>
              <a:rPr lang="en-IN" sz="2400" dirty="0"/>
              <a:t>    </a:t>
            </a:r>
            <a:r>
              <a:rPr lang="en-IN" sz="2400" dirty="0" smtClean="0"/>
              <a:t>    public </a:t>
            </a:r>
            <a:r>
              <a:rPr lang="en-IN" sz="2400" dirty="0"/>
              <a:t>static void main(String[] </a:t>
            </a:r>
            <a:r>
              <a:rPr lang="en-IN" sz="2400" dirty="0" err="1"/>
              <a:t>args</a:t>
            </a:r>
            <a:r>
              <a:rPr lang="en-IN" sz="2400" dirty="0"/>
              <a:t>) {</a:t>
            </a:r>
            <a:endParaRPr lang="en-IN" sz="2400" dirty="0"/>
          </a:p>
          <a:p>
            <a:pPr marL="0" indent="0">
              <a:spcBef>
                <a:spcPts val="200"/>
              </a:spcBef>
              <a:buNone/>
            </a:pPr>
            <a:r>
              <a:rPr lang="en-IN" sz="2400" dirty="0"/>
              <a:t>        </a:t>
            </a:r>
            <a:r>
              <a:rPr lang="en-IN" sz="2400" b="1" dirty="0"/>
              <a:t>Animal </a:t>
            </a:r>
            <a:r>
              <a:rPr lang="en-IN" sz="2400" b="1" dirty="0" err="1"/>
              <a:t>animal</a:t>
            </a:r>
            <a:r>
              <a:rPr lang="en-IN" sz="2400" b="1" dirty="0"/>
              <a:t> = new </a:t>
            </a:r>
            <a:r>
              <a:rPr lang="en-IN" sz="2400" b="1" dirty="0" smtClean="0"/>
              <a:t>Animal();                                </a:t>
            </a:r>
            <a:r>
              <a:rPr lang="en-IN" sz="2400" dirty="0" smtClean="0"/>
              <a:t>// </a:t>
            </a:r>
            <a:r>
              <a:rPr lang="en-IN" sz="2400" dirty="0" err="1"/>
              <a:t>Upcasting</a:t>
            </a:r>
            <a:r>
              <a:rPr lang="en-IN" sz="2400" dirty="0"/>
              <a:t> Dog to Animal</a:t>
            </a:r>
            <a:endParaRPr lang="en-IN" sz="2400" dirty="0"/>
          </a:p>
          <a:p>
            <a:pPr marL="0" indent="0">
              <a:spcBef>
                <a:spcPts val="200"/>
              </a:spcBef>
              <a:buNone/>
            </a:pPr>
            <a:r>
              <a:rPr lang="en-IN" sz="2400" dirty="0"/>
              <a:t>        </a:t>
            </a:r>
            <a:r>
              <a:rPr lang="en-IN" sz="2400" dirty="0" err="1"/>
              <a:t>animal.sound</a:t>
            </a:r>
            <a:r>
              <a:rPr lang="en-IN" sz="2400" dirty="0"/>
              <a:t>();            </a:t>
            </a:r>
            <a:r>
              <a:rPr lang="en-IN" sz="2400" dirty="0" smtClean="0"/>
              <a:t>       			   // </a:t>
            </a:r>
            <a:r>
              <a:rPr lang="en-IN" sz="2400" dirty="0"/>
              <a:t>Calls Dog's sound() method </a:t>
            </a:r>
            <a:endParaRPr lang="en-IN" sz="2400" dirty="0" smtClean="0"/>
          </a:p>
          <a:p>
            <a:pPr marL="0" indent="0">
              <a:spcBef>
                <a:spcPts val="200"/>
              </a:spcBef>
              <a:buNone/>
            </a:pPr>
            <a:r>
              <a:rPr lang="en-IN" sz="2400" dirty="0"/>
              <a:t> </a:t>
            </a:r>
            <a:r>
              <a:rPr lang="en-IN" sz="2400" dirty="0" smtClean="0"/>
              <a:t>      }</a:t>
            </a:r>
            <a:endParaRPr lang="en-IN" sz="2400" dirty="0"/>
          </a:p>
          <a:p>
            <a:pPr marL="0" indent="0">
              <a:spcBef>
                <a:spcPts val="200"/>
              </a:spcBef>
              <a:buNone/>
            </a:pPr>
            <a:r>
              <a:rPr lang="en-IN" sz="2400" dirty="0"/>
              <a:t>}</a:t>
            </a:r>
            <a:endParaRPr lang="en-IN" sz="2400" dirty="0"/>
          </a:p>
          <a:p>
            <a:pPr marL="0" indent="0">
              <a:spcBef>
                <a:spcPts val="200"/>
              </a:spcBef>
              <a:buNone/>
            </a:pPr>
            <a:endParaRPr lang="en-IN"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Downcasting</a:t>
            </a:r>
            <a:endParaRPr lang="en-IN" dirty="0"/>
          </a:p>
        </p:txBody>
      </p:sp>
      <p:sp>
        <p:nvSpPr>
          <p:cNvPr id="3" name="Content Placeholder 2"/>
          <p:cNvSpPr>
            <a:spLocks noGrp="1"/>
          </p:cNvSpPr>
          <p:nvPr>
            <p:ph idx="1"/>
          </p:nvPr>
        </p:nvSpPr>
        <p:spPr/>
        <p:txBody>
          <a:bodyPr/>
          <a:lstStyle/>
          <a:p>
            <a:r>
              <a:rPr lang="en-US" dirty="0" err="1"/>
              <a:t>Downcasting</a:t>
            </a:r>
            <a:r>
              <a:rPr lang="en-US" dirty="0"/>
              <a:t> is the process of treating a superclass reference as an instance of a subclass</a:t>
            </a:r>
            <a:r>
              <a:rPr lang="en-US" dirty="0" smtClean="0"/>
              <a:t>.</a:t>
            </a:r>
            <a:endParaRPr lang="en-US" dirty="0" smtClean="0"/>
          </a:p>
          <a:p>
            <a:r>
              <a:rPr lang="en-US" dirty="0"/>
              <a:t> It is explicit and requires casting because it's not always safe, and there’s a risk of a </a:t>
            </a:r>
            <a:r>
              <a:rPr lang="en-US" b="1" dirty="0" err="1"/>
              <a:t>ClassCastException</a:t>
            </a:r>
            <a:r>
              <a:rPr lang="en-US" dirty="0"/>
              <a:t> if done improperly</a:t>
            </a:r>
            <a:r>
              <a:rPr lang="en-US" dirty="0" smtClean="0"/>
              <a:t>.</a:t>
            </a:r>
            <a:endParaRPr lang="en-US" dirty="0" smtClean="0"/>
          </a:p>
          <a:p>
            <a:r>
              <a:rPr lang="en-US" dirty="0" err="1"/>
              <a:t>Downcasting</a:t>
            </a:r>
            <a:r>
              <a:rPr lang="en-US" dirty="0"/>
              <a:t> is usually needed when you want to access subclass-specific methods or fields that are not accessible through the superclass reference</a:t>
            </a:r>
            <a:r>
              <a:rPr lang="en-US" dirty="0" smtClean="0"/>
              <a:t>.</a:t>
            </a:r>
            <a:endParaRPr lang="en-US" dirty="0" smtClean="0"/>
          </a:p>
          <a:p>
            <a:r>
              <a:rPr lang="en-US" dirty="0" smtClean="0"/>
              <a:t>Syntax:</a:t>
            </a:r>
            <a:endParaRPr lang="en-US" dirty="0" smtClean="0"/>
          </a:p>
          <a:p>
            <a:pPr lvl="1"/>
            <a:r>
              <a:rPr lang="en-IN" dirty="0"/>
              <a:t>Parent p = new Child</a:t>
            </a:r>
            <a:r>
              <a:rPr lang="en-IN" dirty="0" smtClean="0"/>
              <a:t>();   // </a:t>
            </a:r>
            <a:r>
              <a:rPr lang="en-IN" dirty="0" err="1" smtClean="0"/>
              <a:t>upcasting</a:t>
            </a:r>
            <a:endParaRPr lang="en-IN" dirty="0" smtClean="0"/>
          </a:p>
          <a:p>
            <a:pPr lvl="1"/>
            <a:r>
              <a:rPr lang="en-IN" dirty="0"/>
              <a:t>Child c = (Child)p</a:t>
            </a:r>
            <a:r>
              <a:rPr lang="en-IN" dirty="0" smtClean="0"/>
              <a:t>;     // </a:t>
            </a:r>
            <a:r>
              <a:rPr lang="en-IN" dirty="0" err="1" smtClean="0"/>
              <a:t>downcasting</a:t>
            </a: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509" y="208107"/>
            <a:ext cx="10515600" cy="521566"/>
          </a:xfrm>
        </p:spPr>
        <p:txBody>
          <a:bodyPr>
            <a:normAutofit fontScale="90000"/>
          </a:bodyPr>
          <a:lstStyle/>
          <a:p>
            <a:r>
              <a:rPr lang="en-IN" b="1" dirty="0" err="1"/>
              <a:t>Downcasting</a:t>
            </a:r>
            <a:endParaRPr lang="en-IN" dirty="0"/>
          </a:p>
        </p:txBody>
      </p:sp>
      <p:sp>
        <p:nvSpPr>
          <p:cNvPr id="3" name="Content Placeholder 2"/>
          <p:cNvSpPr>
            <a:spLocks noGrp="1"/>
          </p:cNvSpPr>
          <p:nvPr>
            <p:ph idx="1"/>
          </p:nvPr>
        </p:nvSpPr>
        <p:spPr>
          <a:xfrm>
            <a:off x="598055" y="831273"/>
            <a:ext cx="10515600" cy="5846618"/>
          </a:xfrm>
        </p:spPr>
        <p:txBody>
          <a:bodyPr>
            <a:normAutofit fontScale="70000" lnSpcReduction="20000"/>
          </a:bodyPr>
          <a:lstStyle/>
          <a:p>
            <a:pPr marL="0" indent="0">
              <a:spcBef>
                <a:spcPts val="200"/>
              </a:spcBef>
              <a:buNone/>
            </a:pPr>
            <a:r>
              <a:rPr lang="en-IN" dirty="0"/>
              <a:t>class Animal {</a:t>
            </a:r>
            <a:endParaRPr lang="en-IN" dirty="0"/>
          </a:p>
          <a:p>
            <a:pPr marL="0" indent="0">
              <a:spcBef>
                <a:spcPts val="200"/>
              </a:spcBef>
              <a:buNone/>
            </a:pPr>
            <a:r>
              <a:rPr lang="en-IN" dirty="0"/>
              <a:t>    void </a:t>
            </a:r>
            <a:r>
              <a:rPr lang="en-IN" dirty="0" smtClean="0"/>
              <a:t>eat() </a:t>
            </a:r>
            <a:r>
              <a:rPr lang="en-IN" dirty="0"/>
              <a:t>{</a:t>
            </a:r>
            <a:endParaRPr lang="en-IN" dirty="0"/>
          </a:p>
          <a:p>
            <a:pPr marL="0" indent="0">
              <a:spcBef>
                <a:spcPts val="200"/>
              </a:spcBef>
              <a:buNone/>
            </a:pPr>
            <a:r>
              <a:rPr lang="en-IN" dirty="0"/>
              <a:t>        </a:t>
            </a:r>
            <a:r>
              <a:rPr lang="en-IN" dirty="0" err="1"/>
              <a:t>System.out.println</a:t>
            </a:r>
            <a:r>
              <a:rPr lang="en-IN" dirty="0"/>
              <a:t>("Animal </a:t>
            </a:r>
            <a:r>
              <a:rPr lang="en-IN" dirty="0" smtClean="0"/>
              <a:t>is eating");</a:t>
            </a:r>
            <a:endParaRPr lang="en-IN" dirty="0"/>
          </a:p>
          <a:p>
            <a:pPr marL="0" indent="0">
              <a:spcBef>
                <a:spcPts val="200"/>
              </a:spcBef>
              <a:buNone/>
            </a:pPr>
            <a:r>
              <a:rPr lang="en-IN" dirty="0"/>
              <a:t>    </a:t>
            </a:r>
            <a:r>
              <a:rPr lang="en-IN" dirty="0" smtClean="0"/>
              <a:t>}</a:t>
            </a:r>
            <a:endParaRPr lang="en-IN" dirty="0"/>
          </a:p>
          <a:p>
            <a:pPr marL="0" indent="0">
              <a:spcBef>
                <a:spcPts val="200"/>
              </a:spcBef>
              <a:buNone/>
            </a:pPr>
            <a:r>
              <a:rPr lang="en-IN" dirty="0"/>
              <a:t>}</a:t>
            </a:r>
            <a:endParaRPr lang="en-IN" dirty="0"/>
          </a:p>
          <a:p>
            <a:pPr marL="0" indent="0">
              <a:spcBef>
                <a:spcPts val="200"/>
              </a:spcBef>
              <a:buNone/>
            </a:pPr>
            <a:endParaRPr lang="en-IN" dirty="0"/>
          </a:p>
          <a:p>
            <a:pPr marL="0" indent="0">
              <a:spcBef>
                <a:spcPts val="200"/>
              </a:spcBef>
              <a:buNone/>
            </a:pPr>
            <a:r>
              <a:rPr lang="en-IN" dirty="0"/>
              <a:t>class Dog extends Animal {</a:t>
            </a:r>
            <a:endParaRPr lang="en-IN" dirty="0"/>
          </a:p>
          <a:p>
            <a:pPr marL="0" indent="0">
              <a:spcBef>
                <a:spcPts val="200"/>
              </a:spcBef>
              <a:buNone/>
            </a:pPr>
            <a:r>
              <a:rPr lang="en-IN" dirty="0"/>
              <a:t>    void </a:t>
            </a:r>
            <a:r>
              <a:rPr lang="en-IN" dirty="0" smtClean="0"/>
              <a:t>eat() </a:t>
            </a:r>
            <a:r>
              <a:rPr lang="en-IN" dirty="0"/>
              <a:t>{</a:t>
            </a:r>
            <a:endParaRPr lang="en-IN" dirty="0"/>
          </a:p>
          <a:p>
            <a:pPr marL="0" indent="0">
              <a:spcBef>
                <a:spcPts val="200"/>
              </a:spcBef>
              <a:buNone/>
            </a:pPr>
            <a:r>
              <a:rPr lang="en-IN" dirty="0"/>
              <a:t>        </a:t>
            </a:r>
            <a:r>
              <a:rPr lang="en-IN" dirty="0" err="1"/>
              <a:t>System.out.println</a:t>
            </a:r>
            <a:r>
              <a:rPr lang="en-IN" dirty="0"/>
              <a:t>("Dog </a:t>
            </a:r>
            <a:r>
              <a:rPr lang="en-IN" dirty="0" smtClean="0"/>
              <a:t>is eating");</a:t>
            </a:r>
            <a:endParaRPr lang="en-IN" dirty="0"/>
          </a:p>
          <a:p>
            <a:pPr marL="0" indent="0">
              <a:spcBef>
                <a:spcPts val="200"/>
              </a:spcBef>
              <a:buNone/>
            </a:pPr>
            <a:r>
              <a:rPr lang="en-IN" dirty="0"/>
              <a:t>    </a:t>
            </a:r>
            <a:r>
              <a:rPr lang="en-IN" dirty="0" smtClean="0"/>
              <a:t>}</a:t>
            </a:r>
            <a:endParaRPr lang="en-IN" dirty="0" smtClean="0"/>
          </a:p>
          <a:p>
            <a:pPr marL="0" indent="0">
              <a:spcBef>
                <a:spcPts val="200"/>
              </a:spcBef>
              <a:buNone/>
            </a:pPr>
            <a:r>
              <a:rPr lang="en-IN" dirty="0"/>
              <a:t> </a:t>
            </a:r>
            <a:r>
              <a:rPr lang="en-IN" dirty="0" smtClean="0"/>
              <a:t>void bark(){</a:t>
            </a:r>
            <a:endParaRPr lang="en-IN" dirty="0" smtClean="0"/>
          </a:p>
          <a:p>
            <a:pPr marL="0" indent="0">
              <a:spcBef>
                <a:spcPts val="200"/>
              </a:spcBef>
              <a:buNone/>
            </a:pPr>
            <a:r>
              <a:rPr lang="en-IN" dirty="0" err="1"/>
              <a:t>System.out.println</a:t>
            </a:r>
            <a:r>
              <a:rPr lang="en-IN" dirty="0"/>
              <a:t>("Dog </a:t>
            </a:r>
            <a:r>
              <a:rPr lang="en-IN" dirty="0" smtClean="0"/>
              <a:t>barks");</a:t>
            </a:r>
            <a:endParaRPr lang="en-IN" dirty="0"/>
          </a:p>
          <a:p>
            <a:pPr marL="0" indent="0">
              <a:spcBef>
                <a:spcPts val="200"/>
              </a:spcBef>
              <a:buNone/>
            </a:pPr>
            <a:r>
              <a:rPr lang="en-IN" dirty="0" smtClean="0"/>
              <a:t>}</a:t>
            </a:r>
            <a:endParaRPr lang="en-IN" dirty="0"/>
          </a:p>
          <a:p>
            <a:pPr marL="0" indent="0">
              <a:spcBef>
                <a:spcPts val="200"/>
              </a:spcBef>
              <a:buNone/>
            </a:pPr>
            <a:r>
              <a:rPr lang="en-IN" dirty="0"/>
              <a:t>}</a:t>
            </a:r>
            <a:endParaRPr lang="en-IN" dirty="0"/>
          </a:p>
          <a:p>
            <a:pPr marL="0" indent="0">
              <a:spcBef>
                <a:spcPts val="200"/>
              </a:spcBef>
              <a:buNone/>
            </a:pPr>
            <a:endParaRPr lang="en-IN" dirty="0"/>
          </a:p>
          <a:p>
            <a:pPr marL="0" indent="0">
              <a:spcBef>
                <a:spcPts val="200"/>
              </a:spcBef>
              <a:buNone/>
            </a:pPr>
            <a:r>
              <a:rPr lang="en-IN" dirty="0"/>
              <a:t>public class Test {</a:t>
            </a:r>
            <a:endParaRPr lang="en-IN" dirty="0"/>
          </a:p>
          <a:p>
            <a:pPr marL="0" indent="0">
              <a:spcBef>
                <a:spcPts val="200"/>
              </a:spcBef>
              <a:buNone/>
            </a:pPr>
            <a:r>
              <a:rPr lang="en-IN" dirty="0"/>
              <a:t>    public static void main(String[] </a:t>
            </a:r>
            <a:r>
              <a:rPr lang="en-IN" dirty="0" err="1"/>
              <a:t>args</a:t>
            </a:r>
            <a:r>
              <a:rPr lang="en-IN" dirty="0"/>
              <a:t>) {</a:t>
            </a:r>
            <a:endParaRPr lang="en-IN" dirty="0"/>
          </a:p>
          <a:p>
            <a:pPr marL="0" indent="0">
              <a:spcBef>
                <a:spcPts val="200"/>
              </a:spcBef>
              <a:buNone/>
            </a:pPr>
            <a:r>
              <a:rPr lang="en-IN" dirty="0"/>
              <a:t>        Animal </a:t>
            </a:r>
            <a:r>
              <a:rPr lang="en-IN" dirty="0" err="1"/>
              <a:t>animal</a:t>
            </a:r>
            <a:r>
              <a:rPr lang="en-IN" dirty="0"/>
              <a:t> = new Dog();  </a:t>
            </a:r>
            <a:r>
              <a:rPr lang="en-IN" dirty="0" smtClean="0"/>
              <a:t>		// </a:t>
            </a:r>
            <a:r>
              <a:rPr lang="en-IN" dirty="0" err="1" smtClean="0"/>
              <a:t>Upcasting</a:t>
            </a:r>
            <a:endParaRPr lang="en-IN" dirty="0" smtClean="0"/>
          </a:p>
          <a:p>
            <a:pPr marL="0" indent="0">
              <a:spcBef>
                <a:spcPts val="200"/>
              </a:spcBef>
              <a:buNone/>
            </a:pPr>
            <a:r>
              <a:rPr lang="en-IN" dirty="0"/>
              <a:t> </a:t>
            </a:r>
            <a:r>
              <a:rPr lang="en-IN" dirty="0" smtClean="0"/>
              <a:t>       </a:t>
            </a:r>
            <a:r>
              <a:rPr lang="en-IN" dirty="0" err="1" smtClean="0"/>
              <a:t>animal.eat</a:t>
            </a:r>
            <a:r>
              <a:rPr lang="en-IN" dirty="0" smtClean="0"/>
              <a:t>();                        		//prints “Dog is eating’</a:t>
            </a:r>
            <a:endParaRPr lang="en-IN" dirty="0" smtClean="0"/>
          </a:p>
          <a:p>
            <a:pPr marL="0" indent="0">
              <a:spcBef>
                <a:spcPts val="200"/>
              </a:spcBef>
              <a:buNone/>
            </a:pPr>
            <a:r>
              <a:rPr lang="en-IN" dirty="0"/>
              <a:t> </a:t>
            </a:r>
            <a:r>
              <a:rPr lang="en-IN" dirty="0" smtClean="0"/>
              <a:t>   // </a:t>
            </a:r>
            <a:r>
              <a:rPr lang="en-IN" dirty="0" err="1" smtClean="0"/>
              <a:t>animal.bark</a:t>
            </a:r>
            <a:r>
              <a:rPr lang="en-IN" dirty="0" smtClean="0"/>
              <a:t>();                      		//Error</a:t>
            </a:r>
            <a:endParaRPr lang="en-IN" dirty="0"/>
          </a:p>
          <a:p>
            <a:pPr marL="0" indent="0">
              <a:spcBef>
                <a:spcPts val="200"/>
              </a:spcBef>
              <a:buNone/>
            </a:pPr>
            <a:r>
              <a:rPr lang="en-IN" dirty="0"/>
              <a:t>        Dog </a:t>
            </a:r>
            <a:r>
              <a:rPr lang="en-IN" dirty="0" err="1"/>
              <a:t>dog</a:t>
            </a:r>
            <a:r>
              <a:rPr lang="en-IN" dirty="0"/>
              <a:t> = (Dog) animal;     </a:t>
            </a:r>
            <a:r>
              <a:rPr lang="en-IN" dirty="0" smtClean="0"/>
              <a:t>		// </a:t>
            </a:r>
            <a:r>
              <a:rPr lang="en-IN" dirty="0" err="1"/>
              <a:t>Downcasting</a:t>
            </a:r>
            <a:endParaRPr lang="en-IN" dirty="0"/>
          </a:p>
          <a:p>
            <a:pPr marL="0" indent="0">
              <a:spcBef>
                <a:spcPts val="200"/>
              </a:spcBef>
              <a:buNone/>
            </a:pPr>
            <a:r>
              <a:rPr lang="en-IN" dirty="0"/>
              <a:t>        </a:t>
            </a:r>
            <a:r>
              <a:rPr lang="en-IN" dirty="0" err="1"/>
              <a:t>dog.bark</a:t>
            </a:r>
            <a:r>
              <a:rPr lang="en-IN" dirty="0"/>
              <a:t>();                 </a:t>
            </a:r>
            <a:r>
              <a:rPr lang="en-IN" dirty="0" smtClean="0"/>
              <a:t>			// </a:t>
            </a:r>
            <a:r>
              <a:rPr lang="en-IN" dirty="0"/>
              <a:t>Calls Dog's bark() method</a:t>
            </a:r>
            <a:endParaRPr lang="en-IN" dirty="0"/>
          </a:p>
          <a:p>
            <a:pPr marL="0" indent="0">
              <a:spcBef>
                <a:spcPts val="200"/>
              </a:spcBef>
              <a:buNone/>
            </a:pPr>
            <a:r>
              <a:rPr lang="en-IN" dirty="0"/>
              <a:t>    }</a:t>
            </a:r>
            <a:endParaRPr lang="en-IN" dirty="0"/>
          </a:p>
          <a:p>
            <a:pPr marL="0" indent="0">
              <a:spcBef>
                <a:spcPts val="200"/>
              </a:spcBef>
              <a:buNone/>
            </a:pPr>
            <a:r>
              <a:rPr lang="en-IN" dirty="0"/>
              <a:t>}</a:t>
            </a:r>
            <a:endParaRPr lang="en-IN" dirty="0"/>
          </a:p>
          <a:p>
            <a:pPr marL="0" indent="0">
              <a:spcBef>
                <a:spcPts val="200"/>
              </a:spcBef>
              <a:buNone/>
            </a:pPr>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7146" y="126133"/>
            <a:ext cx="11520054" cy="6514350"/>
          </a:xfrm>
        </p:spPr>
        <p:txBody>
          <a:bodyPr numCol="2">
            <a:noAutofit/>
          </a:bodyPr>
          <a:lstStyle/>
          <a:p>
            <a:pPr marL="0" indent="0">
              <a:spcBef>
                <a:spcPts val="100"/>
              </a:spcBef>
              <a:buNone/>
            </a:pPr>
            <a:r>
              <a:rPr lang="en-IN" sz="1200" dirty="0" smtClean="0">
                <a:latin typeface="HYQiHei" panose="00020600040101010101" charset="-122"/>
                <a:ea typeface="HYQiHei" panose="00020600040101010101" charset="-122"/>
              </a:rPr>
              <a:t>//</a:t>
            </a:r>
            <a:r>
              <a:rPr lang="en-IN" sz="1200" b="1" dirty="0" smtClean="0">
                <a:latin typeface="HYQiHei" panose="00020600040101010101" charset="-122"/>
                <a:ea typeface="HYQiHei" panose="00020600040101010101" charset="-122"/>
              </a:rPr>
              <a:t>Program:</a:t>
            </a:r>
            <a:r>
              <a:rPr lang="en-IN" sz="1200" dirty="0" smtClean="0">
                <a:latin typeface="HYQiHei" panose="00020600040101010101" charset="-122"/>
                <a:ea typeface="HYQiHei" panose="00020600040101010101" charset="-122"/>
              </a:rPr>
              <a:t> </a:t>
            </a:r>
            <a:r>
              <a:rPr lang="en-IN" sz="1200" b="1" dirty="0" smtClean="0">
                <a:latin typeface="HYQiHei" panose="00020600040101010101" charset="-122"/>
                <a:ea typeface="HYQiHei" panose="00020600040101010101" charset="-122"/>
              </a:rPr>
              <a:t>Run time polymorphism</a:t>
            </a:r>
            <a:endParaRPr lang="en-IN" sz="1200" b="1" dirty="0" smtClean="0">
              <a:latin typeface="HYQiHei" panose="00020600040101010101" charset="-122"/>
              <a:ea typeface="HYQiHei" panose="00020600040101010101" charset="-122"/>
            </a:endParaRPr>
          </a:p>
          <a:p>
            <a:pPr marL="0" indent="0">
              <a:spcBef>
                <a:spcPts val="100"/>
              </a:spcBef>
              <a:buNone/>
            </a:pPr>
            <a:r>
              <a:rPr lang="en-IN" sz="1200" dirty="0">
                <a:latin typeface="HYQiHei" panose="00020600040101010101" charset="-122"/>
                <a:ea typeface="HYQiHei" panose="00020600040101010101" charset="-122"/>
              </a:rPr>
              <a:t>class Phone</a:t>
            </a:r>
            <a:r>
              <a:rPr lang="en-IN" sz="1200" dirty="0" smtClean="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void alarm(){</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r>
              <a:rPr lang="en-IN" sz="1200" dirty="0" err="1">
                <a:latin typeface="HYQiHei" panose="00020600040101010101" charset="-122"/>
                <a:ea typeface="HYQiHei" panose="00020600040101010101" charset="-122"/>
              </a:rPr>
              <a:t>System.out.println</a:t>
            </a:r>
            <a:r>
              <a:rPr lang="en-IN" sz="1200" dirty="0">
                <a:latin typeface="HYQiHei" panose="00020600040101010101" charset="-122"/>
                <a:ea typeface="HYQiHei" panose="00020600040101010101" charset="-122"/>
              </a:rPr>
              <a:t>("Alarm at 6 AM");</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void call(){</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r>
              <a:rPr lang="en-IN" sz="1200" dirty="0" err="1">
                <a:latin typeface="HYQiHei" panose="00020600040101010101" charset="-122"/>
                <a:ea typeface="HYQiHei" panose="00020600040101010101" charset="-122"/>
              </a:rPr>
              <a:t>System.out.println</a:t>
            </a:r>
            <a:r>
              <a:rPr lang="en-IN" sz="1200" dirty="0">
                <a:latin typeface="HYQiHei" panose="00020600040101010101" charset="-122"/>
                <a:ea typeface="HYQiHei" panose="00020600040101010101" charset="-122"/>
              </a:rPr>
              <a:t>("calling via phone");</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br>
              <a:rPr lang="en-IN" sz="1200" dirty="0">
                <a:latin typeface="HYQiHei" panose="00020600040101010101" charset="-122"/>
                <a:ea typeface="HYQiHei" panose="00020600040101010101" charset="-122"/>
              </a:rPr>
            </a:br>
            <a:r>
              <a:rPr lang="en-IN" sz="1200" dirty="0" smtClean="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class Smartphone extends Phone</a:t>
            </a:r>
            <a:r>
              <a:rPr lang="en-IN" sz="1200" dirty="0" smtClean="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void </a:t>
            </a:r>
            <a:r>
              <a:rPr lang="en-IN" sz="1200" dirty="0" err="1">
                <a:latin typeface="HYQiHei" panose="00020600040101010101" charset="-122"/>
                <a:ea typeface="HYQiHei" panose="00020600040101010101" charset="-122"/>
              </a:rPr>
              <a:t>clickPhoto</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r>
              <a:rPr lang="en-IN" sz="1200" dirty="0" err="1">
                <a:latin typeface="HYQiHei" panose="00020600040101010101" charset="-122"/>
                <a:ea typeface="HYQiHei" panose="00020600040101010101" charset="-122"/>
              </a:rPr>
              <a:t>System.out.println</a:t>
            </a:r>
            <a:r>
              <a:rPr lang="en-IN" sz="1200" dirty="0">
                <a:latin typeface="HYQiHei" panose="00020600040101010101" charset="-122"/>
                <a:ea typeface="HYQiHei" panose="00020600040101010101" charset="-122"/>
              </a:rPr>
              <a:t>("click picture");</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r>
              <a:rPr lang="en-IN" sz="1200" dirty="0" smtClean="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void call(){</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r>
              <a:rPr lang="en-IN" sz="1200" dirty="0" err="1">
                <a:latin typeface="HYQiHei" panose="00020600040101010101" charset="-122"/>
                <a:ea typeface="HYQiHei" panose="00020600040101010101" charset="-122"/>
              </a:rPr>
              <a:t>System.out.println</a:t>
            </a:r>
            <a:r>
              <a:rPr lang="en-IN" sz="1200" dirty="0">
                <a:latin typeface="HYQiHei" panose="00020600040101010101" charset="-122"/>
                <a:ea typeface="HYQiHei" panose="00020600040101010101" charset="-122"/>
              </a:rPr>
              <a:t>("calling via smartphone");</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r>
              <a:rPr lang="en-IN" sz="1200" dirty="0" smtClean="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class User{</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Phone </a:t>
            </a:r>
            <a:r>
              <a:rPr lang="en-IN" sz="1200" dirty="0" err="1">
                <a:latin typeface="HYQiHei" panose="00020600040101010101" charset="-122"/>
                <a:ea typeface="HYQiHei" panose="00020600040101010101" charset="-122"/>
              </a:rPr>
              <a:t>ph</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public User(Phone </a:t>
            </a:r>
            <a:r>
              <a:rPr lang="en-IN" sz="1200" dirty="0" err="1">
                <a:latin typeface="HYQiHei" panose="00020600040101010101" charset="-122"/>
                <a:ea typeface="HYQiHei" panose="00020600040101010101" charset="-122"/>
              </a:rPr>
              <a:t>ph</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this.ph=</a:t>
            </a:r>
            <a:r>
              <a:rPr lang="en-IN" sz="1200" dirty="0" err="1">
                <a:latin typeface="HYQiHei" panose="00020600040101010101" charset="-122"/>
                <a:ea typeface="HYQiHei" panose="00020600040101010101" charset="-122"/>
              </a:rPr>
              <a:t>ph</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void </a:t>
            </a:r>
            <a:r>
              <a:rPr lang="en-IN" sz="1200" dirty="0" err="1">
                <a:latin typeface="HYQiHei" panose="00020600040101010101" charset="-122"/>
                <a:ea typeface="HYQiHei" panose="00020600040101010101" charset="-122"/>
              </a:rPr>
              <a:t>user_call</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err="1">
                <a:latin typeface="HYQiHei" panose="00020600040101010101" charset="-122"/>
                <a:ea typeface="HYQiHei" panose="00020600040101010101" charset="-122"/>
              </a:rPr>
              <a:t>ph.call</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void </a:t>
            </a:r>
            <a:r>
              <a:rPr lang="en-IN" sz="1200" dirty="0" err="1">
                <a:latin typeface="HYQiHei" panose="00020600040101010101" charset="-122"/>
                <a:ea typeface="HYQiHei" panose="00020600040101010101" charset="-122"/>
              </a:rPr>
              <a:t>user_alarm</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err="1">
                <a:latin typeface="HYQiHei" panose="00020600040101010101" charset="-122"/>
                <a:ea typeface="HYQiHei" panose="00020600040101010101" charset="-122"/>
              </a:rPr>
              <a:t>ph.alarm</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class Test{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public static void main(String </a:t>
            </a:r>
            <a:r>
              <a:rPr lang="en-IN" sz="1200" dirty="0" err="1">
                <a:latin typeface="HYQiHei" panose="00020600040101010101" charset="-122"/>
                <a:ea typeface="HYQiHei" panose="00020600040101010101" charset="-122"/>
              </a:rPr>
              <a:t>args</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Phone </a:t>
            </a:r>
            <a:r>
              <a:rPr lang="en-IN" sz="1200" dirty="0" err="1">
                <a:latin typeface="HYQiHei" panose="00020600040101010101" charset="-122"/>
                <a:ea typeface="HYQiHei" panose="00020600040101010101" charset="-122"/>
              </a:rPr>
              <a:t>ph</a:t>
            </a:r>
            <a:r>
              <a:rPr lang="en-IN" sz="1200" dirty="0">
                <a:latin typeface="HYQiHei" panose="00020600040101010101" charset="-122"/>
                <a:ea typeface="HYQiHei" panose="00020600040101010101" charset="-122"/>
              </a:rPr>
              <a:t>=new Phone();</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User </a:t>
            </a:r>
            <a:r>
              <a:rPr lang="en-IN" sz="1200" dirty="0" err="1">
                <a:latin typeface="HYQiHei" panose="00020600040101010101" charset="-122"/>
                <a:ea typeface="HYQiHei" panose="00020600040101010101" charset="-122"/>
              </a:rPr>
              <a:t>ramesh</a:t>
            </a:r>
            <a:r>
              <a:rPr lang="en-IN" sz="1200" dirty="0">
                <a:latin typeface="HYQiHei" panose="00020600040101010101" charset="-122"/>
                <a:ea typeface="HYQiHei" panose="00020600040101010101" charset="-122"/>
              </a:rPr>
              <a:t>=new User(</a:t>
            </a:r>
            <a:r>
              <a:rPr lang="en-IN" sz="1200" dirty="0" err="1">
                <a:latin typeface="HYQiHei" panose="00020600040101010101" charset="-122"/>
                <a:ea typeface="HYQiHei" panose="00020600040101010101" charset="-122"/>
              </a:rPr>
              <a:t>ph</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r>
              <a:rPr lang="en-IN" sz="1200" dirty="0" err="1">
                <a:latin typeface="HYQiHei" panose="00020600040101010101" charset="-122"/>
                <a:ea typeface="HYQiHei" panose="00020600040101010101" charset="-122"/>
              </a:rPr>
              <a:t>ramesh.user_call</a:t>
            </a:r>
            <a:r>
              <a:rPr lang="en-IN" sz="1200" dirty="0" smtClean="0">
                <a:latin typeface="HYQiHei" panose="00020600040101010101" charset="-122"/>
                <a:ea typeface="HYQiHei" panose="00020600040101010101" charset="-122"/>
              </a:rPr>
              <a:t>();  </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r>
              <a:rPr lang="en-IN" sz="1200" dirty="0" err="1">
                <a:latin typeface="HYQiHei" panose="00020600040101010101" charset="-122"/>
                <a:ea typeface="HYQiHei" panose="00020600040101010101" charset="-122"/>
              </a:rPr>
              <a:t>ramesh.user_alarm</a:t>
            </a: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  </a:t>
            </a: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a:t>
            </a:r>
            <a:br>
              <a:rPr lang="en-IN" sz="1200" dirty="0">
                <a:latin typeface="HYQiHei" panose="00020600040101010101" charset="-122"/>
                <a:ea typeface="HYQiHei" panose="00020600040101010101" charset="-122"/>
              </a:rPr>
            </a:br>
            <a:br>
              <a:rPr lang="en-IN" sz="1200" dirty="0">
                <a:latin typeface="HYQiHei" panose="00020600040101010101" charset="-122"/>
                <a:ea typeface="HYQiHei" panose="00020600040101010101" charset="-122"/>
              </a:rPr>
            </a:br>
            <a:r>
              <a:rPr lang="en-IN" sz="1200" dirty="0">
                <a:latin typeface="HYQiHei" panose="00020600040101010101" charset="-122"/>
                <a:ea typeface="HYQiHei" panose="00020600040101010101" charset="-122"/>
              </a:rPr>
              <a:t>}</a:t>
            </a:r>
            <a:endParaRPr lang="en-IN" sz="1200" dirty="0">
              <a:latin typeface="HYQiHei" panose="00020600040101010101" charset="-122"/>
              <a:ea typeface="HYQiHei" panose="0002060004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4766"/>
          </a:xfrm>
        </p:spPr>
        <p:txBody>
          <a:bodyPr/>
          <a:lstStyle/>
          <a:p>
            <a:r>
              <a:rPr lang="en-US" b="1" dirty="0"/>
              <a:t>Runtime Polymorphism with Data Members</a:t>
            </a:r>
            <a:endParaRPr lang="en-IN" dirty="0"/>
          </a:p>
        </p:txBody>
      </p:sp>
      <p:sp>
        <p:nvSpPr>
          <p:cNvPr id="3" name="Content Placeholder 2"/>
          <p:cNvSpPr>
            <a:spLocks noGrp="1"/>
          </p:cNvSpPr>
          <p:nvPr>
            <p:ph idx="1"/>
          </p:nvPr>
        </p:nvSpPr>
        <p:spPr>
          <a:xfrm>
            <a:off x="699654" y="1169842"/>
            <a:ext cx="10515600" cy="5688157"/>
          </a:xfrm>
        </p:spPr>
        <p:txBody>
          <a:bodyPr>
            <a:noAutofit/>
          </a:bodyPr>
          <a:lstStyle/>
          <a:p>
            <a:pPr marL="0" indent="0">
              <a:spcBef>
                <a:spcPts val="200"/>
              </a:spcBef>
              <a:buNone/>
            </a:pPr>
            <a:r>
              <a:rPr lang="en-US" sz="2400" dirty="0"/>
              <a:t>In Java, we can override methods only, not the variables(data members), so </a:t>
            </a:r>
            <a:r>
              <a:rPr lang="en-US" sz="2400" b="1" dirty="0"/>
              <a:t>runtime polymorphism cannot be achieved by data members</a:t>
            </a:r>
            <a:r>
              <a:rPr lang="en-US" sz="2400" b="1" dirty="0" smtClean="0"/>
              <a:t>.</a:t>
            </a:r>
            <a:endParaRPr lang="en-US" sz="2400" b="1" dirty="0" smtClean="0"/>
          </a:p>
          <a:p>
            <a:pPr marL="0" indent="0">
              <a:spcBef>
                <a:spcPts val="200"/>
              </a:spcBef>
              <a:buNone/>
            </a:pPr>
            <a:endParaRPr lang="en-US" sz="2400" dirty="0"/>
          </a:p>
          <a:p>
            <a:pPr marL="0" indent="0">
              <a:spcBef>
                <a:spcPts val="200"/>
              </a:spcBef>
              <a:buNone/>
            </a:pPr>
            <a:r>
              <a:rPr lang="en-US" sz="2400" dirty="0" smtClean="0"/>
              <a:t>class A{</a:t>
            </a:r>
            <a:endParaRPr lang="en-US" sz="2400" dirty="0"/>
          </a:p>
          <a:p>
            <a:pPr marL="0" indent="0">
              <a:spcBef>
                <a:spcPts val="200"/>
              </a:spcBef>
              <a:buNone/>
            </a:pPr>
            <a:r>
              <a:rPr lang="en-US" sz="2400" dirty="0"/>
              <a:t>    </a:t>
            </a:r>
            <a:r>
              <a:rPr lang="en-US" sz="2400" dirty="0" err="1"/>
              <a:t>int</a:t>
            </a:r>
            <a:r>
              <a:rPr lang="en-US" sz="2400" dirty="0"/>
              <a:t> x = 10;</a:t>
            </a:r>
            <a:endParaRPr lang="en-US" sz="2400" dirty="0"/>
          </a:p>
          <a:p>
            <a:pPr marL="0" indent="0">
              <a:spcBef>
                <a:spcPts val="200"/>
              </a:spcBef>
              <a:buNone/>
            </a:pPr>
            <a:r>
              <a:rPr lang="en-US" sz="2400" dirty="0"/>
              <a:t>}</a:t>
            </a:r>
            <a:endParaRPr lang="en-US" sz="2400" dirty="0"/>
          </a:p>
          <a:p>
            <a:pPr marL="0" indent="0">
              <a:spcBef>
                <a:spcPts val="200"/>
              </a:spcBef>
              <a:buNone/>
            </a:pPr>
            <a:r>
              <a:rPr lang="en-US" sz="2400" dirty="0" smtClean="0"/>
              <a:t>class </a:t>
            </a:r>
            <a:r>
              <a:rPr lang="en-US" sz="2400" dirty="0"/>
              <a:t>B extends </a:t>
            </a:r>
            <a:r>
              <a:rPr lang="en-US" sz="2400" dirty="0" smtClean="0"/>
              <a:t>A{</a:t>
            </a:r>
            <a:endParaRPr lang="en-US" sz="2400" dirty="0"/>
          </a:p>
          <a:p>
            <a:pPr marL="0" indent="0">
              <a:spcBef>
                <a:spcPts val="200"/>
              </a:spcBef>
              <a:buNone/>
            </a:pPr>
            <a:r>
              <a:rPr lang="en-US" sz="2400" dirty="0"/>
              <a:t>    </a:t>
            </a:r>
            <a:r>
              <a:rPr lang="en-US" sz="2400" dirty="0" err="1" smtClean="0"/>
              <a:t>int</a:t>
            </a:r>
            <a:r>
              <a:rPr lang="en-US" sz="2400" dirty="0" smtClean="0"/>
              <a:t> x = 20;</a:t>
            </a:r>
            <a:endParaRPr lang="en-US" sz="2400" dirty="0"/>
          </a:p>
          <a:p>
            <a:pPr marL="0" indent="0">
              <a:spcBef>
                <a:spcPts val="200"/>
              </a:spcBef>
              <a:buNone/>
            </a:pPr>
            <a:r>
              <a:rPr lang="en-US" sz="2400" dirty="0" smtClean="0"/>
              <a:t>}</a:t>
            </a:r>
            <a:endParaRPr lang="en-US" sz="2400" dirty="0"/>
          </a:p>
          <a:p>
            <a:pPr marL="0" indent="0">
              <a:spcBef>
                <a:spcPts val="200"/>
              </a:spcBef>
              <a:buNone/>
            </a:pPr>
            <a:r>
              <a:rPr lang="en-US" sz="2400" dirty="0" smtClean="0"/>
              <a:t>public </a:t>
            </a:r>
            <a:r>
              <a:rPr lang="en-US" sz="2400" dirty="0"/>
              <a:t>class </a:t>
            </a:r>
            <a:r>
              <a:rPr lang="en-US" sz="2400" dirty="0" smtClean="0"/>
              <a:t>Test{</a:t>
            </a:r>
            <a:endParaRPr lang="en-US" sz="2400" dirty="0"/>
          </a:p>
          <a:p>
            <a:pPr marL="0" indent="0">
              <a:spcBef>
                <a:spcPts val="200"/>
              </a:spcBef>
              <a:buNone/>
            </a:pPr>
            <a:r>
              <a:rPr lang="en-US" sz="2400" dirty="0"/>
              <a:t>    public static void main(String </a:t>
            </a:r>
            <a:r>
              <a:rPr lang="en-US" sz="2400" dirty="0" err="1"/>
              <a:t>args</a:t>
            </a:r>
            <a:r>
              <a:rPr lang="en-US" sz="2400" dirty="0" smtClean="0"/>
              <a:t>[]){</a:t>
            </a:r>
            <a:endParaRPr lang="en-US" sz="2400" dirty="0"/>
          </a:p>
          <a:p>
            <a:pPr marL="0" indent="0">
              <a:spcBef>
                <a:spcPts val="200"/>
              </a:spcBef>
              <a:buNone/>
            </a:pPr>
            <a:r>
              <a:rPr lang="en-US" sz="2400" dirty="0"/>
              <a:t>        A </a:t>
            </a:r>
            <a:r>
              <a:rPr lang="en-US" sz="2400" dirty="0" err="1"/>
              <a:t>a</a:t>
            </a:r>
            <a:r>
              <a:rPr lang="en-US" sz="2400" dirty="0"/>
              <a:t> = new B(); // object of type </a:t>
            </a:r>
            <a:r>
              <a:rPr lang="en-US" sz="2400" dirty="0" smtClean="0"/>
              <a:t>B</a:t>
            </a:r>
            <a:endParaRPr lang="en-US" sz="2400" dirty="0" smtClean="0"/>
          </a:p>
          <a:p>
            <a:pPr marL="0" indent="0">
              <a:spcBef>
                <a:spcPts val="200"/>
              </a:spcBef>
              <a:buNone/>
            </a:pPr>
            <a:r>
              <a:rPr lang="en-US" sz="2400" dirty="0" err="1" smtClean="0"/>
              <a:t>System.out.println</a:t>
            </a:r>
            <a:r>
              <a:rPr lang="en-US" sz="2400" dirty="0" smtClean="0"/>
              <a:t>(</a:t>
            </a:r>
            <a:r>
              <a:rPr lang="en-US" sz="2400" dirty="0" err="1" smtClean="0"/>
              <a:t>a.x</a:t>
            </a:r>
            <a:r>
              <a:rPr lang="en-US" sz="2400" dirty="0" smtClean="0"/>
              <a:t>);                   //OP:10</a:t>
            </a:r>
            <a:endParaRPr lang="en-US" sz="2400" dirty="0"/>
          </a:p>
          <a:p>
            <a:pPr marL="0" indent="0">
              <a:spcBef>
                <a:spcPts val="200"/>
              </a:spcBef>
              <a:buNone/>
            </a:pPr>
            <a:r>
              <a:rPr lang="en-US" sz="2400" dirty="0"/>
              <a:t>    }</a:t>
            </a:r>
            <a:endParaRPr lang="en-US" sz="2400" dirty="0"/>
          </a:p>
          <a:p>
            <a:pPr marL="0" indent="0">
              <a:spcBef>
                <a:spcPts val="200"/>
              </a:spcBef>
              <a:buNone/>
            </a:pPr>
            <a:r>
              <a:rPr lang="en-US" sz="2400" dirty="0" smtClean="0"/>
              <a:t>}</a:t>
            </a:r>
            <a:endParaRPr lang="en-US" sz="2400" dirty="0" smtClean="0"/>
          </a:p>
          <a:p>
            <a:pPr marL="0" indent="0">
              <a:spcBef>
                <a:spcPts val="200"/>
              </a:spcBef>
              <a:buNone/>
            </a:pPr>
            <a:endParaRPr lang="en-US" sz="2400" dirty="0"/>
          </a:p>
          <a:p>
            <a:pPr marL="0" indent="0">
              <a:spcBef>
                <a:spcPts val="200"/>
              </a:spcBef>
              <a:buNone/>
            </a:pPr>
            <a:endParaRPr lang="en-IN"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9746"/>
          </a:xfrm>
        </p:spPr>
        <p:txBody>
          <a:bodyPr/>
          <a:lstStyle/>
          <a:p>
            <a:r>
              <a:rPr lang="en-IN" dirty="0" smtClean="0"/>
              <a:t>Abstract class</a:t>
            </a:r>
            <a:endParaRPr lang="en-IN" dirty="0"/>
          </a:p>
        </p:txBody>
      </p:sp>
      <p:sp>
        <p:nvSpPr>
          <p:cNvPr id="3" name="Content Placeholder 2"/>
          <p:cNvSpPr>
            <a:spLocks noGrp="1"/>
          </p:cNvSpPr>
          <p:nvPr>
            <p:ph idx="1"/>
          </p:nvPr>
        </p:nvSpPr>
        <p:spPr>
          <a:xfrm>
            <a:off x="838200" y="1064872"/>
            <a:ext cx="10515600" cy="5521123"/>
          </a:xfrm>
        </p:spPr>
        <p:txBody>
          <a:bodyPr>
            <a:normAutofit/>
          </a:bodyPr>
          <a:lstStyle/>
          <a:p>
            <a:r>
              <a:rPr lang="en-US" dirty="0"/>
              <a:t>An </a:t>
            </a:r>
            <a:r>
              <a:rPr lang="en-US" b="1" dirty="0"/>
              <a:t>abstract class</a:t>
            </a:r>
            <a:r>
              <a:rPr lang="en-US" dirty="0"/>
              <a:t> in Java is a class that cannot be instantiated on its own and serves as a blueprint for other classes</a:t>
            </a:r>
            <a:r>
              <a:rPr lang="en-US" dirty="0" smtClean="0"/>
              <a:t>.</a:t>
            </a:r>
            <a:endParaRPr lang="en-US" dirty="0" smtClean="0"/>
          </a:p>
          <a:p>
            <a:r>
              <a:rPr lang="en-US" dirty="0"/>
              <a:t>It may contain abstract methods (methods without a body) as well as non-abstract methods (methods with a body). </a:t>
            </a:r>
            <a:endParaRPr lang="en-US" dirty="0" smtClean="0"/>
          </a:p>
          <a:p>
            <a:r>
              <a:rPr lang="en-US" dirty="0"/>
              <a:t>Abstract classes can have constructors, but these are called when a subclass is instantiated</a:t>
            </a:r>
            <a:r>
              <a:rPr lang="en-US" dirty="0" smtClean="0"/>
              <a:t>.</a:t>
            </a:r>
            <a:endParaRPr lang="en-US" dirty="0" smtClean="0"/>
          </a:p>
          <a:p>
            <a:r>
              <a:rPr lang="en-US" dirty="0" smtClean="0"/>
              <a:t>Illustration of Abstract class:</a:t>
            </a:r>
            <a:endParaRPr lang="en-US" dirty="0" smtClean="0"/>
          </a:p>
          <a:p>
            <a:pPr marL="457200" lvl="1" indent="0">
              <a:buNone/>
            </a:pPr>
            <a:r>
              <a:rPr lang="en-US" dirty="0"/>
              <a:t>abstract class Shape </a:t>
            </a:r>
            <a:endParaRPr lang="en-US" dirty="0"/>
          </a:p>
          <a:p>
            <a:pPr marL="457200" lvl="1" indent="0">
              <a:buNone/>
            </a:pPr>
            <a:r>
              <a:rPr lang="en-US" dirty="0"/>
              <a:t>{</a:t>
            </a:r>
            <a:endParaRPr lang="en-US" dirty="0"/>
          </a:p>
          <a:p>
            <a:pPr marL="457200" lvl="1" indent="0">
              <a:buNone/>
            </a:pPr>
            <a:r>
              <a:rPr lang="en-US" dirty="0"/>
              <a:t>    </a:t>
            </a:r>
            <a:r>
              <a:rPr lang="en-US" dirty="0" err="1"/>
              <a:t>int</a:t>
            </a:r>
            <a:r>
              <a:rPr lang="en-US" dirty="0"/>
              <a:t> color;</a:t>
            </a:r>
            <a:endParaRPr lang="en-US" dirty="0"/>
          </a:p>
          <a:p>
            <a:pPr marL="457200" lvl="1" indent="0">
              <a:buNone/>
            </a:pPr>
            <a:r>
              <a:rPr lang="en-US" dirty="0"/>
              <a:t>    // An abstract function</a:t>
            </a:r>
            <a:endParaRPr lang="en-US" dirty="0"/>
          </a:p>
          <a:p>
            <a:pPr marL="457200" lvl="1" indent="0">
              <a:buNone/>
            </a:pPr>
            <a:r>
              <a:rPr lang="en-US" dirty="0"/>
              <a:t>    abstract void draw();</a:t>
            </a:r>
            <a:endParaRPr lang="en-US" dirty="0"/>
          </a:p>
          <a:p>
            <a:pPr marL="457200" lvl="1" indent="0">
              <a:buNone/>
            </a:pPr>
            <a:r>
              <a:rPr lang="en-US" dirty="0"/>
              <a:t>}</a:t>
            </a:r>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2402"/>
          </a:xfrm>
        </p:spPr>
        <p:txBody>
          <a:bodyPr>
            <a:normAutofit fontScale="90000"/>
          </a:bodyPr>
          <a:lstStyle/>
          <a:p>
            <a:r>
              <a:rPr lang="en-IN" dirty="0"/>
              <a:t>I</a:t>
            </a:r>
            <a:r>
              <a:rPr lang="en-IN" dirty="0" smtClean="0"/>
              <a:t>mportant </a:t>
            </a:r>
            <a:r>
              <a:rPr lang="en-IN" dirty="0"/>
              <a:t>observations about abstract classes</a:t>
            </a:r>
            <a:endParaRPr lang="en-IN" dirty="0"/>
          </a:p>
        </p:txBody>
      </p:sp>
      <p:sp>
        <p:nvSpPr>
          <p:cNvPr id="3" name="Content Placeholder 2"/>
          <p:cNvSpPr>
            <a:spLocks noGrp="1"/>
          </p:cNvSpPr>
          <p:nvPr>
            <p:ph idx="1"/>
          </p:nvPr>
        </p:nvSpPr>
        <p:spPr>
          <a:xfrm>
            <a:off x="838199" y="1136074"/>
            <a:ext cx="10933253" cy="5426772"/>
          </a:xfrm>
        </p:spPr>
        <p:txBody>
          <a:bodyPr>
            <a:normAutofit fontScale="85000" lnSpcReduction="20000"/>
          </a:bodyPr>
          <a:lstStyle/>
          <a:p>
            <a:pPr fontAlgn="base"/>
            <a:r>
              <a:rPr lang="en-US" dirty="0"/>
              <a:t>An instance of an abstract class can not be created</a:t>
            </a:r>
            <a:r>
              <a:rPr lang="en-US" dirty="0" smtClean="0"/>
              <a:t>.</a:t>
            </a:r>
            <a:endParaRPr lang="en-US" dirty="0" smtClean="0"/>
          </a:p>
          <a:p>
            <a:pPr fontAlgn="base"/>
            <a:r>
              <a:rPr lang="en-US" dirty="0"/>
              <a:t>We can have an abstract class without any abstract method.</a:t>
            </a:r>
            <a:endParaRPr lang="en-US" dirty="0"/>
          </a:p>
          <a:p>
            <a:pPr fontAlgn="base"/>
            <a:r>
              <a:rPr lang="en-US" dirty="0"/>
              <a:t>There can be a </a:t>
            </a:r>
            <a:r>
              <a:rPr lang="en-US" b="1" dirty="0"/>
              <a:t>final method</a:t>
            </a:r>
            <a:r>
              <a:rPr lang="en-US" dirty="0"/>
              <a:t> in abstract class but any abstract method in class(abstract class) can not be declared as </a:t>
            </a:r>
            <a:r>
              <a:rPr lang="en-US" dirty="0" smtClean="0"/>
              <a:t>final.</a:t>
            </a:r>
            <a:endParaRPr lang="en-US" dirty="0" smtClean="0"/>
          </a:p>
          <a:p>
            <a:pPr fontAlgn="base"/>
            <a:r>
              <a:rPr lang="en-US" dirty="0"/>
              <a:t>We can define static methods in an abstract </a:t>
            </a:r>
            <a:r>
              <a:rPr lang="en-US" dirty="0" smtClean="0"/>
              <a:t>class.</a:t>
            </a:r>
            <a:endParaRPr lang="en-US" dirty="0" smtClean="0"/>
          </a:p>
          <a:p>
            <a:pPr fontAlgn="base"/>
            <a:r>
              <a:rPr lang="en-US" dirty="0" smtClean="0"/>
              <a:t>I</a:t>
            </a:r>
            <a:r>
              <a:rPr lang="en-US" dirty="0"/>
              <a:t>f a</a:t>
            </a:r>
            <a:r>
              <a:rPr lang="en-US" b="1" dirty="0"/>
              <a:t> class</a:t>
            </a:r>
            <a:r>
              <a:rPr lang="en-US" dirty="0"/>
              <a:t> contains at least </a:t>
            </a:r>
            <a:r>
              <a:rPr lang="en-US" b="1" dirty="0"/>
              <a:t>one abstract method </a:t>
            </a:r>
            <a:r>
              <a:rPr lang="en-US" dirty="0"/>
              <a:t>then compulsory should declare a class as </a:t>
            </a:r>
            <a:r>
              <a:rPr lang="en-US" dirty="0" smtClean="0"/>
              <a:t>abstract.</a:t>
            </a:r>
            <a:endParaRPr lang="en-US" dirty="0" smtClean="0"/>
          </a:p>
          <a:p>
            <a:pPr fontAlgn="base"/>
            <a:r>
              <a:rPr lang="en-US" dirty="0"/>
              <a:t>If the</a:t>
            </a:r>
            <a:r>
              <a:rPr lang="en-US" b="1" dirty="0"/>
              <a:t> Child class</a:t>
            </a:r>
            <a:r>
              <a:rPr lang="en-US" dirty="0"/>
              <a:t> is unable to provide implementation to all abstract methods of the</a:t>
            </a:r>
            <a:r>
              <a:rPr lang="en-US" b="1" dirty="0"/>
              <a:t> Parent class </a:t>
            </a:r>
            <a:r>
              <a:rPr lang="en-US" dirty="0"/>
              <a:t>then we should declare that </a:t>
            </a:r>
            <a:r>
              <a:rPr lang="en-US" b="1" dirty="0"/>
              <a:t>Child class as abstract </a:t>
            </a:r>
            <a:r>
              <a:rPr lang="en-US" dirty="0"/>
              <a:t>so that the next level Child class should provide implementation to the remaining abstract </a:t>
            </a:r>
            <a:r>
              <a:rPr lang="en-US" dirty="0" smtClean="0"/>
              <a:t>method.</a:t>
            </a:r>
            <a:endParaRPr lang="en-US" dirty="0" smtClean="0"/>
          </a:p>
          <a:p>
            <a:pPr fontAlgn="base"/>
            <a:r>
              <a:rPr lang="en-US" dirty="0"/>
              <a:t>Elements abstract class can have</a:t>
            </a:r>
            <a:endParaRPr lang="en-US" dirty="0"/>
          </a:p>
          <a:p>
            <a:pPr lvl="1" fontAlgn="base"/>
            <a:r>
              <a:rPr lang="en-US" dirty="0"/>
              <a:t>data member</a:t>
            </a:r>
            <a:endParaRPr lang="en-US" dirty="0"/>
          </a:p>
          <a:p>
            <a:pPr lvl="1" fontAlgn="base"/>
            <a:r>
              <a:rPr lang="en-US" dirty="0"/>
              <a:t>abstract method</a:t>
            </a:r>
            <a:endParaRPr lang="en-US" dirty="0"/>
          </a:p>
          <a:p>
            <a:pPr lvl="1" fontAlgn="base"/>
            <a:r>
              <a:rPr lang="en-US" dirty="0"/>
              <a:t>method body (non-abstract method)</a:t>
            </a:r>
            <a:endParaRPr lang="en-US" dirty="0"/>
          </a:p>
          <a:p>
            <a:pPr lvl="1" fontAlgn="base"/>
            <a:r>
              <a:rPr lang="en-US" dirty="0"/>
              <a:t>constructor</a:t>
            </a:r>
            <a:endParaRPr lang="en-US" dirty="0"/>
          </a:p>
          <a:p>
            <a:pPr lvl="1" fontAlgn="base"/>
            <a:r>
              <a:rPr lang="en-US" dirty="0"/>
              <a:t>main() method.</a:t>
            </a:r>
            <a:endParaRPr lang="en-US" dirty="0"/>
          </a:p>
          <a:p>
            <a:pPr fontAlgn="base"/>
            <a:endParaRPr lang="en-US" dirty="0"/>
          </a:p>
          <a:p>
            <a:pPr fontAlgn="base"/>
            <a:endParaRPr lang="en-US" dirty="0"/>
          </a:p>
          <a:p>
            <a:pPr fontAlgn="base"/>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316" y="122058"/>
            <a:ext cx="10515600" cy="526126"/>
          </a:xfrm>
        </p:spPr>
        <p:txBody>
          <a:bodyPr>
            <a:normAutofit fontScale="90000"/>
          </a:bodyPr>
          <a:lstStyle/>
          <a:p>
            <a:r>
              <a:rPr lang="en-IN" b="1" dirty="0" smtClean="0"/>
              <a:t>Example</a:t>
            </a:r>
            <a:endParaRPr lang="en-IN" b="1" dirty="0"/>
          </a:p>
        </p:txBody>
      </p:sp>
      <p:sp>
        <p:nvSpPr>
          <p:cNvPr id="3" name="Content Placeholder 2"/>
          <p:cNvSpPr>
            <a:spLocks noGrp="1"/>
          </p:cNvSpPr>
          <p:nvPr>
            <p:ph idx="1"/>
          </p:nvPr>
        </p:nvSpPr>
        <p:spPr>
          <a:xfrm>
            <a:off x="328914" y="760754"/>
            <a:ext cx="11442540" cy="5721068"/>
          </a:xfrm>
        </p:spPr>
        <p:txBody>
          <a:bodyPr>
            <a:noAutofit/>
          </a:bodyPr>
          <a:lstStyle/>
          <a:p>
            <a:pPr marL="0" indent="0">
              <a:spcBef>
                <a:spcPts val="200"/>
              </a:spcBef>
              <a:buNone/>
            </a:pPr>
            <a:r>
              <a:rPr lang="en-IN" sz="2000" dirty="0" smtClean="0"/>
              <a:t>abstract </a:t>
            </a:r>
            <a:r>
              <a:rPr lang="en-IN" sz="2000" dirty="0"/>
              <a:t>class </a:t>
            </a:r>
            <a:r>
              <a:rPr lang="en-IN" sz="2000" dirty="0" err="1"/>
              <a:t>Sunstar</a:t>
            </a:r>
            <a:r>
              <a:rPr lang="en-IN" sz="2000" dirty="0"/>
              <a:t> {</a:t>
            </a:r>
            <a:endParaRPr lang="en-IN" sz="2000" dirty="0"/>
          </a:p>
          <a:p>
            <a:pPr marL="0" indent="0">
              <a:spcBef>
                <a:spcPts val="200"/>
              </a:spcBef>
              <a:buNone/>
            </a:pPr>
            <a:r>
              <a:rPr lang="en-IN" sz="2000" dirty="0"/>
              <a:t>    abstract void </a:t>
            </a:r>
            <a:r>
              <a:rPr lang="en-IN" sz="2000" dirty="0" err="1"/>
              <a:t>printInfo</a:t>
            </a:r>
            <a:r>
              <a:rPr lang="en-IN" sz="2000" dirty="0"/>
              <a:t>();</a:t>
            </a:r>
            <a:endParaRPr lang="en-IN" sz="2000" dirty="0"/>
          </a:p>
          <a:p>
            <a:pPr marL="0" indent="0">
              <a:spcBef>
                <a:spcPts val="200"/>
              </a:spcBef>
              <a:buNone/>
            </a:pPr>
            <a:r>
              <a:rPr lang="en-IN" sz="2000" dirty="0" smtClean="0"/>
              <a:t>}</a:t>
            </a:r>
            <a:endParaRPr lang="en-IN" sz="2000" dirty="0"/>
          </a:p>
          <a:p>
            <a:pPr marL="0" indent="0">
              <a:spcBef>
                <a:spcPts val="200"/>
              </a:spcBef>
              <a:buNone/>
            </a:pPr>
            <a:r>
              <a:rPr lang="en-IN" sz="2000" dirty="0"/>
              <a:t>// Abstraction performed using extends</a:t>
            </a:r>
            <a:endParaRPr lang="en-IN" sz="2000" dirty="0"/>
          </a:p>
          <a:p>
            <a:pPr marL="0" indent="0">
              <a:spcBef>
                <a:spcPts val="200"/>
              </a:spcBef>
              <a:buNone/>
            </a:pPr>
            <a:r>
              <a:rPr lang="en-IN" sz="2000" dirty="0"/>
              <a:t>class Employee extends </a:t>
            </a:r>
            <a:r>
              <a:rPr lang="en-IN" sz="2000" dirty="0" err="1"/>
              <a:t>Sunstar</a:t>
            </a:r>
            <a:r>
              <a:rPr lang="en-IN" sz="2000" dirty="0"/>
              <a:t> {</a:t>
            </a:r>
            <a:endParaRPr lang="en-IN" sz="2000" dirty="0"/>
          </a:p>
          <a:p>
            <a:pPr marL="0" indent="0">
              <a:spcBef>
                <a:spcPts val="200"/>
              </a:spcBef>
              <a:buNone/>
            </a:pPr>
            <a:r>
              <a:rPr lang="en-IN" sz="2000" dirty="0"/>
              <a:t>    void </a:t>
            </a:r>
            <a:r>
              <a:rPr lang="en-IN" sz="2000" dirty="0" err="1"/>
              <a:t>printInfo</a:t>
            </a:r>
            <a:r>
              <a:rPr lang="en-IN" sz="2000" dirty="0" smtClean="0"/>
              <a:t>() </a:t>
            </a:r>
            <a:r>
              <a:rPr lang="en-IN" sz="2000" dirty="0"/>
              <a:t>{</a:t>
            </a:r>
            <a:endParaRPr lang="en-IN" sz="2000" dirty="0"/>
          </a:p>
          <a:p>
            <a:pPr marL="0" indent="0">
              <a:spcBef>
                <a:spcPts val="200"/>
              </a:spcBef>
              <a:buNone/>
            </a:pPr>
            <a:r>
              <a:rPr lang="en-IN" sz="2000" dirty="0"/>
              <a:t>        String name = "</a:t>
            </a:r>
            <a:r>
              <a:rPr lang="en-IN" sz="2000" dirty="0" err="1"/>
              <a:t>avinash</a:t>
            </a:r>
            <a:r>
              <a:rPr lang="en-IN" sz="2000" dirty="0"/>
              <a:t>";</a:t>
            </a:r>
            <a:endParaRPr lang="en-IN" sz="2000" dirty="0"/>
          </a:p>
          <a:p>
            <a:pPr marL="0" indent="0">
              <a:spcBef>
                <a:spcPts val="200"/>
              </a:spcBef>
              <a:buNone/>
            </a:pPr>
            <a:r>
              <a:rPr lang="en-IN" sz="2000" dirty="0"/>
              <a:t>        </a:t>
            </a:r>
            <a:r>
              <a:rPr lang="en-IN" sz="2000" dirty="0" err="1"/>
              <a:t>int</a:t>
            </a:r>
            <a:r>
              <a:rPr lang="en-IN" sz="2000" dirty="0"/>
              <a:t> age = 21;</a:t>
            </a:r>
            <a:endParaRPr lang="en-IN" sz="2000" dirty="0"/>
          </a:p>
          <a:p>
            <a:pPr marL="0" indent="0">
              <a:spcBef>
                <a:spcPts val="200"/>
              </a:spcBef>
              <a:buNone/>
            </a:pPr>
            <a:r>
              <a:rPr lang="en-IN" sz="2000" dirty="0"/>
              <a:t>        float salary = 222.2F</a:t>
            </a:r>
            <a:r>
              <a:rPr lang="en-IN" sz="2000" dirty="0" smtClean="0"/>
              <a:t>;</a:t>
            </a:r>
            <a:endParaRPr lang="en-IN" sz="2000" dirty="0"/>
          </a:p>
          <a:p>
            <a:pPr marL="0" indent="0">
              <a:spcBef>
                <a:spcPts val="200"/>
              </a:spcBef>
              <a:buNone/>
            </a:pPr>
            <a:r>
              <a:rPr lang="en-IN" sz="2000" dirty="0"/>
              <a:t>        </a:t>
            </a:r>
            <a:r>
              <a:rPr lang="en-IN" sz="2000" dirty="0" err="1"/>
              <a:t>System.out.println</a:t>
            </a:r>
            <a:r>
              <a:rPr lang="en-IN" sz="2000" dirty="0"/>
              <a:t>(name);</a:t>
            </a:r>
            <a:endParaRPr lang="en-IN" sz="2000" dirty="0"/>
          </a:p>
          <a:p>
            <a:pPr marL="0" indent="0">
              <a:spcBef>
                <a:spcPts val="200"/>
              </a:spcBef>
              <a:buNone/>
            </a:pPr>
            <a:r>
              <a:rPr lang="en-IN" sz="2000" dirty="0"/>
              <a:t>        </a:t>
            </a:r>
            <a:r>
              <a:rPr lang="en-IN" sz="2000" dirty="0" err="1"/>
              <a:t>System.out.println</a:t>
            </a:r>
            <a:r>
              <a:rPr lang="en-IN" sz="2000" dirty="0"/>
              <a:t>(age);</a:t>
            </a:r>
            <a:endParaRPr lang="en-IN" sz="2000" dirty="0"/>
          </a:p>
          <a:p>
            <a:pPr marL="0" indent="0">
              <a:spcBef>
                <a:spcPts val="200"/>
              </a:spcBef>
              <a:buNone/>
            </a:pPr>
            <a:r>
              <a:rPr lang="en-IN" sz="2000" dirty="0"/>
              <a:t>        </a:t>
            </a:r>
            <a:r>
              <a:rPr lang="en-IN" sz="2000" dirty="0" err="1"/>
              <a:t>System.out.println</a:t>
            </a:r>
            <a:r>
              <a:rPr lang="en-IN" sz="2000" dirty="0"/>
              <a:t>(salary);</a:t>
            </a:r>
            <a:endParaRPr lang="en-IN" sz="2000" dirty="0"/>
          </a:p>
          <a:p>
            <a:pPr marL="0" indent="0">
              <a:spcBef>
                <a:spcPts val="200"/>
              </a:spcBef>
              <a:buNone/>
            </a:pPr>
            <a:r>
              <a:rPr lang="en-IN" sz="2000" dirty="0"/>
              <a:t>    }</a:t>
            </a:r>
            <a:endParaRPr lang="en-IN" sz="2000" dirty="0"/>
          </a:p>
          <a:p>
            <a:pPr marL="0" indent="0">
              <a:spcBef>
                <a:spcPts val="200"/>
              </a:spcBef>
              <a:buNone/>
            </a:pPr>
            <a:r>
              <a:rPr lang="en-IN" sz="2000" dirty="0"/>
              <a:t>}</a:t>
            </a:r>
            <a:endParaRPr lang="en-IN" sz="2000" dirty="0"/>
          </a:p>
          <a:p>
            <a:pPr marL="0" indent="0">
              <a:spcBef>
                <a:spcPts val="200"/>
              </a:spcBef>
              <a:buNone/>
            </a:pPr>
            <a:r>
              <a:rPr lang="en-IN" sz="2000" dirty="0" smtClean="0"/>
              <a:t>class </a:t>
            </a:r>
            <a:r>
              <a:rPr lang="en-IN" sz="2000" dirty="0"/>
              <a:t>Base {</a:t>
            </a:r>
            <a:endParaRPr lang="en-IN" sz="2000" dirty="0"/>
          </a:p>
          <a:p>
            <a:pPr marL="0" indent="0">
              <a:spcBef>
                <a:spcPts val="200"/>
              </a:spcBef>
              <a:buNone/>
            </a:pPr>
            <a:r>
              <a:rPr lang="en-IN" sz="2000" dirty="0"/>
              <a:t>    public static void main(String </a:t>
            </a:r>
            <a:r>
              <a:rPr lang="en-IN" sz="2000" dirty="0" err="1"/>
              <a:t>args</a:t>
            </a:r>
            <a:r>
              <a:rPr lang="en-IN" sz="2000" dirty="0" smtClean="0"/>
              <a:t>[]){</a:t>
            </a:r>
            <a:endParaRPr lang="en-IN" sz="2000" dirty="0"/>
          </a:p>
          <a:p>
            <a:pPr marL="0" indent="0">
              <a:spcBef>
                <a:spcPts val="200"/>
              </a:spcBef>
              <a:buNone/>
            </a:pPr>
            <a:r>
              <a:rPr lang="en-IN" sz="2000" dirty="0"/>
              <a:t>        </a:t>
            </a:r>
            <a:r>
              <a:rPr lang="en-IN" sz="2000" dirty="0" err="1"/>
              <a:t>Sunstar</a:t>
            </a:r>
            <a:r>
              <a:rPr lang="en-IN" sz="2000" dirty="0"/>
              <a:t> s = new Employee();</a:t>
            </a:r>
            <a:endParaRPr lang="en-IN" sz="2000" dirty="0"/>
          </a:p>
          <a:p>
            <a:pPr marL="0" indent="0">
              <a:spcBef>
                <a:spcPts val="200"/>
              </a:spcBef>
              <a:buNone/>
            </a:pPr>
            <a:r>
              <a:rPr lang="en-IN" sz="2000" dirty="0"/>
              <a:t>        </a:t>
            </a:r>
            <a:r>
              <a:rPr lang="en-IN" sz="2000" dirty="0" err="1"/>
              <a:t>s.printInfo</a:t>
            </a:r>
            <a:r>
              <a:rPr lang="en-IN" sz="2000" dirty="0"/>
              <a:t>();</a:t>
            </a:r>
            <a:endParaRPr lang="en-IN" sz="2000" dirty="0"/>
          </a:p>
          <a:p>
            <a:pPr marL="0" indent="0">
              <a:spcBef>
                <a:spcPts val="200"/>
              </a:spcBef>
              <a:buNone/>
            </a:pPr>
            <a:r>
              <a:rPr lang="en-IN" sz="2000" dirty="0"/>
              <a:t>    }</a:t>
            </a:r>
            <a:endParaRPr lang="en-IN" sz="2000" dirty="0"/>
          </a:p>
          <a:p>
            <a:pPr marL="0" indent="0">
              <a:spcBef>
                <a:spcPts val="200"/>
              </a:spcBef>
              <a:buNone/>
            </a:pPr>
            <a:r>
              <a:rPr lang="en-IN" sz="2000" dirty="0"/>
              <a:t>}</a:t>
            </a:r>
            <a:endParaRPr lang="en-IN"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316" y="122058"/>
            <a:ext cx="10515600" cy="526126"/>
          </a:xfrm>
        </p:spPr>
        <p:txBody>
          <a:bodyPr>
            <a:noAutofit/>
          </a:bodyPr>
          <a:lstStyle/>
          <a:p>
            <a:pPr fontAlgn="base"/>
            <a:r>
              <a:rPr lang="en-IN" sz="2800" b="1" dirty="0" smtClean="0"/>
              <a:t>Example: </a:t>
            </a:r>
            <a:r>
              <a:rPr lang="en-US" sz="2800" b="1" dirty="0"/>
              <a:t>Abstract Class having constructor, data member, and methods</a:t>
            </a:r>
            <a:endParaRPr lang="en-US" sz="2800" b="1" dirty="0"/>
          </a:p>
        </p:txBody>
      </p:sp>
      <p:sp>
        <p:nvSpPr>
          <p:cNvPr id="3" name="Content Placeholder 2"/>
          <p:cNvSpPr>
            <a:spLocks noGrp="1"/>
          </p:cNvSpPr>
          <p:nvPr>
            <p:ph idx="1"/>
          </p:nvPr>
        </p:nvSpPr>
        <p:spPr>
          <a:xfrm>
            <a:off x="328914" y="760754"/>
            <a:ext cx="11442540" cy="5721068"/>
          </a:xfrm>
        </p:spPr>
        <p:txBody>
          <a:bodyPr numCol="2">
            <a:noAutofit/>
          </a:bodyPr>
          <a:lstStyle/>
          <a:p>
            <a:pPr marL="0" indent="0">
              <a:spcBef>
                <a:spcPts val="200"/>
              </a:spcBef>
              <a:buNone/>
            </a:pPr>
            <a:r>
              <a:rPr lang="en-IN" sz="1200" dirty="0" smtClean="0"/>
              <a:t>import </a:t>
            </a:r>
            <a:r>
              <a:rPr lang="en-IN" sz="1200" dirty="0"/>
              <a:t>java.io</a:t>
            </a:r>
            <a:r>
              <a:rPr lang="en-IN" sz="1200" dirty="0" smtClean="0"/>
              <a:t>.*;</a:t>
            </a:r>
            <a:endParaRPr lang="en-IN" sz="1200" dirty="0"/>
          </a:p>
          <a:p>
            <a:pPr marL="0" indent="0">
              <a:spcBef>
                <a:spcPts val="200"/>
              </a:spcBef>
              <a:buNone/>
            </a:pPr>
            <a:r>
              <a:rPr lang="en-IN" sz="1200" dirty="0"/>
              <a:t>abstract class Subject {</a:t>
            </a:r>
            <a:endParaRPr lang="en-IN" sz="1200" dirty="0"/>
          </a:p>
          <a:p>
            <a:pPr marL="0" indent="0">
              <a:spcBef>
                <a:spcPts val="200"/>
              </a:spcBef>
              <a:buNone/>
            </a:pPr>
            <a:r>
              <a:rPr lang="en-IN" sz="1200" dirty="0"/>
              <a:t>    Subject() { </a:t>
            </a:r>
            <a:endParaRPr lang="en-IN" sz="1200" dirty="0"/>
          </a:p>
          <a:p>
            <a:pPr marL="0" indent="0">
              <a:spcBef>
                <a:spcPts val="200"/>
              </a:spcBef>
              <a:buNone/>
            </a:pPr>
            <a:r>
              <a:rPr lang="en-IN" sz="1200" dirty="0"/>
              <a:t>      </a:t>
            </a:r>
            <a:r>
              <a:rPr lang="en-IN" sz="1200" dirty="0" err="1"/>
              <a:t>System.out.println</a:t>
            </a:r>
            <a:r>
              <a:rPr lang="en-IN" sz="1200" dirty="0"/>
              <a:t>("Learning Subject"); </a:t>
            </a:r>
            <a:endParaRPr lang="en-IN" sz="1200" dirty="0"/>
          </a:p>
          <a:p>
            <a:pPr marL="0" indent="0">
              <a:spcBef>
                <a:spcPts val="200"/>
              </a:spcBef>
              <a:buNone/>
            </a:pPr>
            <a:r>
              <a:rPr lang="en-IN" sz="1200" dirty="0"/>
              <a:t>    </a:t>
            </a:r>
            <a:r>
              <a:rPr lang="en-IN" sz="1200" dirty="0" smtClean="0"/>
              <a:t>}</a:t>
            </a:r>
            <a:endParaRPr lang="en-IN" sz="1200" dirty="0"/>
          </a:p>
          <a:p>
            <a:pPr marL="0" indent="0">
              <a:spcBef>
                <a:spcPts val="200"/>
              </a:spcBef>
              <a:buNone/>
            </a:pPr>
            <a:r>
              <a:rPr lang="en-IN" sz="1200" dirty="0"/>
              <a:t>      abstract void syllabus</a:t>
            </a:r>
            <a:r>
              <a:rPr lang="en-IN" sz="1200" dirty="0" smtClean="0"/>
              <a:t>();</a:t>
            </a:r>
            <a:endParaRPr lang="en-IN" sz="1200" dirty="0"/>
          </a:p>
          <a:p>
            <a:pPr marL="0" indent="0">
              <a:spcBef>
                <a:spcPts val="200"/>
              </a:spcBef>
              <a:buNone/>
            </a:pPr>
            <a:r>
              <a:rPr lang="en-IN" sz="1200" dirty="0"/>
              <a:t>      void Learn(){</a:t>
            </a:r>
            <a:endParaRPr lang="en-IN" sz="1200" dirty="0"/>
          </a:p>
          <a:p>
            <a:pPr marL="0" indent="0">
              <a:spcBef>
                <a:spcPts val="200"/>
              </a:spcBef>
              <a:buNone/>
            </a:pPr>
            <a:r>
              <a:rPr lang="en-IN" sz="1200" dirty="0"/>
              <a:t>    </a:t>
            </a:r>
            <a:r>
              <a:rPr lang="en-IN" sz="1200" dirty="0" err="1" smtClean="0"/>
              <a:t>System.out.println</a:t>
            </a:r>
            <a:r>
              <a:rPr lang="en-IN" sz="1200" dirty="0"/>
              <a:t>("Preparing Right Now!");</a:t>
            </a:r>
            <a:endParaRPr lang="en-IN" sz="1200" dirty="0"/>
          </a:p>
          <a:p>
            <a:pPr marL="0" indent="0">
              <a:spcBef>
                <a:spcPts val="200"/>
              </a:spcBef>
              <a:buNone/>
            </a:pPr>
            <a:r>
              <a:rPr lang="en-IN" sz="1200" dirty="0"/>
              <a:t>    }</a:t>
            </a:r>
            <a:endParaRPr lang="en-IN" sz="1200" dirty="0"/>
          </a:p>
          <a:p>
            <a:pPr marL="0" indent="0">
              <a:spcBef>
                <a:spcPts val="200"/>
              </a:spcBef>
              <a:buNone/>
            </a:pPr>
            <a:r>
              <a:rPr lang="en-IN" sz="1200" dirty="0" smtClean="0"/>
              <a:t>}</a:t>
            </a:r>
            <a:endParaRPr lang="en-IN" sz="1200" dirty="0"/>
          </a:p>
          <a:p>
            <a:pPr marL="0" indent="0">
              <a:spcBef>
                <a:spcPts val="200"/>
              </a:spcBef>
              <a:buNone/>
            </a:pPr>
            <a:r>
              <a:rPr lang="en-IN" sz="1200" dirty="0"/>
              <a:t>class IT extends Subject {</a:t>
            </a:r>
            <a:endParaRPr lang="en-IN" sz="1200" dirty="0"/>
          </a:p>
          <a:p>
            <a:pPr marL="0" indent="0">
              <a:spcBef>
                <a:spcPts val="200"/>
              </a:spcBef>
              <a:buNone/>
            </a:pPr>
            <a:r>
              <a:rPr lang="en-IN" sz="1200" dirty="0"/>
              <a:t>  void syllabus(){</a:t>
            </a:r>
            <a:endParaRPr lang="en-IN" sz="1200" dirty="0"/>
          </a:p>
          <a:p>
            <a:pPr marL="0" indent="0">
              <a:spcBef>
                <a:spcPts val="200"/>
              </a:spcBef>
              <a:buNone/>
            </a:pPr>
            <a:r>
              <a:rPr lang="en-IN" sz="1200" dirty="0"/>
              <a:t>    </a:t>
            </a:r>
            <a:r>
              <a:rPr lang="en-IN" sz="1200" dirty="0" err="1"/>
              <a:t>System.out.println</a:t>
            </a:r>
            <a:r>
              <a:rPr lang="en-IN" sz="1200" dirty="0"/>
              <a:t>("C , Java , C++");</a:t>
            </a:r>
            <a:endParaRPr lang="en-IN" sz="1200" dirty="0"/>
          </a:p>
          <a:p>
            <a:pPr marL="0" indent="0">
              <a:spcBef>
                <a:spcPts val="200"/>
              </a:spcBef>
              <a:buNone/>
            </a:pPr>
            <a:r>
              <a:rPr lang="en-IN" sz="1200" dirty="0"/>
              <a:t>  }</a:t>
            </a:r>
            <a:endParaRPr lang="en-IN" sz="1200" dirty="0"/>
          </a:p>
          <a:p>
            <a:pPr marL="0" indent="0">
              <a:spcBef>
                <a:spcPts val="200"/>
              </a:spcBef>
              <a:buNone/>
            </a:pPr>
            <a:r>
              <a:rPr lang="en-IN" sz="1200" dirty="0" smtClean="0"/>
              <a:t>}</a:t>
            </a:r>
            <a:endParaRPr lang="en-IN" sz="1200" dirty="0"/>
          </a:p>
          <a:p>
            <a:pPr marL="0" indent="0">
              <a:spcBef>
                <a:spcPts val="200"/>
              </a:spcBef>
              <a:buNone/>
            </a:pPr>
            <a:r>
              <a:rPr lang="en-IN" sz="1200" dirty="0"/>
              <a:t>class GFG {</a:t>
            </a:r>
            <a:endParaRPr lang="en-IN" sz="1200" dirty="0"/>
          </a:p>
          <a:p>
            <a:pPr marL="0" indent="0">
              <a:spcBef>
                <a:spcPts val="200"/>
              </a:spcBef>
              <a:buNone/>
            </a:pPr>
            <a:r>
              <a:rPr lang="en-IN" sz="1200" dirty="0"/>
              <a:t>    public static void main(String[] </a:t>
            </a:r>
            <a:r>
              <a:rPr lang="en-IN" sz="1200" dirty="0" err="1"/>
              <a:t>args</a:t>
            </a:r>
            <a:r>
              <a:rPr lang="en-IN" sz="1200" dirty="0"/>
              <a:t>) {</a:t>
            </a:r>
            <a:endParaRPr lang="en-IN" sz="1200" dirty="0"/>
          </a:p>
          <a:p>
            <a:pPr marL="0" indent="0">
              <a:spcBef>
                <a:spcPts val="200"/>
              </a:spcBef>
              <a:buNone/>
            </a:pPr>
            <a:r>
              <a:rPr lang="en-IN" sz="1200" dirty="0"/>
              <a:t>        Subject x=new IT();</a:t>
            </a:r>
            <a:endParaRPr lang="en-IN" sz="1200" dirty="0"/>
          </a:p>
          <a:p>
            <a:pPr marL="0" indent="0">
              <a:spcBef>
                <a:spcPts val="200"/>
              </a:spcBef>
              <a:buNone/>
            </a:pPr>
            <a:r>
              <a:rPr lang="en-IN" sz="1200" dirty="0"/>
              <a:t>      </a:t>
            </a:r>
            <a:endParaRPr lang="en-IN" sz="1200" dirty="0"/>
          </a:p>
          <a:p>
            <a:pPr marL="0" indent="0">
              <a:spcBef>
                <a:spcPts val="200"/>
              </a:spcBef>
              <a:buNone/>
            </a:pPr>
            <a:r>
              <a:rPr lang="en-IN" sz="1200" dirty="0"/>
              <a:t>          </a:t>
            </a:r>
            <a:r>
              <a:rPr lang="en-IN" sz="1200" dirty="0" err="1"/>
              <a:t>x.syllabus</a:t>
            </a:r>
            <a:r>
              <a:rPr lang="en-IN" sz="1200" dirty="0"/>
              <a:t>();</a:t>
            </a:r>
            <a:endParaRPr lang="en-IN" sz="1200" dirty="0"/>
          </a:p>
          <a:p>
            <a:pPr marL="0" indent="0">
              <a:spcBef>
                <a:spcPts val="200"/>
              </a:spcBef>
              <a:buNone/>
            </a:pPr>
            <a:r>
              <a:rPr lang="en-IN" sz="1200" dirty="0"/>
              <a:t>          </a:t>
            </a:r>
            <a:r>
              <a:rPr lang="en-IN" sz="1200" dirty="0" err="1"/>
              <a:t>x.Learn</a:t>
            </a:r>
            <a:r>
              <a:rPr lang="en-IN" sz="1200" dirty="0"/>
              <a:t>();</a:t>
            </a:r>
            <a:endParaRPr lang="en-IN" sz="1200" dirty="0"/>
          </a:p>
          <a:p>
            <a:pPr marL="0" indent="0">
              <a:spcBef>
                <a:spcPts val="200"/>
              </a:spcBef>
              <a:buNone/>
            </a:pPr>
            <a:r>
              <a:rPr lang="en-IN" sz="1200" dirty="0"/>
              <a:t>    }</a:t>
            </a:r>
            <a:endParaRPr lang="en-IN" sz="1200" dirty="0"/>
          </a:p>
          <a:p>
            <a:pPr marL="0" indent="0">
              <a:spcBef>
                <a:spcPts val="200"/>
              </a:spcBef>
              <a:buNone/>
            </a:pPr>
            <a:r>
              <a:rPr lang="en-IN" sz="1200" dirty="0" smtClean="0"/>
              <a:t>}</a:t>
            </a:r>
            <a:endParaRPr lang="en-IN" sz="1200" dirty="0" smtClean="0"/>
          </a:p>
          <a:p>
            <a:pPr marL="0" indent="0">
              <a:spcBef>
                <a:spcPts val="200"/>
              </a:spcBef>
              <a:buNone/>
            </a:pPr>
            <a:endParaRPr lang="en-IN" sz="1200" dirty="0"/>
          </a:p>
          <a:p>
            <a:pPr marL="0" indent="0">
              <a:spcBef>
                <a:spcPts val="200"/>
              </a:spcBef>
              <a:buNone/>
            </a:pPr>
            <a:endParaRPr lang="en-IN" sz="1200" dirty="0"/>
          </a:p>
          <a:p>
            <a:pPr marL="0" indent="0">
              <a:spcBef>
                <a:spcPts val="200"/>
              </a:spcBef>
              <a:buNone/>
            </a:pPr>
            <a:endParaRPr lang="en-IN" sz="1200" dirty="0"/>
          </a:p>
          <a:p>
            <a:pPr marL="0" indent="0">
              <a:spcBef>
                <a:spcPts val="200"/>
              </a:spcBef>
              <a:buNone/>
            </a:pPr>
            <a:r>
              <a:rPr lang="en-IN" sz="1200" i="1" dirty="0" smtClean="0"/>
              <a:t>O/P:</a:t>
            </a:r>
            <a:endParaRPr lang="en-IN" sz="1200" i="1" dirty="0" smtClean="0"/>
          </a:p>
          <a:p>
            <a:pPr marL="0" indent="0">
              <a:spcBef>
                <a:spcPts val="200"/>
              </a:spcBef>
              <a:buNone/>
            </a:pPr>
            <a:r>
              <a:rPr lang="en-US" sz="1200" dirty="0"/>
              <a:t>Learning Subject</a:t>
            </a:r>
            <a:endParaRPr lang="en-US" sz="1200" dirty="0"/>
          </a:p>
          <a:p>
            <a:pPr marL="0" indent="0">
              <a:spcBef>
                <a:spcPts val="200"/>
              </a:spcBef>
              <a:buNone/>
            </a:pPr>
            <a:r>
              <a:rPr lang="en-US" sz="1200" dirty="0"/>
              <a:t>C , Java , C++</a:t>
            </a:r>
            <a:endParaRPr lang="en-US" sz="1200" dirty="0"/>
          </a:p>
          <a:p>
            <a:pPr marL="0" indent="0">
              <a:spcBef>
                <a:spcPts val="200"/>
              </a:spcBef>
              <a:buNone/>
            </a:pPr>
            <a:r>
              <a:rPr lang="en-US" sz="1200" dirty="0"/>
              <a:t>Preparing Right Now!</a:t>
            </a:r>
            <a:endParaRPr lang="en-IN"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2402"/>
          </a:xfrm>
        </p:spPr>
        <p:txBody>
          <a:bodyPr>
            <a:normAutofit/>
          </a:bodyPr>
          <a:lstStyle/>
          <a:p>
            <a:r>
              <a:rPr lang="en-IN" sz="3600" b="1" dirty="0"/>
              <a:t>Example: </a:t>
            </a:r>
            <a:r>
              <a:rPr lang="en-US" sz="3600" b="1" dirty="0"/>
              <a:t>Abstract </a:t>
            </a:r>
            <a:r>
              <a:rPr lang="en-US" sz="3600" b="1" i="1" dirty="0" smtClean="0"/>
              <a:t>class </a:t>
            </a:r>
            <a:r>
              <a:rPr lang="en-US" sz="3600" b="1" i="1" dirty="0"/>
              <a:t>without any abstract method</a:t>
            </a:r>
            <a:endParaRPr lang="en-IN" sz="3600" dirty="0"/>
          </a:p>
        </p:txBody>
      </p:sp>
      <p:sp>
        <p:nvSpPr>
          <p:cNvPr id="3" name="Content Placeholder 2"/>
          <p:cNvSpPr>
            <a:spLocks noGrp="1"/>
          </p:cNvSpPr>
          <p:nvPr>
            <p:ph idx="1"/>
          </p:nvPr>
        </p:nvSpPr>
        <p:spPr>
          <a:xfrm>
            <a:off x="838200" y="997528"/>
            <a:ext cx="10515600" cy="5179435"/>
          </a:xfrm>
        </p:spPr>
        <p:txBody>
          <a:bodyPr>
            <a:noAutofit/>
          </a:bodyPr>
          <a:lstStyle/>
          <a:p>
            <a:pPr marL="0" indent="0">
              <a:spcBef>
                <a:spcPts val="200"/>
              </a:spcBef>
              <a:buNone/>
            </a:pPr>
            <a:r>
              <a:rPr lang="en-US" sz="2000" dirty="0" smtClean="0"/>
              <a:t>abstract </a:t>
            </a:r>
            <a:r>
              <a:rPr lang="en-US" sz="2000" dirty="0"/>
              <a:t>class Base </a:t>
            </a:r>
            <a:r>
              <a:rPr lang="en-US" sz="2000" dirty="0" smtClean="0"/>
              <a:t>{</a:t>
            </a:r>
            <a:endParaRPr lang="en-US" sz="2000" dirty="0"/>
          </a:p>
          <a:p>
            <a:pPr marL="0" indent="0">
              <a:spcBef>
                <a:spcPts val="200"/>
              </a:spcBef>
              <a:buNone/>
            </a:pPr>
            <a:r>
              <a:rPr lang="en-US" sz="2000" dirty="0"/>
              <a:t>    // Demo method. This is not an abstract method.</a:t>
            </a:r>
            <a:endParaRPr lang="en-US" sz="2000" dirty="0"/>
          </a:p>
          <a:p>
            <a:pPr marL="0" indent="0">
              <a:spcBef>
                <a:spcPts val="200"/>
              </a:spcBef>
              <a:buNone/>
            </a:pPr>
            <a:r>
              <a:rPr lang="en-US" sz="2000" dirty="0"/>
              <a:t>    void fun()</a:t>
            </a:r>
            <a:endParaRPr lang="en-US" sz="2000" dirty="0"/>
          </a:p>
          <a:p>
            <a:pPr marL="0" indent="0">
              <a:spcBef>
                <a:spcPts val="200"/>
              </a:spcBef>
              <a:buNone/>
            </a:pPr>
            <a:r>
              <a:rPr lang="en-US" sz="2000" dirty="0"/>
              <a:t>    {</a:t>
            </a:r>
            <a:endParaRPr lang="en-US" sz="2000" dirty="0"/>
          </a:p>
          <a:p>
            <a:pPr marL="0" indent="0">
              <a:spcBef>
                <a:spcPts val="200"/>
              </a:spcBef>
              <a:buNone/>
            </a:pPr>
            <a:r>
              <a:rPr lang="en-US" sz="2000" dirty="0"/>
              <a:t>        // Print message if class 1 function is called</a:t>
            </a:r>
            <a:endParaRPr lang="en-US" sz="2000" dirty="0"/>
          </a:p>
          <a:p>
            <a:pPr marL="0" indent="0">
              <a:spcBef>
                <a:spcPts val="200"/>
              </a:spcBef>
              <a:buNone/>
            </a:pPr>
            <a:r>
              <a:rPr lang="en-US" sz="2000" dirty="0"/>
              <a:t>        </a:t>
            </a:r>
            <a:r>
              <a:rPr lang="en-US" sz="2000" dirty="0" err="1"/>
              <a:t>System.out.println</a:t>
            </a:r>
            <a:r>
              <a:rPr lang="en-US" sz="2000" dirty="0" smtClean="0"/>
              <a:t>("</a:t>
            </a:r>
            <a:r>
              <a:rPr lang="en-US" sz="2000" dirty="0"/>
              <a:t>Function of Base class is called");</a:t>
            </a:r>
            <a:endParaRPr lang="en-US" sz="2000" dirty="0"/>
          </a:p>
          <a:p>
            <a:pPr marL="0" indent="0">
              <a:spcBef>
                <a:spcPts val="200"/>
              </a:spcBef>
              <a:buNone/>
            </a:pPr>
            <a:r>
              <a:rPr lang="en-US" sz="2000" dirty="0"/>
              <a:t>    }</a:t>
            </a:r>
            <a:endParaRPr lang="en-US" sz="2000" dirty="0"/>
          </a:p>
          <a:p>
            <a:pPr marL="0" indent="0">
              <a:spcBef>
                <a:spcPts val="200"/>
              </a:spcBef>
              <a:buNone/>
            </a:pPr>
            <a:r>
              <a:rPr lang="en-US" sz="2000" dirty="0"/>
              <a:t>}</a:t>
            </a:r>
            <a:endParaRPr lang="en-US" sz="2000" dirty="0"/>
          </a:p>
          <a:p>
            <a:pPr marL="0" indent="0">
              <a:spcBef>
                <a:spcPts val="200"/>
              </a:spcBef>
              <a:buNone/>
            </a:pPr>
            <a:r>
              <a:rPr lang="en-US" sz="2000" dirty="0" smtClean="0"/>
              <a:t>class </a:t>
            </a:r>
            <a:r>
              <a:rPr lang="en-US" sz="2000" dirty="0"/>
              <a:t>Derived extends Base </a:t>
            </a:r>
            <a:r>
              <a:rPr lang="en-US" sz="2000" dirty="0" smtClean="0"/>
              <a:t>{</a:t>
            </a:r>
            <a:endParaRPr lang="en-US" sz="2000" dirty="0" smtClean="0"/>
          </a:p>
          <a:p>
            <a:pPr marL="0" indent="0">
              <a:spcBef>
                <a:spcPts val="200"/>
              </a:spcBef>
              <a:buNone/>
            </a:pPr>
            <a:endParaRPr lang="en-US" sz="2000" dirty="0"/>
          </a:p>
          <a:p>
            <a:pPr marL="0" indent="0">
              <a:spcBef>
                <a:spcPts val="200"/>
              </a:spcBef>
              <a:buNone/>
            </a:pPr>
            <a:r>
              <a:rPr lang="en-US" sz="2000" dirty="0" smtClean="0"/>
              <a:t>}</a:t>
            </a:r>
            <a:endParaRPr lang="en-US" sz="2000" dirty="0"/>
          </a:p>
          <a:p>
            <a:pPr marL="0" indent="0">
              <a:spcBef>
                <a:spcPts val="200"/>
              </a:spcBef>
              <a:buNone/>
            </a:pPr>
            <a:r>
              <a:rPr lang="en-US" sz="2000" dirty="0" smtClean="0"/>
              <a:t>class </a:t>
            </a:r>
            <a:r>
              <a:rPr lang="en-US" sz="2000" dirty="0"/>
              <a:t>Main {</a:t>
            </a:r>
            <a:endParaRPr lang="en-US" sz="2000" dirty="0"/>
          </a:p>
          <a:p>
            <a:pPr marL="0" indent="0">
              <a:spcBef>
                <a:spcPts val="200"/>
              </a:spcBef>
              <a:buNone/>
            </a:pPr>
            <a:r>
              <a:rPr lang="en-US" sz="2000" dirty="0" smtClean="0"/>
              <a:t>public </a:t>
            </a:r>
            <a:r>
              <a:rPr lang="en-US" sz="2000" dirty="0"/>
              <a:t>static void main(String </a:t>
            </a:r>
            <a:r>
              <a:rPr lang="en-US" sz="2000" dirty="0" err="1"/>
              <a:t>args</a:t>
            </a:r>
            <a:r>
              <a:rPr lang="en-US" sz="2000" dirty="0"/>
              <a:t>[])</a:t>
            </a:r>
            <a:endParaRPr lang="en-US" sz="2000" dirty="0"/>
          </a:p>
          <a:p>
            <a:pPr marL="0" indent="0">
              <a:spcBef>
                <a:spcPts val="200"/>
              </a:spcBef>
              <a:buNone/>
            </a:pPr>
            <a:r>
              <a:rPr lang="en-US" sz="2000" dirty="0"/>
              <a:t>    {</a:t>
            </a:r>
            <a:endParaRPr lang="en-US" sz="2000" dirty="0"/>
          </a:p>
          <a:p>
            <a:pPr marL="0" indent="0">
              <a:spcBef>
                <a:spcPts val="200"/>
              </a:spcBef>
              <a:buNone/>
            </a:pPr>
            <a:r>
              <a:rPr lang="en-US" sz="2000" dirty="0" smtClean="0"/>
              <a:t>           Derived </a:t>
            </a:r>
            <a:r>
              <a:rPr lang="en-US" sz="2000" dirty="0"/>
              <a:t>d = new Derived();</a:t>
            </a:r>
            <a:endParaRPr lang="en-US" sz="2000" dirty="0"/>
          </a:p>
          <a:p>
            <a:pPr marL="0" indent="0">
              <a:spcBef>
                <a:spcPts val="200"/>
              </a:spcBef>
              <a:buNone/>
            </a:pPr>
            <a:r>
              <a:rPr lang="en-US" sz="2000" dirty="0" smtClean="0"/>
              <a:t>           </a:t>
            </a:r>
            <a:r>
              <a:rPr lang="en-US" sz="2000" dirty="0" err="1" smtClean="0"/>
              <a:t>d.fun</a:t>
            </a:r>
            <a:r>
              <a:rPr lang="en-US" sz="2000" dirty="0"/>
              <a:t>();</a:t>
            </a:r>
            <a:endParaRPr lang="en-US" sz="2000" dirty="0"/>
          </a:p>
          <a:p>
            <a:pPr marL="0" indent="0">
              <a:spcBef>
                <a:spcPts val="200"/>
              </a:spcBef>
              <a:buNone/>
            </a:pPr>
            <a:r>
              <a:rPr lang="en-US" sz="2000" dirty="0"/>
              <a:t>    }</a:t>
            </a:r>
            <a:endParaRPr lang="en-US" sz="2000" dirty="0"/>
          </a:p>
          <a:p>
            <a:pPr marL="0" indent="0">
              <a:spcBef>
                <a:spcPts val="200"/>
              </a:spcBef>
              <a:buNone/>
            </a:pPr>
            <a:r>
              <a:rPr lang="en-US" sz="2000" dirty="0"/>
              <a:t>}</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90805"/>
            <a:ext cx="10515600" cy="346075"/>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482599" y="650240"/>
            <a:ext cx="11349183" cy="5833687"/>
          </a:xfrm>
        </p:spPr>
        <p:txBody>
          <a:bodyPr numCol="2">
            <a:noAutofit/>
          </a:bodyPr>
          <a:lstStyle/>
          <a:p>
            <a:pPr marL="0" indent="0">
              <a:spcBef>
                <a:spcPts val="200"/>
              </a:spcBef>
              <a:buNone/>
            </a:pPr>
            <a:r>
              <a:rPr lang="en-IN" sz="1000" dirty="0" smtClean="0"/>
              <a:t>import </a:t>
            </a:r>
            <a:r>
              <a:rPr lang="en-IN" sz="1000" dirty="0"/>
              <a:t>java.io</a:t>
            </a:r>
            <a:r>
              <a:rPr lang="en-IN" sz="1000" dirty="0" smtClean="0"/>
              <a:t>.*;</a:t>
            </a:r>
            <a:endParaRPr lang="en-IN" sz="1000" dirty="0"/>
          </a:p>
          <a:p>
            <a:pPr marL="0" indent="0">
              <a:spcBef>
                <a:spcPts val="200"/>
              </a:spcBef>
              <a:buNone/>
            </a:pPr>
            <a:r>
              <a:rPr lang="en-IN" sz="1000" dirty="0"/>
              <a:t>abstract class Demo {</a:t>
            </a:r>
            <a:endParaRPr lang="en-IN" sz="1000" dirty="0"/>
          </a:p>
          <a:p>
            <a:pPr marL="0" indent="0">
              <a:spcBef>
                <a:spcPts val="200"/>
              </a:spcBef>
              <a:buNone/>
            </a:pPr>
            <a:r>
              <a:rPr lang="en-IN" sz="1000" dirty="0"/>
              <a:t>    abstract void m1();</a:t>
            </a:r>
            <a:endParaRPr lang="en-IN" sz="1000" dirty="0"/>
          </a:p>
          <a:p>
            <a:pPr marL="0" indent="0">
              <a:spcBef>
                <a:spcPts val="200"/>
              </a:spcBef>
              <a:buNone/>
            </a:pPr>
            <a:r>
              <a:rPr lang="en-IN" sz="1000" dirty="0"/>
              <a:t>    abstract void m2();</a:t>
            </a:r>
            <a:endParaRPr lang="en-IN" sz="1000" dirty="0"/>
          </a:p>
          <a:p>
            <a:pPr marL="0" indent="0">
              <a:spcBef>
                <a:spcPts val="200"/>
              </a:spcBef>
              <a:buNone/>
            </a:pPr>
            <a:r>
              <a:rPr lang="en-IN" sz="1000" dirty="0"/>
              <a:t>    abstract void m3();</a:t>
            </a:r>
            <a:endParaRPr lang="en-IN" sz="1000" dirty="0"/>
          </a:p>
          <a:p>
            <a:pPr marL="0" indent="0">
              <a:spcBef>
                <a:spcPts val="200"/>
              </a:spcBef>
              <a:buNone/>
            </a:pPr>
            <a:r>
              <a:rPr lang="en-IN" sz="1000" dirty="0" smtClean="0"/>
              <a:t>}</a:t>
            </a:r>
            <a:endParaRPr lang="en-IN" sz="1000" dirty="0"/>
          </a:p>
          <a:p>
            <a:pPr marL="0" indent="0">
              <a:spcBef>
                <a:spcPts val="200"/>
              </a:spcBef>
              <a:buNone/>
            </a:pPr>
            <a:r>
              <a:rPr lang="en-IN" sz="1000" dirty="0"/>
              <a:t>abstract class </a:t>
            </a:r>
            <a:r>
              <a:rPr lang="en-IN" sz="1000" dirty="0" err="1"/>
              <a:t>FirstChild</a:t>
            </a:r>
            <a:r>
              <a:rPr lang="en-IN" sz="1000" dirty="0"/>
              <a:t> extends Demo {</a:t>
            </a:r>
            <a:endParaRPr lang="en-IN" sz="1000" dirty="0"/>
          </a:p>
          <a:p>
            <a:pPr marL="0" indent="0">
              <a:spcBef>
                <a:spcPts val="200"/>
              </a:spcBef>
              <a:buNone/>
            </a:pPr>
            <a:r>
              <a:rPr lang="en-IN" sz="1000" dirty="0"/>
              <a:t>    public void m1() {</a:t>
            </a:r>
            <a:endParaRPr lang="en-IN" sz="1000" dirty="0"/>
          </a:p>
          <a:p>
            <a:pPr marL="0" indent="0">
              <a:spcBef>
                <a:spcPts val="200"/>
              </a:spcBef>
              <a:buNone/>
            </a:pPr>
            <a:r>
              <a:rPr lang="en-IN" sz="1000" dirty="0"/>
              <a:t>      </a:t>
            </a:r>
            <a:r>
              <a:rPr lang="en-IN" sz="1000" dirty="0" err="1"/>
              <a:t>System.out.println</a:t>
            </a:r>
            <a:r>
              <a:rPr lang="en-IN" sz="1000" dirty="0"/>
              <a:t>("Inside m1"); </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smtClean="0"/>
              <a:t>}</a:t>
            </a:r>
            <a:endParaRPr lang="en-IN" sz="1000" dirty="0"/>
          </a:p>
          <a:p>
            <a:pPr marL="0" indent="0">
              <a:spcBef>
                <a:spcPts val="200"/>
              </a:spcBef>
              <a:buNone/>
            </a:pPr>
            <a:r>
              <a:rPr lang="en-IN" sz="1000" dirty="0"/>
              <a:t>class </a:t>
            </a:r>
            <a:r>
              <a:rPr lang="en-IN" sz="1000" dirty="0" err="1"/>
              <a:t>SecondChild</a:t>
            </a:r>
            <a:r>
              <a:rPr lang="en-IN" sz="1000" dirty="0"/>
              <a:t> extends </a:t>
            </a:r>
            <a:r>
              <a:rPr lang="en-IN" sz="1000" dirty="0" err="1"/>
              <a:t>FirstChild</a:t>
            </a:r>
            <a:r>
              <a:rPr lang="en-IN" sz="1000" dirty="0"/>
              <a:t> {</a:t>
            </a:r>
            <a:endParaRPr lang="en-IN" sz="1000" dirty="0"/>
          </a:p>
          <a:p>
            <a:pPr marL="0" indent="0">
              <a:spcBef>
                <a:spcPts val="200"/>
              </a:spcBef>
              <a:buNone/>
            </a:pPr>
            <a:r>
              <a:rPr lang="en-IN" sz="1000" dirty="0"/>
              <a:t>    public void m2() {</a:t>
            </a:r>
            <a:endParaRPr lang="en-IN" sz="1000" dirty="0"/>
          </a:p>
          <a:p>
            <a:pPr marL="0" indent="0">
              <a:spcBef>
                <a:spcPts val="200"/>
              </a:spcBef>
              <a:buNone/>
            </a:pPr>
            <a:r>
              <a:rPr lang="en-IN" sz="1000" dirty="0"/>
              <a:t>      </a:t>
            </a:r>
            <a:r>
              <a:rPr lang="en-IN" sz="1000" dirty="0" err="1"/>
              <a:t>System.out.println</a:t>
            </a:r>
            <a:r>
              <a:rPr lang="en-IN" sz="1000" dirty="0"/>
              <a:t>("Inside m2"); </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a:t>    public void m3() {</a:t>
            </a:r>
            <a:endParaRPr lang="en-IN" sz="1000" dirty="0"/>
          </a:p>
          <a:p>
            <a:pPr marL="0" indent="0">
              <a:spcBef>
                <a:spcPts val="200"/>
              </a:spcBef>
              <a:buNone/>
            </a:pPr>
            <a:r>
              <a:rPr lang="en-IN" sz="1000" dirty="0"/>
              <a:t>      </a:t>
            </a:r>
            <a:r>
              <a:rPr lang="en-IN" sz="1000" dirty="0" err="1"/>
              <a:t>System.out.println</a:t>
            </a:r>
            <a:r>
              <a:rPr lang="en-IN" sz="1000" dirty="0"/>
              <a:t>("Inside m3");</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smtClean="0"/>
              <a:t>}</a:t>
            </a:r>
            <a:endParaRPr lang="en-IN" sz="1000" dirty="0"/>
          </a:p>
          <a:p>
            <a:pPr marL="0" indent="0">
              <a:spcBef>
                <a:spcPts val="200"/>
              </a:spcBef>
              <a:buNone/>
            </a:pPr>
            <a:r>
              <a:rPr lang="en-IN" sz="1000" dirty="0"/>
              <a:t>class GFG {</a:t>
            </a:r>
            <a:endParaRPr lang="en-IN" sz="1000" dirty="0"/>
          </a:p>
          <a:p>
            <a:pPr marL="0" indent="0">
              <a:spcBef>
                <a:spcPts val="200"/>
              </a:spcBef>
              <a:buNone/>
            </a:pPr>
            <a:r>
              <a:rPr lang="en-IN" sz="1000" dirty="0"/>
              <a:t>    public static void main(String[] </a:t>
            </a:r>
            <a:r>
              <a:rPr lang="en-IN" sz="1000" dirty="0" err="1" smtClean="0"/>
              <a:t>args</a:t>
            </a:r>
            <a:r>
              <a:rPr lang="en-IN" sz="1000" dirty="0" smtClean="0"/>
              <a:t>) {</a:t>
            </a:r>
            <a:endParaRPr lang="en-IN" sz="1000" dirty="0" smtClean="0"/>
          </a:p>
          <a:p>
            <a:pPr marL="0" indent="0">
              <a:spcBef>
                <a:spcPts val="200"/>
              </a:spcBef>
              <a:buNone/>
            </a:pPr>
            <a:r>
              <a:rPr lang="en-IN" sz="1000" dirty="0" smtClean="0"/>
              <a:t>        </a:t>
            </a:r>
            <a:r>
              <a:rPr lang="en-IN" sz="1000" dirty="0"/>
              <a:t>// if we remove the abstract keyword from </a:t>
            </a:r>
            <a:r>
              <a:rPr lang="en-IN" sz="1000" dirty="0" err="1" smtClean="0"/>
              <a:t>FirstChild</a:t>
            </a:r>
            <a:r>
              <a:rPr lang="en-IN" sz="1000" dirty="0" smtClean="0"/>
              <a:t> Class </a:t>
            </a:r>
            <a:r>
              <a:rPr lang="en-IN" sz="1000" dirty="0"/>
              <a:t>and uncommented below </a:t>
            </a:r>
            <a:r>
              <a:rPr lang="en-IN" sz="1000" dirty="0" err="1"/>
              <a:t>obj</a:t>
            </a:r>
            <a:r>
              <a:rPr lang="en-IN" sz="1000" dirty="0"/>
              <a:t> creation for</a:t>
            </a:r>
            <a:endParaRPr lang="en-IN" sz="1000" dirty="0"/>
          </a:p>
          <a:p>
            <a:pPr marL="0" indent="0">
              <a:spcBef>
                <a:spcPts val="200"/>
              </a:spcBef>
              <a:buNone/>
            </a:pPr>
            <a:r>
              <a:rPr lang="en-IN" sz="1000" dirty="0"/>
              <a:t>        // </a:t>
            </a:r>
            <a:r>
              <a:rPr lang="en-IN" sz="1000" dirty="0" err="1"/>
              <a:t>FirstChild</a:t>
            </a:r>
            <a:r>
              <a:rPr lang="en-IN" sz="1000" dirty="0"/>
              <a:t> then it will </a:t>
            </a:r>
            <a:r>
              <a:rPr lang="en-IN" sz="1000" dirty="0" smtClean="0"/>
              <a:t>throw compile </a:t>
            </a:r>
            <a:r>
              <a:rPr lang="en-IN" sz="1000" dirty="0"/>
              <a:t>time error as </a:t>
            </a:r>
            <a:r>
              <a:rPr lang="en-IN" sz="1000" dirty="0" err="1"/>
              <a:t>did't</a:t>
            </a:r>
            <a:r>
              <a:rPr lang="en-IN" sz="1000" dirty="0"/>
              <a:t> override all </a:t>
            </a:r>
            <a:r>
              <a:rPr lang="en-IN" sz="1000" dirty="0" smtClean="0"/>
              <a:t>the abstract </a:t>
            </a:r>
            <a:r>
              <a:rPr lang="en-IN" sz="1000" dirty="0"/>
              <a:t>methods</a:t>
            </a:r>
            <a:endParaRPr lang="en-IN" sz="1000" dirty="0"/>
          </a:p>
          <a:p>
            <a:pPr marL="0" indent="0">
              <a:spcBef>
                <a:spcPts val="200"/>
              </a:spcBef>
              <a:buNone/>
            </a:pPr>
            <a:endParaRPr lang="en-IN" sz="1000" dirty="0"/>
          </a:p>
          <a:p>
            <a:pPr marL="0" indent="0">
              <a:spcBef>
                <a:spcPts val="200"/>
              </a:spcBef>
              <a:buNone/>
            </a:pPr>
            <a:r>
              <a:rPr lang="en-IN" sz="1000" dirty="0"/>
              <a:t>        // </a:t>
            </a:r>
            <a:r>
              <a:rPr lang="en-IN" sz="1000" dirty="0" err="1"/>
              <a:t>FirstChild</a:t>
            </a:r>
            <a:r>
              <a:rPr lang="en-IN" sz="1000" dirty="0"/>
              <a:t> f=new </a:t>
            </a:r>
            <a:r>
              <a:rPr lang="en-IN" sz="1000" dirty="0" err="1"/>
              <a:t>FirstChild</a:t>
            </a:r>
            <a:r>
              <a:rPr lang="en-IN" sz="1000" dirty="0"/>
              <a:t>();</a:t>
            </a:r>
            <a:endParaRPr lang="en-IN" sz="1000" dirty="0"/>
          </a:p>
          <a:p>
            <a:pPr marL="0" indent="0">
              <a:spcBef>
                <a:spcPts val="200"/>
              </a:spcBef>
              <a:buNone/>
            </a:pPr>
            <a:r>
              <a:rPr lang="en-IN" sz="1000" dirty="0"/>
              <a:t>        // f.m1();</a:t>
            </a:r>
            <a:endParaRPr lang="en-IN" sz="1000" dirty="0"/>
          </a:p>
          <a:p>
            <a:pPr marL="0" indent="0">
              <a:spcBef>
                <a:spcPts val="200"/>
              </a:spcBef>
              <a:buNone/>
            </a:pPr>
            <a:endParaRPr lang="en-IN" sz="1000" dirty="0"/>
          </a:p>
          <a:p>
            <a:pPr marL="0" indent="0">
              <a:spcBef>
                <a:spcPts val="200"/>
              </a:spcBef>
              <a:buNone/>
            </a:pPr>
            <a:r>
              <a:rPr lang="en-IN" sz="1000" dirty="0"/>
              <a:t>        </a:t>
            </a:r>
            <a:r>
              <a:rPr lang="en-IN" sz="1000" dirty="0" err="1"/>
              <a:t>SecondChild</a:t>
            </a:r>
            <a:r>
              <a:rPr lang="en-IN" sz="1000" dirty="0"/>
              <a:t> s = new </a:t>
            </a:r>
            <a:r>
              <a:rPr lang="en-IN" sz="1000" dirty="0" err="1"/>
              <a:t>SecondChild</a:t>
            </a:r>
            <a:r>
              <a:rPr lang="en-IN" sz="1000" dirty="0"/>
              <a:t>();</a:t>
            </a:r>
            <a:endParaRPr lang="en-IN" sz="1000" dirty="0"/>
          </a:p>
          <a:p>
            <a:pPr marL="0" indent="0">
              <a:spcBef>
                <a:spcPts val="200"/>
              </a:spcBef>
              <a:buNone/>
            </a:pPr>
            <a:r>
              <a:rPr lang="en-IN" sz="1000" dirty="0"/>
              <a:t>        s.m1();</a:t>
            </a:r>
            <a:endParaRPr lang="en-IN" sz="1000" dirty="0"/>
          </a:p>
          <a:p>
            <a:pPr marL="0" indent="0">
              <a:spcBef>
                <a:spcPts val="200"/>
              </a:spcBef>
              <a:buNone/>
            </a:pPr>
            <a:r>
              <a:rPr lang="en-IN" sz="1000" dirty="0"/>
              <a:t>        s.m2();</a:t>
            </a:r>
            <a:endParaRPr lang="en-IN" sz="1000" dirty="0"/>
          </a:p>
          <a:p>
            <a:pPr marL="0" indent="0">
              <a:spcBef>
                <a:spcPts val="200"/>
              </a:spcBef>
              <a:buNone/>
            </a:pPr>
            <a:r>
              <a:rPr lang="en-IN" sz="1000" dirty="0"/>
              <a:t>        s.m3();</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a:t>}</a:t>
            </a:r>
            <a:endParaRPr lang="en-IN"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3930"/>
          </a:xfrm>
        </p:spPr>
        <p:txBody>
          <a:bodyPr>
            <a:normAutofit fontScale="90000"/>
          </a:bodyPr>
          <a:lstStyle/>
          <a:p>
            <a:r>
              <a:rPr lang="en-IN" b="1" dirty="0" smtClean="0"/>
              <a:t>Practical use cases</a:t>
            </a:r>
            <a:endParaRPr lang="en-IN" b="1" dirty="0"/>
          </a:p>
        </p:txBody>
      </p:sp>
      <p:sp>
        <p:nvSpPr>
          <p:cNvPr id="3" name="Content Placeholder 2"/>
          <p:cNvSpPr>
            <a:spLocks noGrp="1"/>
          </p:cNvSpPr>
          <p:nvPr>
            <p:ph idx="1"/>
          </p:nvPr>
        </p:nvSpPr>
        <p:spPr>
          <a:xfrm>
            <a:off x="598054" y="1108364"/>
            <a:ext cx="11039763" cy="5301672"/>
          </a:xfrm>
        </p:spPr>
        <p:txBody>
          <a:bodyPr>
            <a:noAutofit/>
          </a:bodyPr>
          <a:lstStyle/>
          <a:p>
            <a:pPr algn="l"/>
            <a:r>
              <a:rPr lang="en-US" sz="2000" dirty="0" smtClean="0"/>
              <a:t>A use </a:t>
            </a:r>
            <a:r>
              <a:rPr lang="en-US" sz="2000" dirty="0"/>
              <a:t>case for an abstract class in Java is in a vehicle rental system. The abstract class Vehicle could define common attributes like </a:t>
            </a:r>
            <a:r>
              <a:rPr lang="en-US" sz="2000" dirty="0" err="1"/>
              <a:t>vehicleID</a:t>
            </a:r>
            <a:r>
              <a:rPr lang="en-US" sz="2000" dirty="0"/>
              <a:t>, </a:t>
            </a:r>
            <a:r>
              <a:rPr lang="en-US" sz="2000" dirty="0" err="1"/>
              <a:t>rentalCost</a:t>
            </a:r>
            <a:r>
              <a:rPr lang="en-US" sz="2000" dirty="0"/>
              <a:t>, and methods like </a:t>
            </a:r>
            <a:r>
              <a:rPr lang="en-US" sz="2000" dirty="0" err="1"/>
              <a:t>startRental</a:t>
            </a:r>
            <a:r>
              <a:rPr lang="en-US" sz="2000" dirty="0"/>
              <a:t>() and </a:t>
            </a:r>
            <a:r>
              <a:rPr lang="en-US" sz="2000" dirty="0" err="1"/>
              <a:t>endRental</a:t>
            </a:r>
            <a:r>
              <a:rPr lang="en-US" sz="2000" dirty="0"/>
              <a:t>(), while leaving an abstract method </a:t>
            </a:r>
            <a:r>
              <a:rPr lang="en-US" sz="2000" dirty="0" err="1"/>
              <a:t>calculateRentalCost</a:t>
            </a:r>
            <a:r>
              <a:rPr lang="en-US" sz="2000" dirty="0"/>
              <a:t>() for subclasses like Car, Bike, and Truck to implement based on their own rental cost calculations (e.g., hourly, daily, or based on mileage). This ensures all vehicles follow the same rental flow but handle cost calculations specific to their type</a:t>
            </a:r>
            <a:r>
              <a:rPr lang="en-US" sz="2000" dirty="0" smtClean="0"/>
              <a:t>.</a:t>
            </a:r>
            <a:endParaRPr lang="en-US" sz="2000" dirty="0" smtClean="0"/>
          </a:p>
          <a:p>
            <a:pPr algn="l"/>
            <a:r>
              <a:rPr lang="en-US" sz="2000" dirty="0"/>
              <a:t>In a travel booking system, an abstract class Booking could define common methods like </a:t>
            </a:r>
            <a:r>
              <a:rPr lang="en-US" sz="2000" dirty="0" err="1"/>
              <a:t>confirmBooking</a:t>
            </a:r>
            <a:r>
              <a:rPr lang="en-US" sz="2000" dirty="0"/>
              <a:t>() and </a:t>
            </a:r>
            <a:r>
              <a:rPr lang="en-US" sz="2000" dirty="0" err="1"/>
              <a:t>cancelBooking</a:t>
            </a:r>
            <a:r>
              <a:rPr lang="en-US" sz="2000" dirty="0"/>
              <a:t>(), while leaving an abstract method </a:t>
            </a:r>
            <a:r>
              <a:rPr lang="en-US" sz="2000" dirty="0" err="1"/>
              <a:t>calculatePrice</a:t>
            </a:r>
            <a:r>
              <a:rPr lang="en-US" sz="2000" dirty="0"/>
              <a:t>() to be implemented by subclasses such as </a:t>
            </a:r>
            <a:r>
              <a:rPr lang="en-US" sz="2000" dirty="0" err="1"/>
              <a:t>FlightBooking</a:t>
            </a:r>
            <a:r>
              <a:rPr lang="en-US" sz="2000" dirty="0"/>
              <a:t>, </a:t>
            </a:r>
            <a:r>
              <a:rPr lang="en-US" sz="2000" dirty="0" err="1"/>
              <a:t>HotelBooking</a:t>
            </a:r>
            <a:r>
              <a:rPr lang="en-US" sz="2000" dirty="0"/>
              <a:t>, and </a:t>
            </a:r>
            <a:r>
              <a:rPr lang="en-US" sz="2000" dirty="0" err="1"/>
              <a:t>CarRentalBooking</a:t>
            </a:r>
            <a:r>
              <a:rPr lang="en-US" sz="2000" dirty="0"/>
              <a:t>. Each type of booking would have its own way of calculating the price, but the process of confirming and canceling the booking would remain consistent across all types.</a:t>
            </a:r>
            <a:endParaRPr lang="en-IN"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5817"/>
            <a:ext cx="10515600" cy="613930"/>
          </a:xfrm>
        </p:spPr>
        <p:txBody>
          <a:bodyPr>
            <a:normAutofit fontScale="90000"/>
          </a:bodyPr>
          <a:lstStyle/>
          <a:p>
            <a:r>
              <a:rPr lang="en-IN" dirty="0" smtClean="0"/>
              <a:t>Interface</a:t>
            </a:r>
            <a:endParaRPr lang="en-IN" dirty="0"/>
          </a:p>
        </p:txBody>
      </p:sp>
      <p:sp>
        <p:nvSpPr>
          <p:cNvPr id="3" name="Content Placeholder 2"/>
          <p:cNvSpPr>
            <a:spLocks noGrp="1"/>
          </p:cNvSpPr>
          <p:nvPr>
            <p:ph idx="1"/>
          </p:nvPr>
        </p:nvSpPr>
        <p:spPr>
          <a:xfrm>
            <a:off x="838200" y="1016000"/>
            <a:ext cx="10515600" cy="5606473"/>
          </a:xfrm>
        </p:spPr>
        <p:txBody>
          <a:bodyPr>
            <a:normAutofit fontScale="85000" lnSpcReduction="10000"/>
          </a:bodyPr>
          <a:lstStyle/>
          <a:p>
            <a:r>
              <a:rPr lang="en-US" dirty="0"/>
              <a:t>The interface in Java is </a:t>
            </a:r>
            <a:r>
              <a:rPr lang="en-US" i="1" dirty="0"/>
              <a:t>a </a:t>
            </a:r>
            <a:r>
              <a:rPr lang="en-US" dirty="0"/>
              <a:t>mechanism to achieve </a:t>
            </a:r>
            <a:r>
              <a:rPr lang="en-US" u="sng" dirty="0"/>
              <a:t>abstraction</a:t>
            </a:r>
            <a:r>
              <a:rPr lang="en-US" dirty="0"/>
              <a:t>.</a:t>
            </a:r>
            <a:endParaRPr lang="en-US" dirty="0" smtClean="0"/>
          </a:p>
          <a:p>
            <a:r>
              <a:rPr lang="en-US" dirty="0" smtClean="0"/>
              <a:t>An </a:t>
            </a:r>
            <a:r>
              <a:rPr lang="en-US" dirty="0"/>
              <a:t>abstract type used to specify the behavior of a class</a:t>
            </a:r>
            <a:r>
              <a:rPr lang="en-US" dirty="0" smtClean="0"/>
              <a:t>.</a:t>
            </a:r>
            <a:endParaRPr lang="en-IN" dirty="0"/>
          </a:p>
          <a:p>
            <a:r>
              <a:rPr lang="en-US" dirty="0"/>
              <a:t>A Java interface contains static constants and abstract methods</a:t>
            </a:r>
            <a:r>
              <a:rPr lang="en-US" dirty="0" smtClean="0"/>
              <a:t>.</a:t>
            </a:r>
            <a:endParaRPr lang="en-US" dirty="0" smtClean="0"/>
          </a:p>
          <a:p>
            <a:r>
              <a:rPr lang="en-US" dirty="0"/>
              <a:t>Constants: Interfaces can have variables, but they are implicitly public, static, and final</a:t>
            </a:r>
            <a:r>
              <a:rPr lang="en-US" dirty="0" smtClean="0"/>
              <a:t>.</a:t>
            </a:r>
            <a:endParaRPr lang="en-US" dirty="0" smtClean="0"/>
          </a:p>
          <a:p>
            <a:r>
              <a:rPr lang="en-US" dirty="0"/>
              <a:t>An interface cannot contain a constructor (as it cannot be used to create objects</a:t>
            </a:r>
            <a:r>
              <a:rPr lang="en-US" dirty="0" smtClean="0"/>
              <a:t>)</a:t>
            </a:r>
            <a:endParaRPr lang="en-IN" dirty="0"/>
          </a:p>
          <a:p>
            <a:r>
              <a:rPr lang="en-US" dirty="0"/>
              <a:t>A class that implements an interface must provide the concrete implementation for all methods declared in the interface</a:t>
            </a:r>
            <a:r>
              <a:rPr lang="en-US" dirty="0" smtClean="0"/>
              <a:t>.</a:t>
            </a:r>
            <a:endParaRPr lang="en-US" dirty="0" smtClean="0"/>
          </a:p>
          <a:p>
            <a:r>
              <a:rPr lang="en-US" b="1" dirty="0"/>
              <a:t>Multiple inheritance:</a:t>
            </a:r>
            <a:r>
              <a:rPr lang="en-US" dirty="0"/>
              <a:t> A class can implement multiple interfaces, enabling a form of multiple inheritance, which is not possible with classes. // A simple interface</a:t>
            </a:r>
            <a:endParaRPr lang="en-US" dirty="0"/>
          </a:p>
          <a:p>
            <a:pPr marL="457200" lvl="1" indent="0">
              <a:buNone/>
            </a:pPr>
            <a:r>
              <a:rPr lang="en-US" dirty="0"/>
              <a:t>interface Player</a:t>
            </a:r>
            <a:endParaRPr lang="en-US" dirty="0"/>
          </a:p>
          <a:p>
            <a:pPr marL="457200" lvl="1" indent="0">
              <a:buNone/>
            </a:pPr>
            <a:r>
              <a:rPr lang="en-US" dirty="0"/>
              <a:t>{</a:t>
            </a:r>
            <a:endParaRPr lang="en-US" dirty="0"/>
          </a:p>
          <a:p>
            <a:pPr marL="457200" lvl="1" indent="0">
              <a:buNone/>
            </a:pPr>
            <a:r>
              <a:rPr lang="en-US" dirty="0"/>
              <a:t>    final </a:t>
            </a:r>
            <a:r>
              <a:rPr lang="en-US" dirty="0" err="1"/>
              <a:t>int</a:t>
            </a:r>
            <a:r>
              <a:rPr lang="en-US" dirty="0"/>
              <a:t> id = 10;</a:t>
            </a:r>
            <a:endParaRPr lang="en-US" dirty="0"/>
          </a:p>
          <a:p>
            <a:pPr marL="457200" lvl="1" indent="0">
              <a:buNone/>
            </a:pPr>
            <a:r>
              <a:rPr lang="en-US" dirty="0"/>
              <a:t>    </a:t>
            </a:r>
            <a:r>
              <a:rPr lang="en-US" dirty="0" err="1"/>
              <a:t>int</a:t>
            </a:r>
            <a:r>
              <a:rPr lang="en-US" dirty="0"/>
              <a:t> move();</a:t>
            </a:r>
            <a:endParaRPr lang="en-US" dirty="0"/>
          </a:p>
          <a:p>
            <a:pPr marL="457200" lvl="1" indent="0">
              <a:buNone/>
            </a:pPr>
            <a:r>
              <a:rPr lang="en-US" dirty="0"/>
              <a:t>}</a:t>
            </a:r>
            <a:endParaRPr lang="en-US" dirty="0" smtClean="0"/>
          </a:p>
          <a:p>
            <a:endParaRPr lang="en-US" dirty="0" smtClean="0"/>
          </a:p>
          <a:p>
            <a:endParaRPr lang="en-US"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054" y="235817"/>
            <a:ext cx="10515600" cy="484620"/>
          </a:xfrm>
        </p:spPr>
        <p:txBody>
          <a:bodyPr>
            <a:normAutofit fontScale="90000"/>
          </a:bodyPr>
          <a:lstStyle/>
          <a:p>
            <a:pPr fontAlgn="base"/>
            <a:r>
              <a:rPr lang="en-US" b="1" dirty="0"/>
              <a:t>Relationship Between Class and Interface</a:t>
            </a:r>
            <a:endParaRPr lang="en-US" b="1" dirty="0"/>
          </a:p>
        </p:txBody>
      </p:sp>
      <p:sp>
        <p:nvSpPr>
          <p:cNvPr id="3" name="Content Placeholder 2"/>
          <p:cNvSpPr>
            <a:spLocks noGrp="1"/>
          </p:cNvSpPr>
          <p:nvPr>
            <p:ph idx="1"/>
          </p:nvPr>
        </p:nvSpPr>
        <p:spPr>
          <a:xfrm>
            <a:off x="332509" y="868218"/>
            <a:ext cx="11490036" cy="5989782"/>
          </a:xfrm>
        </p:spPr>
        <p:txBody>
          <a:bodyPr>
            <a:normAutofit fontScale="92500" lnSpcReduction="10000"/>
          </a:bodyPr>
          <a:lstStyle/>
          <a:p>
            <a:r>
              <a:rPr lang="en-US" dirty="0"/>
              <a:t>A class can extend another class, and similarly, an interface can extend another interface. However, only a class can implement an interface, and the reverse (an interface implementing a class) is not allowed</a:t>
            </a:r>
            <a:r>
              <a:rPr lang="en-US" dirty="0" smtClean="0"/>
              <a:t>.</a:t>
            </a:r>
            <a:endParaRPr lang="en-US" dirty="0" smtClean="0"/>
          </a:p>
          <a:p>
            <a:r>
              <a:rPr lang="en-US" b="1" dirty="0"/>
              <a:t>Difference Between Class and </a:t>
            </a:r>
            <a:r>
              <a:rPr lang="en-US" b="1" dirty="0" smtClean="0"/>
              <a:t>Interface</a:t>
            </a:r>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Note</a:t>
            </a:r>
            <a:r>
              <a:rPr lang="en-US" b="1" dirty="0"/>
              <a:t>: </a:t>
            </a:r>
            <a:r>
              <a:rPr lang="en-US" dirty="0"/>
              <a:t>To implement an interface, we use the keyword </a:t>
            </a:r>
            <a:r>
              <a:rPr lang="en-US" dirty="0" smtClean="0"/>
              <a:t>implements.</a:t>
            </a:r>
            <a:endParaRPr lang="en-US" dirty="0"/>
          </a:p>
          <a:p>
            <a:endParaRPr lang="en-IN" dirty="0"/>
          </a:p>
        </p:txBody>
      </p:sp>
      <p:graphicFrame>
        <p:nvGraphicFramePr>
          <p:cNvPr id="5" name="Table 4"/>
          <p:cNvGraphicFramePr>
            <a:graphicFrameLocks noGrp="1"/>
          </p:cNvGraphicFramePr>
          <p:nvPr/>
        </p:nvGraphicFramePr>
        <p:xfrm>
          <a:off x="794326" y="2753360"/>
          <a:ext cx="10852728" cy="3291840"/>
        </p:xfrm>
        <a:graphic>
          <a:graphicData uri="http://schemas.openxmlformats.org/drawingml/2006/table">
            <a:tbl>
              <a:tblPr/>
              <a:tblGrid>
                <a:gridCol w="5426364"/>
                <a:gridCol w="5426364"/>
              </a:tblGrid>
              <a:tr h="0">
                <a:tc>
                  <a:txBody>
                    <a:bodyPr/>
                    <a:lstStyle/>
                    <a:p>
                      <a:pPr algn="ctr" rtl="0" fontAlgn="base"/>
                      <a:r>
                        <a:rPr lang="en-IN" sz="2400" b="1">
                          <a:effectLst/>
                        </a:rPr>
                        <a:t>Class</a:t>
                      </a:r>
                      <a:endParaRPr lang="en-IN" sz="2400" b="1">
                        <a:effectLst/>
                      </a:endParaRP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2400" b="1" dirty="0">
                          <a:effectLst/>
                        </a:rPr>
                        <a:t>Interface</a:t>
                      </a:r>
                      <a:endParaRPr lang="en-IN" sz="2400" b="1" dirty="0">
                        <a:effectLst/>
                      </a:endParaRP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2000" b="0" dirty="0">
                          <a:effectLst/>
                        </a:rPr>
                        <a:t>In class, you can instantiate variables and create an object.</a:t>
                      </a:r>
                      <a:endParaRPr lang="en-US"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a:effectLst/>
                        </a:rPr>
                        <a:t>In an interface, you must initialize variables as they are final but you can’t create an object.                       </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2000" b="0" dirty="0">
                          <a:effectLst/>
                        </a:rPr>
                        <a:t>A class can contain concrete (with implementation) methods</a:t>
                      </a:r>
                      <a:endParaRPr lang="en-US"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a:effectLst/>
                        </a:rPr>
                        <a:t>The interface cannot contain concrete (with implementation) methods.</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2000" b="0">
                          <a:effectLst/>
                        </a:rPr>
                        <a:t>The access specifiers used with classes are private, protected, and public.</a:t>
                      </a:r>
                      <a:endParaRPr lang="en-US" sz="200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2000" b="0" dirty="0">
                          <a:effectLst/>
                        </a:rPr>
                        <a:t>In Interface only one specifier is used- Public.</a:t>
                      </a:r>
                      <a:endParaRPr lang="en-US" sz="2000" b="0" dirty="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346" y="171162"/>
            <a:ext cx="10515600" cy="383020"/>
          </a:xfrm>
        </p:spPr>
        <p:txBody>
          <a:bodyPr>
            <a:normAutofit fontScale="90000"/>
          </a:bodyPr>
          <a:lstStyle/>
          <a:p>
            <a:r>
              <a:rPr lang="en-IN" dirty="0" smtClean="0"/>
              <a:t>Example</a:t>
            </a:r>
            <a:endParaRPr lang="en-IN" dirty="0"/>
          </a:p>
        </p:txBody>
      </p:sp>
      <p:sp>
        <p:nvSpPr>
          <p:cNvPr id="3" name="Content Placeholder 2"/>
          <p:cNvSpPr>
            <a:spLocks noGrp="1"/>
          </p:cNvSpPr>
          <p:nvPr>
            <p:ph idx="1"/>
          </p:nvPr>
        </p:nvSpPr>
        <p:spPr>
          <a:xfrm>
            <a:off x="570346" y="738908"/>
            <a:ext cx="10783454" cy="6262255"/>
          </a:xfrm>
        </p:spPr>
        <p:txBody>
          <a:bodyPr>
            <a:noAutofit/>
          </a:bodyPr>
          <a:lstStyle/>
          <a:p>
            <a:pPr marL="0" indent="0">
              <a:spcBef>
                <a:spcPts val="200"/>
              </a:spcBef>
              <a:buNone/>
            </a:pPr>
            <a:r>
              <a:rPr lang="en-IN" sz="2400" dirty="0" smtClean="0"/>
              <a:t>import </a:t>
            </a:r>
            <a:r>
              <a:rPr lang="en-IN" sz="2400" dirty="0"/>
              <a:t>java.io</a:t>
            </a:r>
            <a:r>
              <a:rPr lang="en-IN" sz="2400" dirty="0" smtClean="0"/>
              <a:t>.*;</a:t>
            </a:r>
            <a:endParaRPr lang="en-IN" sz="2400" dirty="0" smtClean="0"/>
          </a:p>
          <a:p>
            <a:pPr marL="0" indent="0">
              <a:spcBef>
                <a:spcPts val="200"/>
              </a:spcBef>
              <a:buNone/>
            </a:pPr>
            <a:r>
              <a:rPr lang="en-IN" sz="2400" dirty="0" smtClean="0"/>
              <a:t>interface </a:t>
            </a:r>
            <a:r>
              <a:rPr lang="en-IN" sz="2400" dirty="0"/>
              <a:t>In1 </a:t>
            </a:r>
            <a:r>
              <a:rPr lang="en-IN" sz="2400" dirty="0" smtClean="0"/>
              <a:t>{</a:t>
            </a:r>
            <a:endParaRPr lang="en-IN" sz="2400" dirty="0"/>
          </a:p>
          <a:p>
            <a:pPr marL="0" indent="0">
              <a:spcBef>
                <a:spcPts val="200"/>
              </a:spcBef>
              <a:buNone/>
            </a:pPr>
            <a:r>
              <a:rPr lang="en-IN" sz="2400" dirty="0"/>
              <a:t>    // public, static and final</a:t>
            </a:r>
            <a:endParaRPr lang="en-IN" sz="2400" dirty="0"/>
          </a:p>
          <a:p>
            <a:pPr marL="0" indent="0">
              <a:spcBef>
                <a:spcPts val="200"/>
              </a:spcBef>
              <a:buNone/>
            </a:pPr>
            <a:r>
              <a:rPr lang="en-IN" sz="2400" dirty="0" smtClean="0"/>
              <a:t>    </a:t>
            </a:r>
            <a:r>
              <a:rPr lang="en-IN" sz="2400" dirty="0"/>
              <a:t>final </a:t>
            </a:r>
            <a:r>
              <a:rPr lang="en-IN" sz="2400" dirty="0" err="1"/>
              <a:t>int</a:t>
            </a:r>
            <a:r>
              <a:rPr lang="en-IN" sz="2400" dirty="0"/>
              <a:t> a = 10;</a:t>
            </a:r>
            <a:endParaRPr lang="en-IN" sz="2400" dirty="0"/>
          </a:p>
          <a:p>
            <a:pPr marL="0" indent="0">
              <a:spcBef>
                <a:spcPts val="200"/>
              </a:spcBef>
              <a:buNone/>
            </a:pPr>
            <a:r>
              <a:rPr lang="en-IN" sz="2400" dirty="0" smtClean="0"/>
              <a:t>    void </a:t>
            </a:r>
            <a:r>
              <a:rPr lang="en-IN" sz="2400" dirty="0"/>
              <a:t>display();</a:t>
            </a:r>
            <a:endParaRPr lang="en-IN" sz="2400" dirty="0"/>
          </a:p>
          <a:p>
            <a:pPr marL="0" indent="0">
              <a:spcBef>
                <a:spcPts val="200"/>
              </a:spcBef>
              <a:buNone/>
            </a:pPr>
            <a:r>
              <a:rPr lang="en-IN" sz="2400" dirty="0" smtClean="0"/>
              <a:t>}</a:t>
            </a:r>
            <a:endParaRPr lang="en-IN" sz="2400" dirty="0"/>
          </a:p>
          <a:p>
            <a:pPr marL="0" indent="0">
              <a:spcBef>
                <a:spcPts val="200"/>
              </a:spcBef>
              <a:buNone/>
            </a:pPr>
            <a:r>
              <a:rPr lang="en-IN" sz="2400" dirty="0"/>
              <a:t>class </a:t>
            </a:r>
            <a:r>
              <a:rPr lang="en-IN" sz="2400" dirty="0" err="1"/>
              <a:t>TestClass</a:t>
            </a:r>
            <a:r>
              <a:rPr lang="en-IN" sz="2400" dirty="0"/>
              <a:t> implements In1 </a:t>
            </a:r>
            <a:r>
              <a:rPr lang="en-IN" sz="2400" dirty="0" smtClean="0"/>
              <a:t>{ </a:t>
            </a:r>
            <a:endParaRPr lang="en-IN" sz="2400" dirty="0"/>
          </a:p>
          <a:p>
            <a:pPr marL="0" indent="0">
              <a:spcBef>
                <a:spcPts val="200"/>
              </a:spcBef>
              <a:buNone/>
            </a:pPr>
            <a:r>
              <a:rPr lang="en-IN" sz="2400" dirty="0"/>
              <a:t>    public void display(){ </a:t>
            </a:r>
            <a:endParaRPr lang="en-IN" sz="2400" dirty="0"/>
          </a:p>
          <a:p>
            <a:pPr marL="0" indent="0">
              <a:spcBef>
                <a:spcPts val="200"/>
              </a:spcBef>
              <a:buNone/>
            </a:pPr>
            <a:r>
              <a:rPr lang="en-IN" sz="2400" dirty="0"/>
              <a:t>      </a:t>
            </a:r>
            <a:r>
              <a:rPr lang="en-IN" sz="2400" dirty="0" err="1"/>
              <a:t>System.out.println</a:t>
            </a:r>
            <a:r>
              <a:rPr lang="en-IN" sz="2400" dirty="0"/>
              <a:t>("Geek"); </a:t>
            </a:r>
            <a:endParaRPr lang="en-IN" sz="2400" dirty="0"/>
          </a:p>
          <a:p>
            <a:pPr marL="0" indent="0">
              <a:spcBef>
                <a:spcPts val="200"/>
              </a:spcBef>
              <a:buNone/>
            </a:pPr>
            <a:r>
              <a:rPr lang="en-IN" sz="2400" dirty="0"/>
              <a:t>    }</a:t>
            </a:r>
            <a:endParaRPr lang="en-IN" sz="2400" dirty="0"/>
          </a:p>
          <a:p>
            <a:pPr marL="0" indent="0">
              <a:spcBef>
                <a:spcPts val="200"/>
              </a:spcBef>
              <a:buNone/>
            </a:pPr>
            <a:r>
              <a:rPr lang="en-IN" sz="2400" dirty="0" smtClean="0"/>
              <a:t>public </a:t>
            </a:r>
            <a:r>
              <a:rPr lang="en-IN" sz="2400" dirty="0"/>
              <a:t>static void main(String[] </a:t>
            </a:r>
            <a:r>
              <a:rPr lang="en-IN" sz="2400" dirty="0" err="1"/>
              <a:t>args</a:t>
            </a:r>
            <a:r>
              <a:rPr lang="en-IN" sz="2400" dirty="0"/>
              <a:t>)</a:t>
            </a:r>
            <a:endParaRPr lang="en-IN" sz="2400" dirty="0"/>
          </a:p>
          <a:p>
            <a:pPr marL="0" indent="0">
              <a:spcBef>
                <a:spcPts val="200"/>
              </a:spcBef>
              <a:buNone/>
            </a:pPr>
            <a:r>
              <a:rPr lang="en-IN" sz="2400" dirty="0"/>
              <a:t>    {</a:t>
            </a:r>
            <a:endParaRPr lang="en-IN" sz="2400" dirty="0"/>
          </a:p>
          <a:p>
            <a:pPr marL="0" indent="0">
              <a:spcBef>
                <a:spcPts val="200"/>
              </a:spcBef>
              <a:buNone/>
            </a:pPr>
            <a:r>
              <a:rPr lang="en-IN" sz="2400" dirty="0"/>
              <a:t>        </a:t>
            </a:r>
            <a:r>
              <a:rPr lang="en-IN" sz="2400" dirty="0" err="1"/>
              <a:t>TestClass</a:t>
            </a:r>
            <a:r>
              <a:rPr lang="en-IN" sz="2400" dirty="0"/>
              <a:t> t = new </a:t>
            </a:r>
            <a:r>
              <a:rPr lang="en-IN" sz="2400" dirty="0" err="1"/>
              <a:t>TestClass</a:t>
            </a:r>
            <a:r>
              <a:rPr lang="en-IN" sz="2400" dirty="0"/>
              <a:t>();</a:t>
            </a:r>
            <a:endParaRPr lang="en-IN" sz="2400" dirty="0"/>
          </a:p>
          <a:p>
            <a:pPr marL="0" indent="0">
              <a:spcBef>
                <a:spcPts val="200"/>
              </a:spcBef>
              <a:buNone/>
            </a:pPr>
            <a:r>
              <a:rPr lang="en-IN" sz="2400" dirty="0"/>
              <a:t>        </a:t>
            </a:r>
            <a:r>
              <a:rPr lang="en-IN" sz="2400" dirty="0" err="1"/>
              <a:t>t.display</a:t>
            </a:r>
            <a:r>
              <a:rPr lang="en-IN" sz="2400" dirty="0"/>
              <a:t>();</a:t>
            </a:r>
            <a:endParaRPr lang="en-IN" sz="2400" dirty="0"/>
          </a:p>
          <a:p>
            <a:pPr marL="0" indent="0">
              <a:spcBef>
                <a:spcPts val="200"/>
              </a:spcBef>
              <a:buNone/>
            </a:pPr>
            <a:r>
              <a:rPr lang="en-IN" sz="2400" dirty="0"/>
              <a:t>        </a:t>
            </a:r>
            <a:r>
              <a:rPr lang="en-IN" sz="2400" dirty="0" err="1"/>
              <a:t>System.out.println</a:t>
            </a:r>
            <a:r>
              <a:rPr lang="en-IN" sz="2400" dirty="0"/>
              <a:t>(</a:t>
            </a:r>
            <a:r>
              <a:rPr lang="en-IN" sz="2400" dirty="0" err="1"/>
              <a:t>t.a</a:t>
            </a:r>
            <a:r>
              <a:rPr lang="en-IN" sz="2400" dirty="0"/>
              <a:t>);</a:t>
            </a:r>
            <a:endParaRPr lang="en-IN" sz="2400" dirty="0"/>
          </a:p>
          <a:p>
            <a:pPr marL="0" indent="0">
              <a:spcBef>
                <a:spcPts val="200"/>
              </a:spcBef>
              <a:buNone/>
            </a:pPr>
            <a:r>
              <a:rPr lang="en-IN" sz="2400" dirty="0"/>
              <a:t>    }</a:t>
            </a:r>
            <a:endParaRPr lang="en-IN" sz="2400" dirty="0"/>
          </a:p>
          <a:p>
            <a:pPr marL="0" indent="0">
              <a:spcBef>
                <a:spcPts val="200"/>
              </a:spcBef>
              <a:buNone/>
            </a:pPr>
            <a:r>
              <a:rPr lang="en-IN" sz="2400" dirty="0"/>
              <a:t>}</a:t>
            </a:r>
            <a:endParaRPr lang="en-IN"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127" y="97272"/>
            <a:ext cx="10515600" cy="318366"/>
          </a:xfrm>
        </p:spPr>
        <p:txBody>
          <a:bodyPr>
            <a:noAutofit/>
          </a:bodyPr>
          <a:lstStyle/>
          <a:p>
            <a:r>
              <a:rPr lang="en-IN" sz="2800" dirty="0" smtClean="0"/>
              <a:t>Example</a:t>
            </a:r>
            <a:endParaRPr lang="en-IN" sz="2800" dirty="0"/>
          </a:p>
        </p:txBody>
      </p:sp>
      <p:sp>
        <p:nvSpPr>
          <p:cNvPr id="3" name="Content Placeholder 2"/>
          <p:cNvSpPr>
            <a:spLocks noGrp="1"/>
          </p:cNvSpPr>
          <p:nvPr>
            <p:ph idx="1"/>
          </p:nvPr>
        </p:nvSpPr>
        <p:spPr>
          <a:xfrm>
            <a:off x="210185" y="486410"/>
            <a:ext cx="4511675" cy="6052820"/>
          </a:xfrm>
        </p:spPr>
        <p:txBody>
          <a:bodyPr numCol="3">
            <a:noAutofit/>
          </a:bodyPr>
          <a:lstStyle/>
          <a:p>
            <a:pPr marL="0" indent="0">
              <a:spcBef>
                <a:spcPts val="200"/>
              </a:spcBef>
              <a:buNone/>
            </a:pPr>
            <a:r>
              <a:rPr lang="en-IN" sz="900" dirty="0" smtClean="0"/>
              <a:t>import </a:t>
            </a:r>
            <a:r>
              <a:rPr lang="en-IN" sz="900" dirty="0"/>
              <a:t>java.io</a:t>
            </a:r>
            <a:r>
              <a:rPr lang="en-IN" sz="900" dirty="0" smtClean="0"/>
              <a:t>.*;</a:t>
            </a:r>
            <a:endParaRPr lang="en-IN" sz="900" dirty="0"/>
          </a:p>
          <a:p>
            <a:pPr marL="0" indent="0">
              <a:spcBef>
                <a:spcPts val="200"/>
              </a:spcBef>
              <a:buNone/>
            </a:pPr>
            <a:r>
              <a:rPr lang="en-IN" sz="900" dirty="0"/>
              <a:t>interface Vehicle </a:t>
            </a:r>
            <a:r>
              <a:rPr lang="en-IN" sz="900" dirty="0" smtClean="0"/>
              <a:t>{</a:t>
            </a:r>
            <a:endParaRPr lang="en-IN" sz="900" dirty="0" smtClean="0"/>
          </a:p>
          <a:p>
            <a:pPr marL="0" indent="0">
              <a:spcBef>
                <a:spcPts val="200"/>
              </a:spcBef>
              <a:buNone/>
            </a:pPr>
            <a:r>
              <a:rPr lang="en-IN" sz="900" dirty="0" smtClean="0"/>
              <a:t>    void </a:t>
            </a:r>
            <a:r>
              <a:rPr lang="en-IN" sz="900" dirty="0" err="1"/>
              <a:t>changeGear</a:t>
            </a:r>
            <a:r>
              <a:rPr lang="en-IN" sz="900" dirty="0"/>
              <a:t>(</a:t>
            </a:r>
            <a:r>
              <a:rPr lang="en-IN" sz="900" dirty="0" err="1"/>
              <a:t>int</a:t>
            </a:r>
            <a:r>
              <a:rPr lang="en-IN" sz="900" dirty="0"/>
              <a:t> a);</a:t>
            </a:r>
            <a:endParaRPr lang="en-IN" sz="900" dirty="0"/>
          </a:p>
          <a:p>
            <a:pPr marL="0" indent="0">
              <a:spcBef>
                <a:spcPts val="200"/>
              </a:spcBef>
              <a:buNone/>
            </a:pPr>
            <a:r>
              <a:rPr lang="en-IN" sz="900" dirty="0"/>
              <a:t>    void </a:t>
            </a:r>
            <a:r>
              <a:rPr lang="en-IN" sz="900" dirty="0" err="1"/>
              <a:t>speedUp</a:t>
            </a:r>
            <a:r>
              <a:rPr lang="en-IN" sz="900" dirty="0"/>
              <a:t>(</a:t>
            </a:r>
            <a:r>
              <a:rPr lang="en-IN" sz="900" dirty="0" err="1"/>
              <a:t>int</a:t>
            </a:r>
            <a:r>
              <a:rPr lang="en-IN" sz="900" dirty="0"/>
              <a:t> a);</a:t>
            </a:r>
            <a:endParaRPr lang="en-IN" sz="900" dirty="0"/>
          </a:p>
          <a:p>
            <a:pPr marL="0" indent="0">
              <a:spcBef>
                <a:spcPts val="200"/>
              </a:spcBef>
              <a:buNone/>
            </a:pPr>
            <a:r>
              <a:rPr lang="en-IN" sz="900" dirty="0"/>
              <a:t>    void </a:t>
            </a:r>
            <a:r>
              <a:rPr lang="en-IN" sz="900" dirty="0" err="1"/>
              <a:t>applyBrakes</a:t>
            </a:r>
            <a:r>
              <a:rPr lang="en-IN" sz="900" dirty="0"/>
              <a:t>(</a:t>
            </a:r>
            <a:r>
              <a:rPr lang="en-IN" sz="900" dirty="0" err="1"/>
              <a:t>int</a:t>
            </a:r>
            <a:r>
              <a:rPr lang="en-IN" sz="900" dirty="0"/>
              <a:t> a);</a:t>
            </a:r>
            <a:endParaRPr lang="en-IN" sz="900" dirty="0"/>
          </a:p>
          <a:p>
            <a:pPr marL="0" indent="0">
              <a:spcBef>
                <a:spcPts val="200"/>
              </a:spcBef>
              <a:buNone/>
            </a:pPr>
            <a:r>
              <a:rPr lang="en-IN" sz="900" dirty="0" smtClean="0"/>
              <a:t>}</a:t>
            </a:r>
            <a:endParaRPr lang="en-IN" sz="900" dirty="0"/>
          </a:p>
          <a:p>
            <a:pPr marL="0" indent="0">
              <a:spcBef>
                <a:spcPts val="200"/>
              </a:spcBef>
              <a:buNone/>
            </a:pPr>
            <a:r>
              <a:rPr lang="en-IN" sz="900" dirty="0"/>
              <a:t>class Bicycle implements Vehicle</a:t>
            </a:r>
            <a:r>
              <a:rPr lang="en-IN" sz="900" dirty="0" smtClean="0"/>
              <a:t>{   </a:t>
            </a:r>
            <a:endParaRPr lang="en-IN" sz="900" dirty="0"/>
          </a:p>
          <a:p>
            <a:pPr marL="0" indent="0">
              <a:spcBef>
                <a:spcPts val="200"/>
              </a:spcBef>
              <a:buNone/>
            </a:pPr>
            <a:r>
              <a:rPr lang="en-IN" sz="900" dirty="0"/>
              <a:t>    </a:t>
            </a:r>
            <a:r>
              <a:rPr lang="en-IN" sz="900" dirty="0" err="1"/>
              <a:t>int</a:t>
            </a:r>
            <a:r>
              <a:rPr lang="en-IN" sz="900" dirty="0"/>
              <a:t> speed;</a:t>
            </a:r>
            <a:endParaRPr lang="en-IN" sz="900" dirty="0"/>
          </a:p>
          <a:p>
            <a:pPr marL="0" indent="0">
              <a:spcBef>
                <a:spcPts val="200"/>
              </a:spcBef>
              <a:buNone/>
            </a:pPr>
            <a:r>
              <a:rPr lang="en-IN" sz="900" dirty="0"/>
              <a:t>    </a:t>
            </a:r>
            <a:r>
              <a:rPr lang="en-IN" sz="900" dirty="0" err="1"/>
              <a:t>int</a:t>
            </a:r>
            <a:r>
              <a:rPr lang="en-IN" sz="900" dirty="0"/>
              <a:t> gear</a:t>
            </a:r>
            <a:r>
              <a:rPr lang="en-IN" sz="900" dirty="0" smtClean="0"/>
              <a:t>;</a:t>
            </a:r>
            <a:endParaRPr lang="en-IN" sz="900" dirty="0"/>
          </a:p>
          <a:p>
            <a:pPr marL="0" indent="0">
              <a:spcBef>
                <a:spcPts val="200"/>
              </a:spcBef>
              <a:buNone/>
            </a:pPr>
            <a:r>
              <a:rPr lang="en-IN" sz="900" dirty="0"/>
              <a:t>    // to change gear</a:t>
            </a:r>
            <a:endParaRPr lang="en-IN" sz="900" dirty="0"/>
          </a:p>
          <a:p>
            <a:pPr marL="0" indent="0">
              <a:spcBef>
                <a:spcPts val="200"/>
              </a:spcBef>
              <a:buNone/>
            </a:pPr>
            <a:r>
              <a:rPr lang="en-IN" sz="900" dirty="0"/>
              <a:t>    @Override</a:t>
            </a:r>
            <a:endParaRPr lang="en-IN" sz="900" dirty="0"/>
          </a:p>
          <a:p>
            <a:pPr marL="0" indent="0">
              <a:spcBef>
                <a:spcPts val="200"/>
              </a:spcBef>
              <a:buNone/>
            </a:pPr>
            <a:r>
              <a:rPr lang="en-IN" sz="900" dirty="0"/>
              <a:t>    public void </a:t>
            </a:r>
            <a:r>
              <a:rPr lang="en-IN" sz="900" dirty="0" err="1"/>
              <a:t>changeGear</a:t>
            </a:r>
            <a:r>
              <a:rPr lang="en-IN" sz="900" dirty="0"/>
              <a:t>(</a:t>
            </a:r>
            <a:r>
              <a:rPr lang="en-IN" sz="900" dirty="0" err="1"/>
              <a:t>int</a:t>
            </a:r>
            <a:r>
              <a:rPr lang="en-IN" sz="900" dirty="0"/>
              <a:t> </a:t>
            </a:r>
            <a:r>
              <a:rPr lang="en-IN" sz="900" dirty="0" err="1"/>
              <a:t>newGear</a:t>
            </a:r>
            <a:r>
              <a:rPr lang="en-IN" sz="900" dirty="0" smtClean="0"/>
              <a:t>){</a:t>
            </a:r>
            <a:endParaRPr lang="en-IN" sz="900" dirty="0"/>
          </a:p>
          <a:p>
            <a:pPr marL="0" indent="0">
              <a:spcBef>
                <a:spcPts val="200"/>
              </a:spcBef>
              <a:buNone/>
            </a:pPr>
            <a:r>
              <a:rPr lang="en-IN" sz="900" dirty="0"/>
              <a:t>        gear = </a:t>
            </a:r>
            <a:r>
              <a:rPr lang="en-IN" sz="900" dirty="0" err="1"/>
              <a:t>newGear</a:t>
            </a:r>
            <a:r>
              <a:rPr lang="en-IN" sz="900" dirty="0"/>
              <a:t>;</a:t>
            </a:r>
            <a:endParaRPr lang="en-IN" sz="900" dirty="0"/>
          </a:p>
          <a:p>
            <a:pPr marL="0" indent="0">
              <a:spcBef>
                <a:spcPts val="200"/>
              </a:spcBef>
              <a:buNone/>
            </a:pPr>
            <a:r>
              <a:rPr lang="en-IN" sz="900" dirty="0"/>
              <a:t>    </a:t>
            </a:r>
            <a:r>
              <a:rPr lang="en-IN" sz="900" dirty="0" smtClean="0"/>
              <a:t>}</a:t>
            </a:r>
            <a:endParaRPr lang="en-IN" sz="900" dirty="0" smtClean="0"/>
          </a:p>
          <a:p>
            <a:pPr marL="0" indent="0">
              <a:spcBef>
                <a:spcPts val="200"/>
              </a:spcBef>
              <a:buNone/>
            </a:pPr>
            <a:r>
              <a:rPr lang="en-IN" sz="900" dirty="0" smtClean="0"/>
              <a:t>    </a:t>
            </a:r>
            <a:r>
              <a:rPr lang="en-IN" sz="900" dirty="0"/>
              <a:t>// to increase speed</a:t>
            </a:r>
            <a:endParaRPr lang="en-IN" sz="900" dirty="0"/>
          </a:p>
          <a:p>
            <a:pPr marL="0" indent="0">
              <a:spcBef>
                <a:spcPts val="200"/>
              </a:spcBef>
              <a:buNone/>
            </a:pPr>
            <a:r>
              <a:rPr lang="en-IN" sz="900" dirty="0"/>
              <a:t>    @Override</a:t>
            </a:r>
            <a:endParaRPr lang="en-IN" sz="900" dirty="0"/>
          </a:p>
          <a:p>
            <a:pPr marL="0" indent="0">
              <a:spcBef>
                <a:spcPts val="200"/>
              </a:spcBef>
              <a:buNone/>
            </a:pPr>
            <a:r>
              <a:rPr lang="en-IN" sz="900" dirty="0"/>
              <a:t>    public void </a:t>
            </a:r>
            <a:r>
              <a:rPr lang="en-IN" sz="900" dirty="0" err="1"/>
              <a:t>speedUp</a:t>
            </a:r>
            <a:r>
              <a:rPr lang="en-IN" sz="900" dirty="0"/>
              <a:t>(</a:t>
            </a:r>
            <a:r>
              <a:rPr lang="en-IN" sz="900" dirty="0" err="1"/>
              <a:t>int</a:t>
            </a:r>
            <a:r>
              <a:rPr lang="en-IN" sz="900" dirty="0"/>
              <a:t> increment</a:t>
            </a:r>
            <a:r>
              <a:rPr lang="en-IN" sz="900" dirty="0" smtClean="0"/>
              <a:t>){   </a:t>
            </a:r>
            <a:endParaRPr lang="en-IN" sz="900" dirty="0"/>
          </a:p>
          <a:p>
            <a:pPr marL="0" indent="0">
              <a:spcBef>
                <a:spcPts val="200"/>
              </a:spcBef>
              <a:buNone/>
            </a:pPr>
            <a:r>
              <a:rPr lang="en-IN" sz="900" dirty="0"/>
              <a:t>        speed = speed + increment;</a:t>
            </a:r>
            <a:endParaRPr lang="en-IN" sz="900" dirty="0"/>
          </a:p>
          <a:p>
            <a:pPr marL="0" indent="0">
              <a:spcBef>
                <a:spcPts val="200"/>
              </a:spcBef>
              <a:buNone/>
            </a:pPr>
            <a:r>
              <a:rPr lang="en-IN" sz="900" dirty="0"/>
              <a:t>    </a:t>
            </a:r>
            <a:r>
              <a:rPr lang="en-IN" sz="900" dirty="0" smtClean="0"/>
              <a:t>}</a:t>
            </a:r>
            <a:endParaRPr lang="en-IN" sz="900" dirty="0" smtClean="0"/>
          </a:p>
          <a:p>
            <a:pPr marL="0" indent="0">
              <a:spcBef>
                <a:spcPts val="200"/>
              </a:spcBef>
              <a:buNone/>
            </a:pPr>
            <a:r>
              <a:rPr lang="en-IN" sz="900" dirty="0" smtClean="0"/>
              <a:t>// </a:t>
            </a:r>
            <a:r>
              <a:rPr lang="en-IN" sz="900" dirty="0"/>
              <a:t>to decrease speed</a:t>
            </a:r>
            <a:endParaRPr lang="en-IN" sz="900" dirty="0"/>
          </a:p>
          <a:p>
            <a:pPr marL="0" indent="0">
              <a:spcBef>
                <a:spcPts val="200"/>
              </a:spcBef>
              <a:buNone/>
            </a:pPr>
            <a:r>
              <a:rPr lang="en-IN" sz="900" dirty="0"/>
              <a:t>    @Override</a:t>
            </a:r>
            <a:endParaRPr lang="en-IN" sz="900" dirty="0"/>
          </a:p>
          <a:p>
            <a:pPr marL="0" indent="0">
              <a:spcBef>
                <a:spcPts val="200"/>
              </a:spcBef>
              <a:buNone/>
            </a:pPr>
            <a:r>
              <a:rPr lang="en-IN" sz="900" dirty="0"/>
              <a:t>    public void </a:t>
            </a:r>
            <a:r>
              <a:rPr lang="en-IN" sz="900" dirty="0" err="1"/>
              <a:t>applyBrakes</a:t>
            </a:r>
            <a:r>
              <a:rPr lang="en-IN" sz="900" dirty="0"/>
              <a:t>(</a:t>
            </a:r>
            <a:r>
              <a:rPr lang="en-IN" sz="900" dirty="0" err="1"/>
              <a:t>int</a:t>
            </a:r>
            <a:r>
              <a:rPr lang="en-IN" sz="900" dirty="0"/>
              <a:t> decrement){</a:t>
            </a:r>
            <a:endParaRPr lang="en-IN" sz="900" dirty="0"/>
          </a:p>
          <a:p>
            <a:pPr marL="0" indent="0">
              <a:spcBef>
                <a:spcPts val="200"/>
              </a:spcBef>
              <a:buNone/>
            </a:pPr>
            <a:r>
              <a:rPr lang="en-IN" sz="900" dirty="0" smtClean="0"/>
              <a:t>speed </a:t>
            </a:r>
            <a:r>
              <a:rPr lang="en-IN" sz="900" dirty="0"/>
              <a:t>= speed - decrement;</a:t>
            </a:r>
            <a:endParaRPr lang="en-IN" sz="900" dirty="0"/>
          </a:p>
          <a:p>
            <a:pPr marL="0" indent="0">
              <a:spcBef>
                <a:spcPts val="200"/>
              </a:spcBef>
              <a:buNone/>
            </a:pPr>
            <a:r>
              <a:rPr lang="en-IN" sz="900" dirty="0"/>
              <a:t>    </a:t>
            </a:r>
            <a:r>
              <a:rPr lang="en-IN" sz="900" dirty="0" smtClean="0"/>
              <a:t>}</a:t>
            </a:r>
            <a:endParaRPr lang="en-IN" sz="900" dirty="0"/>
          </a:p>
          <a:p>
            <a:pPr marL="0" indent="0">
              <a:spcBef>
                <a:spcPts val="200"/>
              </a:spcBef>
              <a:buNone/>
            </a:pPr>
            <a:r>
              <a:rPr lang="en-IN" sz="900" dirty="0"/>
              <a:t>    public void </a:t>
            </a:r>
            <a:r>
              <a:rPr lang="en-IN" sz="900" dirty="0" err="1"/>
              <a:t>printStates</a:t>
            </a:r>
            <a:r>
              <a:rPr lang="en-IN" sz="900" dirty="0"/>
              <a:t>() {</a:t>
            </a:r>
            <a:endParaRPr lang="en-IN" sz="900" dirty="0"/>
          </a:p>
          <a:p>
            <a:pPr marL="0" indent="0">
              <a:spcBef>
                <a:spcPts val="200"/>
              </a:spcBef>
              <a:buNone/>
            </a:pPr>
            <a:r>
              <a:rPr lang="en-IN" sz="900" dirty="0"/>
              <a:t>        </a:t>
            </a:r>
            <a:r>
              <a:rPr lang="en-IN" sz="900" dirty="0" err="1"/>
              <a:t>System.out.println</a:t>
            </a:r>
            <a:r>
              <a:rPr lang="en-IN" sz="900" dirty="0"/>
              <a:t>("speed: " + speed</a:t>
            </a:r>
            <a:endParaRPr lang="en-IN" sz="900" dirty="0"/>
          </a:p>
          <a:p>
            <a:pPr marL="0" indent="0">
              <a:spcBef>
                <a:spcPts val="200"/>
              </a:spcBef>
              <a:buNone/>
            </a:pPr>
            <a:r>
              <a:rPr lang="en-IN" sz="900" dirty="0"/>
              <a:t>            + " gear: " + gear);</a:t>
            </a:r>
            <a:endParaRPr lang="en-IN" sz="900" dirty="0"/>
          </a:p>
          <a:p>
            <a:pPr marL="0" indent="0">
              <a:spcBef>
                <a:spcPts val="200"/>
              </a:spcBef>
              <a:buNone/>
            </a:pPr>
            <a:r>
              <a:rPr lang="en-IN" sz="900" dirty="0"/>
              <a:t>    }</a:t>
            </a:r>
            <a:endParaRPr lang="en-IN" sz="900" dirty="0"/>
          </a:p>
          <a:p>
            <a:pPr marL="0" indent="0">
              <a:spcBef>
                <a:spcPts val="200"/>
              </a:spcBef>
              <a:buNone/>
            </a:pPr>
            <a:r>
              <a:rPr lang="en-IN" sz="900" dirty="0" smtClean="0"/>
              <a:t>}</a:t>
            </a:r>
            <a:r>
              <a:rPr lang="en-US" altLang="en-IN" sz="900" dirty="0"/>
              <a:t> </a:t>
            </a:r>
            <a:r>
              <a:rPr lang="en-IN" sz="900" dirty="0"/>
              <a:t>class Bike implements Vehicle {</a:t>
            </a:r>
            <a:endParaRPr lang="en-IN" sz="900" dirty="0"/>
          </a:p>
          <a:p>
            <a:pPr marL="0" indent="0">
              <a:spcBef>
                <a:spcPts val="200"/>
              </a:spcBef>
              <a:buNone/>
            </a:pPr>
            <a:r>
              <a:rPr lang="en-IN" sz="900" dirty="0"/>
              <a:t>    </a:t>
            </a:r>
            <a:r>
              <a:rPr lang="en-IN" sz="900" dirty="0" err="1"/>
              <a:t>int</a:t>
            </a:r>
            <a:r>
              <a:rPr lang="en-IN" sz="900" dirty="0"/>
              <a:t> speed;</a:t>
            </a:r>
            <a:endParaRPr lang="en-IN" sz="900" dirty="0"/>
          </a:p>
          <a:p>
            <a:pPr marL="0" indent="0">
              <a:spcBef>
                <a:spcPts val="200"/>
              </a:spcBef>
              <a:buNone/>
            </a:pPr>
            <a:r>
              <a:rPr lang="en-IN" sz="900" dirty="0"/>
              <a:t>    </a:t>
            </a:r>
            <a:r>
              <a:rPr lang="en-IN" sz="900" dirty="0" err="1"/>
              <a:t>int</a:t>
            </a:r>
            <a:r>
              <a:rPr lang="en-IN" sz="900" dirty="0"/>
              <a:t> gear</a:t>
            </a:r>
            <a:r>
              <a:rPr lang="en-IN" sz="900" dirty="0" smtClean="0"/>
              <a:t>;</a:t>
            </a:r>
            <a:endParaRPr lang="en-IN" sz="900" dirty="0"/>
          </a:p>
          <a:p>
            <a:pPr marL="0" indent="0">
              <a:spcBef>
                <a:spcPts val="200"/>
              </a:spcBef>
              <a:buNone/>
            </a:pPr>
            <a:r>
              <a:rPr lang="en-IN" sz="900" dirty="0"/>
              <a:t>    // to change gear</a:t>
            </a:r>
            <a:endParaRPr lang="en-IN" sz="900" dirty="0"/>
          </a:p>
          <a:p>
            <a:pPr marL="0" indent="0">
              <a:spcBef>
                <a:spcPts val="200"/>
              </a:spcBef>
              <a:buNone/>
            </a:pPr>
            <a:r>
              <a:rPr lang="en-IN" sz="900" dirty="0"/>
              <a:t>    @Override</a:t>
            </a:r>
            <a:endParaRPr lang="en-IN" sz="900" dirty="0"/>
          </a:p>
          <a:p>
            <a:pPr marL="0" indent="0">
              <a:spcBef>
                <a:spcPts val="200"/>
              </a:spcBef>
              <a:buNone/>
            </a:pPr>
            <a:r>
              <a:rPr lang="en-IN" sz="900" dirty="0"/>
              <a:t>    public void </a:t>
            </a:r>
            <a:r>
              <a:rPr lang="en-IN" sz="900" dirty="0" err="1"/>
              <a:t>changeGear</a:t>
            </a:r>
            <a:r>
              <a:rPr lang="en-IN" sz="900" dirty="0"/>
              <a:t>(</a:t>
            </a:r>
            <a:r>
              <a:rPr lang="en-IN" sz="900" dirty="0" err="1"/>
              <a:t>int</a:t>
            </a:r>
            <a:r>
              <a:rPr lang="en-IN" sz="900" dirty="0"/>
              <a:t> </a:t>
            </a:r>
            <a:r>
              <a:rPr lang="en-IN" sz="900" dirty="0" err="1"/>
              <a:t>newGear</a:t>
            </a:r>
            <a:r>
              <a:rPr lang="en-IN" sz="900" dirty="0" smtClean="0"/>
              <a:t>){</a:t>
            </a:r>
            <a:endParaRPr lang="en-IN" sz="900" dirty="0"/>
          </a:p>
          <a:p>
            <a:pPr marL="0" indent="0">
              <a:spcBef>
                <a:spcPts val="200"/>
              </a:spcBef>
              <a:buNone/>
            </a:pPr>
            <a:r>
              <a:rPr lang="en-IN" sz="900" dirty="0"/>
              <a:t>        gear = </a:t>
            </a:r>
            <a:r>
              <a:rPr lang="en-IN" sz="900" dirty="0" err="1"/>
              <a:t>newGear</a:t>
            </a:r>
            <a:r>
              <a:rPr lang="en-IN" sz="900" dirty="0"/>
              <a:t>;</a:t>
            </a:r>
            <a:endParaRPr lang="en-IN" sz="900" dirty="0"/>
          </a:p>
          <a:p>
            <a:pPr marL="0" indent="0">
              <a:spcBef>
                <a:spcPts val="200"/>
              </a:spcBef>
              <a:buNone/>
            </a:pPr>
            <a:r>
              <a:rPr lang="en-IN" sz="900" dirty="0"/>
              <a:t>    }</a:t>
            </a:r>
            <a:endParaRPr lang="en-IN" sz="900" dirty="0"/>
          </a:p>
          <a:p>
            <a:pPr marL="0" indent="0">
              <a:spcBef>
                <a:spcPts val="200"/>
              </a:spcBef>
              <a:buNone/>
            </a:pPr>
            <a:r>
              <a:rPr lang="en-IN" sz="900" dirty="0"/>
              <a:t>    // to increase speed</a:t>
            </a:r>
            <a:endParaRPr lang="en-IN" sz="900" dirty="0"/>
          </a:p>
          <a:p>
            <a:pPr marL="0" indent="0">
              <a:spcBef>
                <a:spcPts val="200"/>
              </a:spcBef>
              <a:buNone/>
            </a:pPr>
            <a:r>
              <a:rPr lang="en-IN" sz="900" dirty="0"/>
              <a:t>    @Override</a:t>
            </a:r>
            <a:endParaRPr lang="en-IN" sz="900" dirty="0"/>
          </a:p>
          <a:p>
            <a:pPr marL="0" indent="0">
              <a:spcBef>
                <a:spcPts val="200"/>
              </a:spcBef>
              <a:buNone/>
            </a:pPr>
            <a:r>
              <a:rPr lang="en-IN" sz="900" dirty="0"/>
              <a:t>    public void </a:t>
            </a:r>
            <a:r>
              <a:rPr lang="en-IN" sz="900" dirty="0" err="1"/>
              <a:t>speedUp</a:t>
            </a:r>
            <a:r>
              <a:rPr lang="en-IN" sz="900" dirty="0"/>
              <a:t>(</a:t>
            </a:r>
            <a:r>
              <a:rPr lang="en-IN" sz="900" dirty="0" err="1"/>
              <a:t>int</a:t>
            </a:r>
            <a:r>
              <a:rPr lang="en-IN" sz="900" dirty="0"/>
              <a:t> increment</a:t>
            </a:r>
            <a:r>
              <a:rPr lang="en-IN" sz="900" dirty="0" smtClean="0"/>
              <a:t>){        </a:t>
            </a:r>
            <a:endParaRPr lang="en-IN" sz="900" dirty="0"/>
          </a:p>
          <a:p>
            <a:pPr marL="0" indent="0">
              <a:spcBef>
                <a:spcPts val="200"/>
              </a:spcBef>
              <a:buNone/>
            </a:pPr>
            <a:r>
              <a:rPr lang="en-IN" sz="900" dirty="0"/>
              <a:t>        speed = speed + increment;</a:t>
            </a:r>
            <a:endParaRPr lang="en-IN" sz="900" dirty="0"/>
          </a:p>
          <a:p>
            <a:pPr marL="0" indent="0">
              <a:spcBef>
                <a:spcPts val="200"/>
              </a:spcBef>
              <a:buNone/>
            </a:pPr>
            <a:r>
              <a:rPr lang="en-IN" sz="900" dirty="0"/>
              <a:t>    </a:t>
            </a:r>
            <a:r>
              <a:rPr lang="en-IN" sz="900" dirty="0" smtClean="0"/>
              <a:t>}</a:t>
            </a:r>
            <a:endParaRPr lang="en-IN" sz="900" dirty="0" smtClean="0"/>
          </a:p>
          <a:p>
            <a:pPr marL="0" indent="0">
              <a:spcBef>
                <a:spcPts val="200"/>
              </a:spcBef>
              <a:buNone/>
            </a:pPr>
            <a:endParaRPr lang="en-IN" sz="900" dirty="0"/>
          </a:p>
        </p:txBody>
      </p:sp>
      <p:sp>
        <p:nvSpPr>
          <p:cNvPr id="4" name="Text Box 3"/>
          <p:cNvSpPr txBox="1"/>
          <p:nvPr/>
        </p:nvSpPr>
        <p:spPr>
          <a:xfrm>
            <a:off x="6845300" y="127635"/>
            <a:ext cx="5981700" cy="6770370"/>
          </a:xfrm>
          <a:prstGeom prst="rect">
            <a:avLst/>
          </a:prstGeom>
          <a:noFill/>
        </p:spPr>
        <p:txBody>
          <a:bodyPr wrap="square" rtlCol="0">
            <a:spAutoFit/>
          </a:bodyPr>
          <a:p>
            <a:pPr marL="0" indent="0">
              <a:spcBef>
                <a:spcPts val="200"/>
              </a:spcBef>
              <a:buNone/>
            </a:pPr>
            <a:r>
              <a:rPr lang="en-IN" sz="1200" dirty="0" smtClean="0">
                <a:sym typeface="+mn-ea"/>
              </a:rPr>
              <a:t>    </a:t>
            </a:r>
            <a:r>
              <a:rPr lang="en-IN" sz="1200" dirty="0">
                <a:sym typeface="+mn-ea"/>
              </a:rPr>
              <a:t>// to decrease speed</a:t>
            </a:r>
            <a:endParaRPr lang="en-IN" sz="1200" dirty="0"/>
          </a:p>
          <a:p>
            <a:pPr marL="0" indent="0">
              <a:spcBef>
                <a:spcPts val="200"/>
              </a:spcBef>
              <a:buNone/>
            </a:pPr>
            <a:r>
              <a:rPr lang="en-IN" sz="1200" dirty="0">
                <a:sym typeface="+mn-ea"/>
              </a:rPr>
              <a:t>    @Override</a:t>
            </a:r>
            <a:endParaRPr lang="en-IN" sz="1200" dirty="0"/>
          </a:p>
          <a:p>
            <a:pPr marL="0" indent="0">
              <a:spcBef>
                <a:spcPts val="200"/>
              </a:spcBef>
              <a:buNone/>
            </a:pPr>
            <a:r>
              <a:rPr lang="en-IN" sz="1200" dirty="0">
                <a:sym typeface="+mn-ea"/>
              </a:rPr>
              <a:t>    public void </a:t>
            </a:r>
            <a:r>
              <a:rPr lang="en-IN" sz="1200" dirty="0" err="1">
                <a:sym typeface="+mn-ea"/>
              </a:rPr>
              <a:t>applyBrakes</a:t>
            </a:r>
            <a:r>
              <a:rPr lang="en-IN" sz="1200" dirty="0">
                <a:sym typeface="+mn-ea"/>
              </a:rPr>
              <a:t>(</a:t>
            </a:r>
            <a:r>
              <a:rPr lang="en-IN" sz="1200" dirty="0" err="1">
                <a:sym typeface="+mn-ea"/>
              </a:rPr>
              <a:t>int</a:t>
            </a:r>
            <a:r>
              <a:rPr lang="en-IN" sz="1200" dirty="0">
                <a:sym typeface="+mn-ea"/>
              </a:rPr>
              <a:t> decrement</a:t>
            </a:r>
            <a:r>
              <a:rPr lang="en-IN" sz="1200" dirty="0" smtClean="0">
                <a:sym typeface="+mn-ea"/>
              </a:rPr>
              <a:t>){        </a:t>
            </a:r>
            <a:endParaRPr lang="en-IN" sz="1200" dirty="0"/>
          </a:p>
          <a:p>
            <a:pPr marL="0" indent="0">
              <a:spcBef>
                <a:spcPts val="200"/>
              </a:spcBef>
              <a:buNone/>
            </a:pPr>
            <a:r>
              <a:rPr lang="en-IN" sz="1200" dirty="0">
                <a:sym typeface="+mn-ea"/>
              </a:rPr>
              <a:t>        speed = speed - decrement;</a:t>
            </a:r>
            <a:endParaRPr lang="en-IN" sz="1200" dirty="0"/>
          </a:p>
          <a:p>
            <a:pPr marL="0" indent="0">
              <a:spcBef>
                <a:spcPts val="200"/>
              </a:spcBef>
              <a:buNone/>
            </a:pPr>
            <a:r>
              <a:rPr lang="en-IN" sz="1200" dirty="0">
                <a:sym typeface="+mn-ea"/>
              </a:rPr>
              <a:t>    </a:t>
            </a:r>
            <a:r>
              <a:rPr lang="en-IN" sz="1200" dirty="0" smtClean="0">
                <a:sym typeface="+mn-ea"/>
              </a:rPr>
              <a:t>}    </a:t>
            </a:r>
            <a:endParaRPr lang="en-IN" sz="1200" dirty="0"/>
          </a:p>
          <a:p>
            <a:pPr marL="0" indent="0">
              <a:spcBef>
                <a:spcPts val="200"/>
              </a:spcBef>
              <a:buNone/>
            </a:pPr>
            <a:r>
              <a:rPr lang="en-IN" sz="1200" dirty="0">
                <a:sym typeface="+mn-ea"/>
              </a:rPr>
              <a:t>    public void </a:t>
            </a:r>
            <a:r>
              <a:rPr lang="en-IN" sz="1200" dirty="0" err="1">
                <a:sym typeface="+mn-ea"/>
              </a:rPr>
              <a:t>printStates</a:t>
            </a:r>
            <a:r>
              <a:rPr lang="en-IN" sz="1200" dirty="0">
                <a:sym typeface="+mn-ea"/>
              </a:rPr>
              <a:t>() {</a:t>
            </a:r>
            <a:endParaRPr lang="en-IN" sz="1200" dirty="0"/>
          </a:p>
          <a:p>
            <a:pPr marL="0" indent="0">
              <a:spcBef>
                <a:spcPts val="200"/>
              </a:spcBef>
              <a:buNone/>
            </a:pPr>
            <a:r>
              <a:rPr lang="en-IN" sz="1200" dirty="0">
                <a:sym typeface="+mn-ea"/>
              </a:rPr>
              <a:t>        </a:t>
            </a:r>
            <a:r>
              <a:rPr lang="en-IN" sz="1200" dirty="0" err="1">
                <a:sym typeface="+mn-ea"/>
              </a:rPr>
              <a:t>System.out.println</a:t>
            </a:r>
            <a:r>
              <a:rPr lang="en-IN" sz="1200" dirty="0">
                <a:sym typeface="+mn-ea"/>
              </a:rPr>
              <a:t>("speed: " + speed</a:t>
            </a:r>
            <a:endParaRPr lang="en-IN" sz="1200" dirty="0"/>
          </a:p>
          <a:p>
            <a:pPr marL="0" indent="0">
              <a:spcBef>
                <a:spcPts val="200"/>
              </a:spcBef>
              <a:buNone/>
            </a:pPr>
            <a:r>
              <a:rPr lang="en-IN" sz="1200" dirty="0">
                <a:sym typeface="+mn-ea"/>
              </a:rPr>
              <a:t>            + " gear: " + gear);</a:t>
            </a:r>
            <a:endParaRPr lang="en-IN" sz="1200" dirty="0"/>
          </a:p>
          <a:p>
            <a:pPr marL="0" indent="0">
              <a:spcBef>
                <a:spcPts val="200"/>
              </a:spcBef>
              <a:buNone/>
            </a:pPr>
            <a:r>
              <a:rPr lang="en-IN" sz="1200" dirty="0">
                <a:sym typeface="+mn-ea"/>
              </a:rPr>
              <a:t>    }    </a:t>
            </a:r>
            <a:endParaRPr lang="en-IN" sz="1200" dirty="0"/>
          </a:p>
          <a:p>
            <a:pPr marL="0" indent="0">
              <a:spcBef>
                <a:spcPts val="200"/>
              </a:spcBef>
              <a:buNone/>
            </a:pPr>
            <a:r>
              <a:rPr lang="en-IN" sz="1200" dirty="0">
                <a:sym typeface="+mn-ea"/>
              </a:rPr>
              <a:t>}</a:t>
            </a:r>
            <a:endParaRPr lang="en-IN" sz="1200" dirty="0"/>
          </a:p>
          <a:p>
            <a:pPr marL="0" indent="0">
              <a:spcBef>
                <a:spcPts val="200"/>
              </a:spcBef>
              <a:buNone/>
            </a:pPr>
            <a:endParaRPr lang="en-IN" sz="1200" dirty="0">
              <a:sym typeface="+mn-ea"/>
            </a:endParaRPr>
          </a:p>
          <a:p>
            <a:pPr marL="0" indent="0">
              <a:spcBef>
                <a:spcPts val="200"/>
              </a:spcBef>
              <a:buNone/>
            </a:pPr>
            <a:r>
              <a:rPr lang="en-IN" sz="1200" dirty="0">
                <a:sym typeface="+mn-ea"/>
              </a:rPr>
              <a:t>class GFG {</a:t>
            </a:r>
            <a:endParaRPr lang="en-IN" sz="1200" dirty="0"/>
          </a:p>
          <a:p>
            <a:pPr marL="0" indent="0">
              <a:spcBef>
                <a:spcPts val="200"/>
              </a:spcBef>
              <a:buNone/>
            </a:pPr>
            <a:r>
              <a:rPr lang="en-IN" sz="1200" dirty="0">
                <a:sym typeface="+mn-ea"/>
              </a:rPr>
              <a:t>    </a:t>
            </a:r>
            <a:endParaRPr lang="en-IN" sz="1200" dirty="0"/>
          </a:p>
          <a:p>
            <a:pPr marL="0" indent="0">
              <a:spcBef>
                <a:spcPts val="200"/>
              </a:spcBef>
              <a:buNone/>
            </a:pPr>
            <a:r>
              <a:rPr lang="en-IN" sz="1200" dirty="0">
                <a:sym typeface="+mn-ea"/>
              </a:rPr>
              <a:t>    public static void main (String[] </a:t>
            </a:r>
            <a:r>
              <a:rPr lang="en-IN" sz="1200" dirty="0" err="1">
                <a:sym typeface="+mn-ea"/>
              </a:rPr>
              <a:t>args</a:t>
            </a:r>
            <a:r>
              <a:rPr lang="en-IN" sz="1200" dirty="0">
                <a:sym typeface="+mn-ea"/>
              </a:rPr>
              <a:t>) {</a:t>
            </a:r>
            <a:endParaRPr lang="en-IN" sz="1200" dirty="0"/>
          </a:p>
          <a:p>
            <a:pPr marL="0" indent="0">
              <a:spcBef>
                <a:spcPts val="200"/>
              </a:spcBef>
              <a:buNone/>
            </a:pPr>
            <a:r>
              <a:rPr lang="en-IN" sz="1200" dirty="0" smtClean="0">
                <a:sym typeface="+mn-ea"/>
              </a:rPr>
              <a:t>        Bicycle </a:t>
            </a:r>
            <a:r>
              <a:rPr lang="en-IN" sz="1200" dirty="0" err="1">
                <a:sym typeface="+mn-ea"/>
              </a:rPr>
              <a:t>bicycle</a:t>
            </a:r>
            <a:r>
              <a:rPr lang="en-IN" sz="1200" dirty="0">
                <a:sym typeface="+mn-ea"/>
              </a:rPr>
              <a:t> = new Bicycle();</a:t>
            </a:r>
            <a:endParaRPr lang="en-IN" sz="1200" dirty="0"/>
          </a:p>
          <a:p>
            <a:pPr marL="0" indent="0">
              <a:spcBef>
                <a:spcPts val="200"/>
              </a:spcBef>
              <a:buNone/>
            </a:pPr>
            <a:r>
              <a:rPr lang="en-IN" sz="1200" dirty="0">
                <a:sym typeface="+mn-ea"/>
              </a:rPr>
              <a:t>        </a:t>
            </a:r>
            <a:r>
              <a:rPr lang="en-IN" sz="1200" dirty="0" err="1">
                <a:sym typeface="+mn-ea"/>
              </a:rPr>
              <a:t>bicycle.changeGear</a:t>
            </a:r>
            <a:r>
              <a:rPr lang="en-IN" sz="1200" dirty="0">
                <a:sym typeface="+mn-ea"/>
              </a:rPr>
              <a:t>(2);</a:t>
            </a:r>
            <a:endParaRPr lang="en-IN" sz="1200" dirty="0"/>
          </a:p>
          <a:p>
            <a:pPr marL="0" indent="0">
              <a:spcBef>
                <a:spcPts val="200"/>
              </a:spcBef>
              <a:buNone/>
            </a:pPr>
            <a:r>
              <a:rPr lang="en-IN" sz="1200" dirty="0">
                <a:sym typeface="+mn-ea"/>
              </a:rPr>
              <a:t>        </a:t>
            </a:r>
            <a:r>
              <a:rPr lang="en-IN" sz="1200" dirty="0" err="1">
                <a:sym typeface="+mn-ea"/>
              </a:rPr>
              <a:t>bicycle.speedUp</a:t>
            </a:r>
            <a:r>
              <a:rPr lang="en-IN" sz="1200" dirty="0">
                <a:sym typeface="+mn-ea"/>
              </a:rPr>
              <a:t>(3);</a:t>
            </a:r>
            <a:endParaRPr lang="en-IN" sz="1200" dirty="0"/>
          </a:p>
          <a:p>
            <a:pPr marL="0" indent="0">
              <a:spcBef>
                <a:spcPts val="200"/>
              </a:spcBef>
              <a:buNone/>
            </a:pPr>
            <a:r>
              <a:rPr lang="en-IN" sz="1200" dirty="0">
                <a:sym typeface="+mn-ea"/>
              </a:rPr>
              <a:t>        </a:t>
            </a:r>
            <a:r>
              <a:rPr lang="en-IN" sz="1200" dirty="0" err="1">
                <a:sym typeface="+mn-ea"/>
              </a:rPr>
              <a:t>bicycle.applyBrakes</a:t>
            </a:r>
            <a:r>
              <a:rPr lang="en-IN" sz="1200" dirty="0">
                <a:sym typeface="+mn-ea"/>
              </a:rPr>
              <a:t>(1);</a:t>
            </a:r>
            <a:endParaRPr lang="en-IN" sz="1200" dirty="0"/>
          </a:p>
          <a:p>
            <a:pPr marL="0" indent="0">
              <a:spcBef>
                <a:spcPts val="200"/>
              </a:spcBef>
              <a:buNone/>
            </a:pPr>
            <a:r>
              <a:rPr lang="en-IN" sz="1200" dirty="0">
                <a:sym typeface="+mn-ea"/>
              </a:rPr>
              <a:t>        </a:t>
            </a:r>
            <a:endParaRPr lang="en-IN" sz="1200" dirty="0"/>
          </a:p>
          <a:p>
            <a:pPr marL="0" indent="0">
              <a:spcBef>
                <a:spcPts val="200"/>
              </a:spcBef>
              <a:buNone/>
            </a:pPr>
            <a:r>
              <a:rPr lang="en-IN" sz="1200" dirty="0">
                <a:sym typeface="+mn-ea"/>
              </a:rPr>
              <a:t>        </a:t>
            </a:r>
            <a:r>
              <a:rPr lang="en-IN" sz="1200" dirty="0" err="1">
                <a:sym typeface="+mn-ea"/>
              </a:rPr>
              <a:t>System.out.println</a:t>
            </a:r>
            <a:r>
              <a:rPr lang="en-IN" sz="1200" dirty="0">
                <a:sym typeface="+mn-ea"/>
              </a:rPr>
              <a:t>("Bicycle present state :");</a:t>
            </a:r>
            <a:endParaRPr lang="en-IN" sz="1200" dirty="0"/>
          </a:p>
          <a:p>
            <a:pPr marL="0" indent="0">
              <a:spcBef>
                <a:spcPts val="200"/>
              </a:spcBef>
              <a:buNone/>
            </a:pPr>
            <a:r>
              <a:rPr lang="en-IN" sz="1200" dirty="0">
                <a:sym typeface="+mn-ea"/>
              </a:rPr>
              <a:t>        </a:t>
            </a:r>
            <a:r>
              <a:rPr lang="en-IN" sz="1200" dirty="0" err="1">
                <a:sym typeface="+mn-ea"/>
              </a:rPr>
              <a:t>bicycle.printStates</a:t>
            </a:r>
            <a:r>
              <a:rPr lang="en-IN" sz="1200" dirty="0">
                <a:sym typeface="+mn-ea"/>
              </a:rPr>
              <a:t>();</a:t>
            </a:r>
            <a:endParaRPr lang="en-IN" sz="1200" dirty="0"/>
          </a:p>
          <a:p>
            <a:pPr marL="0" indent="0">
              <a:spcBef>
                <a:spcPts val="200"/>
              </a:spcBef>
              <a:buNone/>
            </a:pPr>
            <a:r>
              <a:rPr lang="en-IN" sz="1200" dirty="0">
                <a:sym typeface="+mn-ea"/>
              </a:rPr>
              <a:t>        </a:t>
            </a:r>
            <a:endParaRPr lang="en-IN" sz="1200" dirty="0"/>
          </a:p>
          <a:p>
            <a:pPr marL="0" indent="0">
              <a:spcBef>
                <a:spcPts val="200"/>
              </a:spcBef>
              <a:buNone/>
            </a:pPr>
            <a:r>
              <a:rPr lang="en-IN" sz="1200" dirty="0" smtClean="0">
                <a:sym typeface="+mn-ea"/>
              </a:rPr>
              <a:t>        Bike </a:t>
            </a:r>
            <a:r>
              <a:rPr lang="en-IN" sz="1200" dirty="0" err="1">
                <a:sym typeface="+mn-ea"/>
              </a:rPr>
              <a:t>bike</a:t>
            </a:r>
            <a:r>
              <a:rPr lang="en-IN" sz="1200" dirty="0">
                <a:sym typeface="+mn-ea"/>
              </a:rPr>
              <a:t> = new Bike();</a:t>
            </a:r>
            <a:endParaRPr lang="en-IN" sz="1200" dirty="0"/>
          </a:p>
          <a:p>
            <a:pPr marL="0" indent="0">
              <a:spcBef>
                <a:spcPts val="200"/>
              </a:spcBef>
              <a:buNone/>
            </a:pPr>
            <a:r>
              <a:rPr lang="en-IN" sz="1200" dirty="0">
                <a:sym typeface="+mn-ea"/>
              </a:rPr>
              <a:t>        </a:t>
            </a:r>
            <a:r>
              <a:rPr lang="en-IN" sz="1200" dirty="0" err="1">
                <a:sym typeface="+mn-ea"/>
              </a:rPr>
              <a:t>bike.changeGear</a:t>
            </a:r>
            <a:r>
              <a:rPr lang="en-IN" sz="1200" dirty="0">
                <a:sym typeface="+mn-ea"/>
              </a:rPr>
              <a:t>(1);</a:t>
            </a:r>
            <a:endParaRPr lang="en-IN" sz="1200" dirty="0"/>
          </a:p>
          <a:p>
            <a:pPr marL="0" indent="0">
              <a:spcBef>
                <a:spcPts val="200"/>
              </a:spcBef>
              <a:buNone/>
            </a:pPr>
            <a:r>
              <a:rPr lang="en-IN" sz="1200" dirty="0">
                <a:sym typeface="+mn-ea"/>
              </a:rPr>
              <a:t>        </a:t>
            </a:r>
            <a:r>
              <a:rPr lang="en-IN" sz="1200" dirty="0" err="1">
                <a:sym typeface="+mn-ea"/>
              </a:rPr>
              <a:t>bike.speedUp</a:t>
            </a:r>
            <a:r>
              <a:rPr lang="en-IN" sz="1200" dirty="0">
                <a:sym typeface="+mn-ea"/>
              </a:rPr>
              <a:t>(4);</a:t>
            </a:r>
            <a:endParaRPr lang="en-IN" sz="1200" dirty="0"/>
          </a:p>
          <a:p>
            <a:pPr marL="0" indent="0">
              <a:spcBef>
                <a:spcPts val="200"/>
              </a:spcBef>
              <a:buNone/>
            </a:pPr>
            <a:r>
              <a:rPr lang="en-IN" sz="1200" dirty="0">
                <a:sym typeface="+mn-ea"/>
              </a:rPr>
              <a:t>        </a:t>
            </a:r>
            <a:r>
              <a:rPr lang="en-IN" sz="1200" dirty="0" err="1">
                <a:sym typeface="+mn-ea"/>
              </a:rPr>
              <a:t>bike.applyBrakes</a:t>
            </a:r>
            <a:r>
              <a:rPr lang="en-IN" sz="1200" dirty="0">
                <a:sym typeface="+mn-ea"/>
              </a:rPr>
              <a:t>(3);</a:t>
            </a:r>
            <a:endParaRPr lang="en-IN" sz="1200" dirty="0"/>
          </a:p>
          <a:p>
            <a:pPr marL="0" indent="0">
              <a:spcBef>
                <a:spcPts val="200"/>
              </a:spcBef>
              <a:buNone/>
            </a:pPr>
            <a:r>
              <a:rPr lang="en-IN" sz="1200" dirty="0">
                <a:sym typeface="+mn-ea"/>
              </a:rPr>
              <a:t>        </a:t>
            </a:r>
            <a:endParaRPr lang="en-IN" sz="1200" dirty="0"/>
          </a:p>
          <a:p>
            <a:pPr marL="0" indent="0">
              <a:spcBef>
                <a:spcPts val="200"/>
              </a:spcBef>
              <a:buNone/>
            </a:pPr>
            <a:r>
              <a:rPr lang="en-IN" sz="1200" dirty="0">
                <a:sym typeface="+mn-ea"/>
              </a:rPr>
              <a:t>        </a:t>
            </a:r>
            <a:r>
              <a:rPr lang="en-IN" sz="1200" dirty="0" err="1">
                <a:sym typeface="+mn-ea"/>
              </a:rPr>
              <a:t>System.out.println</a:t>
            </a:r>
            <a:r>
              <a:rPr lang="en-IN" sz="1200" dirty="0">
                <a:sym typeface="+mn-ea"/>
              </a:rPr>
              <a:t>("Bike present state :");</a:t>
            </a:r>
            <a:endParaRPr lang="en-IN" sz="1200" dirty="0"/>
          </a:p>
          <a:p>
            <a:pPr marL="0" indent="0">
              <a:spcBef>
                <a:spcPts val="200"/>
              </a:spcBef>
              <a:buNone/>
            </a:pPr>
            <a:r>
              <a:rPr lang="en-IN" sz="1200" dirty="0">
                <a:sym typeface="+mn-ea"/>
              </a:rPr>
              <a:t>        </a:t>
            </a:r>
            <a:r>
              <a:rPr lang="en-IN" sz="1200" dirty="0" err="1">
                <a:sym typeface="+mn-ea"/>
              </a:rPr>
              <a:t>bike.printStates</a:t>
            </a:r>
            <a:r>
              <a:rPr lang="en-IN" sz="1200" dirty="0">
                <a:sym typeface="+mn-ea"/>
              </a:rPr>
              <a:t>();</a:t>
            </a:r>
            <a:endParaRPr lang="en-IN" sz="1200" dirty="0"/>
          </a:p>
          <a:p>
            <a:pPr marL="0" indent="0">
              <a:spcBef>
                <a:spcPts val="200"/>
              </a:spcBef>
              <a:buNone/>
            </a:pPr>
            <a:r>
              <a:rPr lang="en-IN" sz="1200" dirty="0">
                <a:sym typeface="+mn-ea"/>
              </a:rPr>
              <a:t>    }</a:t>
            </a:r>
            <a:endParaRPr lang="en-IN" sz="1200" dirty="0"/>
          </a:p>
          <a:p>
            <a:pPr marL="0" indent="0">
              <a:spcBef>
                <a:spcPts val="200"/>
              </a:spcBef>
              <a:buNone/>
            </a:pPr>
            <a:r>
              <a:rPr lang="en-IN" sz="1200" dirty="0">
                <a:sym typeface="+mn-ea"/>
              </a:rPr>
              <a:t>}</a:t>
            </a:r>
            <a:endParaRPr lang="en-IN" sz="1200" dirty="0"/>
          </a:p>
          <a:p>
            <a:endParaRPr lang="en-US" sz="120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3526"/>
            <a:ext cx="10515600" cy="484620"/>
          </a:xfrm>
        </p:spPr>
        <p:txBody>
          <a:bodyPr>
            <a:normAutofit fontScale="90000"/>
          </a:bodyPr>
          <a:lstStyle/>
          <a:p>
            <a:r>
              <a:rPr lang="en-IN" dirty="0" smtClean="0"/>
              <a:t>Static and default </a:t>
            </a:r>
            <a:r>
              <a:rPr lang="en-IN" dirty="0"/>
              <a:t>methods in interfaces </a:t>
            </a:r>
            <a:endParaRPr lang="en-IN" dirty="0"/>
          </a:p>
        </p:txBody>
      </p:sp>
      <p:sp>
        <p:nvSpPr>
          <p:cNvPr id="3" name="Content Placeholder 2"/>
          <p:cNvSpPr>
            <a:spLocks noGrp="1"/>
          </p:cNvSpPr>
          <p:nvPr>
            <p:ph idx="1"/>
          </p:nvPr>
        </p:nvSpPr>
        <p:spPr>
          <a:xfrm>
            <a:off x="475673" y="1958110"/>
            <a:ext cx="5403274" cy="4544290"/>
          </a:xfrm>
        </p:spPr>
        <p:txBody>
          <a:bodyPr>
            <a:noAutofit/>
          </a:bodyPr>
          <a:lstStyle/>
          <a:p>
            <a:pPr marL="0" indent="0">
              <a:spcBef>
                <a:spcPts val="200"/>
              </a:spcBef>
              <a:buNone/>
            </a:pPr>
            <a:r>
              <a:rPr lang="en-IN" sz="1600" dirty="0" smtClean="0"/>
              <a:t>//Example1:</a:t>
            </a:r>
            <a:endParaRPr lang="en-IN" sz="1600" dirty="0" smtClean="0"/>
          </a:p>
          <a:p>
            <a:pPr marL="0" indent="0">
              <a:spcBef>
                <a:spcPts val="200"/>
              </a:spcBef>
              <a:buNone/>
            </a:pPr>
            <a:r>
              <a:rPr lang="en-IN" sz="1600" dirty="0" smtClean="0"/>
              <a:t>interface In1{</a:t>
            </a:r>
            <a:endParaRPr lang="en-IN" sz="1600" dirty="0"/>
          </a:p>
          <a:p>
            <a:pPr marL="0" indent="0">
              <a:spcBef>
                <a:spcPts val="200"/>
              </a:spcBef>
              <a:buNone/>
            </a:pPr>
            <a:r>
              <a:rPr lang="en-IN" sz="1600" dirty="0"/>
              <a:t>    final </a:t>
            </a:r>
            <a:r>
              <a:rPr lang="en-IN" sz="1600" dirty="0" err="1"/>
              <a:t>int</a:t>
            </a:r>
            <a:r>
              <a:rPr lang="en-IN" sz="1600" dirty="0"/>
              <a:t> a = 10;</a:t>
            </a:r>
            <a:endParaRPr lang="en-IN" sz="1600" dirty="0"/>
          </a:p>
          <a:p>
            <a:pPr marL="0" indent="0">
              <a:spcBef>
                <a:spcPts val="200"/>
              </a:spcBef>
              <a:buNone/>
            </a:pPr>
            <a:r>
              <a:rPr lang="en-IN" sz="1600" dirty="0"/>
              <a:t>    </a:t>
            </a:r>
            <a:r>
              <a:rPr lang="en-IN" sz="1600" b="1" dirty="0"/>
              <a:t>static void display</a:t>
            </a:r>
            <a:r>
              <a:rPr lang="en-IN" sz="1600" dirty="0" smtClean="0"/>
              <a:t>(){</a:t>
            </a:r>
            <a:endParaRPr lang="en-IN" sz="1600" dirty="0"/>
          </a:p>
          <a:p>
            <a:pPr marL="0" indent="0">
              <a:spcBef>
                <a:spcPts val="200"/>
              </a:spcBef>
              <a:buNone/>
            </a:pPr>
            <a:r>
              <a:rPr lang="en-IN" sz="1600" dirty="0"/>
              <a:t>        </a:t>
            </a:r>
            <a:r>
              <a:rPr lang="en-IN" sz="1600" dirty="0" err="1"/>
              <a:t>System.out.println</a:t>
            </a:r>
            <a:r>
              <a:rPr lang="en-IN" sz="1600" dirty="0" smtClean="0"/>
              <a:t>(“static method");</a:t>
            </a:r>
            <a:endParaRPr lang="en-IN" sz="1600" dirty="0"/>
          </a:p>
          <a:p>
            <a:pPr marL="0" indent="0">
              <a:spcBef>
                <a:spcPts val="200"/>
              </a:spcBef>
              <a:buNone/>
            </a:pPr>
            <a:r>
              <a:rPr lang="en-IN" sz="1600" dirty="0"/>
              <a:t>    }</a:t>
            </a:r>
            <a:endParaRPr lang="en-IN" sz="1600" dirty="0"/>
          </a:p>
          <a:p>
            <a:pPr marL="0" indent="0">
              <a:spcBef>
                <a:spcPts val="200"/>
              </a:spcBef>
              <a:buNone/>
            </a:pPr>
            <a:r>
              <a:rPr lang="en-IN" sz="1600" dirty="0"/>
              <a:t>}</a:t>
            </a:r>
            <a:endParaRPr lang="en-IN" sz="1600" dirty="0"/>
          </a:p>
          <a:p>
            <a:pPr marL="0" indent="0">
              <a:spcBef>
                <a:spcPts val="200"/>
              </a:spcBef>
              <a:buNone/>
            </a:pPr>
            <a:endParaRPr lang="en-IN" sz="1600" dirty="0"/>
          </a:p>
          <a:p>
            <a:pPr marL="0" indent="0">
              <a:spcBef>
                <a:spcPts val="200"/>
              </a:spcBef>
              <a:buNone/>
            </a:pPr>
            <a:r>
              <a:rPr lang="en-IN" sz="1600" dirty="0" smtClean="0"/>
              <a:t>class </a:t>
            </a:r>
            <a:r>
              <a:rPr lang="en-IN" sz="1600" dirty="0" err="1"/>
              <a:t>TestClass</a:t>
            </a:r>
            <a:r>
              <a:rPr lang="en-IN" sz="1600" dirty="0"/>
              <a:t> implements </a:t>
            </a:r>
            <a:r>
              <a:rPr lang="en-IN" sz="1600" dirty="0" smtClean="0"/>
              <a:t>In1{</a:t>
            </a:r>
            <a:endParaRPr lang="en-IN" sz="1600" dirty="0"/>
          </a:p>
          <a:p>
            <a:pPr marL="0" indent="0">
              <a:spcBef>
                <a:spcPts val="200"/>
              </a:spcBef>
              <a:buNone/>
            </a:pPr>
            <a:r>
              <a:rPr lang="en-IN" sz="1600" dirty="0" smtClean="0"/>
              <a:t>public </a:t>
            </a:r>
            <a:r>
              <a:rPr lang="en-IN" sz="1600" dirty="0"/>
              <a:t>static void main (String[] </a:t>
            </a:r>
            <a:r>
              <a:rPr lang="en-IN" sz="1600" dirty="0" err="1"/>
              <a:t>args</a:t>
            </a:r>
            <a:r>
              <a:rPr lang="en-IN" sz="1600" dirty="0" smtClean="0"/>
              <a:t>){</a:t>
            </a:r>
            <a:endParaRPr lang="en-IN" sz="1600" dirty="0"/>
          </a:p>
          <a:p>
            <a:pPr marL="0" indent="0">
              <a:spcBef>
                <a:spcPts val="200"/>
              </a:spcBef>
              <a:buNone/>
            </a:pPr>
            <a:r>
              <a:rPr lang="en-IN" sz="1600" dirty="0"/>
              <a:t>        In1.display();</a:t>
            </a:r>
            <a:endParaRPr lang="en-IN" sz="1600" dirty="0"/>
          </a:p>
          <a:p>
            <a:pPr marL="0" indent="0">
              <a:spcBef>
                <a:spcPts val="200"/>
              </a:spcBef>
              <a:buNone/>
            </a:pPr>
            <a:r>
              <a:rPr lang="en-IN" sz="1600" dirty="0"/>
              <a:t>    }</a:t>
            </a:r>
            <a:endParaRPr lang="en-IN" sz="1600" dirty="0"/>
          </a:p>
          <a:p>
            <a:pPr marL="0" indent="0">
              <a:spcBef>
                <a:spcPts val="200"/>
              </a:spcBef>
              <a:buNone/>
            </a:pPr>
            <a:r>
              <a:rPr lang="en-IN" sz="1600" dirty="0"/>
              <a:t>}</a:t>
            </a:r>
            <a:endParaRPr lang="en-IN" sz="1600" dirty="0"/>
          </a:p>
          <a:p>
            <a:pPr marL="0" indent="0">
              <a:buNone/>
            </a:pPr>
            <a:endParaRPr lang="en-IN" sz="1600" dirty="0"/>
          </a:p>
        </p:txBody>
      </p:sp>
      <p:graphicFrame>
        <p:nvGraphicFramePr>
          <p:cNvPr id="4" name="Table 3"/>
          <p:cNvGraphicFramePr>
            <a:graphicFrameLocks noGrp="1"/>
          </p:cNvGraphicFramePr>
          <p:nvPr/>
        </p:nvGraphicFramePr>
        <p:xfrm>
          <a:off x="475673" y="922866"/>
          <a:ext cx="11240654" cy="822960"/>
        </p:xfrm>
        <a:graphic>
          <a:graphicData uri="http://schemas.openxmlformats.org/drawingml/2006/table">
            <a:tbl>
              <a:tblPr firstRow="1" bandRow="1">
                <a:tableStyleId>{2D5ABB26-0587-4C30-8999-92F81FD0307C}</a:tableStyleId>
              </a:tblPr>
              <a:tblGrid>
                <a:gridCol w="11240654"/>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2400" dirty="0" smtClean="0"/>
                        <a:t>From </a:t>
                      </a:r>
                      <a:r>
                        <a:rPr lang="en-US" sz="2400" dirty="0" smtClean="0"/>
                        <a:t>JDK 8, we can now define static and default methods in interfaces that can be called independently without an object. </a:t>
                      </a:r>
                      <a:endParaRPr lang="en-US" sz="2400" dirty="0" smtClean="0"/>
                    </a:p>
                  </a:txBody>
                  <a:tcPr/>
                </a:tc>
              </a:tr>
            </a:tbl>
          </a:graphicData>
        </a:graphic>
      </p:graphicFrame>
      <p:sp>
        <p:nvSpPr>
          <p:cNvPr id="5" name="Content Placeholder 2"/>
          <p:cNvSpPr txBox="1"/>
          <p:nvPr/>
        </p:nvSpPr>
        <p:spPr>
          <a:xfrm>
            <a:off x="6313053" y="1958110"/>
            <a:ext cx="5611092" cy="45442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200"/>
              </a:spcBef>
              <a:buNone/>
            </a:pPr>
            <a:r>
              <a:rPr lang="en-IN" sz="1600" dirty="0" smtClean="0"/>
              <a:t>//Example 2:</a:t>
            </a:r>
            <a:endParaRPr lang="en-IN" sz="1600" dirty="0" smtClean="0"/>
          </a:p>
          <a:p>
            <a:pPr marL="0" indent="0">
              <a:spcBef>
                <a:spcPts val="200"/>
              </a:spcBef>
              <a:buNone/>
            </a:pPr>
            <a:r>
              <a:rPr lang="en-IN" sz="1600" dirty="0" smtClean="0"/>
              <a:t>interface In1{</a:t>
            </a:r>
            <a:endParaRPr lang="en-IN" sz="1600" dirty="0"/>
          </a:p>
          <a:p>
            <a:pPr marL="0" indent="0">
              <a:spcBef>
                <a:spcPts val="200"/>
              </a:spcBef>
              <a:buNone/>
            </a:pPr>
            <a:r>
              <a:rPr lang="en-IN" sz="1600" dirty="0"/>
              <a:t>    final </a:t>
            </a:r>
            <a:r>
              <a:rPr lang="en-IN" sz="1600" dirty="0" err="1"/>
              <a:t>int</a:t>
            </a:r>
            <a:r>
              <a:rPr lang="en-IN" sz="1600" dirty="0"/>
              <a:t> a = 10;</a:t>
            </a:r>
            <a:endParaRPr lang="en-IN" sz="1600" dirty="0"/>
          </a:p>
          <a:p>
            <a:pPr marL="0" indent="0">
              <a:spcBef>
                <a:spcPts val="200"/>
              </a:spcBef>
              <a:buNone/>
            </a:pPr>
            <a:r>
              <a:rPr lang="en-IN" sz="1600" dirty="0"/>
              <a:t>    </a:t>
            </a:r>
            <a:r>
              <a:rPr lang="en-IN" sz="1600" b="1" dirty="0"/>
              <a:t>default void display</a:t>
            </a:r>
            <a:r>
              <a:rPr lang="en-IN" sz="1600" dirty="0" smtClean="0"/>
              <a:t>(){</a:t>
            </a:r>
            <a:endParaRPr lang="en-IN" sz="1600" dirty="0"/>
          </a:p>
          <a:p>
            <a:pPr marL="0" indent="0">
              <a:spcBef>
                <a:spcPts val="200"/>
              </a:spcBef>
              <a:buNone/>
            </a:pPr>
            <a:r>
              <a:rPr lang="en-IN" sz="1600" dirty="0"/>
              <a:t>       </a:t>
            </a:r>
            <a:r>
              <a:rPr lang="en-IN" sz="1600" dirty="0" err="1" smtClean="0"/>
              <a:t>System.out.println</a:t>
            </a:r>
            <a:r>
              <a:rPr lang="en-IN" sz="1600" dirty="0" smtClean="0"/>
              <a:t>(“default method");</a:t>
            </a:r>
            <a:endParaRPr lang="en-IN" sz="1600" dirty="0"/>
          </a:p>
          <a:p>
            <a:pPr marL="0" indent="0">
              <a:spcBef>
                <a:spcPts val="200"/>
              </a:spcBef>
              <a:buNone/>
            </a:pPr>
            <a:r>
              <a:rPr lang="en-IN" sz="1600" dirty="0"/>
              <a:t>    }</a:t>
            </a:r>
            <a:endParaRPr lang="en-IN" sz="1600" dirty="0"/>
          </a:p>
          <a:p>
            <a:pPr marL="0" indent="0">
              <a:spcBef>
                <a:spcPts val="200"/>
              </a:spcBef>
              <a:buNone/>
            </a:pPr>
            <a:r>
              <a:rPr lang="en-IN" sz="1600" dirty="0"/>
              <a:t>}</a:t>
            </a:r>
            <a:endParaRPr lang="en-IN" sz="1600" dirty="0"/>
          </a:p>
          <a:p>
            <a:pPr marL="0" indent="0">
              <a:spcBef>
                <a:spcPts val="200"/>
              </a:spcBef>
              <a:buNone/>
            </a:pPr>
            <a:r>
              <a:rPr lang="en-IN" sz="1600" dirty="0" smtClean="0"/>
              <a:t>class </a:t>
            </a:r>
            <a:r>
              <a:rPr lang="en-IN" sz="1600" dirty="0" err="1"/>
              <a:t>TestClass</a:t>
            </a:r>
            <a:r>
              <a:rPr lang="en-IN" sz="1600" dirty="0"/>
              <a:t> implements </a:t>
            </a:r>
            <a:r>
              <a:rPr lang="en-IN" sz="1600" dirty="0" smtClean="0"/>
              <a:t>In1{</a:t>
            </a:r>
            <a:endParaRPr lang="en-IN" sz="1600" dirty="0"/>
          </a:p>
          <a:p>
            <a:pPr marL="0" indent="0">
              <a:spcBef>
                <a:spcPts val="200"/>
              </a:spcBef>
              <a:buNone/>
            </a:pPr>
            <a:r>
              <a:rPr lang="en-IN" sz="1600" dirty="0" smtClean="0"/>
              <a:t>public </a:t>
            </a:r>
            <a:r>
              <a:rPr lang="en-IN" sz="1600" dirty="0"/>
              <a:t>static void main (String[] </a:t>
            </a:r>
            <a:r>
              <a:rPr lang="en-IN" sz="1600" dirty="0" err="1"/>
              <a:t>args</a:t>
            </a:r>
            <a:r>
              <a:rPr lang="en-IN" sz="1600" dirty="0" smtClean="0"/>
              <a:t>){</a:t>
            </a:r>
            <a:endParaRPr lang="en-IN" sz="1600" dirty="0"/>
          </a:p>
          <a:p>
            <a:pPr marL="0" indent="0">
              <a:spcBef>
                <a:spcPts val="200"/>
              </a:spcBef>
              <a:buNone/>
            </a:pPr>
            <a:r>
              <a:rPr lang="en-IN" sz="1600" dirty="0"/>
              <a:t>        </a:t>
            </a:r>
            <a:r>
              <a:rPr lang="en-IN" sz="1600" dirty="0" err="1"/>
              <a:t>TestClass</a:t>
            </a:r>
            <a:r>
              <a:rPr lang="en-IN" sz="1600" dirty="0"/>
              <a:t> t = new </a:t>
            </a:r>
            <a:r>
              <a:rPr lang="en-IN" sz="1600" dirty="0" err="1"/>
              <a:t>TestClass</a:t>
            </a:r>
            <a:r>
              <a:rPr lang="en-IN" sz="1600" dirty="0"/>
              <a:t>();</a:t>
            </a:r>
            <a:endParaRPr lang="en-IN" sz="1600" dirty="0"/>
          </a:p>
          <a:p>
            <a:pPr marL="0" indent="0">
              <a:spcBef>
                <a:spcPts val="200"/>
              </a:spcBef>
              <a:buNone/>
            </a:pPr>
            <a:r>
              <a:rPr lang="en-IN" sz="1600" dirty="0"/>
              <a:t>        </a:t>
            </a:r>
            <a:r>
              <a:rPr lang="en-IN" sz="1600" dirty="0" err="1"/>
              <a:t>t.display</a:t>
            </a:r>
            <a:r>
              <a:rPr lang="en-IN" sz="1600" dirty="0"/>
              <a:t>();</a:t>
            </a:r>
            <a:endParaRPr lang="en-IN" sz="1600" dirty="0"/>
          </a:p>
          <a:p>
            <a:pPr marL="0" indent="0">
              <a:spcBef>
                <a:spcPts val="200"/>
              </a:spcBef>
              <a:buNone/>
            </a:pPr>
            <a:r>
              <a:rPr lang="en-IN" sz="1600" dirty="0"/>
              <a:t>    }</a:t>
            </a:r>
            <a:endParaRPr lang="en-IN" sz="1600" dirty="0"/>
          </a:p>
          <a:p>
            <a:pPr marL="0" indent="0">
              <a:spcBef>
                <a:spcPts val="200"/>
              </a:spcBef>
              <a:buNone/>
            </a:pPr>
            <a:r>
              <a:rPr lang="en-IN" sz="1600" dirty="0"/>
              <a:t>}</a:t>
            </a:r>
            <a:endParaRPr lang="en-IN"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146" y="189634"/>
            <a:ext cx="10515600" cy="346075"/>
          </a:xfrm>
        </p:spPr>
        <p:txBody>
          <a:bodyPr>
            <a:normAutofit fontScale="90000"/>
          </a:bodyPr>
          <a:lstStyle/>
          <a:p>
            <a:r>
              <a:rPr lang="en-IN" b="1" dirty="0"/>
              <a:t>Extending </a:t>
            </a:r>
            <a:r>
              <a:rPr lang="en-IN" b="1" dirty="0" smtClean="0"/>
              <a:t>Interfaces</a:t>
            </a:r>
            <a:endParaRPr lang="en-IN" dirty="0"/>
          </a:p>
        </p:txBody>
      </p:sp>
      <p:sp>
        <p:nvSpPr>
          <p:cNvPr id="3" name="Content Placeholder 2"/>
          <p:cNvSpPr>
            <a:spLocks noGrp="1"/>
          </p:cNvSpPr>
          <p:nvPr>
            <p:ph idx="1"/>
          </p:nvPr>
        </p:nvSpPr>
        <p:spPr>
          <a:xfrm>
            <a:off x="258618" y="729673"/>
            <a:ext cx="11730181" cy="6003636"/>
          </a:xfrm>
        </p:spPr>
        <p:txBody>
          <a:bodyPr numCol="2">
            <a:noAutofit/>
          </a:bodyPr>
          <a:lstStyle/>
          <a:p>
            <a:r>
              <a:rPr lang="en-US" sz="1600" dirty="0"/>
              <a:t>One interface can inherit another by the use of keyword extends</a:t>
            </a:r>
            <a:r>
              <a:rPr lang="en-US" sz="1600" dirty="0" smtClean="0"/>
              <a:t>.</a:t>
            </a:r>
            <a:endParaRPr lang="en-US" sz="1600" dirty="0" smtClean="0"/>
          </a:p>
          <a:p>
            <a:r>
              <a:rPr lang="en-US" sz="1600" dirty="0"/>
              <a:t>When a class implements an interface that inherits another interface, it must provide an implementation for all methods required by the interface inheritance chain</a:t>
            </a:r>
            <a:r>
              <a:rPr lang="en-US" sz="1600" dirty="0" smtClean="0"/>
              <a:t>.</a:t>
            </a:r>
            <a:endParaRPr lang="en-US" sz="1600" dirty="0" smtClean="0"/>
          </a:p>
          <a:p>
            <a:pPr marL="0" indent="0">
              <a:buNone/>
            </a:pPr>
            <a:r>
              <a:rPr lang="en-US" sz="1600" dirty="0" smtClean="0"/>
              <a:t> </a:t>
            </a:r>
            <a:endParaRPr lang="en-US" sz="1600" dirty="0" smtClean="0"/>
          </a:p>
          <a:p>
            <a:pPr marL="0" indent="0">
              <a:buNone/>
            </a:pPr>
            <a:r>
              <a:rPr lang="en-US" sz="1600" dirty="0" smtClean="0"/>
              <a:t>//Example:</a:t>
            </a:r>
            <a:endParaRPr lang="en-US" sz="1600" dirty="0"/>
          </a:p>
          <a:p>
            <a:pPr marL="0" indent="0">
              <a:buNone/>
            </a:pPr>
            <a:r>
              <a:rPr lang="en-US" sz="1600" dirty="0" smtClean="0"/>
              <a:t>interface </a:t>
            </a:r>
            <a:r>
              <a:rPr lang="en-US" sz="1600" dirty="0"/>
              <a:t>A {</a:t>
            </a:r>
            <a:endParaRPr lang="en-US" sz="1600" dirty="0"/>
          </a:p>
          <a:p>
            <a:pPr marL="0" indent="0">
              <a:spcBef>
                <a:spcPts val="200"/>
              </a:spcBef>
              <a:buNone/>
            </a:pPr>
            <a:r>
              <a:rPr lang="en-US" sz="1600" dirty="0"/>
              <a:t>    void method1();</a:t>
            </a:r>
            <a:endParaRPr lang="en-US" sz="1600" dirty="0"/>
          </a:p>
          <a:p>
            <a:pPr marL="0" indent="0">
              <a:spcBef>
                <a:spcPts val="200"/>
              </a:spcBef>
              <a:buNone/>
            </a:pPr>
            <a:r>
              <a:rPr lang="en-US" sz="1600" dirty="0"/>
              <a:t>    void method2();</a:t>
            </a:r>
            <a:endParaRPr lang="en-US" sz="1600" dirty="0"/>
          </a:p>
          <a:p>
            <a:pPr marL="0" indent="0">
              <a:spcBef>
                <a:spcPts val="200"/>
              </a:spcBef>
              <a:buNone/>
            </a:pPr>
            <a:r>
              <a:rPr lang="en-US" sz="1600" dirty="0"/>
              <a:t>}</a:t>
            </a:r>
            <a:endParaRPr lang="en-US" sz="1600" dirty="0"/>
          </a:p>
          <a:p>
            <a:pPr marL="0" indent="0">
              <a:spcBef>
                <a:spcPts val="200"/>
              </a:spcBef>
              <a:buNone/>
            </a:pPr>
            <a:r>
              <a:rPr lang="en-US" sz="1600" dirty="0" smtClean="0"/>
              <a:t>interface </a:t>
            </a:r>
            <a:r>
              <a:rPr lang="en-US" sz="1600" dirty="0"/>
              <a:t>B extends A {</a:t>
            </a:r>
            <a:endParaRPr lang="en-US" sz="1600" dirty="0"/>
          </a:p>
          <a:p>
            <a:pPr marL="0" indent="0">
              <a:spcBef>
                <a:spcPts val="200"/>
              </a:spcBef>
              <a:buNone/>
            </a:pPr>
            <a:r>
              <a:rPr lang="en-US" sz="1600" dirty="0"/>
              <a:t>    void method3();</a:t>
            </a:r>
            <a:endParaRPr lang="en-US" sz="1600" dirty="0"/>
          </a:p>
          <a:p>
            <a:pPr marL="0" indent="0">
              <a:spcBef>
                <a:spcPts val="200"/>
              </a:spcBef>
              <a:buNone/>
            </a:pPr>
            <a:r>
              <a:rPr lang="en-US" sz="1600" dirty="0"/>
              <a:t>}</a:t>
            </a:r>
            <a:endParaRPr lang="en-US" sz="1600" dirty="0"/>
          </a:p>
          <a:p>
            <a:pPr marL="0" indent="0">
              <a:spcBef>
                <a:spcPts val="200"/>
              </a:spcBef>
              <a:buNone/>
            </a:pPr>
            <a:r>
              <a:rPr lang="en-US" sz="1600" dirty="0" smtClean="0"/>
              <a:t>          class Test </a:t>
            </a:r>
            <a:r>
              <a:rPr lang="en-US" sz="1600" dirty="0"/>
              <a:t>implements B {</a:t>
            </a:r>
            <a:endParaRPr lang="en-US" sz="1600" dirty="0"/>
          </a:p>
          <a:p>
            <a:pPr marL="0" indent="0">
              <a:spcBef>
                <a:spcPts val="200"/>
              </a:spcBef>
              <a:buNone/>
            </a:pPr>
            <a:r>
              <a:rPr lang="en-US" sz="1600" dirty="0"/>
              <a:t>   </a:t>
            </a:r>
            <a:r>
              <a:rPr lang="en-US" sz="1600" dirty="0" smtClean="0"/>
              <a:t>           </a:t>
            </a:r>
            <a:r>
              <a:rPr lang="en-US" sz="1600" dirty="0"/>
              <a:t>public void method1</a:t>
            </a:r>
            <a:r>
              <a:rPr lang="en-US" sz="1600" dirty="0" smtClean="0"/>
              <a:t>(){</a:t>
            </a:r>
            <a:endParaRPr lang="en-US" sz="1600" dirty="0"/>
          </a:p>
          <a:p>
            <a:pPr marL="0" indent="0">
              <a:spcBef>
                <a:spcPts val="200"/>
              </a:spcBef>
              <a:buNone/>
            </a:pPr>
            <a:r>
              <a:rPr lang="en-US" sz="1600" dirty="0"/>
              <a:t>        </a:t>
            </a:r>
            <a:r>
              <a:rPr lang="en-US" sz="1600" dirty="0" smtClean="0"/>
              <a:t>          </a:t>
            </a:r>
            <a:r>
              <a:rPr lang="en-US" sz="1600" dirty="0" err="1" smtClean="0"/>
              <a:t>System.out.println</a:t>
            </a:r>
            <a:r>
              <a:rPr lang="en-US" sz="1600" dirty="0"/>
              <a:t>("Method 1");</a:t>
            </a:r>
            <a:endParaRPr lang="en-US" sz="1600" dirty="0"/>
          </a:p>
          <a:p>
            <a:pPr marL="0" indent="0">
              <a:spcBef>
                <a:spcPts val="200"/>
              </a:spcBef>
              <a:buNone/>
            </a:pPr>
            <a:r>
              <a:rPr lang="en-US" sz="1600" dirty="0"/>
              <a:t>   </a:t>
            </a:r>
            <a:r>
              <a:rPr lang="en-US" sz="1600" dirty="0" smtClean="0"/>
              <a:t>           </a:t>
            </a:r>
            <a:r>
              <a:rPr lang="en-US" sz="1600" dirty="0"/>
              <a:t>}</a:t>
            </a:r>
            <a:endParaRPr lang="en-US" sz="1600" dirty="0"/>
          </a:p>
          <a:p>
            <a:pPr marL="0" indent="0">
              <a:spcBef>
                <a:spcPts val="200"/>
              </a:spcBef>
              <a:buNone/>
            </a:pPr>
            <a:r>
              <a:rPr lang="en-US" sz="1600" dirty="0"/>
              <a:t>   </a:t>
            </a:r>
            <a:r>
              <a:rPr lang="en-US" sz="1600" dirty="0" smtClean="0"/>
              <a:t>           </a:t>
            </a:r>
            <a:r>
              <a:rPr lang="en-US" sz="1600" dirty="0"/>
              <a:t>public void method2</a:t>
            </a:r>
            <a:r>
              <a:rPr lang="en-US" sz="1600" dirty="0" smtClean="0"/>
              <a:t>(){</a:t>
            </a:r>
            <a:endParaRPr lang="en-US" sz="1600" dirty="0"/>
          </a:p>
          <a:p>
            <a:pPr marL="0" indent="0">
              <a:spcBef>
                <a:spcPts val="200"/>
              </a:spcBef>
              <a:buNone/>
            </a:pPr>
            <a:r>
              <a:rPr lang="en-US" sz="1600" dirty="0"/>
              <a:t>       </a:t>
            </a:r>
            <a:r>
              <a:rPr lang="en-US" sz="1600" dirty="0" smtClean="0"/>
              <a:t>            </a:t>
            </a:r>
            <a:r>
              <a:rPr lang="en-US" sz="1600" dirty="0" err="1"/>
              <a:t>System.out.println</a:t>
            </a:r>
            <a:r>
              <a:rPr lang="en-US" sz="1600" dirty="0"/>
              <a:t>("Method 2");</a:t>
            </a:r>
            <a:endParaRPr lang="en-US" sz="1600" dirty="0"/>
          </a:p>
          <a:p>
            <a:pPr marL="0" indent="0">
              <a:spcBef>
                <a:spcPts val="200"/>
              </a:spcBef>
              <a:buNone/>
            </a:pPr>
            <a:r>
              <a:rPr lang="en-US" sz="1600" dirty="0"/>
              <a:t>  </a:t>
            </a:r>
            <a:r>
              <a:rPr lang="en-US" sz="1600" dirty="0" smtClean="0"/>
              <a:t>                    </a:t>
            </a:r>
            <a:r>
              <a:rPr lang="en-US" sz="1600" dirty="0"/>
              <a:t>}</a:t>
            </a:r>
            <a:endParaRPr lang="en-US" sz="1600" dirty="0"/>
          </a:p>
          <a:p>
            <a:pPr marL="0" indent="0">
              <a:spcBef>
                <a:spcPts val="200"/>
              </a:spcBef>
              <a:buNone/>
            </a:pPr>
            <a:r>
              <a:rPr lang="en-US" sz="1600" dirty="0"/>
              <a:t>   </a:t>
            </a:r>
            <a:r>
              <a:rPr lang="en-US" sz="1600" dirty="0" smtClean="0"/>
              <a:t>            public </a:t>
            </a:r>
            <a:r>
              <a:rPr lang="en-US" sz="1600" dirty="0"/>
              <a:t>void method3</a:t>
            </a:r>
            <a:r>
              <a:rPr lang="en-US" sz="1600" dirty="0" smtClean="0"/>
              <a:t>(){</a:t>
            </a:r>
            <a:endParaRPr lang="en-US" sz="1600" dirty="0"/>
          </a:p>
          <a:p>
            <a:pPr marL="0" indent="0">
              <a:spcBef>
                <a:spcPts val="200"/>
              </a:spcBef>
              <a:buNone/>
            </a:pPr>
            <a:r>
              <a:rPr lang="en-US" sz="1600" dirty="0"/>
              <a:t>      </a:t>
            </a:r>
            <a:r>
              <a:rPr lang="en-US" sz="1600" dirty="0" smtClean="0"/>
              <a:t>             </a:t>
            </a:r>
            <a:r>
              <a:rPr lang="en-US" sz="1600" dirty="0" err="1"/>
              <a:t>System.out.println</a:t>
            </a:r>
            <a:r>
              <a:rPr lang="en-US" sz="1600" dirty="0"/>
              <a:t>("Method 3");</a:t>
            </a:r>
            <a:endParaRPr lang="en-US" sz="1600" dirty="0"/>
          </a:p>
          <a:p>
            <a:pPr marL="0" indent="0">
              <a:spcBef>
                <a:spcPts val="200"/>
              </a:spcBef>
              <a:buNone/>
            </a:pPr>
            <a:r>
              <a:rPr lang="en-US" sz="1600" dirty="0"/>
              <a:t>  </a:t>
            </a:r>
            <a:r>
              <a:rPr lang="en-US" sz="1600" dirty="0" smtClean="0"/>
              <a:t>                  </a:t>
            </a:r>
            <a:r>
              <a:rPr lang="en-US" sz="1600" dirty="0"/>
              <a:t>}</a:t>
            </a:r>
            <a:endParaRPr lang="en-US" sz="1600" dirty="0"/>
          </a:p>
          <a:p>
            <a:pPr marL="0" indent="0">
              <a:spcBef>
                <a:spcPts val="200"/>
              </a:spcBef>
              <a:buNone/>
            </a:pPr>
            <a:r>
              <a:rPr lang="en-US" sz="1600" dirty="0" smtClean="0"/>
              <a:t>          }</a:t>
            </a:r>
            <a:endParaRPr lang="en-US" sz="1600" dirty="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Multiple Inheritance in Java Using Interface</a:t>
            </a:r>
            <a:endParaRPr lang="en-US" b="1" dirty="0"/>
          </a:p>
        </p:txBody>
      </p:sp>
      <p:pic>
        <p:nvPicPr>
          <p:cNvPr id="7" name="Content Placeholder 6"/>
          <p:cNvPicPr>
            <a:picLocks noGrp="1" noChangeAspect="1"/>
          </p:cNvPicPr>
          <p:nvPr>
            <p:ph idx="1"/>
          </p:nvPr>
        </p:nvPicPr>
        <p:blipFill>
          <a:blip r:embed="rId1"/>
          <a:stretch>
            <a:fillRect/>
          </a:stretch>
        </p:blipFill>
        <p:spPr>
          <a:xfrm>
            <a:off x="573722" y="1941671"/>
            <a:ext cx="9744075" cy="267652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9560" y="190788"/>
            <a:ext cx="11546840" cy="6431685"/>
          </a:xfrm>
        </p:spPr>
        <p:txBody>
          <a:bodyPr numCol="2">
            <a:noAutofit/>
          </a:bodyPr>
          <a:lstStyle/>
          <a:p>
            <a:pPr marL="0" indent="0">
              <a:spcBef>
                <a:spcPts val="200"/>
              </a:spcBef>
              <a:buNone/>
            </a:pPr>
            <a:r>
              <a:rPr lang="en-IN" sz="1000" dirty="0" smtClean="0"/>
              <a:t>interface </a:t>
            </a:r>
            <a:r>
              <a:rPr lang="en-IN" sz="1000" dirty="0"/>
              <a:t>API {</a:t>
            </a:r>
            <a:endParaRPr lang="en-IN" sz="1000" dirty="0"/>
          </a:p>
          <a:p>
            <a:pPr marL="0" indent="0">
              <a:spcBef>
                <a:spcPts val="200"/>
              </a:spcBef>
              <a:buNone/>
            </a:pPr>
            <a:r>
              <a:rPr lang="en-IN" sz="1000" dirty="0"/>
              <a:t>    // Default method</a:t>
            </a:r>
            <a:endParaRPr lang="en-IN" sz="1000" dirty="0"/>
          </a:p>
          <a:p>
            <a:pPr marL="0" indent="0">
              <a:spcBef>
                <a:spcPts val="200"/>
              </a:spcBef>
              <a:buNone/>
            </a:pPr>
            <a:r>
              <a:rPr lang="en-IN" sz="1000" dirty="0"/>
              <a:t>    default void show()</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smtClean="0"/>
              <a:t>    </a:t>
            </a:r>
            <a:r>
              <a:rPr lang="en-IN" sz="1000" dirty="0" err="1" smtClean="0"/>
              <a:t>System.out.println</a:t>
            </a:r>
            <a:r>
              <a:rPr lang="en-IN" sz="1000" dirty="0"/>
              <a:t>("Default API");</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a:t>}</a:t>
            </a:r>
            <a:endParaRPr lang="en-IN" sz="1000" dirty="0"/>
          </a:p>
          <a:p>
            <a:pPr marL="0" indent="0">
              <a:spcBef>
                <a:spcPts val="200"/>
              </a:spcBef>
              <a:buNone/>
            </a:pPr>
            <a:endParaRPr lang="en-IN" sz="1000" dirty="0"/>
          </a:p>
          <a:p>
            <a:pPr marL="0" indent="0">
              <a:spcBef>
                <a:spcPts val="200"/>
              </a:spcBef>
              <a:buNone/>
            </a:pPr>
            <a:r>
              <a:rPr lang="en-IN" sz="1000" dirty="0" smtClean="0"/>
              <a:t>interface </a:t>
            </a:r>
            <a:r>
              <a:rPr lang="en-IN" sz="1000" dirty="0"/>
              <a:t>Interface1 extends API {</a:t>
            </a:r>
            <a:endParaRPr lang="en-IN" sz="1000" dirty="0"/>
          </a:p>
          <a:p>
            <a:pPr marL="0" indent="0">
              <a:spcBef>
                <a:spcPts val="200"/>
              </a:spcBef>
              <a:buNone/>
            </a:pPr>
            <a:r>
              <a:rPr lang="en-IN" sz="1000" dirty="0"/>
              <a:t>    // Abstract method</a:t>
            </a:r>
            <a:endParaRPr lang="en-IN" sz="1000" dirty="0"/>
          </a:p>
          <a:p>
            <a:pPr marL="0" indent="0">
              <a:spcBef>
                <a:spcPts val="200"/>
              </a:spcBef>
              <a:buNone/>
            </a:pPr>
            <a:r>
              <a:rPr lang="en-IN" sz="1000" dirty="0"/>
              <a:t>    void display();</a:t>
            </a:r>
            <a:endParaRPr lang="en-IN" sz="1000" dirty="0"/>
          </a:p>
          <a:p>
            <a:pPr marL="0" indent="0">
              <a:spcBef>
                <a:spcPts val="200"/>
              </a:spcBef>
              <a:buNone/>
            </a:pPr>
            <a:r>
              <a:rPr lang="en-IN" sz="1000" dirty="0"/>
              <a:t>}</a:t>
            </a:r>
            <a:endParaRPr lang="en-IN" sz="1000" dirty="0"/>
          </a:p>
          <a:p>
            <a:pPr marL="0" indent="0">
              <a:spcBef>
                <a:spcPts val="200"/>
              </a:spcBef>
              <a:buNone/>
            </a:pPr>
            <a:r>
              <a:rPr lang="en-IN" sz="1000" dirty="0" smtClean="0"/>
              <a:t> </a:t>
            </a:r>
            <a:endParaRPr lang="en-IN" sz="1000" dirty="0" smtClean="0"/>
          </a:p>
          <a:p>
            <a:pPr marL="0" indent="0">
              <a:spcBef>
                <a:spcPts val="200"/>
              </a:spcBef>
              <a:buNone/>
            </a:pPr>
            <a:r>
              <a:rPr lang="en-IN" sz="1000" dirty="0" smtClean="0"/>
              <a:t>interface </a:t>
            </a:r>
            <a:r>
              <a:rPr lang="en-IN" sz="1000" dirty="0"/>
              <a:t>Interface2 extends API {</a:t>
            </a:r>
            <a:endParaRPr lang="en-IN" sz="1000" dirty="0"/>
          </a:p>
          <a:p>
            <a:pPr marL="0" indent="0">
              <a:spcBef>
                <a:spcPts val="200"/>
              </a:spcBef>
              <a:buNone/>
            </a:pPr>
            <a:r>
              <a:rPr lang="en-IN" sz="1000" dirty="0"/>
              <a:t>    // Abstract method</a:t>
            </a:r>
            <a:endParaRPr lang="en-IN" sz="1000" dirty="0"/>
          </a:p>
          <a:p>
            <a:pPr marL="0" indent="0">
              <a:spcBef>
                <a:spcPts val="200"/>
              </a:spcBef>
              <a:buNone/>
            </a:pPr>
            <a:r>
              <a:rPr lang="en-IN" sz="1000" dirty="0"/>
              <a:t>    void print();</a:t>
            </a:r>
            <a:endParaRPr lang="en-IN" sz="1000" dirty="0"/>
          </a:p>
          <a:p>
            <a:pPr marL="0" indent="0">
              <a:spcBef>
                <a:spcPts val="200"/>
              </a:spcBef>
              <a:buNone/>
            </a:pPr>
            <a:r>
              <a:rPr lang="en-IN" sz="1000" dirty="0"/>
              <a:t>}</a:t>
            </a:r>
            <a:endParaRPr lang="en-IN" sz="1000" dirty="0"/>
          </a:p>
          <a:p>
            <a:pPr marL="0" indent="0">
              <a:spcBef>
                <a:spcPts val="200"/>
              </a:spcBef>
              <a:buNone/>
            </a:pPr>
            <a:endParaRPr lang="en-IN" sz="1000" dirty="0" smtClean="0"/>
          </a:p>
          <a:p>
            <a:pPr marL="0" indent="0">
              <a:spcBef>
                <a:spcPts val="200"/>
              </a:spcBef>
              <a:buNone/>
            </a:pPr>
            <a:r>
              <a:rPr lang="en-IN" sz="1000" dirty="0" smtClean="0"/>
              <a:t>class </a:t>
            </a:r>
            <a:r>
              <a:rPr lang="en-IN" sz="1000" dirty="0" err="1"/>
              <a:t>TestClass</a:t>
            </a:r>
            <a:r>
              <a:rPr lang="en-IN" sz="1000" dirty="0"/>
              <a:t> implements Interface1, Interface2 {</a:t>
            </a:r>
            <a:endParaRPr lang="en-IN" sz="1000" dirty="0"/>
          </a:p>
          <a:p>
            <a:pPr marL="0" indent="0">
              <a:spcBef>
                <a:spcPts val="200"/>
              </a:spcBef>
              <a:buNone/>
            </a:pPr>
            <a:r>
              <a:rPr lang="en-IN" sz="1000" dirty="0" smtClean="0"/>
              <a:t>public </a:t>
            </a:r>
            <a:r>
              <a:rPr lang="en-IN" sz="1000" dirty="0"/>
              <a:t>void display()</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a:t>        </a:t>
            </a:r>
            <a:r>
              <a:rPr lang="en-IN" sz="1000" dirty="0" err="1"/>
              <a:t>System.out.println</a:t>
            </a:r>
            <a:r>
              <a:rPr lang="en-IN" sz="1000" dirty="0"/>
              <a:t>("Display from Interface1");</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smtClean="0"/>
              <a:t>public </a:t>
            </a:r>
            <a:r>
              <a:rPr lang="en-IN" sz="1000" dirty="0"/>
              <a:t>void print()</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a:t>        </a:t>
            </a:r>
            <a:r>
              <a:rPr lang="en-IN" sz="1000" dirty="0" err="1"/>
              <a:t>System.out.println</a:t>
            </a:r>
            <a:r>
              <a:rPr lang="en-IN" sz="1000" dirty="0"/>
              <a:t>("Print from Interface2");</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smtClean="0"/>
              <a:t>public </a:t>
            </a:r>
            <a:r>
              <a:rPr lang="en-IN" sz="1000" dirty="0"/>
              <a:t>static void main(String </a:t>
            </a:r>
            <a:r>
              <a:rPr lang="en-IN" sz="1000" dirty="0" err="1"/>
              <a:t>args</a:t>
            </a:r>
            <a:r>
              <a:rPr lang="en-IN" sz="1000" dirty="0"/>
              <a:t>[])</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smtClean="0"/>
              <a:t>        </a:t>
            </a:r>
            <a:r>
              <a:rPr lang="en-IN" sz="1000" dirty="0" err="1" smtClean="0"/>
              <a:t>TestClass</a:t>
            </a:r>
            <a:r>
              <a:rPr lang="en-IN" sz="1000" dirty="0" smtClean="0"/>
              <a:t> </a:t>
            </a:r>
            <a:r>
              <a:rPr lang="en-IN" sz="1000" dirty="0"/>
              <a:t>d = new </a:t>
            </a:r>
            <a:r>
              <a:rPr lang="en-IN" sz="1000" dirty="0" err="1"/>
              <a:t>TestClass</a:t>
            </a:r>
            <a:r>
              <a:rPr lang="en-IN" sz="1000" dirty="0"/>
              <a:t>();</a:t>
            </a:r>
            <a:endParaRPr lang="en-IN" sz="1000" dirty="0"/>
          </a:p>
          <a:p>
            <a:pPr marL="0" indent="0">
              <a:spcBef>
                <a:spcPts val="200"/>
              </a:spcBef>
              <a:buNone/>
            </a:pPr>
            <a:endParaRPr lang="en-IN" sz="1000" dirty="0"/>
          </a:p>
          <a:p>
            <a:pPr marL="0" indent="0">
              <a:spcBef>
                <a:spcPts val="200"/>
              </a:spcBef>
              <a:buNone/>
            </a:pPr>
            <a:r>
              <a:rPr lang="en-IN" sz="1000" dirty="0" smtClean="0"/>
              <a:t>        </a:t>
            </a:r>
            <a:r>
              <a:rPr lang="en-IN" sz="1000" dirty="0" err="1" smtClean="0"/>
              <a:t>d.show</a:t>
            </a:r>
            <a:r>
              <a:rPr lang="en-IN" sz="1000" dirty="0"/>
              <a:t>(); // Default method from API</a:t>
            </a:r>
            <a:endParaRPr lang="en-IN" sz="1000" dirty="0"/>
          </a:p>
          <a:p>
            <a:pPr marL="0" indent="0">
              <a:spcBef>
                <a:spcPts val="200"/>
              </a:spcBef>
              <a:buNone/>
            </a:pPr>
            <a:r>
              <a:rPr lang="en-IN" sz="1000" dirty="0"/>
              <a:t>        </a:t>
            </a:r>
            <a:r>
              <a:rPr lang="en-IN" sz="1000" dirty="0" err="1"/>
              <a:t>d.display</a:t>
            </a:r>
            <a:r>
              <a:rPr lang="en-IN" sz="1000" dirty="0"/>
              <a:t>(); // Overridden method from Interface1</a:t>
            </a:r>
            <a:endParaRPr lang="en-IN" sz="1000" dirty="0"/>
          </a:p>
          <a:p>
            <a:pPr marL="0" indent="0">
              <a:spcBef>
                <a:spcPts val="200"/>
              </a:spcBef>
              <a:buNone/>
            </a:pPr>
            <a:r>
              <a:rPr lang="en-IN" sz="1000" dirty="0"/>
              <a:t>        </a:t>
            </a:r>
            <a:r>
              <a:rPr lang="en-IN" sz="1000" dirty="0" err="1"/>
              <a:t>d.print</a:t>
            </a:r>
            <a:r>
              <a:rPr lang="en-IN" sz="1000" dirty="0"/>
              <a:t>(); // Overridden method from Interface2</a:t>
            </a:r>
            <a:endParaRPr lang="en-IN" sz="1000" dirty="0"/>
          </a:p>
          <a:p>
            <a:pPr marL="0" indent="0">
              <a:spcBef>
                <a:spcPts val="200"/>
              </a:spcBef>
              <a:buNone/>
            </a:pPr>
            <a:r>
              <a:rPr lang="en-IN" sz="1000" dirty="0"/>
              <a:t>    }</a:t>
            </a:r>
            <a:endParaRPr lang="en-IN" sz="1000" dirty="0"/>
          </a:p>
          <a:p>
            <a:pPr marL="0" indent="0">
              <a:spcBef>
                <a:spcPts val="200"/>
              </a:spcBef>
              <a:buNone/>
            </a:pPr>
            <a:r>
              <a:rPr lang="en-IN" sz="1000" dirty="0"/>
              <a:t>}</a:t>
            </a:r>
            <a:endParaRPr lang="en-IN"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8818" y="375515"/>
            <a:ext cx="10515600" cy="6200775"/>
          </a:xfrm>
        </p:spPr>
        <p:txBody>
          <a:bodyPr numCol="2">
            <a:noAutofit/>
          </a:bodyPr>
          <a:lstStyle/>
          <a:p>
            <a:pPr marL="0" indent="0">
              <a:spcBef>
                <a:spcPts val="200"/>
              </a:spcBef>
              <a:buNone/>
            </a:pPr>
            <a:r>
              <a:rPr lang="en-IN" sz="800" dirty="0"/>
              <a:t>// First base interface</a:t>
            </a:r>
            <a:endParaRPr lang="en-IN" sz="800" dirty="0"/>
          </a:p>
          <a:p>
            <a:pPr marL="0" indent="0">
              <a:spcBef>
                <a:spcPts val="200"/>
              </a:spcBef>
              <a:buNone/>
            </a:pPr>
            <a:r>
              <a:rPr lang="en-IN" sz="800" dirty="0"/>
              <a:t>interface </a:t>
            </a:r>
            <a:r>
              <a:rPr lang="en-IN" sz="800" dirty="0" err="1"/>
              <a:t>InterfaceA</a:t>
            </a:r>
            <a:r>
              <a:rPr lang="en-IN" sz="800" dirty="0"/>
              <a:t> {</a:t>
            </a:r>
            <a:endParaRPr lang="en-IN" sz="800" dirty="0"/>
          </a:p>
          <a:p>
            <a:pPr marL="0" indent="0">
              <a:spcBef>
                <a:spcPts val="200"/>
              </a:spcBef>
              <a:buNone/>
            </a:pPr>
            <a:r>
              <a:rPr lang="en-IN" sz="800" dirty="0"/>
              <a:t>    void </a:t>
            </a:r>
            <a:r>
              <a:rPr lang="en-IN" sz="800" dirty="0" err="1"/>
              <a:t>methodA</a:t>
            </a:r>
            <a:r>
              <a:rPr lang="en-IN" sz="800" dirty="0"/>
              <a:t>();</a:t>
            </a:r>
            <a:endParaRPr lang="en-IN" sz="800" dirty="0"/>
          </a:p>
          <a:p>
            <a:pPr marL="0" indent="0">
              <a:spcBef>
                <a:spcPts val="200"/>
              </a:spcBef>
              <a:buNone/>
            </a:pPr>
            <a:r>
              <a:rPr lang="en-IN" sz="800" dirty="0"/>
              <a:t>}</a:t>
            </a:r>
            <a:endParaRPr lang="en-IN" sz="800" dirty="0"/>
          </a:p>
          <a:p>
            <a:pPr marL="0" indent="0">
              <a:spcBef>
                <a:spcPts val="200"/>
              </a:spcBef>
              <a:buNone/>
            </a:pPr>
            <a:endParaRPr lang="en-IN" sz="800" dirty="0"/>
          </a:p>
          <a:p>
            <a:pPr marL="0" indent="0">
              <a:spcBef>
                <a:spcPts val="200"/>
              </a:spcBef>
              <a:buNone/>
            </a:pPr>
            <a:r>
              <a:rPr lang="en-IN" sz="800" dirty="0"/>
              <a:t>// Second base interface</a:t>
            </a:r>
            <a:endParaRPr lang="en-IN" sz="800" dirty="0"/>
          </a:p>
          <a:p>
            <a:pPr marL="0" indent="0">
              <a:spcBef>
                <a:spcPts val="200"/>
              </a:spcBef>
              <a:buNone/>
            </a:pPr>
            <a:r>
              <a:rPr lang="en-IN" sz="800" dirty="0"/>
              <a:t>interface </a:t>
            </a:r>
            <a:r>
              <a:rPr lang="en-IN" sz="800" dirty="0" err="1"/>
              <a:t>InterfaceB</a:t>
            </a:r>
            <a:r>
              <a:rPr lang="en-IN" sz="800" dirty="0"/>
              <a:t> {</a:t>
            </a:r>
            <a:endParaRPr lang="en-IN" sz="800" dirty="0"/>
          </a:p>
          <a:p>
            <a:pPr marL="0" indent="0">
              <a:spcBef>
                <a:spcPts val="200"/>
              </a:spcBef>
              <a:buNone/>
            </a:pPr>
            <a:r>
              <a:rPr lang="en-IN" sz="800" dirty="0"/>
              <a:t>    void </a:t>
            </a:r>
            <a:r>
              <a:rPr lang="en-IN" sz="800" dirty="0" err="1"/>
              <a:t>methodB</a:t>
            </a:r>
            <a:r>
              <a:rPr lang="en-IN" sz="800" dirty="0"/>
              <a:t>();</a:t>
            </a:r>
            <a:endParaRPr lang="en-IN" sz="800" dirty="0"/>
          </a:p>
          <a:p>
            <a:pPr marL="0" indent="0">
              <a:spcBef>
                <a:spcPts val="200"/>
              </a:spcBef>
              <a:buNone/>
            </a:pPr>
            <a:r>
              <a:rPr lang="en-IN" sz="800" dirty="0"/>
              <a:t>}</a:t>
            </a:r>
            <a:endParaRPr lang="en-IN" sz="800" dirty="0"/>
          </a:p>
          <a:p>
            <a:pPr marL="0" indent="0">
              <a:spcBef>
                <a:spcPts val="200"/>
              </a:spcBef>
              <a:buNone/>
            </a:pPr>
            <a:endParaRPr lang="en-IN" sz="800" dirty="0"/>
          </a:p>
          <a:p>
            <a:pPr marL="0" indent="0">
              <a:spcBef>
                <a:spcPts val="200"/>
              </a:spcBef>
              <a:buNone/>
            </a:pPr>
            <a:r>
              <a:rPr lang="en-IN" sz="800" dirty="0"/>
              <a:t>// </a:t>
            </a:r>
            <a:r>
              <a:rPr lang="en-IN" sz="800" dirty="0" err="1"/>
              <a:t>InterfaceC</a:t>
            </a:r>
            <a:r>
              <a:rPr lang="en-IN" sz="800" dirty="0"/>
              <a:t> extends </a:t>
            </a:r>
            <a:r>
              <a:rPr lang="en-IN" sz="800" dirty="0" err="1"/>
              <a:t>InterfaceA</a:t>
            </a:r>
            <a:r>
              <a:rPr lang="en-IN" sz="800" dirty="0"/>
              <a:t> and </a:t>
            </a:r>
            <a:r>
              <a:rPr lang="en-IN" sz="800" dirty="0" err="1"/>
              <a:t>InterfaceB</a:t>
            </a:r>
            <a:endParaRPr lang="en-IN" sz="800" dirty="0"/>
          </a:p>
          <a:p>
            <a:pPr marL="0" indent="0">
              <a:spcBef>
                <a:spcPts val="200"/>
              </a:spcBef>
              <a:buNone/>
            </a:pPr>
            <a:r>
              <a:rPr lang="en-IN" sz="800" dirty="0"/>
              <a:t>interface </a:t>
            </a:r>
            <a:r>
              <a:rPr lang="en-IN" sz="800" dirty="0" err="1"/>
              <a:t>InterfaceC</a:t>
            </a:r>
            <a:r>
              <a:rPr lang="en-IN" sz="800" dirty="0"/>
              <a:t> extends </a:t>
            </a:r>
            <a:r>
              <a:rPr lang="en-IN" sz="800" dirty="0" err="1"/>
              <a:t>InterfaceA</a:t>
            </a:r>
            <a:r>
              <a:rPr lang="en-IN" sz="800" dirty="0"/>
              <a:t>, </a:t>
            </a:r>
            <a:r>
              <a:rPr lang="en-IN" sz="800" dirty="0" err="1"/>
              <a:t>InterfaceB</a:t>
            </a:r>
            <a:r>
              <a:rPr lang="en-IN" sz="800" dirty="0"/>
              <a:t> {</a:t>
            </a:r>
            <a:endParaRPr lang="en-IN" sz="800" dirty="0"/>
          </a:p>
          <a:p>
            <a:pPr marL="0" indent="0">
              <a:spcBef>
                <a:spcPts val="200"/>
              </a:spcBef>
              <a:buNone/>
            </a:pPr>
            <a:r>
              <a:rPr lang="en-IN" sz="800" dirty="0"/>
              <a:t>    void </a:t>
            </a:r>
            <a:r>
              <a:rPr lang="en-IN" sz="800" dirty="0" err="1"/>
              <a:t>methodC</a:t>
            </a:r>
            <a:r>
              <a:rPr lang="en-IN" sz="800" dirty="0"/>
              <a:t>();</a:t>
            </a:r>
            <a:endParaRPr lang="en-IN" sz="800" dirty="0"/>
          </a:p>
          <a:p>
            <a:pPr marL="0" indent="0">
              <a:spcBef>
                <a:spcPts val="200"/>
              </a:spcBef>
              <a:buNone/>
            </a:pPr>
            <a:r>
              <a:rPr lang="en-IN" sz="800" dirty="0"/>
              <a:t>}</a:t>
            </a:r>
            <a:endParaRPr lang="en-IN" sz="800" dirty="0"/>
          </a:p>
          <a:p>
            <a:pPr marL="0" indent="0">
              <a:spcBef>
                <a:spcPts val="200"/>
              </a:spcBef>
              <a:buNone/>
            </a:pPr>
            <a:endParaRPr lang="en-IN" sz="800" dirty="0"/>
          </a:p>
          <a:p>
            <a:pPr marL="0" indent="0">
              <a:spcBef>
                <a:spcPts val="200"/>
              </a:spcBef>
              <a:buNone/>
            </a:pPr>
            <a:r>
              <a:rPr lang="en-IN" sz="800" dirty="0"/>
              <a:t>// </a:t>
            </a:r>
            <a:r>
              <a:rPr lang="en-IN" sz="800" dirty="0" err="1"/>
              <a:t>InterfaceD</a:t>
            </a:r>
            <a:r>
              <a:rPr lang="en-IN" sz="800" dirty="0"/>
              <a:t> extends </a:t>
            </a:r>
            <a:r>
              <a:rPr lang="en-IN" sz="800" dirty="0" err="1"/>
              <a:t>InterfaceA</a:t>
            </a:r>
            <a:r>
              <a:rPr lang="en-IN" sz="800" dirty="0"/>
              <a:t> and </a:t>
            </a:r>
            <a:r>
              <a:rPr lang="en-IN" sz="800" dirty="0" err="1"/>
              <a:t>InterfaceB</a:t>
            </a:r>
            <a:endParaRPr lang="en-IN" sz="800" dirty="0"/>
          </a:p>
          <a:p>
            <a:pPr marL="0" indent="0">
              <a:spcBef>
                <a:spcPts val="200"/>
              </a:spcBef>
              <a:buNone/>
            </a:pPr>
            <a:r>
              <a:rPr lang="en-IN" sz="800" dirty="0"/>
              <a:t>interface </a:t>
            </a:r>
            <a:r>
              <a:rPr lang="en-IN" sz="800" dirty="0" err="1"/>
              <a:t>InterfaceD</a:t>
            </a:r>
            <a:r>
              <a:rPr lang="en-IN" sz="800" dirty="0"/>
              <a:t> extends </a:t>
            </a:r>
            <a:r>
              <a:rPr lang="en-IN" sz="800" dirty="0" err="1"/>
              <a:t>InterfaceA</a:t>
            </a:r>
            <a:r>
              <a:rPr lang="en-IN" sz="800" dirty="0"/>
              <a:t>, </a:t>
            </a:r>
            <a:r>
              <a:rPr lang="en-IN" sz="800" dirty="0" err="1"/>
              <a:t>InterfaceB</a:t>
            </a:r>
            <a:r>
              <a:rPr lang="en-IN" sz="800" dirty="0"/>
              <a:t> {</a:t>
            </a:r>
            <a:endParaRPr lang="en-IN" sz="800" dirty="0"/>
          </a:p>
          <a:p>
            <a:pPr marL="0" indent="0">
              <a:spcBef>
                <a:spcPts val="200"/>
              </a:spcBef>
              <a:buNone/>
            </a:pPr>
            <a:r>
              <a:rPr lang="en-IN" sz="800" dirty="0"/>
              <a:t>    void </a:t>
            </a:r>
            <a:r>
              <a:rPr lang="en-IN" sz="800" dirty="0" err="1"/>
              <a:t>methodD</a:t>
            </a:r>
            <a:r>
              <a:rPr lang="en-IN" sz="800" dirty="0"/>
              <a:t>();</a:t>
            </a:r>
            <a:endParaRPr lang="en-IN" sz="800" dirty="0"/>
          </a:p>
          <a:p>
            <a:pPr marL="0" indent="0">
              <a:spcBef>
                <a:spcPts val="200"/>
              </a:spcBef>
              <a:buNone/>
            </a:pPr>
            <a:r>
              <a:rPr lang="en-IN" sz="800" dirty="0"/>
              <a:t>}</a:t>
            </a:r>
            <a:endParaRPr lang="en-IN" sz="800" dirty="0"/>
          </a:p>
          <a:p>
            <a:pPr marL="0" indent="0">
              <a:spcBef>
                <a:spcPts val="200"/>
              </a:spcBef>
              <a:buNone/>
            </a:pPr>
            <a:endParaRPr lang="en-IN" sz="800" dirty="0"/>
          </a:p>
          <a:p>
            <a:pPr marL="0" indent="0">
              <a:spcBef>
                <a:spcPts val="200"/>
              </a:spcBef>
              <a:buNone/>
            </a:pPr>
            <a:r>
              <a:rPr lang="en-IN" sz="800" dirty="0"/>
              <a:t>// Class implementing </a:t>
            </a:r>
            <a:r>
              <a:rPr lang="en-IN" sz="800" dirty="0" err="1"/>
              <a:t>InterfaceC</a:t>
            </a:r>
            <a:r>
              <a:rPr lang="en-IN" sz="800" dirty="0"/>
              <a:t> and providing implementations</a:t>
            </a:r>
            <a:endParaRPr lang="en-IN" sz="800" dirty="0"/>
          </a:p>
          <a:p>
            <a:pPr marL="0" indent="0">
              <a:spcBef>
                <a:spcPts val="200"/>
              </a:spcBef>
              <a:buNone/>
            </a:pPr>
            <a:r>
              <a:rPr lang="en-IN" sz="800" dirty="0"/>
              <a:t>class </a:t>
            </a:r>
            <a:r>
              <a:rPr lang="en-IN" sz="800" dirty="0" err="1"/>
              <a:t>ImplementingClass</a:t>
            </a:r>
            <a:r>
              <a:rPr lang="en-IN" sz="800" dirty="0"/>
              <a:t> implements </a:t>
            </a:r>
            <a:r>
              <a:rPr lang="en-IN" sz="800" dirty="0" err="1"/>
              <a:t>InterfaceC</a:t>
            </a:r>
            <a:r>
              <a:rPr lang="en-IN" sz="800" dirty="0"/>
              <a:t> {</a:t>
            </a:r>
            <a:endParaRPr lang="en-IN" sz="800" dirty="0"/>
          </a:p>
          <a:p>
            <a:pPr marL="0" indent="0">
              <a:spcBef>
                <a:spcPts val="200"/>
              </a:spcBef>
              <a:buNone/>
            </a:pPr>
            <a:r>
              <a:rPr lang="en-IN" sz="800" dirty="0"/>
              <a:t>    @Override</a:t>
            </a:r>
            <a:endParaRPr lang="en-IN" sz="800" dirty="0"/>
          </a:p>
          <a:p>
            <a:pPr marL="0" indent="0">
              <a:spcBef>
                <a:spcPts val="200"/>
              </a:spcBef>
              <a:buNone/>
            </a:pPr>
            <a:r>
              <a:rPr lang="en-IN" sz="800" dirty="0"/>
              <a:t>    public void </a:t>
            </a:r>
            <a:r>
              <a:rPr lang="en-IN" sz="800" dirty="0" err="1"/>
              <a:t>methodA</a:t>
            </a:r>
            <a:r>
              <a:rPr lang="en-IN" sz="800" dirty="0"/>
              <a:t>() {</a:t>
            </a:r>
            <a:endParaRPr lang="en-IN" sz="800" dirty="0"/>
          </a:p>
          <a:p>
            <a:pPr marL="0" indent="0">
              <a:spcBef>
                <a:spcPts val="200"/>
              </a:spcBef>
              <a:buNone/>
            </a:pPr>
            <a:r>
              <a:rPr lang="en-IN" sz="800" dirty="0"/>
              <a:t>        </a:t>
            </a:r>
            <a:r>
              <a:rPr lang="en-IN" sz="800" dirty="0" err="1"/>
              <a:t>System.out.println</a:t>
            </a:r>
            <a:r>
              <a:rPr lang="en-IN" sz="800" dirty="0"/>
              <a:t>("Method A from </a:t>
            </a:r>
            <a:r>
              <a:rPr lang="en-IN" sz="800" dirty="0" err="1"/>
              <a:t>InterfaceA</a:t>
            </a:r>
            <a:r>
              <a:rPr lang="en-IN" sz="800" dirty="0"/>
              <a:t>");</a:t>
            </a:r>
            <a:endParaRPr lang="en-IN" sz="800" dirty="0"/>
          </a:p>
          <a:p>
            <a:pPr marL="0" indent="0">
              <a:spcBef>
                <a:spcPts val="200"/>
              </a:spcBef>
              <a:buNone/>
            </a:pPr>
            <a:r>
              <a:rPr lang="en-IN" sz="800" dirty="0"/>
              <a:t>    }</a:t>
            </a:r>
            <a:endParaRPr lang="en-IN" sz="800" dirty="0"/>
          </a:p>
          <a:p>
            <a:pPr marL="0" indent="0">
              <a:spcBef>
                <a:spcPts val="200"/>
              </a:spcBef>
              <a:buNone/>
            </a:pPr>
            <a:endParaRPr lang="en-IN" sz="800" dirty="0"/>
          </a:p>
          <a:p>
            <a:pPr marL="0" indent="0">
              <a:spcBef>
                <a:spcPts val="200"/>
              </a:spcBef>
              <a:buNone/>
            </a:pPr>
            <a:r>
              <a:rPr lang="en-IN" sz="800" dirty="0"/>
              <a:t>    @Override</a:t>
            </a:r>
            <a:endParaRPr lang="en-IN" sz="800" dirty="0"/>
          </a:p>
          <a:p>
            <a:pPr marL="0" indent="0">
              <a:spcBef>
                <a:spcPts val="200"/>
              </a:spcBef>
              <a:buNone/>
            </a:pPr>
            <a:r>
              <a:rPr lang="en-IN" sz="800" dirty="0"/>
              <a:t>    public void </a:t>
            </a:r>
            <a:r>
              <a:rPr lang="en-IN" sz="800" dirty="0" err="1"/>
              <a:t>methodB</a:t>
            </a:r>
            <a:r>
              <a:rPr lang="en-IN" sz="800" dirty="0"/>
              <a:t>() {</a:t>
            </a:r>
            <a:endParaRPr lang="en-IN" sz="800" dirty="0"/>
          </a:p>
          <a:p>
            <a:pPr marL="0" indent="0">
              <a:spcBef>
                <a:spcPts val="200"/>
              </a:spcBef>
              <a:buNone/>
            </a:pPr>
            <a:r>
              <a:rPr lang="en-IN" sz="800" dirty="0"/>
              <a:t>        </a:t>
            </a:r>
            <a:r>
              <a:rPr lang="en-IN" sz="800" dirty="0" err="1"/>
              <a:t>System.out.println</a:t>
            </a:r>
            <a:r>
              <a:rPr lang="en-IN" sz="800" dirty="0"/>
              <a:t>("Method B from </a:t>
            </a:r>
            <a:r>
              <a:rPr lang="en-IN" sz="800" dirty="0" err="1"/>
              <a:t>InterfaceB</a:t>
            </a:r>
            <a:r>
              <a:rPr lang="en-IN" sz="800" dirty="0"/>
              <a:t>");</a:t>
            </a:r>
            <a:endParaRPr lang="en-IN" sz="800" dirty="0"/>
          </a:p>
          <a:p>
            <a:pPr marL="0" indent="0">
              <a:spcBef>
                <a:spcPts val="200"/>
              </a:spcBef>
              <a:buNone/>
            </a:pPr>
            <a:r>
              <a:rPr lang="en-IN" sz="800" dirty="0"/>
              <a:t>    }</a:t>
            </a:r>
            <a:endParaRPr lang="en-IN" sz="800" dirty="0"/>
          </a:p>
          <a:p>
            <a:pPr marL="0" indent="0">
              <a:spcBef>
                <a:spcPts val="200"/>
              </a:spcBef>
              <a:buNone/>
            </a:pPr>
            <a:endParaRPr lang="en-IN" sz="800" dirty="0"/>
          </a:p>
          <a:p>
            <a:pPr marL="0" indent="0">
              <a:spcBef>
                <a:spcPts val="200"/>
              </a:spcBef>
              <a:buNone/>
            </a:pPr>
            <a:r>
              <a:rPr lang="en-IN" sz="800" dirty="0"/>
              <a:t>    @Override</a:t>
            </a:r>
            <a:endParaRPr lang="en-IN" sz="800" dirty="0"/>
          </a:p>
          <a:p>
            <a:pPr marL="0" indent="0">
              <a:spcBef>
                <a:spcPts val="200"/>
              </a:spcBef>
              <a:buNone/>
            </a:pPr>
            <a:r>
              <a:rPr lang="en-IN" sz="800" dirty="0"/>
              <a:t>    public void </a:t>
            </a:r>
            <a:r>
              <a:rPr lang="en-IN" sz="800" dirty="0" err="1"/>
              <a:t>methodC</a:t>
            </a:r>
            <a:r>
              <a:rPr lang="en-IN" sz="800" dirty="0"/>
              <a:t>() {</a:t>
            </a:r>
            <a:endParaRPr lang="en-IN" sz="800" dirty="0"/>
          </a:p>
          <a:p>
            <a:pPr marL="0" indent="0">
              <a:spcBef>
                <a:spcPts val="200"/>
              </a:spcBef>
              <a:buNone/>
            </a:pPr>
            <a:r>
              <a:rPr lang="en-IN" sz="800" dirty="0"/>
              <a:t>        </a:t>
            </a:r>
            <a:r>
              <a:rPr lang="en-IN" sz="800" dirty="0" err="1"/>
              <a:t>System.out.println</a:t>
            </a:r>
            <a:r>
              <a:rPr lang="en-IN" sz="800" dirty="0"/>
              <a:t>("Method C from </a:t>
            </a:r>
            <a:r>
              <a:rPr lang="en-IN" sz="800" dirty="0" err="1"/>
              <a:t>InterfaceC</a:t>
            </a:r>
            <a:r>
              <a:rPr lang="en-IN" sz="800" dirty="0"/>
              <a:t>");</a:t>
            </a:r>
            <a:endParaRPr lang="en-IN" sz="800" dirty="0"/>
          </a:p>
          <a:p>
            <a:pPr marL="0" indent="0">
              <a:spcBef>
                <a:spcPts val="200"/>
              </a:spcBef>
              <a:buNone/>
            </a:pPr>
            <a:r>
              <a:rPr lang="en-IN" sz="800" dirty="0"/>
              <a:t>    }</a:t>
            </a:r>
            <a:endParaRPr lang="en-IN" sz="800" dirty="0"/>
          </a:p>
          <a:p>
            <a:pPr marL="0" indent="0">
              <a:spcBef>
                <a:spcPts val="200"/>
              </a:spcBef>
              <a:buNone/>
            </a:pPr>
            <a:r>
              <a:rPr lang="en-IN" sz="800" dirty="0"/>
              <a:t>}</a:t>
            </a:r>
            <a:endParaRPr lang="en-IN" sz="800" dirty="0"/>
          </a:p>
          <a:p>
            <a:pPr marL="0" indent="0">
              <a:spcBef>
                <a:spcPts val="200"/>
              </a:spcBef>
              <a:buNone/>
            </a:pPr>
            <a:endParaRPr lang="en-IN" sz="800" dirty="0"/>
          </a:p>
          <a:p>
            <a:pPr marL="0" indent="0">
              <a:spcBef>
                <a:spcPts val="200"/>
              </a:spcBef>
              <a:buNone/>
            </a:pPr>
            <a:r>
              <a:rPr lang="en-IN" sz="800" dirty="0"/>
              <a:t>// Main class to test the implementation</a:t>
            </a:r>
            <a:endParaRPr lang="en-IN" sz="800" dirty="0"/>
          </a:p>
          <a:p>
            <a:pPr marL="0" indent="0">
              <a:spcBef>
                <a:spcPts val="200"/>
              </a:spcBef>
              <a:buNone/>
            </a:pPr>
            <a:r>
              <a:rPr lang="en-IN" sz="800" dirty="0"/>
              <a:t>public class Main {</a:t>
            </a:r>
            <a:endParaRPr lang="en-IN" sz="800" dirty="0"/>
          </a:p>
          <a:p>
            <a:pPr marL="0" indent="0">
              <a:spcBef>
                <a:spcPts val="200"/>
              </a:spcBef>
              <a:buNone/>
            </a:pPr>
            <a:r>
              <a:rPr lang="en-IN" sz="800" dirty="0"/>
              <a:t>    public static void main(String[] </a:t>
            </a:r>
            <a:r>
              <a:rPr lang="en-IN" sz="800" dirty="0" err="1"/>
              <a:t>args</a:t>
            </a:r>
            <a:r>
              <a:rPr lang="en-IN" sz="800" dirty="0"/>
              <a:t>) {</a:t>
            </a:r>
            <a:endParaRPr lang="en-IN" sz="800" dirty="0"/>
          </a:p>
          <a:p>
            <a:pPr marL="0" indent="0">
              <a:spcBef>
                <a:spcPts val="200"/>
              </a:spcBef>
              <a:buNone/>
            </a:pPr>
            <a:r>
              <a:rPr lang="en-IN" sz="800" dirty="0"/>
              <a:t>        </a:t>
            </a:r>
            <a:r>
              <a:rPr lang="en-IN" sz="800" dirty="0" err="1"/>
              <a:t>ImplementingClass</a:t>
            </a:r>
            <a:r>
              <a:rPr lang="en-IN" sz="800" dirty="0"/>
              <a:t> </a:t>
            </a:r>
            <a:r>
              <a:rPr lang="en-IN" sz="800" dirty="0" err="1"/>
              <a:t>obj</a:t>
            </a:r>
            <a:r>
              <a:rPr lang="en-IN" sz="800" dirty="0"/>
              <a:t> = new </a:t>
            </a:r>
            <a:r>
              <a:rPr lang="en-IN" sz="800" dirty="0" err="1"/>
              <a:t>ImplementingClass</a:t>
            </a:r>
            <a:r>
              <a:rPr lang="en-IN" sz="800" dirty="0"/>
              <a:t>();</a:t>
            </a:r>
            <a:endParaRPr lang="en-IN" sz="800" dirty="0"/>
          </a:p>
          <a:p>
            <a:pPr marL="0" indent="0">
              <a:spcBef>
                <a:spcPts val="200"/>
              </a:spcBef>
              <a:buNone/>
            </a:pPr>
            <a:r>
              <a:rPr lang="en-IN" sz="800" dirty="0"/>
              <a:t>        </a:t>
            </a:r>
            <a:r>
              <a:rPr lang="en-IN" sz="800" dirty="0" err="1"/>
              <a:t>obj.methodA</a:t>
            </a:r>
            <a:r>
              <a:rPr lang="en-IN" sz="800" dirty="0"/>
              <a:t>();</a:t>
            </a:r>
            <a:endParaRPr lang="en-IN" sz="800" dirty="0"/>
          </a:p>
          <a:p>
            <a:pPr marL="0" indent="0">
              <a:spcBef>
                <a:spcPts val="200"/>
              </a:spcBef>
              <a:buNone/>
            </a:pPr>
            <a:r>
              <a:rPr lang="en-IN" sz="800" dirty="0"/>
              <a:t>        </a:t>
            </a:r>
            <a:r>
              <a:rPr lang="en-IN" sz="800" dirty="0" err="1"/>
              <a:t>obj.methodB</a:t>
            </a:r>
            <a:r>
              <a:rPr lang="en-IN" sz="800" dirty="0"/>
              <a:t>();</a:t>
            </a:r>
            <a:endParaRPr lang="en-IN" sz="800" dirty="0"/>
          </a:p>
          <a:p>
            <a:pPr marL="0" indent="0">
              <a:spcBef>
                <a:spcPts val="200"/>
              </a:spcBef>
              <a:buNone/>
            </a:pPr>
            <a:r>
              <a:rPr lang="en-IN" sz="800" dirty="0"/>
              <a:t>        </a:t>
            </a:r>
            <a:r>
              <a:rPr lang="en-IN" sz="800" dirty="0" err="1"/>
              <a:t>obj.methodC</a:t>
            </a:r>
            <a:r>
              <a:rPr lang="en-IN" sz="800" dirty="0"/>
              <a:t>();</a:t>
            </a:r>
            <a:endParaRPr lang="en-IN" sz="800" dirty="0"/>
          </a:p>
          <a:p>
            <a:pPr marL="0" indent="0">
              <a:spcBef>
                <a:spcPts val="200"/>
              </a:spcBef>
              <a:buNone/>
            </a:pPr>
            <a:r>
              <a:rPr lang="en-IN" sz="800" dirty="0"/>
              <a:t>    }</a:t>
            </a:r>
            <a:endParaRPr lang="en-IN" sz="800" dirty="0"/>
          </a:p>
          <a:p>
            <a:pPr marL="0" indent="0">
              <a:spcBef>
                <a:spcPts val="200"/>
              </a:spcBef>
              <a:buNone/>
            </a:pPr>
            <a:r>
              <a:rPr lang="en-IN" sz="800" dirty="0"/>
              <a:t>}</a:t>
            </a:r>
            <a:endParaRPr lang="en-IN" sz="800" dirty="0"/>
          </a:p>
          <a:p>
            <a:pPr marL="0" indent="0">
              <a:spcBef>
                <a:spcPts val="200"/>
              </a:spcBef>
              <a:buNone/>
            </a:pPr>
            <a:endParaRPr lang="en-IN"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30122</Words>
  <Application>WPS Presentation</Application>
  <PresentationFormat>Widescreen</PresentationFormat>
  <Paragraphs>1166</Paragraphs>
  <Slides>53</Slides>
  <Notes>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53</vt:i4>
      </vt:variant>
    </vt:vector>
  </HeadingPairs>
  <TitlesOfParts>
    <vt:vector size="67" baseType="lpstr">
      <vt:lpstr>Arial</vt:lpstr>
      <vt:lpstr>SimSun</vt:lpstr>
      <vt:lpstr>Wingdings</vt:lpstr>
      <vt:lpstr>Calibri Light</vt:lpstr>
      <vt:lpstr>Helvetica Neue</vt:lpstr>
      <vt:lpstr>Calibri</vt:lpstr>
      <vt:lpstr>Microsoft YaHei</vt:lpstr>
      <vt:lpstr>汉仪旗黑</vt:lpstr>
      <vt:lpstr>Arial Unicode MS</vt:lpstr>
      <vt:lpstr>montserrat</vt:lpstr>
      <vt:lpstr>Thonburi</vt:lpstr>
      <vt:lpstr>HYQiHei</vt:lpstr>
      <vt:lpstr>宋体-简</vt:lpstr>
      <vt:lpstr>Office Theme</vt:lpstr>
      <vt:lpstr>Inheritance</vt:lpstr>
      <vt:lpstr>Introduction</vt:lpstr>
      <vt:lpstr>Example</vt:lpstr>
      <vt:lpstr>Access modifier for inheritance</vt:lpstr>
      <vt:lpstr>PowerPoint 演示文稿</vt:lpstr>
      <vt:lpstr>Protected members are accessible in subclasses in different packages</vt:lpstr>
      <vt:lpstr>Types of Inheritance</vt:lpstr>
      <vt:lpstr>Single Inheritance</vt:lpstr>
      <vt:lpstr>Multilevel Inheritance</vt:lpstr>
      <vt:lpstr>Order of Execution of constructors</vt:lpstr>
      <vt:lpstr>Hierarchical Inheritance </vt:lpstr>
      <vt:lpstr>Multiple Inheritance</vt:lpstr>
      <vt:lpstr>Super keyword</vt:lpstr>
      <vt:lpstr>Use of super to access superclass Variables</vt:lpstr>
      <vt:lpstr> Use of super to access superclass Methods</vt:lpstr>
      <vt:lpstr>Use of super to access superclass constructors</vt:lpstr>
      <vt:lpstr>Use of super to access superclass constructors</vt:lpstr>
      <vt:lpstr>Order of execution</vt:lpstr>
      <vt:lpstr>Real-life Example</vt:lpstr>
      <vt:lpstr>Final keyword</vt:lpstr>
      <vt:lpstr>Final Methods</vt:lpstr>
      <vt:lpstr>Final Classes</vt:lpstr>
      <vt:lpstr>Polymorphism</vt:lpstr>
      <vt:lpstr>Compile time polymorphism</vt:lpstr>
      <vt:lpstr>Run time polymorphism</vt:lpstr>
      <vt:lpstr>Method Overriding</vt:lpstr>
      <vt:lpstr>Method Overriding</vt:lpstr>
      <vt:lpstr>A real-world example</vt:lpstr>
      <vt:lpstr>Banking example</vt:lpstr>
      <vt:lpstr>Method Overriding vs Method Hiding</vt:lpstr>
      <vt:lpstr>Dynamic Method Dispatch</vt:lpstr>
      <vt:lpstr>Dynamic Method Dispatch</vt:lpstr>
      <vt:lpstr>Example (Upcasting)</vt:lpstr>
      <vt:lpstr>Downcasting</vt:lpstr>
      <vt:lpstr>Downcasting</vt:lpstr>
      <vt:lpstr>PowerPoint 演示文稿</vt:lpstr>
      <vt:lpstr>Runtime Polymorphism with Data Members</vt:lpstr>
      <vt:lpstr>Abstract class</vt:lpstr>
      <vt:lpstr>Important observations about abstract classes</vt:lpstr>
      <vt:lpstr>Example</vt:lpstr>
      <vt:lpstr>Example: Abstract Class having constructor, data member, and methods</vt:lpstr>
      <vt:lpstr>Example: Abstract class without any abstract method</vt:lpstr>
      <vt:lpstr>Example</vt:lpstr>
      <vt:lpstr>Practical use cases</vt:lpstr>
      <vt:lpstr>Interface</vt:lpstr>
      <vt:lpstr>Relationship Between Class and Interface</vt:lpstr>
      <vt:lpstr>Example</vt:lpstr>
      <vt:lpstr>Example</vt:lpstr>
      <vt:lpstr>Static and default methods in interfaces </vt:lpstr>
      <vt:lpstr>Extending Interfaces</vt:lpstr>
      <vt:lpstr>Multiple Inheritance in Java Using Interface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dc:title>
  <dc:creator>krishan</dc:creator>
  <cp:lastModifiedBy>testing arena</cp:lastModifiedBy>
  <cp:revision>302</cp:revision>
  <dcterms:created xsi:type="dcterms:W3CDTF">2024-12-05T18:22:23Z</dcterms:created>
  <dcterms:modified xsi:type="dcterms:W3CDTF">2024-12-05T18:22:23Z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72FC7175FDC105814F983F67C4FEF0F3_42</vt:lpwstr>
  </property>
  <property fmtid="{D5CDD505-2E9C-101B-9397-08002B2CF9AE}" pid="3" name="KSOProductBuildVer">
    <vt:lpwstr>1033-6.10.2.8397</vt:lpwstr>
  </property>
</Properties>
</file>