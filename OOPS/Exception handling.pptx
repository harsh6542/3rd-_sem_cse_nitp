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50"/>
  </p:handoutMasterIdLst>
  <p:sldIdLst>
    <p:sldId id="256" r:id="rId3"/>
    <p:sldId id="257" r:id="rId4"/>
    <p:sldId id="259" r:id="rId5"/>
    <p:sldId id="258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64" r:id="rId18"/>
    <p:sldId id="265" r:id="rId19"/>
    <p:sldId id="287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4" r:id="rId30"/>
    <p:sldId id="283" r:id="rId31"/>
    <p:sldId id="284" r:id="rId32"/>
    <p:sldId id="285" r:id="rId33"/>
    <p:sldId id="286" r:id="rId34"/>
    <p:sldId id="288" r:id="rId36"/>
    <p:sldId id="289" r:id="rId37"/>
    <p:sldId id="290" r:id="rId38"/>
    <p:sldId id="291" r:id="rId39"/>
    <p:sldId id="292" r:id="rId40"/>
    <p:sldId id="293" r:id="rId41"/>
    <p:sldId id="298" r:id="rId42"/>
    <p:sldId id="304" r:id="rId43"/>
    <p:sldId id="303" r:id="rId44"/>
    <p:sldId id="302" r:id="rId45"/>
    <p:sldId id="300" r:id="rId46"/>
    <p:sldId id="301" r:id="rId47"/>
    <p:sldId id="295" r:id="rId48"/>
    <p:sldId id="30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47B84-5612-4C9D-99CE-8A4F139735E0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A68D7-A16B-4CE7-B6C1-A05849C1D65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A68D7-A16B-4CE7-B6C1-A05849C1D656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A68D7-A16B-4CE7-B6C1-A05849C1D656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A68D7-A16B-4CE7-B6C1-A05849C1D656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A68D7-A16B-4CE7-B6C1-A05849C1D656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9BC19-A32A-4443-B4FD-8F968B0CCB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BA268-7345-40BE-B7DB-0FD1E6B91DA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Exception handling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4289"/>
            <a:ext cx="10515600" cy="964911"/>
          </a:xfrm>
        </p:spPr>
        <p:txBody>
          <a:bodyPr/>
          <a:lstStyle/>
          <a:p>
            <a:r>
              <a:rPr lang="en-IN" dirty="0" smtClean="0"/>
              <a:t>What is </a:t>
            </a:r>
            <a:r>
              <a:rPr lang="en-IN" b="1" dirty="0" smtClean="0"/>
              <a:t>exception</a:t>
            </a:r>
            <a:r>
              <a:rPr lang="en-IN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5456"/>
            <a:ext cx="10515600" cy="5329380"/>
          </a:xfrm>
        </p:spPr>
        <p:txBody>
          <a:bodyPr>
            <a:normAutofit/>
          </a:bodyPr>
          <a:lstStyle/>
          <a:p>
            <a:r>
              <a:rPr lang="en-US" b="1" dirty="0"/>
              <a:t>Exception</a:t>
            </a:r>
            <a:r>
              <a:rPr lang="en-US" dirty="0"/>
              <a:t> is an unwanted or unexpected event, which occurs during the execution of a program, i.e. at run time, that disrupts the normal flow of the program’s instructions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These exceptions can occur for various reasons, such as invalid user input, file not found, or division by </a:t>
            </a:r>
            <a:r>
              <a:rPr lang="en-US" dirty="0" smtClean="0"/>
              <a:t>zero, etc.</a:t>
            </a:r>
            <a:endParaRPr lang="en-US" dirty="0" smtClean="0"/>
          </a:p>
          <a:p>
            <a:r>
              <a:rPr lang="en-US" dirty="0"/>
              <a:t>Exception handling in Java is a powerful mechanism to handle runtime errors, ensuring the normal flow of the application even when unexpected conditions occur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When an exception occurs within a method, it creates an object known as the exception </a:t>
            </a:r>
            <a:r>
              <a:rPr lang="en-US" dirty="0" smtClean="0"/>
              <a:t>object. </a:t>
            </a:r>
            <a:r>
              <a:rPr lang="en-US" dirty="0"/>
              <a:t>It contains information about the exception, such as the name and description of the exception and the state of the program when the exception occurred.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46" y="291235"/>
            <a:ext cx="10515600" cy="50309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Exception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2" y="1145310"/>
            <a:ext cx="11748653" cy="5551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ExceptionObjectExample</a:t>
            </a:r>
            <a:r>
              <a:rPr lang="en-US" sz="2000" dirty="0"/>
              <a:t>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divide(10, 0);  // Attempt to divide by zero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("This line will not be executed.");  // This will not run if an exception occurs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}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public static </a:t>
            </a:r>
            <a:r>
              <a:rPr lang="en-US" sz="2000" dirty="0" err="1"/>
              <a:t>int</a:t>
            </a:r>
            <a:r>
              <a:rPr lang="en-US" sz="2000" dirty="0"/>
              <a:t> divide(</a:t>
            </a:r>
            <a:r>
              <a:rPr lang="en-US" sz="2000" dirty="0" err="1"/>
              <a:t>int</a:t>
            </a:r>
            <a:r>
              <a:rPr lang="en-US" sz="2000" dirty="0"/>
              <a:t> numerator, </a:t>
            </a:r>
            <a:r>
              <a:rPr lang="en-US" sz="2000" dirty="0" err="1"/>
              <a:t>int</a:t>
            </a:r>
            <a:r>
              <a:rPr lang="en-US" sz="2000" dirty="0"/>
              <a:t> denominator)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return numerator / denominator;  // This line throws an </a:t>
            </a:r>
            <a:r>
              <a:rPr lang="en-US" sz="2000" dirty="0" err="1"/>
              <a:t>ArithmeticException</a:t>
            </a:r>
            <a:r>
              <a:rPr lang="en-US" sz="2000" dirty="0"/>
              <a:t> if denominator is 0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}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}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i="1" dirty="0"/>
              <a:t>Output</a:t>
            </a:r>
            <a:r>
              <a:rPr lang="en-US" sz="2000" dirty="0" smtClean="0"/>
              <a:t>:    Exception </a:t>
            </a:r>
            <a:r>
              <a:rPr lang="en-US" sz="2000" dirty="0"/>
              <a:t>in thread "main" </a:t>
            </a:r>
            <a:r>
              <a:rPr lang="en-US" sz="2000" dirty="0" err="1"/>
              <a:t>java.lang.ArithmeticException</a:t>
            </a:r>
            <a:r>
              <a:rPr lang="en-US" sz="2000" dirty="0"/>
              <a:t>: / by zero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at </a:t>
            </a:r>
            <a:r>
              <a:rPr lang="en-US" sz="2000" dirty="0" err="1"/>
              <a:t>ExceptionObjectExample.divide</a:t>
            </a:r>
            <a:r>
              <a:rPr lang="en-US" sz="2000" dirty="0"/>
              <a:t>(ExceptionObjectExample.java:10)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at </a:t>
            </a:r>
            <a:r>
              <a:rPr lang="en-US" sz="2000" dirty="0" err="1"/>
              <a:t>ExceptionObjectExample.main</a:t>
            </a:r>
            <a:r>
              <a:rPr lang="en-US" sz="2000" dirty="0"/>
              <a:t>(ExceptionObjectExample.java:5)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55" y="134217"/>
            <a:ext cx="10515600" cy="57698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Exception handling using </a:t>
            </a:r>
            <a:r>
              <a:rPr lang="en-IN" b="1" dirty="0" smtClean="0"/>
              <a:t>try-catch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509" y="1034474"/>
            <a:ext cx="11684000" cy="565265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ExceptionObjectExample</a:t>
            </a:r>
            <a:r>
              <a:rPr lang="en-IN" dirty="0"/>
              <a:t>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try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divide(10, 0);  // Attempt to divide by zero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} 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   catch </a:t>
            </a:r>
            <a:r>
              <a:rPr lang="en-IN" dirty="0"/>
              <a:t>(</a:t>
            </a:r>
            <a:r>
              <a:rPr lang="en-IN" dirty="0" err="1"/>
              <a:t>ArithmeticException</a:t>
            </a:r>
            <a:r>
              <a:rPr lang="en-IN" dirty="0"/>
              <a:t> e)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("Exception caught: " + e);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static </a:t>
            </a:r>
            <a:r>
              <a:rPr lang="en-IN" dirty="0" err="1"/>
              <a:t>int</a:t>
            </a:r>
            <a:r>
              <a:rPr lang="en-IN" dirty="0"/>
              <a:t> divide(</a:t>
            </a:r>
            <a:r>
              <a:rPr lang="en-IN" dirty="0" err="1"/>
              <a:t>int</a:t>
            </a:r>
            <a:r>
              <a:rPr lang="en-IN" dirty="0"/>
              <a:t> numerator, </a:t>
            </a:r>
            <a:r>
              <a:rPr lang="en-IN" dirty="0" err="1"/>
              <a:t>int</a:t>
            </a:r>
            <a:r>
              <a:rPr lang="en-IN" dirty="0"/>
              <a:t> denominator)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return numerator / denominator;  // This line throws an </a:t>
            </a:r>
            <a:r>
              <a:rPr lang="en-IN" dirty="0" err="1"/>
              <a:t>ArithmeticException</a:t>
            </a:r>
            <a:r>
              <a:rPr lang="en-IN" dirty="0"/>
              <a:t> if denominator is 0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 smtClean="0"/>
          </a:p>
          <a:p>
            <a:pPr marL="0" indent="0">
              <a:buNone/>
            </a:pPr>
            <a:r>
              <a:rPr lang="en-IN" i="1" dirty="0" smtClean="0"/>
              <a:t>Output</a:t>
            </a:r>
            <a:r>
              <a:rPr lang="en-IN" dirty="0" smtClean="0"/>
              <a:t>: </a:t>
            </a:r>
            <a:endParaRPr lang="en-IN" dirty="0" smtClean="0"/>
          </a:p>
          <a:p>
            <a:pPr marL="0" indent="0">
              <a:buNone/>
            </a:pPr>
            <a:r>
              <a:rPr lang="en-US" dirty="0"/>
              <a:t>Exception caught: </a:t>
            </a:r>
            <a:r>
              <a:rPr lang="en-US" dirty="0" err="1"/>
              <a:t>java.lang.ArithmeticException</a:t>
            </a:r>
            <a:r>
              <a:rPr lang="en-US" dirty="0"/>
              <a:t>: / by zero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582" y="189634"/>
            <a:ext cx="10515600" cy="558511"/>
          </a:xfrm>
        </p:spPr>
        <p:txBody>
          <a:bodyPr>
            <a:normAutofit fontScale="90000"/>
          </a:bodyPr>
          <a:lstStyle/>
          <a:p>
            <a:r>
              <a:rPr lang="en-US" dirty="0"/>
              <a:t>Major reasons why an exception </a:t>
            </a:r>
            <a:r>
              <a:rPr lang="en-US" dirty="0" smtClean="0"/>
              <a:t>Occurs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82" y="840509"/>
            <a:ext cx="11058236" cy="6017492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dirty="0" smtClean="0"/>
              <a:t>Invalid </a:t>
            </a:r>
            <a:r>
              <a:rPr lang="en-US" dirty="0"/>
              <a:t>user input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Device failure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Loss of network connection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Physical limitations (out-of-disk memory)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Code errors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Out of bound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Null reference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Type mismatch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Opening an unavailable file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Database errors</a:t>
            </a:r>
            <a:endParaRPr lang="en-US" dirty="0"/>
          </a:p>
          <a:p>
            <a:pPr>
              <a:spcBef>
                <a:spcPts val="300"/>
              </a:spcBef>
            </a:pPr>
            <a:r>
              <a:rPr lang="en-US" dirty="0"/>
              <a:t>Arithmetic </a:t>
            </a:r>
            <a:r>
              <a:rPr lang="en-US" dirty="0" smtClean="0"/>
              <a:t>errors</a:t>
            </a:r>
            <a:endParaRPr lang="en-US" dirty="0" smtClean="0"/>
          </a:p>
          <a:p>
            <a:pPr marL="0" indent="0">
              <a:spcBef>
                <a:spcPts val="300"/>
              </a:spcBef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69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Exception-Handling Fundamentals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173018"/>
          <a:ext cx="10836564" cy="4959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8810"/>
                <a:gridCol w="9437754"/>
              </a:tblGrid>
              <a:tr h="47105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Keyword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 smtClean="0"/>
                        <a:t>Description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9967">
                <a:tc>
                  <a:txBody>
                    <a:bodyPr/>
                    <a:lstStyle/>
                    <a:p>
                      <a:pPr algn="ctr"/>
                      <a:r>
                        <a:rPr lang="en-IN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 statements that 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 want to monitor for exceptions are contained within a </a:t>
                      </a:r>
                      <a:r>
                        <a:rPr lang="en-US" sz="20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try 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block. If an exception occurs within the </a:t>
                      </a:r>
                      <a:r>
                        <a:rPr lang="en-US" sz="20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try 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block, it is thrown.</a:t>
                      </a:r>
                      <a:r>
                        <a:rPr lang="en-US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 can't use try block alone. The try block must be followed by either catch or finally.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672">
                <a:tc>
                  <a:txBody>
                    <a:bodyPr/>
                    <a:lstStyle/>
                    <a:p>
                      <a:pPr algn="ctr"/>
                      <a:r>
                        <a:rPr lang="en-IN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catch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20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catch</a:t>
                      </a:r>
                      <a:r>
                        <a:rPr lang="en-US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 is used to handle the exception. It must be preceded by try block which means we can't use catch block alone. It can be followed by finally block later.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67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throw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System generated 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exceptions are automatically thrown by the Java run-time system. To</a:t>
                      </a:r>
                      <a:endParaRPr lang="en-US" sz="20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manually throw an exception, use the keyword </a:t>
                      </a:r>
                      <a:r>
                        <a:rPr lang="en-US" sz="20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throw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67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throws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Any exception that is 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thrown out of a method must be specified as such by a </a:t>
                      </a:r>
                      <a:r>
                        <a:rPr lang="en-US" sz="20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throws 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clause.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67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finally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Any code 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that absolutely must be executed after a </a:t>
                      </a:r>
                      <a:r>
                        <a:rPr lang="en-US" sz="20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try 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block completes is put in a </a:t>
                      </a:r>
                      <a:r>
                        <a:rPr lang="en-US" sz="20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finally</a:t>
                      </a:r>
                      <a:endParaRPr lang="en-US" sz="2000" b="1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20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block.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09" y="152690"/>
            <a:ext cx="10515600" cy="780184"/>
          </a:xfrm>
        </p:spPr>
        <p:txBody>
          <a:bodyPr>
            <a:normAutofit/>
          </a:bodyPr>
          <a:lstStyle/>
          <a:p>
            <a:r>
              <a:rPr lang="en-IN" sz="4000" b="1" dirty="0"/>
              <a:t>Exception-Handling Fundamentals</a:t>
            </a:r>
            <a:endParaRPr lang="en-IN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try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// Code that may throw an exception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 catch (ExceptionType1 e1)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// Handle exception of type ExceptionType1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 catch (ExceptionType2 e2)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// Handle exception of type ExceptionType2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 finally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// Code that will always execute (optional)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Exception Hierarchy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782" y="1825625"/>
            <a:ext cx="11206018" cy="4898448"/>
          </a:xfrm>
        </p:spPr>
        <p:txBody>
          <a:bodyPr>
            <a:noAutofit/>
          </a:bodyPr>
          <a:lstStyle/>
          <a:p>
            <a:r>
              <a:rPr lang="en-US" sz="2400" dirty="0"/>
              <a:t>All exception types are subclasses of the built-in class </a:t>
            </a:r>
            <a:r>
              <a:rPr lang="en-US" sz="2400" b="1" dirty="0" err="1" smtClean="0"/>
              <a:t>Throwable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lang="en-US" sz="2400" b="1" dirty="0" smtClean="0"/>
              <a:t>Exception</a:t>
            </a:r>
            <a:r>
              <a:rPr lang="en-US" sz="2400" dirty="0" smtClean="0"/>
              <a:t> class is used for exceptional conditions that user programs should catch. This is also the class that you will subclass to create your own custom exception types</a:t>
            </a:r>
            <a:r>
              <a:rPr lang="en-US" sz="2400" dirty="0"/>
              <a:t>. Exceptions of </a:t>
            </a:r>
            <a:r>
              <a:rPr lang="en-US" sz="2400" dirty="0" smtClean="0"/>
              <a:t>this type are automatically defined for the programs that you write and include things </a:t>
            </a:r>
            <a:r>
              <a:rPr lang="en-US" sz="2400" dirty="0"/>
              <a:t>such as division by zero and invalid array </a:t>
            </a:r>
            <a:r>
              <a:rPr lang="en-US" sz="2400" dirty="0" smtClean="0"/>
              <a:t>indexing.</a:t>
            </a:r>
            <a:endParaRPr lang="en-US" sz="2400" dirty="0" smtClean="0"/>
          </a:p>
          <a:p>
            <a:r>
              <a:rPr lang="en-US" sz="2400" b="1" dirty="0" smtClean="0"/>
              <a:t>Error </a:t>
            </a:r>
            <a:r>
              <a:rPr lang="en-US" sz="2400" dirty="0"/>
              <a:t>class Represents serious problems that a typical application should not attempt to handle (e.g., </a:t>
            </a:r>
            <a:r>
              <a:rPr lang="en-US" sz="2400" dirty="0" err="1"/>
              <a:t>OutOfMemoryError</a:t>
            </a:r>
            <a:r>
              <a:rPr lang="en-US" sz="2400" dirty="0"/>
              <a:t>, </a:t>
            </a:r>
            <a:r>
              <a:rPr lang="en-US" sz="2400" dirty="0" err="1"/>
              <a:t>StackOverflowError</a:t>
            </a:r>
            <a:r>
              <a:rPr lang="en-US" sz="2400" dirty="0"/>
              <a:t>). These are usually JVM issues.</a:t>
            </a:r>
            <a:endParaRPr lang="en-IN" sz="2400" dirty="0"/>
          </a:p>
          <a:p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ierarchy of exception handling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36" y="0"/>
            <a:ext cx="878378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55" y="198872"/>
            <a:ext cx="10515600" cy="715530"/>
          </a:xfrm>
        </p:spPr>
        <p:txBody>
          <a:bodyPr/>
          <a:lstStyle/>
          <a:p>
            <a:r>
              <a:rPr lang="en-IN" dirty="0" smtClean="0"/>
              <a:t>Types of exception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5236"/>
            <a:ext cx="10515600" cy="546792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Checked Exception</a:t>
            </a:r>
            <a:endParaRPr lang="en-IN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Unchecked Exception</a:t>
            </a:r>
            <a:endParaRPr lang="en-IN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Errors</a:t>
            </a:r>
            <a:endParaRPr lang="en-IN" dirty="0"/>
          </a:p>
          <a:p>
            <a:r>
              <a:rPr lang="en-IN" dirty="0" smtClean="0"/>
              <a:t>Checked Exception: </a:t>
            </a:r>
            <a:r>
              <a:rPr lang="en-US" dirty="0"/>
              <a:t>These</a:t>
            </a:r>
            <a:r>
              <a:rPr lang="en-US" b="1" dirty="0"/>
              <a:t> </a:t>
            </a:r>
            <a:r>
              <a:rPr lang="en-US" dirty="0"/>
              <a:t>are the exceptions that are checked at compile time. If some code within a method throws a checked exception, then the method must either handle the exception or it must specify the exception using the </a:t>
            </a:r>
            <a:r>
              <a:rPr lang="en-US" i="1" dirty="0"/>
              <a:t>throws </a:t>
            </a:r>
            <a:r>
              <a:rPr lang="en-US" dirty="0" smtClean="0"/>
              <a:t>keyword</a:t>
            </a:r>
            <a:r>
              <a:rPr lang="en-US" u="sng" dirty="0" smtClean="0"/>
              <a:t>.</a:t>
            </a:r>
            <a:endParaRPr lang="en-US" u="sng" dirty="0" smtClean="0"/>
          </a:p>
          <a:p>
            <a:r>
              <a:rPr lang="en-US" b="1" dirty="0"/>
              <a:t>Examples of Checked Exceptions:</a:t>
            </a:r>
            <a:endParaRPr lang="en-US" dirty="0"/>
          </a:p>
          <a:p>
            <a:pPr lvl="1"/>
            <a:r>
              <a:rPr lang="en-US" b="1" dirty="0" err="1"/>
              <a:t>IOException</a:t>
            </a:r>
            <a:r>
              <a:rPr lang="en-US" dirty="0"/>
              <a:t>: Occurs during input/output operations, such as reading or writing files.</a:t>
            </a:r>
            <a:endParaRPr lang="en-US" dirty="0"/>
          </a:p>
          <a:p>
            <a:pPr lvl="1"/>
            <a:r>
              <a:rPr lang="en-US" b="1" dirty="0" err="1"/>
              <a:t>SQLException</a:t>
            </a:r>
            <a:r>
              <a:rPr lang="en-US" dirty="0"/>
              <a:t>: Happens during database access or interaction with SQL.</a:t>
            </a:r>
            <a:endParaRPr lang="en-US" dirty="0"/>
          </a:p>
          <a:p>
            <a:pPr lvl="1"/>
            <a:r>
              <a:rPr lang="en-US" b="1" dirty="0" err="1"/>
              <a:t>FileNotFoundException</a:t>
            </a:r>
            <a:r>
              <a:rPr lang="en-US" dirty="0"/>
              <a:t>: Thrown when a program attempts to access a file that does not exist.</a:t>
            </a:r>
            <a:endParaRPr lang="en-US" dirty="0"/>
          </a:p>
          <a:p>
            <a:pPr lvl="1"/>
            <a:r>
              <a:rPr lang="en-US" b="1" dirty="0" err="1"/>
              <a:t>ClassNotFoundException</a:t>
            </a:r>
            <a:r>
              <a:rPr lang="en-US" dirty="0"/>
              <a:t>: Occurs when a specified class cannot be found, often when dynamically loading classes</a:t>
            </a:r>
            <a:r>
              <a:rPr lang="en-US" dirty="0" smtClean="0"/>
              <a:t>.</a:t>
            </a:r>
            <a:endParaRPr lang="en-US" u="sng" dirty="0" smtClean="0"/>
          </a:p>
          <a:p>
            <a:r>
              <a:rPr lang="en-US" dirty="0"/>
              <a:t>Any checked exception is a subclass of Exception.</a:t>
            </a:r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455" y="217344"/>
            <a:ext cx="10515600" cy="817130"/>
          </a:xfrm>
        </p:spPr>
        <p:txBody>
          <a:bodyPr/>
          <a:lstStyle/>
          <a:p>
            <a:r>
              <a:rPr lang="en-IN" dirty="0" smtClean="0"/>
              <a:t>Example (checked exception)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074"/>
            <a:ext cx="10515600" cy="5578762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java.io.File</a:t>
            </a:r>
            <a:r>
              <a:rPr lang="en-IN" sz="2400" dirty="0"/>
              <a:t>;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java.io.FileReader</a:t>
            </a:r>
            <a:r>
              <a:rPr lang="en-IN" sz="2400" dirty="0"/>
              <a:t>;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java.io.IOException</a:t>
            </a:r>
            <a:r>
              <a:rPr lang="en-IN" sz="2400" dirty="0" smtClean="0"/>
              <a:t>;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public class </a:t>
            </a:r>
            <a:r>
              <a:rPr lang="en-IN" sz="2400" dirty="0" err="1"/>
              <a:t>CheckedExceptionExample</a:t>
            </a:r>
            <a:r>
              <a:rPr lang="en-IN" sz="2400" dirty="0"/>
              <a:t> {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try {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    File </a:t>
            </a:r>
            <a:r>
              <a:rPr lang="en-IN" sz="2400" dirty="0" err="1"/>
              <a:t>file</a:t>
            </a:r>
            <a:r>
              <a:rPr lang="en-IN" sz="2400" dirty="0"/>
              <a:t> = new File("nonexistent.txt");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FileReader</a:t>
            </a:r>
            <a:r>
              <a:rPr lang="en-IN" sz="2400" dirty="0"/>
              <a:t> reader = new </a:t>
            </a:r>
            <a:r>
              <a:rPr lang="en-IN" sz="2400" dirty="0" err="1"/>
              <a:t>FileReader</a:t>
            </a:r>
            <a:r>
              <a:rPr lang="en-IN" sz="2400" dirty="0"/>
              <a:t>(file);  // This may throw a </a:t>
            </a:r>
            <a:r>
              <a:rPr lang="en-IN" sz="2400" dirty="0" err="1"/>
              <a:t>FileNotFoundException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} catch (</a:t>
            </a:r>
            <a:r>
              <a:rPr lang="en-IN" sz="2400" dirty="0" err="1"/>
              <a:t>IOException</a:t>
            </a:r>
            <a:r>
              <a:rPr lang="en-IN" sz="2400" dirty="0"/>
              <a:t> e) {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System.out.println</a:t>
            </a:r>
            <a:r>
              <a:rPr lang="en-IN" sz="2400" dirty="0"/>
              <a:t>("An </a:t>
            </a:r>
            <a:r>
              <a:rPr lang="en-IN" sz="2400" dirty="0" err="1"/>
              <a:t>IOException</a:t>
            </a:r>
            <a:r>
              <a:rPr lang="en-IN" sz="2400" dirty="0"/>
              <a:t> occurred: " + </a:t>
            </a:r>
            <a:r>
              <a:rPr lang="en-IN" sz="2400" dirty="0" err="1" smtClean="0"/>
              <a:t>e.getMessage</a:t>
            </a:r>
            <a:r>
              <a:rPr lang="en-IN" sz="2400" dirty="0" smtClean="0"/>
              <a:t>());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    }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    }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2400" dirty="0"/>
              <a:t>}</a:t>
            </a:r>
            <a:endParaRPr lang="en-IN" sz="2400" dirty="0"/>
          </a:p>
          <a:p>
            <a:pPr marL="0" indent="0">
              <a:spcBef>
                <a:spcPts val="400"/>
              </a:spcBef>
              <a:buNone/>
            </a:pP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Unchecked exception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302326"/>
            <a:ext cx="11360728" cy="5153891"/>
          </a:xfrm>
        </p:spPr>
        <p:txBody>
          <a:bodyPr>
            <a:noAutofit/>
          </a:bodyPr>
          <a:lstStyle/>
          <a:p>
            <a:r>
              <a:rPr lang="en-US" sz="2400" dirty="0"/>
              <a:t>Unchecked exceptions, also known as </a:t>
            </a:r>
            <a:r>
              <a:rPr lang="en-US" sz="2400" b="1" dirty="0"/>
              <a:t>runtime exceptions</a:t>
            </a:r>
            <a:r>
              <a:rPr lang="en-US" sz="2400" dirty="0"/>
              <a:t>, are not checked at compile-time but at runtime. </a:t>
            </a:r>
            <a:endParaRPr lang="en-US" sz="2400" dirty="0" smtClean="0"/>
          </a:p>
          <a:p>
            <a:r>
              <a:rPr lang="en-US" sz="2400" dirty="0" smtClean="0"/>
              <a:t>These </a:t>
            </a:r>
            <a:r>
              <a:rPr lang="en-US" sz="2400" dirty="0"/>
              <a:t>exceptions are typically due to logical errors or programming mistakes and do not need to be declared or caught in the code. </a:t>
            </a:r>
            <a:endParaRPr lang="en-US" sz="2400" dirty="0" smtClean="0"/>
          </a:p>
          <a:p>
            <a:r>
              <a:rPr lang="en-US" sz="2400" dirty="0" smtClean="0"/>
              <a:t>They </a:t>
            </a:r>
            <a:r>
              <a:rPr lang="en-US" sz="2400" dirty="0"/>
              <a:t>are subclasses of </a:t>
            </a:r>
            <a:r>
              <a:rPr lang="en-US" sz="2400" dirty="0" err="1"/>
              <a:t>RuntimeException</a:t>
            </a:r>
            <a:r>
              <a:rPr lang="en-US" sz="2400" dirty="0"/>
              <a:t>. </a:t>
            </a:r>
            <a:endParaRPr lang="en-US" altLang="en-US" sz="2400" b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 smtClean="0"/>
              <a:t>Examples </a:t>
            </a:r>
            <a:r>
              <a:rPr lang="en-US" altLang="en-US" sz="2400" b="1" dirty="0"/>
              <a:t>of Unchecked Exceptions:</a:t>
            </a: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err="1"/>
              <a:t>ArithmeticException</a:t>
            </a:r>
            <a:r>
              <a:rPr lang="en-US" altLang="en-US" sz="2400" dirty="0"/>
              <a:t>: Occurs when an invalid arithmetic operation is performed, such as dividing by zero.</a:t>
            </a: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err="1"/>
              <a:t>NullPointerException</a:t>
            </a:r>
            <a:r>
              <a:rPr lang="en-US" altLang="en-US" sz="2400" dirty="0"/>
              <a:t>: Thrown when an application tries to access an object with a null reference.</a:t>
            </a: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err="1"/>
              <a:t>ArrayIndexOutOfBoundsException</a:t>
            </a:r>
            <a:r>
              <a:rPr lang="en-US" altLang="en-US" sz="2400" dirty="0"/>
              <a:t>: Happens when accessing an array with an illegal index (index out of range).</a:t>
            </a: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err="1"/>
              <a:t>IllegalArgumentException</a:t>
            </a:r>
            <a:r>
              <a:rPr lang="en-US" altLang="en-US" sz="2400" dirty="0"/>
              <a:t>: Thrown when a method receives an invalid argument.</a:t>
            </a:r>
            <a:endParaRPr lang="en-US" altLang="en-US" sz="2400" dirty="0"/>
          </a:p>
          <a:p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(unchecked exception)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145" y="1825625"/>
            <a:ext cx="117301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public class </a:t>
            </a:r>
            <a:r>
              <a:rPr lang="en-IN" sz="2400" dirty="0" err="1"/>
              <a:t>UncheckedExceptionExample</a:t>
            </a:r>
            <a:r>
              <a:rPr lang="en-IN" sz="2400" dirty="0"/>
              <a:t> {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int</a:t>
            </a:r>
            <a:r>
              <a:rPr lang="en-IN" sz="2400" dirty="0"/>
              <a:t>[] numbers = {1, 2, 3};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(numbers[5]);  // This will throw an </a:t>
            </a:r>
            <a:r>
              <a:rPr lang="en-IN" sz="2400" dirty="0" err="1" smtClean="0"/>
              <a:t>arrayIndexOutOfBoundsException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}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}</a:t>
            </a:r>
            <a:endParaRPr lang="en-IN" sz="2400" dirty="0"/>
          </a:p>
          <a:p>
            <a:pPr marL="0" indent="0">
              <a:buNone/>
            </a:pPr>
            <a:endParaRPr lang="en-IN" sz="2400" dirty="0" smtClean="0"/>
          </a:p>
          <a:p>
            <a:pPr marL="0" indent="0">
              <a:buNone/>
            </a:pPr>
            <a:r>
              <a:rPr lang="en-IN" sz="2400" dirty="0" smtClean="0"/>
              <a:t>// </a:t>
            </a:r>
            <a:r>
              <a:rPr lang="en-US" sz="2400" dirty="0"/>
              <a:t>In this case, the code compiles fine, but at runtime, </a:t>
            </a:r>
            <a:r>
              <a:rPr lang="en-US" sz="2400" dirty="0" err="1"/>
              <a:t>ArrayIndexOutOfBoundsException</a:t>
            </a:r>
            <a:r>
              <a:rPr lang="en-US" sz="2400" dirty="0"/>
              <a:t> is thrown due to the illegal array index.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Error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836" y="1237673"/>
            <a:ext cx="10515600" cy="50984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Errors are a special type of </a:t>
            </a:r>
            <a:r>
              <a:rPr lang="en-US" dirty="0" err="1"/>
              <a:t>Throwable</a:t>
            </a:r>
            <a:r>
              <a:rPr lang="en-US" dirty="0"/>
              <a:t> that are not exceptions and generally represent issues that are outside the control of the program or JVM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Errors </a:t>
            </a:r>
            <a:r>
              <a:rPr lang="en-US" dirty="0"/>
              <a:t>are typically more serious problems, often involving the Java Virtual Machine (JVM) itself, and are generally not meant to be caught or handled by applications. </a:t>
            </a:r>
            <a:endParaRPr lang="en-US" dirty="0" smtClean="0"/>
          </a:p>
          <a:p>
            <a:r>
              <a:rPr lang="en-US" dirty="0" smtClean="0"/>
              <a:t>Errors </a:t>
            </a:r>
            <a:r>
              <a:rPr lang="en-US" dirty="0"/>
              <a:t>are subclasses of </a:t>
            </a:r>
            <a:r>
              <a:rPr lang="en-US" dirty="0" err="1"/>
              <a:t>java.lang.Error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b="1" dirty="0"/>
              <a:t>Examples of Errors:</a:t>
            </a:r>
            <a:endParaRPr lang="en-US" dirty="0"/>
          </a:p>
          <a:p>
            <a:pPr lvl="1"/>
            <a:r>
              <a:rPr lang="en-US" b="1" dirty="0" err="1"/>
              <a:t>OutOfMemoryError</a:t>
            </a:r>
            <a:r>
              <a:rPr lang="en-US" dirty="0"/>
              <a:t>: Thrown when the JVM runs out of memory.</a:t>
            </a:r>
            <a:endParaRPr lang="en-US" dirty="0"/>
          </a:p>
          <a:p>
            <a:pPr lvl="1"/>
            <a:r>
              <a:rPr lang="en-US" b="1" dirty="0" err="1"/>
              <a:t>StackOverflowError</a:t>
            </a:r>
            <a:r>
              <a:rPr lang="en-US" dirty="0"/>
              <a:t>: Happens when the call stack overflows, often due to deep or infinite recursion.</a:t>
            </a:r>
            <a:endParaRPr lang="en-US" dirty="0"/>
          </a:p>
          <a:p>
            <a:pPr lvl="1"/>
            <a:r>
              <a:rPr lang="en-US" b="1" dirty="0" err="1"/>
              <a:t>VirtualMachineError</a:t>
            </a:r>
            <a:r>
              <a:rPr lang="en-US" dirty="0"/>
              <a:t>: Indicates that the JVM is broken or has encountered a system-level issue.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(Error)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StackOverflowErrorExample</a:t>
            </a:r>
            <a:r>
              <a:rPr lang="en-IN" dirty="0"/>
              <a:t>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recursiveMethod</a:t>
            </a:r>
            <a:r>
              <a:rPr lang="en-IN" dirty="0"/>
              <a:t>();  // This will throw a </a:t>
            </a:r>
            <a:r>
              <a:rPr lang="en-IN" dirty="0" err="1"/>
              <a:t>StackOverflowError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</a:t>
            </a:r>
            <a:r>
              <a:rPr lang="en-IN" dirty="0" err="1"/>
              <a:t>recursiveMethod</a:t>
            </a:r>
            <a:r>
              <a:rPr lang="en-IN" dirty="0"/>
              <a:t>()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recursiveMethod</a:t>
            </a:r>
            <a:r>
              <a:rPr lang="en-IN" dirty="0"/>
              <a:t>();  // Infinite recursion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Null pointer exception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64" y="1246909"/>
            <a:ext cx="11434618" cy="53755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NullPointerExceptionExample</a:t>
            </a:r>
            <a:r>
              <a:rPr lang="en-IN" dirty="0"/>
              <a:t> {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String </a:t>
            </a:r>
            <a:r>
              <a:rPr lang="en-IN" dirty="0" err="1"/>
              <a:t>str</a:t>
            </a:r>
            <a:r>
              <a:rPr lang="en-IN" dirty="0"/>
              <a:t> = null; // Initializing a String variable to null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try {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length = </a:t>
            </a:r>
            <a:r>
              <a:rPr lang="en-IN" dirty="0" err="1"/>
              <a:t>str.length</a:t>
            </a:r>
            <a:r>
              <a:rPr lang="en-IN" dirty="0"/>
              <a:t>(); // Attempting to call a method on a null reference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("Length of the string: " + length);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} catch (</a:t>
            </a:r>
            <a:r>
              <a:rPr lang="en-IN" dirty="0" err="1"/>
              <a:t>NullPointerException</a:t>
            </a:r>
            <a:r>
              <a:rPr lang="en-IN" dirty="0"/>
              <a:t> e) {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("Error: Null reference encountered.");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// Additional error handling code can be added here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}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}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46" y="131245"/>
            <a:ext cx="10515600" cy="64163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Multiple catch Blocks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946" y="772884"/>
            <a:ext cx="10515600" cy="889661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en-US" sz="2400" dirty="0"/>
              <a:t>You can catch different types of exceptions in multiple catch blocks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spcBef>
                <a:spcPts val="200"/>
              </a:spcBef>
            </a:pPr>
            <a:r>
              <a:rPr lang="en-US" sz="2400" dirty="0" smtClean="0"/>
              <a:t>Specific </a:t>
            </a:r>
            <a:r>
              <a:rPr lang="en-US" sz="2400" dirty="0"/>
              <a:t>exceptions should be caught before more general ones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78692" y="1505527"/>
          <a:ext cx="11702472" cy="530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2472"/>
              </a:tblGrid>
              <a:tr h="5172363"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public class </a:t>
                      </a:r>
                      <a:r>
                        <a:rPr lang="en-IN" sz="1800" dirty="0" err="1" smtClean="0"/>
                        <a:t>MultipleCatchExample</a:t>
                      </a:r>
                      <a:r>
                        <a:rPr lang="en-IN" sz="1800" dirty="0" smtClean="0"/>
                        <a:t>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public static void main(String[] </a:t>
                      </a:r>
                      <a:r>
                        <a:rPr lang="en-IN" sz="1800" dirty="0" err="1" smtClean="0"/>
                        <a:t>args</a:t>
                      </a:r>
                      <a:r>
                        <a:rPr lang="en-IN" sz="1800" dirty="0" smtClean="0"/>
                        <a:t>)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try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    </a:t>
                      </a:r>
                      <a:r>
                        <a:rPr lang="en-IN" sz="1800" dirty="0" err="1" smtClean="0"/>
                        <a:t>int</a:t>
                      </a:r>
                      <a:r>
                        <a:rPr lang="en-IN" sz="1800" dirty="0" smtClean="0"/>
                        <a:t>[] numbers = {1, 2, 3};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    </a:t>
                      </a:r>
                      <a:r>
                        <a:rPr lang="en-IN" sz="1800" dirty="0" err="1" smtClean="0"/>
                        <a:t>int</a:t>
                      </a:r>
                      <a:r>
                        <a:rPr lang="en-IN" sz="1800" dirty="0" smtClean="0"/>
                        <a:t> result = numbers[3] / 0;  // This line will throw an </a:t>
                      </a:r>
                      <a:r>
                        <a:rPr lang="en-IN" sz="1800" dirty="0" err="1" smtClean="0"/>
                        <a:t>ArrayIndexOutOfBoundsException</a:t>
                      </a:r>
                      <a:r>
                        <a:rPr lang="en-IN" sz="1800" dirty="0" smtClean="0"/>
                        <a:t> first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} catch (</a:t>
                      </a:r>
                      <a:r>
                        <a:rPr lang="en-IN" sz="1800" dirty="0" err="1" smtClean="0"/>
                        <a:t>ArithmeticException</a:t>
                      </a:r>
                      <a:r>
                        <a:rPr lang="en-IN" sz="1800" dirty="0" smtClean="0"/>
                        <a:t> e)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    </a:t>
                      </a:r>
                      <a:r>
                        <a:rPr lang="en-IN" sz="1800" dirty="0" err="1" smtClean="0"/>
                        <a:t>System.out.println</a:t>
                      </a:r>
                      <a:r>
                        <a:rPr lang="en-IN" sz="1800" dirty="0" smtClean="0"/>
                        <a:t>("</a:t>
                      </a:r>
                      <a:r>
                        <a:rPr lang="en-IN" sz="1800" dirty="0" err="1" smtClean="0"/>
                        <a:t>ArithmeticException</a:t>
                      </a:r>
                      <a:r>
                        <a:rPr lang="en-IN" sz="1800" dirty="0" smtClean="0"/>
                        <a:t> caught: Cannot divide by zero.");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} catch (</a:t>
                      </a:r>
                      <a:r>
                        <a:rPr lang="en-IN" sz="1800" dirty="0" err="1" smtClean="0"/>
                        <a:t>ArrayIndexOutOfBoundsException</a:t>
                      </a:r>
                      <a:r>
                        <a:rPr lang="en-IN" sz="1800" dirty="0" smtClean="0"/>
                        <a:t> e)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    </a:t>
                      </a:r>
                      <a:r>
                        <a:rPr lang="en-IN" sz="1800" dirty="0" err="1" smtClean="0"/>
                        <a:t>System.out.println</a:t>
                      </a:r>
                      <a:r>
                        <a:rPr lang="en-IN" sz="1800" dirty="0" smtClean="0"/>
                        <a:t>("</a:t>
                      </a:r>
                      <a:r>
                        <a:rPr lang="en-IN" sz="1800" dirty="0" err="1" smtClean="0"/>
                        <a:t>ArrayIndexOutOfBoundsException</a:t>
                      </a:r>
                      <a:r>
                        <a:rPr lang="en-IN" sz="1800" dirty="0" smtClean="0"/>
                        <a:t> caught: Array index is out of bounds.");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} catch (Exception e) {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    </a:t>
                      </a:r>
                      <a:r>
                        <a:rPr lang="en-IN" sz="1800" dirty="0" err="1" smtClean="0"/>
                        <a:t>System.out.println</a:t>
                      </a:r>
                      <a:r>
                        <a:rPr lang="en-IN" sz="1800" dirty="0" smtClean="0"/>
                        <a:t>("General Exception caught: " + </a:t>
                      </a:r>
                      <a:r>
                        <a:rPr lang="en-IN" sz="1800" dirty="0" err="1" smtClean="0"/>
                        <a:t>e.getMessage</a:t>
                      </a:r>
                      <a:r>
                        <a:rPr lang="en-IN" sz="1800" dirty="0" smtClean="0"/>
                        <a:t>());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}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    </a:t>
                      </a:r>
                      <a:r>
                        <a:rPr lang="en-IN" sz="1800" dirty="0" err="1" smtClean="0"/>
                        <a:t>System.out.println</a:t>
                      </a:r>
                      <a:r>
                        <a:rPr lang="en-IN" sz="1800" dirty="0" smtClean="0"/>
                        <a:t>("Program continues after exception handling.");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    }</a:t>
                      </a:r>
                      <a:endParaRPr lang="en-IN" sz="1800" dirty="0" smtClean="0"/>
                    </a:p>
                    <a:p>
                      <a:r>
                        <a:rPr lang="en-IN" sz="1800" dirty="0" smtClean="0"/>
                        <a:t>}</a:t>
                      </a:r>
                      <a:endParaRPr lang="en-IN" sz="1800" dirty="0" smtClean="0"/>
                    </a:p>
                    <a:p>
                      <a:endParaRPr lang="en-IN" sz="1800" dirty="0" smtClean="0"/>
                    </a:p>
                    <a:p>
                      <a:r>
                        <a:rPr lang="en-IN" sz="1800" b="1" i="1" u="sng" dirty="0" smtClean="0"/>
                        <a:t>Important</a:t>
                      </a:r>
                      <a:r>
                        <a:rPr lang="en-IN" sz="1800" dirty="0" smtClean="0"/>
                        <a:t>: </a:t>
                      </a:r>
                      <a:r>
                        <a:rPr lang="en-US" sz="1800" b="1" dirty="0" smtClean="0"/>
                        <a:t>Only one catch block is executed</a:t>
                      </a:r>
                      <a:r>
                        <a:rPr lang="en-US" sz="1800" dirty="0" smtClean="0"/>
                        <a:t>: When an exception is caught, the subsequent catch blocks are skipped. </a:t>
                      </a:r>
                      <a:endParaRPr lang="en-US" sz="1800" dirty="0" smtClean="0"/>
                    </a:p>
                    <a:p>
                      <a:r>
                        <a:rPr lang="en-US" sz="1800" b="1" dirty="0" smtClean="0"/>
                        <a:t>Order matters</a:t>
                      </a:r>
                      <a:r>
                        <a:rPr lang="en-US" sz="1800" dirty="0" smtClean="0"/>
                        <a:t>: Place more specific exceptions before more general ones to avoid compilation errors.</a:t>
                      </a:r>
                      <a:endParaRPr lang="en-IN" sz="1800" dirty="0" smtClean="0"/>
                    </a:p>
                    <a:p>
                      <a:endParaRPr lang="en-IN" sz="1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920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 of unreachable cache block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745" y="1099127"/>
            <a:ext cx="11425382" cy="55510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public class </a:t>
            </a:r>
            <a:r>
              <a:rPr lang="en-IN" dirty="0" err="1" smtClean="0"/>
              <a:t>ExceptionOrderExample</a:t>
            </a:r>
            <a:r>
              <a:rPr lang="en-IN" dirty="0" smtClean="0"/>
              <a:t> {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public static void main(String[] </a:t>
            </a:r>
            <a:r>
              <a:rPr lang="en-IN" dirty="0" err="1" smtClean="0"/>
              <a:t>args</a:t>
            </a:r>
            <a:r>
              <a:rPr lang="en-IN" dirty="0" smtClean="0"/>
              <a:t>) {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try {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 err="1" smtClean="0"/>
              <a:t>int</a:t>
            </a:r>
            <a:r>
              <a:rPr lang="en-IN" dirty="0" smtClean="0"/>
              <a:t> result = 10 / 0; // This will throw </a:t>
            </a:r>
            <a:r>
              <a:rPr lang="en-IN" dirty="0" err="1" smtClean="0"/>
              <a:t>ArithmeticException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} catch (Exception e) {  // General exception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 err="1" smtClean="0"/>
              <a:t>System.out.println</a:t>
            </a:r>
            <a:r>
              <a:rPr lang="en-IN" dirty="0" smtClean="0"/>
              <a:t>("Caught general exception: " + </a:t>
            </a:r>
            <a:r>
              <a:rPr lang="en-IN" dirty="0" err="1" smtClean="0"/>
              <a:t>e.getMessage</a:t>
            </a:r>
            <a:r>
              <a:rPr lang="en-IN" dirty="0" smtClean="0"/>
              <a:t>());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} catch (</a:t>
            </a:r>
            <a:r>
              <a:rPr lang="en-IN" dirty="0" err="1" smtClean="0"/>
              <a:t>ArithmeticException</a:t>
            </a:r>
            <a:r>
              <a:rPr lang="en-IN" dirty="0" smtClean="0"/>
              <a:t> e) { // More specific exception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 err="1" smtClean="0"/>
              <a:t>System.out.println</a:t>
            </a:r>
            <a:r>
              <a:rPr lang="en-IN" dirty="0" smtClean="0"/>
              <a:t>("Caught </a:t>
            </a:r>
            <a:r>
              <a:rPr lang="en-IN" dirty="0" err="1" smtClean="0"/>
              <a:t>ArithmeticException</a:t>
            </a:r>
            <a:r>
              <a:rPr lang="en-IN" dirty="0" smtClean="0"/>
              <a:t>: " + </a:t>
            </a:r>
            <a:r>
              <a:rPr lang="en-IN" dirty="0" err="1" smtClean="0"/>
              <a:t>e.getMessage</a:t>
            </a:r>
            <a:r>
              <a:rPr lang="en-IN" dirty="0" smtClean="0"/>
              <a:t>());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}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}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Output</a:t>
            </a:r>
            <a:r>
              <a:rPr lang="en-IN" dirty="0" smtClean="0"/>
              <a:t>: </a:t>
            </a:r>
            <a:endParaRPr lang="en-IN" dirty="0" smtClean="0"/>
          </a:p>
          <a:p>
            <a:pPr marL="0" indent="0">
              <a:buNone/>
            </a:pPr>
            <a:r>
              <a:rPr lang="en-US" dirty="0" smtClean="0"/>
              <a:t>error</a:t>
            </a:r>
            <a:r>
              <a:rPr lang="en-US" dirty="0"/>
              <a:t>: exception </a:t>
            </a:r>
            <a:r>
              <a:rPr lang="en-US" dirty="0" err="1"/>
              <a:t>ArithmeticException</a:t>
            </a:r>
            <a:r>
              <a:rPr lang="en-US" dirty="0"/>
              <a:t> has already been </a:t>
            </a:r>
            <a:r>
              <a:rPr lang="en-US" dirty="0" smtClean="0"/>
              <a:t>caught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Displaying a Description of an Exception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4472"/>
            <a:ext cx="10515600" cy="5671127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500"/>
              </a:spcBef>
            </a:pPr>
            <a:r>
              <a:rPr lang="en-US" dirty="0"/>
              <a:t>The </a:t>
            </a:r>
            <a:r>
              <a:rPr lang="en-US" dirty="0" err="1"/>
              <a:t>toString</a:t>
            </a:r>
            <a:r>
              <a:rPr lang="en-US" dirty="0"/>
              <a:t>() method prints exception information in the format of the Name of the exception: description of the exception</a:t>
            </a:r>
            <a:r>
              <a:rPr lang="en-US" dirty="0" smtClean="0"/>
              <a:t>.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endParaRPr lang="en-IN" dirty="0" smtClean="0"/>
          </a:p>
          <a:p>
            <a:pPr marL="0" indent="0">
              <a:spcBef>
                <a:spcPts val="500"/>
              </a:spcBef>
              <a:buNone/>
            </a:pPr>
            <a:r>
              <a:rPr lang="en-IN" dirty="0" smtClean="0"/>
              <a:t>import </a:t>
            </a:r>
            <a:r>
              <a:rPr lang="en-IN" dirty="0"/>
              <a:t>java.io</a:t>
            </a:r>
            <a:r>
              <a:rPr lang="en-IN" dirty="0" smtClean="0"/>
              <a:t>.*;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class </a:t>
            </a:r>
            <a:r>
              <a:rPr lang="en-IN" dirty="0" smtClean="0"/>
              <a:t>Test</a:t>
            </a:r>
            <a:endParaRPr lang="en-IN" dirty="0" smtClean="0"/>
          </a:p>
          <a:p>
            <a:pPr marL="0" indent="0">
              <a:spcBef>
                <a:spcPts val="500"/>
              </a:spcBef>
              <a:buNone/>
            </a:pPr>
            <a:r>
              <a:rPr lang="en-IN" dirty="0" smtClean="0"/>
              <a:t> </a:t>
            </a:r>
            <a:r>
              <a:rPr lang="en-IN" dirty="0"/>
              <a:t>{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    public static void main 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      </a:t>
            </a:r>
            <a:r>
              <a:rPr lang="en-IN" dirty="0" err="1"/>
              <a:t>int</a:t>
            </a:r>
            <a:r>
              <a:rPr lang="en-IN" dirty="0"/>
              <a:t> a=5;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      </a:t>
            </a:r>
            <a:r>
              <a:rPr lang="en-IN" dirty="0" err="1"/>
              <a:t>int</a:t>
            </a:r>
            <a:r>
              <a:rPr lang="en-IN" dirty="0"/>
              <a:t> b=0;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        try{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          </a:t>
            </a:r>
            <a:r>
              <a:rPr lang="en-IN" dirty="0" err="1"/>
              <a:t>System.out.println</a:t>
            </a:r>
            <a:r>
              <a:rPr lang="en-IN" dirty="0"/>
              <a:t>(a/b);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        }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      catch(</a:t>
            </a:r>
            <a:r>
              <a:rPr lang="en-IN" dirty="0" err="1"/>
              <a:t>ArithmeticException</a:t>
            </a:r>
            <a:r>
              <a:rPr lang="en-IN" dirty="0"/>
              <a:t> e){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e.toString</a:t>
            </a:r>
            <a:r>
              <a:rPr lang="en-IN" dirty="0"/>
              <a:t>());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      }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spcBef>
                <a:spcPts val="500"/>
              </a:spcBef>
              <a:buNone/>
            </a:pPr>
            <a:r>
              <a:rPr lang="en-IN" dirty="0"/>
              <a:t>}</a:t>
            </a:r>
            <a:endParaRPr lang="en-IN" dirty="0"/>
          </a:p>
          <a:p>
            <a:pPr>
              <a:spcBef>
                <a:spcPts val="500"/>
              </a:spcBef>
            </a:pPr>
            <a:r>
              <a:rPr lang="en-US" dirty="0" err="1"/>
              <a:t>getMessage</a:t>
            </a:r>
            <a:r>
              <a:rPr lang="en-US" dirty="0"/>
              <a:t>() </a:t>
            </a:r>
            <a:r>
              <a:rPr lang="en-US" dirty="0" smtClean="0"/>
              <a:t>: The </a:t>
            </a:r>
            <a:r>
              <a:rPr lang="en-US" dirty="0" err="1"/>
              <a:t>getMessage</a:t>
            </a:r>
            <a:r>
              <a:rPr lang="en-US" dirty="0"/>
              <a:t>() method prints only the description of the exception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>
              <a:spcBef>
                <a:spcPts val="500"/>
              </a:spcBef>
              <a:buNone/>
            </a:pPr>
            <a:r>
              <a:rPr lang="en-IN" dirty="0" smtClean="0"/>
              <a:t>		</a:t>
            </a:r>
            <a:endParaRPr lang="en-IN" dirty="0" smtClean="0"/>
          </a:p>
          <a:p>
            <a:pPr marL="0" indent="0">
              <a:spcBef>
                <a:spcPts val="500"/>
              </a:spcBef>
              <a:buNone/>
            </a:pPr>
            <a:r>
              <a:rPr lang="en-IN" dirty="0" err="1" smtClean="0"/>
              <a:t>System.out.println</a:t>
            </a:r>
            <a:r>
              <a:rPr lang="en-IN" dirty="0" smtClean="0"/>
              <a:t>(</a:t>
            </a:r>
            <a:r>
              <a:rPr lang="en-IN" dirty="0" err="1" smtClean="0"/>
              <a:t>e.getMessage</a:t>
            </a:r>
            <a:r>
              <a:rPr lang="en-IN" dirty="0"/>
              <a:t>());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5602"/>
          </a:xfrm>
        </p:spPr>
        <p:txBody>
          <a:bodyPr/>
          <a:lstStyle/>
          <a:p>
            <a:r>
              <a:rPr lang="en-US" b="1" dirty="0"/>
              <a:t>How Does JVM Handle an Exception</a:t>
            </a:r>
            <a:r>
              <a:rPr lang="en-US" b="1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2327"/>
            <a:ext cx="10744200" cy="532014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1. </a:t>
            </a:r>
            <a:r>
              <a:rPr lang="en-IN" b="1" dirty="0"/>
              <a:t>Exception </a:t>
            </a:r>
            <a:r>
              <a:rPr lang="en-IN" b="1" dirty="0" smtClean="0"/>
              <a:t>Occurrence</a:t>
            </a:r>
            <a:r>
              <a:rPr lang="en-IN" dirty="0" smtClean="0"/>
              <a:t>: </a:t>
            </a:r>
            <a:r>
              <a:rPr lang="en-US" dirty="0" smtClean="0"/>
              <a:t>When </a:t>
            </a:r>
            <a:r>
              <a:rPr lang="en-US" dirty="0"/>
              <a:t>an exception </a:t>
            </a:r>
            <a:r>
              <a:rPr lang="en-US" dirty="0" smtClean="0"/>
              <a:t>occurs, </a:t>
            </a:r>
            <a:r>
              <a:rPr lang="en-US" dirty="0"/>
              <a:t>the JVM </a:t>
            </a:r>
            <a:r>
              <a:rPr lang="en-US" dirty="0" smtClean="0"/>
              <a:t>creates exception object based </a:t>
            </a:r>
            <a:r>
              <a:rPr lang="en-US" dirty="0"/>
              <a:t>on the type of exception (e.g., </a:t>
            </a:r>
            <a:r>
              <a:rPr lang="en-US" dirty="0" err="1"/>
              <a:t>ArithmeticException</a:t>
            </a:r>
            <a:r>
              <a:rPr lang="en-US" dirty="0"/>
              <a:t>, </a:t>
            </a:r>
            <a:r>
              <a:rPr lang="en-US" dirty="0" err="1"/>
              <a:t>IOException</a:t>
            </a:r>
            <a:r>
              <a:rPr lang="en-US" dirty="0" smtClean="0"/>
              <a:t>).</a:t>
            </a:r>
            <a:endParaRPr lang="en-US" dirty="0" smtClean="0"/>
          </a:p>
          <a:p>
            <a:pPr lvl="1"/>
            <a:r>
              <a:rPr lang="en-US" dirty="0" err="1"/>
              <a:t>int</a:t>
            </a:r>
            <a:r>
              <a:rPr lang="en-US" dirty="0"/>
              <a:t> result = 10 / 0;  // </a:t>
            </a:r>
            <a:r>
              <a:rPr lang="en-US" dirty="0" err="1"/>
              <a:t>ArithmeticException</a:t>
            </a:r>
            <a:r>
              <a:rPr lang="en-US" dirty="0"/>
              <a:t> occurs due to division by </a:t>
            </a:r>
            <a:r>
              <a:rPr lang="en-US" dirty="0" smtClean="0"/>
              <a:t>zero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There might be a list of the methods that had been called to get to the method where an exception occurred. This ordered list of methods is called </a:t>
            </a:r>
            <a:r>
              <a:rPr lang="en-US" b="1" dirty="0"/>
              <a:t>Call </a:t>
            </a:r>
            <a:r>
              <a:rPr lang="en-US" b="1" dirty="0" smtClean="0"/>
              <a:t>Stack.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2. </a:t>
            </a:r>
            <a:r>
              <a:rPr lang="en-IN" b="1" dirty="0"/>
              <a:t>Stack </a:t>
            </a:r>
            <a:r>
              <a:rPr lang="en-IN" b="1" dirty="0" smtClean="0"/>
              <a:t>Unwinding</a:t>
            </a:r>
            <a:r>
              <a:rPr lang="en-IN" dirty="0" smtClean="0"/>
              <a:t>: </a:t>
            </a:r>
            <a:r>
              <a:rPr lang="en-US" dirty="0"/>
              <a:t>Stack unwinding refers to the JVM's process of unwinding the call stack to find an appropriate exception handler (i.e., a catch block that can handle the exception</a:t>
            </a:r>
            <a:r>
              <a:rPr lang="en-US" dirty="0" smtClean="0"/>
              <a:t>).</a:t>
            </a:r>
            <a:endParaRPr lang="en-US" dirty="0" smtClean="0"/>
          </a:p>
          <a:p>
            <a:pPr lvl="1"/>
            <a:r>
              <a:rPr lang="en-US" dirty="0"/>
              <a:t>The JVM starts looking for a matching catch block in the current method, which is the method where the exception occurred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no matching catch block is found, it propagates the exception to the calling method. This continues up the call stack until the exception is either caught or the stack is exhausted</a:t>
            </a:r>
            <a:r>
              <a:rPr lang="en-US" dirty="0" smtClean="0"/>
              <a:t>.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30" y="166254"/>
            <a:ext cx="11499269" cy="6280727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Example (</a:t>
            </a:r>
            <a:r>
              <a:rPr lang="en-IN" b="1" dirty="0" smtClean="0"/>
              <a:t>Stack Unwinding) </a:t>
            </a:r>
            <a:r>
              <a:rPr lang="en-IN" dirty="0"/>
              <a:t>: 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public </a:t>
            </a:r>
            <a:r>
              <a:rPr lang="en-IN" dirty="0"/>
              <a:t>class Example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</a:t>
            </a:r>
            <a:r>
              <a:rPr lang="en-IN" dirty="0" err="1"/>
              <a:t>methodA</a:t>
            </a:r>
            <a:r>
              <a:rPr lang="en-IN" dirty="0"/>
              <a:t>();  // Calling </a:t>
            </a:r>
            <a:r>
              <a:rPr lang="en-IN" dirty="0" err="1"/>
              <a:t>methodA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</a:t>
            </a:r>
            <a:r>
              <a:rPr lang="en-IN" dirty="0" smtClean="0"/>
              <a:t>}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public static void </a:t>
            </a:r>
            <a:r>
              <a:rPr lang="en-IN" dirty="0" err="1"/>
              <a:t>methodA</a:t>
            </a:r>
            <a:r>
              <a:rPr lang="en-IN" dirty="0"/>
              <a:t>()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    </a:t>
            </a:r>
            <a:r>
              <a:rPr lang="en-IN" dirty="0" err="1" smtClean="0"/>
              <a:t>methodB</a:t>
            </a:r>
            <a:r>
              <a:rPr lang="en-IN" dirty="0" smtClean="0"/>
              <a:t>();  // </a:t>
            </a:r>
            <a:r>
              <a:rPr lang="en-IN" dirty="0"/>
              <a:t>Calling </a:t>
            </a:r>
            <a:r>
              <a:rPr lang="en-IN" dirty="0" err="1"/>
              <a:t>methodB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</a:t>
            </a:r>
            <a:r>
              <a:rPr lang="en-IN" dirty="0" smtClean="0"/>
              <a:t>}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public static void </a:t>
            </a:r>
            <a:r>
              <a:rPr lang="en-IN" dirty="0" err="1"/>
              <a:t>methodB</a:t>
            </a:r>
            <a:r>
              <a:rPr lang="en-IN" dirty="0"/>
              <a:t>()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result = 10 / 0;  // </a:t>
            </a:r>
            <a:r>
              <a:rPr lang="en-IN" dirty="0" err="1"/>
              <a:t>ArithmeticException</a:t>
            </a:r>
            <a:r>
              <a:rPr lang="en-IN" dirty="0"/>
              <a:t> occurs here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}</a:t>
            </a:r>
            <a:endParaRPr lang="en-IN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en-US" altLang="en-US" sz="2600" b="1" dirty="0"/>
              <a:t>How the JVM handles this:</a:t>
            </a:r>
            <a:endParaRPr lang="en-US" altLang="en-US" sz="2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/>
              <a:t>The exception occurs in </a:t>
            </a:r>
            <a:r>
              <a:rPr lang="en-US" altLang="en-US" sz="2600" dirty="0" err="1"/>
              <a:t>methodB</a:t>
            </a:r>
            <a:r>
              <a:rPr lang="en-US" altLang="en-US" sz="2600" dirty="0"/>
              <a:t>().</a:t>
            </a:r>
            <a:endParaRPr lang="en-US" altLang="en-US" sz="2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/>
              <a:t>The JVM searches for a catch block in </a:t>
            </a:r>
            <a:r>
              <a:rPr lang="en-US" altLang="en-US" sz="2600" dirty="0" err="1"/>
              <a:t>methodB</a:t>
            </a:r>
            <a:r>
              <a:rPr lang="en-US" altLang="en-US" sz="2600" dirty="0"/>
              <a:t>(). Since there is no catch block in </a:t>
            </a:r>
            <a:r>
              <a:rPr lang="en-US" altLang="en-US" sz="2600" dirty="0" err="1"/>
              <a:t>methodB</a:t>
            </a:r>
            <a:r>
              <a:rPr lang="en-US" altLang="en-US" sz="2600" dirty="0"/>
              <a:t>(), the exception propagates to </a:t>
            </a:r>
            <a:r>
              <a:rPr lang="en-US" altLang="en-US" sz="2600" dirty="0" err="1"/>
              <a:t>methodA</a:t>
            </a:r>
            <a:r>
              <a:rPr lang="en-US" altLang="en-US" sz="2600" dirty="0"/>
              <a:t>().</a:t>
            </a:r>
            <a:endParaRPr lang="en-US" altLang="en-US" sz="2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/>
              <a:t>Since </a:t>
            </a:r>
            <a:r>
              <a:rPr lang="en-US" altLang="en-US" sz="2600" dirty="0" err="1"/>
              <a:t>methodA</a:t>
            </a:r>
            <a:r>
              <a:rPr lang="en-US" altLang="en-US" sz="2600" dirty="0"/>
              <a:t>() doesn’t have a catch block either, the exception propagates to the main() method.</a:t>
            </a:r>
            <a:endParaRPr lang="en-US" altLang="en-US" sz="2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/>
              <a:t>If there’s no catch block in main(), the JVM terminates the program, and the exception is printed on the console.</a:t>
            </a:r>
            <a:endParaRPr lang="en-US" altLang="en-US" sz="2600" dirty="0"/>
          </a:p>
          <a:p>
            <a:pPr marL="0" indent="0">
              <a:spcBef>
                <a:spcPts val="300"/>
              </a:spcBef>
              <a:buNone/>
            </a:pPr>
            <a:endParaRPr lang="en-IN" dirty="0"/>
          </a:p>
          <a:p>
            <a:pPr>
              <a:spcBef>
                <a:spcPts val="300"/>
              </a:spcBef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4873"/>
            <a:ext cx="10515600" cy="575209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3. Finding </a:t>
            </a:r>
            <a:r>
              <a:rPr lang="en-US" b="1" dirty="0"/>
              <a:t>a Matching Catch </a:t>
            </a:r>
            <a:r>
              <a:rPr lang="en-US" b="1" dirty="0" smtClean="0"/>
              <a:t>Block</a:t>
            </a:r>
            <a:endParaRPr lang="en-US" b="1" dirty="0" smtClean="0"/>
          </a:p>
          <a:p>
            <a:r>
              <a:rPr lang="en-US" dirty="0"/>
              <a:t>The JVM continues to propagate the exception up the call stack, looking for a catch block that can handle the specific type of exception or one of its </a:t>
            </a:r>
            <a:r>
              <a:rPr lang="en-US" dirty="0" err="1"/>
              <a:t>superclasses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b="1" dirty="0"/>
              <a:t>Example: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public </a:t>
            </a:r>
            <a:r>
              <a:rPr lang="en-US" dirty="0"/>
              <a:t>class Example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try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result = 10 / 0;  // </a:t>
            </a:r>
            <a:r>
              <a:rPr lang="en-US" dirty="0" err="1"/>
              <a:t>ArithmeticException</a:t>
            </a:r>
            <a:r>
              <a:rPr lang="en-US" dirty="0"/>
              <a:t> occurs here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} </a:t>
            </a:r>
            <a:r>
              <a:rPr lang="en-US" dirty="0" smtClean="0"/>
              <a:t>catch </a:t>
            </a:r>
            <a:r>
              <a:rPr lang="en-US" dirty="0"/>
              <a:t>(</a:t>
            </a:r>
            <a:r>
              <a:rPr lang="en-US" dirty="0" err="1"/>
              <a:t>ArithmeticException</a:t>
            </a:r>
            <a:r>
              <a:rPr lang="en-US" dirty="0"/>
              <a:t> 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("Caught </a:t>
            </a:r>
            <a:r>
              <a:rPr lang="en-US" dirty="0" err="1"/>
              <a:t>ArithmeticException</a:t>
            </a:r>
            <a:r>
              <a:rPr lang="en-US" dirty="0"/>
              <a:t>: " + </a:t>
            </a:r>
            <a:r>
              <a:rPr lang="en-US" dirty="0" err="1"/>
              <a:t>e.getMessage</a:t>
            </a:r>
            <a:r>
              <a:rPr lang="en-US" dirty="0" smtClean="0"/>
              <a:t>());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r>
              <a:rPr lang="en-US" dirty="0"/>
              <a:t>The exception is caught in the catch (</a:t>
            </a:r>
            <a:r>
              <a:rPr lang="en-US" dirty="0" err="1"/>
              <a:t>ArithmeticException</a:t>
            </a:r>
            <a:r>
              <a:rPr lang="en-US" dirty="0"/>
              <a:t> e) block because it matches the type of the thrown exception (</a:t>
            </a:r>
            <a:r>
              <a:rPr lang="en-US" dirty="0" err="1"/>
              <a:t>ArithmeticException</a:t>
            </a:r>
            <a:r>
              <a:rPr lang="en-US" dirty="0" smtClean="0"/>
              <a:t>).</a:t>
            </a:r>
            <a:endParaRPr lang="en-US" dirty="0" smtClean="0"/>
          </a:p>
          <a:p>
            <a:r>
              <a:rPr lang="en-US" dirty="0" smtClean="0"/>
              <a:t>Once </a:t>
            </a:r>
            <a:r>
              <a:rPr lang="en-US" dirty="0"/>
              <a:t>the exception is caught, the catch block is executed, and the program resumes normal execution after the try-catch structure.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527" y="286327"/>
            <a:ext cx="11342255" cy="638232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smtClean="0"/>
              <a:t>4. </a:t>
            </a:r>
            <a:r>
              <a:rPr lang="en-US" b="1" dirty="0"/>
              <a:t>The Finally Block (If Present</a:t>
            </a:r>
            <a:r>
              <a:rPr lang="en-US" b="1" dirty="0" smtClean="0"/>
              <a:t>): </a:t>
            </a:r>
            <a:endParaRPr lang="en-US" b="1" dirty="0" smtClean="0"/>
          </a:p>
          <a:p>
            <a:r>
              <a:rPr lang="en-US" dirty="0" smtClean="0"/>
              <a:t>After </a:t>
            </a:r>
            <a:r>
              <a:rPr lang="en-US" dirty="0"/>
              <a:t>the exception is handled by the catch block, if there is a finally block present, it is executed regardless of whether an exception was thrown or not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finally block is used for cleanup actions like closing file streams, database connections, or releasing resources that were acquired in the try block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IN" dirty="0" smtClean="0"/>
              <a:t>Example: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public class Example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try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result = 10 / 0;  // </a:t>
            </a:r>
            <a:r>
              <a:rPr lang="en-IN" dirty="0" err="1"/>
              <a:t>ArithmeticException</a:t>
            </a:r>
            <a:r>
              <a:rPr lang="en-IN" dirty="0"/>
              <a:t> occurs here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} </a:t>
            </a:r>
            <a:r>
              <a:rPr lang="en-IN" dirty="0" smtClean="0"/>
              <a:t>catch (</a:t>
            </a:r>
            <a:r>
              <a:rPr lang="en-IN" dirty="0" err="1" smtClean="0"/>
              <a:t>ArithmeticException</a:t>
            </a:r>
            <a:r>
              <a:rPr lang="en-IN" dirty="0" smtClean="0"/>
              <a:t> e) {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 err="1" smtClean="0"/>
              <a:t>System.out.println</a:t>
            </a:r>
            <a:r>
              <a:rPr lang="en-IN" dirty="0" smtClean="0"/>
              <a:t>("Caught </a:t>
            </a:r>
            <a:r>
              <a:rPr lang="en-IN" dirty="0" err="1" smtClean="0"/>
              <a:t>ArithmeticException</a:t>
            </a:r>
            <a:r>
              <a:rPr lang="en-IN" dirty="0" smtClean="0"/>
              <a:t>: " + </a:t>
            </a:r>
            <a:r>
              <a:rPr lang="en-IN" dirty="0" err="1" smtClean="0"/>
              <a:t>e.getMessage</a:t>
            </a:r>
            <a:r>
              <a:rPr lang="en-IN" dirty="0" smtClean="0"/>
              <a:t>());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} finally {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("This will always execute.");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smtClean="0"/>
              <a:t>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63418"/>
            <a:ext cx="10515600" cy="561354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5. Propagating Uncaught </a:t>
            </a:r>
            <a:r>
              <a:rPr lang="en-IN" b="1" dirty="0" smtClean="0"/>
              <a:t>Exceptions</a:t>
            </a:r>
            <a:endParaRPr lang="en-IN" b="1" dirty="0" smtClean="0"/>
          </a:p>
          <a:p>
            <a:r>
              <a:rPr lang="en-US" dirty="0"/>
              <a:t>If the exception is not caught in any of the catch blocks, it keeps propagating up the call stack.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it reaches the main method without being handled, the JVM will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Print </a:t>
            </a:r>
            <a:r>
              <a:rPr lang="en-US" dirty="0"/>
              <a:t>the exception’s stack trace to the console (which helps in debugging</a:t>
            </a:r>
            <a:r>
              <a:rPr lang="en-US" dirty="0" smtClean="0"/>
              <a:t>).</a:t>
            </a:r>
            <a:endParaRPr lang="en-US" dirty="0" smtClean="0"/>
          </a:p>
          <a:p>
            <a:pPr lvl="1"/>
            <a:r>
              <a:rPr lang="en-US" dirty="0" smtClean="0"/>
              <a:t>Terminate </a:t>
            </a:r>
            <a:r>
              <a:rPr lang="en-US" dirty="0"/>
              <a:t>the program (the program ends after the exception).</a:t>
            </a:r>
            <a:endParaRPr lang="en-IN" dirty="0"/>
          </a:p>
        </p:txBody>
      </p:sp>
      <p:pic>
        <p:nvPicPr>
          <p:cNvPr id="17411" name="Picture 3" descr="Exceptions in Java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" t="5667" r="3711" b="5187"/>
          <a:stretch>
            <a:fillRect/>
          </a:stretch>
        </p:blipFill>
        <p:spPr bwMode="auto">
          <a:xfrm>
            <a:off x="3133090" y="4121150"/>
            <a:ext cx="4202430" cy="248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854" y="161925"/>
            <a:ext cx="10515600" cy="595457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Nested try block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99" y="757382"/>
            <a:ext cx="11203709" cy="5846618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public class </a:t>
            </a:r>
            <a:r>
              <a:rPr lang="en-IN" sz="1800" dirty="0" err="1"/>
              <a:t>NestedTryExample</a:t>
            </a:r>
            <a:r>
              <a:rPr lang="en-IN" sz="1800" dirty="0"/>
              <a:t> {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public static void main(String[] </a:t>
            </a:r>
            <a:r>
              <a:rPr lang="en-IN" sz="1800" dirty="0" err="1"/>
              <a:t>args</a:t>
            </a:r>
            <a:r>
              <a:rPr lang="en-IN" sz="1800" dirty="0"/>
              <a:t>) {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// Outer try block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try </a:t>
            </a:r>
            <a:r>
              <a:rPr lang="en-IN" sz="1800" dirty="0" smtClean="0"/>
              <a:t>{</a:t>
            </a:r>
            <a:endParaRPr lang="en-IN" sz="1800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</a:t>
            </a:r>
            <a:r>
              <a:rPr lang="en-IN" sz="1800" dirty="0" err="1" smtClean="0"/>
              <a:t>int</a:t>
            </a:r>
            <a:r>
              <a:rPr lang="en-IN" sz="1800" dirty="0" smtClean="0"/>
              <a:t> </a:t>
            </a:r>
            <a:r>
              <a:rPr lang="en-IN" sz="1800" dirty="0"/>
              <a:t>result = 10 / 0;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System.out.println</a:t>
            </a:r>
            <a:r>
              <a:rPr lang="en-IN" sz="1800" dirty="0"/>
              <a:t>("Result: " + result</a:t>
            </a:r>
            <a:r>
              <a:rPr lang="en-IN" sz="1800" dirty="0" smtClean="0"/>
              <a:t>);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    // Inner try block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    try {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        </a:t>
            </a:r>
            <a:r>
              <a:rPr lang="en-IN" sz="1800" dirty="0" err="1"/>
              <a:t>int</a:t>
            </a:r>
            <a:r>
              <a:rPr lang="en-IN" sz="1800" dirty="0"/>
              <a:t>[] numbers = {1, 2, 3};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 smtClean="0"/>
              <a:t>                </a:t>
            </a:r>
            <a:r>
              <a:rPr lang="en-IN" sz="1800" dirty="0" err="1" smtClean="0"/>
              <a:t>System.out.println</a:t>
            </a:r>
            <a:r>
              <a:rPr lang="en-IN" sz="1800" dirty="0" smtClean="0"/>
              <a:t>(numbers[5</a:t>
            </a:r>
            <a:r>
              <a:rPr lang="en-IN" sz="1800" dirty="0"/>
              <a:t>]);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    } </a:t>
            </a:r>
            <a:endParaRPr lang="en-IN" sz="1800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      catch </a:t>
            </a:r>
            <a:r>
              <a:rPr lang="en-IN" sz="1800" dirty="0"/>
              <a:t>(</a:t>
            </a:r>
            <a:r>
              <a:rPr lang="en-IN" sz="1800" dirty="0" err="1"/>
              <a:t>ArrayIndexOutOfBoundsException</a:t>
            </a:r>
            <a:r>
              <a:rPr lang="en-IN" sz="1800" dirty="0"/>
              <a:t> e) {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        </a:t>
            </a:r>
            <a:r>
              <a:rPr lang="en-IN" sz="1800" dirty="0" err="1"/>
              <a:t>System.out.println</a:t>
            </a:r>
            <a:r>
              <a:rPr lang="en-IN" sz="1800" dirty="0"/>
              <a:t>("Caught </a:t>
            </a:r>
            <a:r>
              <a:rPr lang="en-IN" sz="1800" dirty="0" err="1"/>
              <a:t>ArrayIndexOutOfBoundsException</a:t>
            </a:r>
            <a:r>
              <a:rPr lang="en-IN" sz="1800" dirty="0"/>
              <a:t> in inner try: " + </a:t>
            </a:r>
            <a:r>
              <a:rPr lang="en-IN" sz="1800" dirty="0" err="1"/>
              <a:t>e.getMessage</a:t>
            </a:r>
            <a:r>
              <a:rPr lang="en-IN" sz="1800" dirty="0"/>
              <a:t>());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smtClean="0"/>
              <a:t>}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} catch (</a:t>
            </a:r>
            <a:r>
              <a:rPr lang="en-IN" sz="1800" dirty="0" err="1"/>
              <a:t>ArithmeticException</a:t>
            </a:r>
            <a:r>
              <a:rPr lang="en-IN" sz="1800" dirty="0"/>
              <a:t> e) {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System.out.println</a:t>
            </a:r>
            <a:r>
              <a:rPr lang="en-IN" sz="1800" dirty="0"/>
              <a:t>("Caught </a:t>
            </a:r>
            <a:r>
              <a:rPr lang="en-IN" sz="1800" dirty="0" err="1"/>
              <a:t>ArithmeticException</a:t>
            </a:r>
            <a:r>
              <a:rPr lang="en-IN" sz="1800" dirty="0"/>
              <a:t> in outer try: " + </a:t>
            </a:r>
            <a:r>
              <a:rPr lang="en-IN" sz="1800" dirty="0" err="1"/>
              <a:t>e.getMessage</a:t>
            </a:r>
            <a:r>
              <a:rPr lang="en-IN" sz="1800" dirty="0"/>
              <a:t>());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} finally {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System.out.println</a:t>
            </a:r>
            <a:r>
              <a:rPr lang="en-IN" sz="1800" dirty="0"/>
              <a:t>("Finally block executed after outer try-catch");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    }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    }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/>
              <a:t>}</a:t>
            </a:r>
            <a:endParaRPr lang="en-IN" sz="1800" dirty="0"/>
          </a:p>
          <a:p>
            <a:pPr marL="0" indent="0">
              <a:spcBef>
                <a:spcPts val="300"/>
              </a:spcBef>
              <a:buNone/>
            </a:pPr>
            <a:endParaRPr lang="en-IN" sz="1800" dirty="0" smtClean="0"/>
          </a:p>
          <a:p>
            <a:pPr marL="0" indent="0">
              <a:spcBef>
                <a:spcPts val="300"/>
              </a:spcBef>
              <a:buNone/>
            </a:pPr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throw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</a:t>
            </a:r>
            <a:r>
              <a:rPr lang="en-US" dirty="0"/>
              <a:t>used to explicitly </a:t>
            </a:r>
            <a:r>
              <a:rPr lang="en-US" b="1" dirty="0"/>
              <a:t>throw an exception</a:t>
            </a:r>
            <a:r>
              <a:rPr lang="en-US" dirty="0"/>
              <a:t> in a program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Unlike </a:t>
            </a:r>
            <a:r>
              <a:rPr lang="en-US" dirty="0"/>
              <a:t>try-catch, which is used to handle exceptions, throw is used to generate an exception. </a:t>
            </a:r>
            <a:endParaRPr lang="en-US" dirty="0" smtClean="0"/>
          </a:p>
          <a:p>
            <a:pPr lvl="1"/>
            <a:r>
              <a:rPr lang="en-IN" dirty="0"/>
              <a:t>throw </a:t>
            </a:r>
            <a:r>
              <a:rPr lang="en-IN" i="1" dirty="0" err="1"/>
              <a:t>ThrowableInstance</a:t>
            </a:r>
            <a:r>
              <a:rPr lang="en-IN" dirty="0" smtClean="0"/>
              <a:t>;</a:t>
            </a:r>
            <a:endParaRPr lang="en-IN" dirty="0" smtClean="0"/>
          </a:p>
          <a:p>
            <a:pPr lvl="1"/>
            <a:r>
              <a:rPr lang="en-US" dirty="0" err="1"/>
              <a:t>ThrowableInstance</a:t>
            </a:r>
            <a:r>
              <a:rPr lang="en-US" dirty="0"/>
              <a:t> must be an object of type </a:t>
            </a:r>
            <a:r>
              <a:rPr lang="en-US" dirty="0" err="1"/>
              <a:t>Throwable</a:t>
            </a:r>
            <a:r>
              <a:rPr lang="en-US" dirty="0"/>
              <a:t> or a subclass </a:t>
            </a:r>
            <a:r>
              <a:rPr lang="en-US" dirty="0" smtClean="0"/>
              <a:t>of </a:t>
            </a:r>
            <a:r>
              <a:rPr lang="en-US" dirty="0" err="1" smtClean="0"/>
              <a:t>Throwable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throw keyword is often used to enforce specific conditions within methods or custom validation.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545" y="291234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Example (throw)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440" y="965200"/>
            <a:ext cx="11704320" cy="5628640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public class </a:t>
            </a:r>
            <a:r>
              <a:rPr lang="en-IN" sz="1600" dirty="0" err="1"/>
              <a:t>NullPointerExample</a:t>
            </a:r>
            <a:r>
              <a:rPr lang="en-IN" sz="1600" dirty="0"/>
              <a:t> {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public static void main(String[] </a:t>
            </a:r>
            <a:r>
              <a:rPr lang="en-IN" sz="1600" dirty="0" err="1"/>
              <a:t>args</a:t>
            </a:r>
            <a:r>
              <a:rPr lang="en-IN" sz="1600" dirty="0"/>
              <a:t>) {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    try {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        </a:t>
            </a:r>
            <a:r>
              <a:rPr lang="en-IN" sz="1600" dirty="0" err="1"/>
              <a:t>printLength</a:t>
            </a:r>
            <a:r>
              <a:rPr lang="en-IN" sz="1600" dirty="0"/>
              <a:t>(null);  // Passing null to trigger the exception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    } catch (</a:t>
            </a:r>
            <a:r>
              <a:rPr lang="en-IN" sz="1600" dirty="0" err="1"/>
              <a:t>NullPointerException</a:t>
            </a:r>
            <a:r>
              <a:rPr lang="en-IN" sz="1600" dirty="0"/>
              <a:t> e) {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        </a:t>
            </a:r>
            <a:r>
              <a:rPr lang="en-IN" sz="1600" dirty="0" err="1"/>
              <a:t>System.out.println</a:t>
            </a:r>
            <a:r>
              <a:rPr lang="en-IN" sz="1600" dirty="0"/>
              <a:t>("Exception caught: " + </a:t>
            </a:r>
            <a:r>
              <a:rPr lang="en-IN" sz="1600" dirty="0" err="1"/>
              <a:t>e.getMessage</a:t>
            </a:r>
            <a:r>
              <a:rPr lang="en-IN" sz="1600" dirty="0"/>
              <a:t>());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    }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</a:t>
            </a:r>
            <a:r>
              <a:rPr lang="en-IN" sz="1600" dirty="0" smtClean="0"/>
              <a:t>}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// Method that throws </a:t>
            </a:r>
            <a:r>
              <a:rPr lang="en-IN" sz="1600" dirty="0" err="1"/>
              <a:t>NullPointerException</a:t>
            </a:r>
            <a:r>
              <a:rPr lang="en-IN" sz="1600" dirty="0"/>
              <a:t> if the input string is null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public static void </a:t>
            </a:r>
            <a:r>
              <a:rPr lang="en-IN" sz="1600" dirty="0" err="1"/>
              <a:t>printLength</a:t>
            </a:r>
            <a:r>
              <a:rPr lang="en-IN" sz="1600" dirty="0"/>
              <a:t>(String </a:t>
            </a:r>
            <a:r>
              <a:rPr lang="en-IN" sz="1600" dirty="0" err="1"/>
              <a:t>str</a:t>
            </a:r>
            <a:r>
              <a:rPr lang="en-IN" sz="1600" dirty="0"/>
              <a:t>) {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    if (</a:t>
            </a:r>
            <a:r>
              <a:rPr lang="en-IN" sz="1600" dirty="0" err="1"/>
              <a:t>str</a:t>
            </a:r>
            <a:r>
              <a:rPr lang="en-IN" sz="1600" dirty="0"/>
              <a:t> == null) </a:t>
            </a:r>
            <a:r>
              <a:rPr lang="en-IN" sz="1600" dirty="0" smtClean="0"/>
              <a:t>{</a:t>
            </a:r>
            <a:endParaRPr lang="en-IN" sz="1600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	 </a:t>
            </a:r>
            <a:r>
              <a:rPr lang="en-IN" sz="1600" dirty="0" err="1" smtClean="0"/>
              <a:t>NullPointerException</a:t>
            </a:r>
            <a:r>
              <a:rPr lang="en-IN" sz="1600" dirty="0" smtClean="0"/>
              <a:t> </a:t>
            </a:r>
            <a:r>
              <a:rPr lang="en-IN" sz="1600" dirty="0" err="1" smtClean="0"/>
              <a:t>obj</a:t>
            </a:r>
            <a:r>
              <a:rPr lang="en-IN" sz="1600" dirty="0" smtClean="0"/>
              <a:t>=new </a:t>
            </a:r>
            <a:r>
              <a:rPr lang="en-IN" sz="1600" dirty="0" err="1" smtClean="0"/>
              <a:t>NullPointerException</a:t>
            </a:r>
            <a:r>
              <a:rPr lang="en-IN" sz="1600" dirty="0" smtClean="0"/>
              <a:t>("</a:t>
            </a:r>
            <a:r>
              <a:rPr lang="en-IN" sz="1600" dirty="0"/>
              <a:t>The input string cannot be null.");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 smtClean="0"/>
              <a:t>            </a:t>
            </a:r>
            <a:r>
              <a:rPr lang="en-IN" sz="1600" dirty="0"/>
              <a:t>throw </a:t>
            </a:r>
            <a:r>
              <a:rPr lang="en-IN" sz="1600" dirty="0" err="1" smtClean="0"/>
              <a:t>obj</a:t>
            </a:r>
            <a:r>
              <a:rPr lang="en-IN" sz="1600" dirty="0" smtClean="0"/>
              <a:t>;}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    </a:t>
            </a:r>
            <a:r>
              <a:rPr lang="en-IN" sz="1600" dirty="0" err="1"/>
              <a:t>System.out.println</a:t>
            </a:r>
            <a:r>
              <a:rPr lang="en-IN" sz="1600" dirty="0"/>
              <a:t>("Length of the string: " + </a:t>
            </a:r>
            <a:r>
              <a:rPr lang="en-IN" sz="1600" dirty="0" err="1"/>
              <a:t>str.length</a:t>
            </a:r>
            <a:r>
              <a:rPr lang="en-IN" sz="1600" dirty="0"/>
              <a:t>());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    }</a:t>
            </a:r>
            <a:endParaRPr lang="en-IN" sz="16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1600" dirty="0"/>
              <a:t>}</a:t>
            </a:r>
            <a:endParaRPr lang="en-IN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72085"/>
            <a:ext cx="10515600" cy="528955"/>
          </a:xfrm>
        </p:spPr>
        <p:txBody>
          <a:bodyPr>
            <a:noAutofit/>
          </a:bodyPr>
          <a:lstStyle/>
          <a:p>
            <a:r>
              <a:rPr lang="en-IN" b="1" dirty="0" smtClean="0"/>
              <a:t>Example (throw): custom validation 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" y="934720"/>
            <a:ext cx="11531600" cy="575056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public class </a:t>
            </a:r>
            <a:r>
              <a:rPr lang="en-IN" dirty="0" err="1" smtClean="0"/>
              <a:t>AgeCheck</a:t>
            </a:r>
            <a:r>
              <a:rPr lang="en-IN" dirty="0" smtClean="0"/>
              <a:t> {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public static void main(String[] </a:t>
            </a:r>
            <a:r>
              <a:rPr lang="en-IN" dirty="0" err="1" smtClean="0"/>
              <a:t>args</a:t>
            </a:r>
            <a:r>
              <a:rPr lang="en-IN" dirty="0" smtClean="0"/>
              <a:t>) {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    try {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        register(16);  // Trying to register with age 16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    } catch (</a:t>
            </a:r>
            <a:r>
              <a:rPr lang="en-IN" dirty="0" err="1" smtClean="0"/>
              <a:t>IllegalArgumentException</a:t>
            </a:r>
            <a:r>
              <a:rPr lang="en-IN" dirty="0" smtClean="0"/>
              <a:t> e) {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        </a:t>
            </a:r>
            <a:r>
              <a:rPr lang="en-IN" dirty="0" err="1" smtClean="0"/>
              <a:t>System.out.println</a:t>
            </a:r>
            <a:r>
              <a:rPr lang="en-IN" dirty="0" smtClean="0"/>
              <a:t>("Exception caught: " + </a:t>
            </a:r>
            <a:r>
              <a:rPr lang="en-IN" dirty="0" err="1" smtClean="0"/>
              <a:t>e.getMessage</a:t>
            </a:r>
            <a:r>
              <a:rPr lang="en-IN" dirty="0" smtClean="0"/>
              <a:t>());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    }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}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// Method to check age and throw an exception if age is below 18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public static void register(</a:t>
            </a:r>
            <a:r>
              <a:rPr lang="en-IN" dirty="0" err="1" smtClean="0"/>
              <a:t>int</a:t>
            </a:r>
            <a:r>
              <a:rPr lang="en-IN" dirty="0" smtClean="0"/>
              <a:t> age) {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    if (age &lt; 18) {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        throw new </a:t>
            </a:r>
            <a:r>
              <a:rPr lang="en-IN" dirty="0" err="1" smtClean="0"/>
              <a:t>IllegalArgumentException</a:t>
            </a:r>
            <a:r>
              <a:rPr lang="en-IN" dirty="0" smtClean="0"/>
              <a:t>("Age must be 18 or older to register.");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    }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    </a:t>
            </a:r>
            <a:r>
              <a:rPr lang="en-IN" dirty="0" err="1" smtClean="0"/>
              <a:t>System.out.println</a:t>
            </a:r>
            <a:r>
              <a:rPr lang="en-IN" dirty="0" smtClean="0"/>
              <a:t>("Registration successful!");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    }</a:t>
            </a:r>
            <a:endParaRPr lang="en-IN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}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82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throws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927" y="1200727"/>
            <a:ext cx="10965873" cy="4976236"/>
          </a:xfrm>
        </p:spPr>
        <p:txBody>
          <a:bodyPr>
            <a:normAutofit/>
          </a:bodyPr>
          <a:lstStyle/>
          <a:p>
            <a:r>
              <a:rPr lang="en-US" b="1" dirty="0"/>
              <a:t>throws</a:t>
            </a:r>
            <a:r>
              <a:rPr lang="en-US" dirty="0"/>
              <a:t> keyword is used in a method signature to declare that a </a:t>
            </a:r>
            <a:r>
              <a:rPr lang="en-US" dirty="0" smtClean="0"/>
              <a:t>method </a:t>
            </a:r>
            <a:r>
              <a:rPr lang="en-US" dirty="0"/>
              <a:t>can potentially throw specific exceptions. </a:t>
            </a:r>
            <a:endParaRPr lang="en-US" dirty="0" smtClean="0"/>
          </a:p>
          <a:p>
            <a:r>
              <a:rPr lang="en-US" dirty="0"/>
              <a:t>It does not handle the exception but informs the calling method that it </a:t>
            </a:r>
            <a:r>
              <a:rPr lang="en-US" dirty="0" smtClean="0"/>
              <a:t>might </a:t>
            </a:r>
            <a:r>
              <a:rPr lang="en-US" dirty="0"/>
              <a:t>need to handle or further declare the exception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This is commonly used with </a:t>
            </a:r>
            <a:r>
              <a:rPr lang="en-US" b="1" dirty="0"/>
              <a:t>checked exceptions</a:t>
            </a:r>
            <a:r>
              <a:rPr lang="en-US" dirty="0"/>
              <a:t>, which are exceptions that must be either caught or declared to be thrown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b="1" dirty="0" smtClean="0"/>
              <a:t>Syntax</a:t>
            </a:r>
            <a:r>
              <a:rPr lang="en-US" dirty="0" smtClean="0"/>
              <a:t>: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public void </a:t>
            </a:r>
            <a:r>
              <a:rPr lang="en-US" dirty="0" err="1" smtClean="0"/>
              <a:t>someMethod</a:t>
            </a:r>
            <a:r>
              <a:rPr lang="en-US" dirty="0" smtClean="0"/>
              <a:t>() </a:t>
            </a:r>
            <a:r>
              <a:rPr lang="en-US" dirty="0" smtClean="0"/>
              <a:t>throws </a:t>
            </a:r>
            <a:r>
              <a:rPr lang="en-US" dirty="0" err="1" smtClean="0"/>
              <a:t>IOException</a:t>
            </a:r>
            <a:r>
              <a:rPr lang="en-US" dirty="0" smtClean="0"/>
              <a:t>, </a:t>
            </a:r>
            <a:r>
              <a:rPr lang="en-US" dirty="0" err="1" smtClean="0"/>
              <a:t>SQLException</a:t>
            </a:r>
            <a:r>
              <a:rPr lang="en-US" dirty="0" smtClean="0"/>
              <a:t> {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    // Code that may throw </a:t>
            </a:r>
            <a:r>
              <a:rPr lang="en-US" dirty="0" err="1" smtClean="0"/>
              <a:t>IOException</a:t>
            </a:r>
            <a:r>
              <a:rPr lang="en-US" dirty="0" smtClean="0"/>
              <a:t> or </a:t>
            </a:r>
            <a:r>
              <a:rPr lang="en-US" dirty="0" err="1" smtClean="0"/>
              <a:t>SQLException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}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6472" y="360218"/>
            <a:ext cx="10732654" cy="39736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9454" y="4703725"/>
            <a:ext cx="1104669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LiberationSerif"/>
              </a:rPr>
              <a:t>To make this example compile, you need to make two changes. </a:t>
            </a:r>
            <a:endParaRPr lang="en-US" sz="2400" dirty="0" smtClean="0">
              <a:latin typeface="LiberationSerif"/>
            </a:endParaRPr>
          </a:p>
          <a:p>
            <a:endParaRPr lang="en-US" sz="2400" dirty="0" smtClean="0">
              <a:latin typeface="LiberationSerif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 smtClean="0">
                <a:latin typeface="LiberationSerif"/>
              </a:rPr>
              <a:t>First</a:t>
            </a:r>
            <a:r>
              <a:rPr lang="en-US" sz="2400" dirty="0">
                <a:latin typeface="LiberationSerif"/>
              </a:rPr>
              <a:t>, </a:t>
            </a:r>
            <a:r>
              <a:rPr lang="en-US" sz="2400" dirty="0" smtClean="0">
                <a:latin typeface="LiberationSerif"/>
              </a:rPr>
              <a:t>you </a:t>
            </a:r>
            <a:r>
              <a:rPr lang="en-US" sz="2400" dirty="0"/>
              <a:t>need to declare that </a:t>
            </a:r>
            <a:r>
              <a:rPr lang="en-US" sz="2400" b="1" dirty="0" err="1"/>
              <a:t>throwOne</a:t>
            </a:r>
            <a:r>
              <a:rPr lang="en-US" sz="2400" b="1" dirty="0"/>
              <a:t>( ) </a:t>
            </a:r>
            <a:r>
              <a:rPr lang="en-US" sz="2400" dirty="0"/>
              <a:t>throws </a:t>
            </a:r>
            <a:r>
              <a:rPr lang="en-US" sz="2400" b="1" dirty="0" err="1"/>
              <a:t>IllegalAccessException</a:t>
            </a:r>
            <a:r>
              <a:rPr lang="en-US" sz="2400" dirty="0"/>
              <a:t>. </a:t>
            </a:r>
            <a:endParaRPr lang="en-US" sz="2400" dirty="0" smtClean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 smtClean="0"/>
              <a:t>Second, </a:t>
            </a:r>
            <a:r>
              <a:rPr lang="en-US" sz="2400" b="1" dirty="0" smtClean="0"/>
              <a:t>main</a:t>
            </a:r>
            <a:r>
              <a:rPr lang="en-US" sz="2400" b="1" dirty="0"/>
              <a:t>( ) </a:t>
            </a:r>
            <a:r>
              <a:rPr lang="en-US" sz="2400" dirty="0"/>
              <a:t>must define a </a:t>
            </a:r>
            <a:r>
              <a:rPr lang="en-US" sz="2400" b="1" dirty="0"/>
              <a:t>try / catch </a:t>
            </a:r>
            <a:r>
              <a:rPr lang="en-US" sz="2400" dirty="0"/>
              <a:t>statement that catches this exception.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2727" y="454063"/>
            <a:ext cx="10806545" cy="46074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04654" y="5061526"/>
            <a:ext cx="83127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latin typeface="LiberationMono"/>
              </a:rPr>
              <a:t>Output:</a:t>
            </a:r>
            <a:endParaRPr lang="en-IN" sz="2000" b="1" dirty="0" smtClean="0">
              <a:latin typeface="LiberationMono"/>
            </a:endParaRPr>
          </a:p>
          <a:p>
            <a:endParaRPr lang="en-IN" sz="2000" dirty="0">
              <a:latin typeface="LiberationMono"/>
            </a:endParaRPr>
          </a:p>
          <a:p>
            <a:r>
              <a:rPr lang="en-IN" sz="2000" dirty="0" smtClean="0">
                <a:latin typeface="LiberationMono"/>
              </a:rPr>
              <a:t>inside </a:t>
            </a:r>
            <a:r>
              <a:rPr lang="en-IN" sz="2000" dirty="0" err="1">
                <a:latin typeface="LiberationMono"/>
              </a:rPr>
              <a:t>throwOne</a:t>
            </a:r>
            <a:endParaRPr lang="en-IN" sz="2000" dirty="0">
              <a:latin typeface="LiberationMono"/>
            </a:endParaRPr>
          </a:p>
          <a:p>
            <a:r>
              <a:rPr lang="en-IN" sz="2000" dirty="0">
                <a:latin typeface="LiberationMono"/>
              </a:rPr>
              <a:t>caught </a:t>
            </a:r>
            <a:r>
              <a:rPr lang="en-IN" sz="2000" dirty="0" err="1">
                <a:latin typeface="LiberationMono"/>
              </a:rPr>
              <a:t>java.lang.IllegalAccessException</a:t>
            </a:r>
            <a:r>
              <a:rPr lang="en-IN" sz="2000" dirty="0">
                <a:latin typeface="LiberationMono"/>
              </a:rPr>
              <a:t>: demo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81999"/>
            <a:ext cx="10515600" cy="613930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finally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145" y="1136072"/>
            <a:ext cx="6844146" cy="5124018"/>
          </a:xfrm>
        </p:spPr>
        <p:txBody>
          <a:bodyPr/>
          <a:lstStyle/>
          <a:p>
            <a:pPr algn="just"/>
            <a:r>
              <a:rPr lang="en-US" dirty="0"/>
              <a:t>finally block is an optional part of exception handling that is used to execute important code regardless of whether an exception occurs or not.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finally block is always associated with a try block, and it executes after the try block and any catch blocks, even if an exception is thrown</a:t>
            </a:r>
            <a:r>
              <a:rPr lang="en-US" dirty="0" smtClean="0"/>
              <a:t>.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is particularly useful for cleaning up resources such as closing files, releasing database connections, or freeing up other system resources.</a:t>
            </a:r>
            <a:endParaRPr lang="en-IN" dirty="0"/>
          </a:p>
        </p:txBody>
      </p:sp>
      <p:pic>
        <p:nvPicPr>
          <p:cNvPr id="1028" name="Picture 4" descr="Java finally blo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738" y="1339273"/>
            <a:ext cx="4924425" cy="512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8439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1: Exception is Handled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5" y="1034473"/>
            <a:ext cx="10882745" cy="5449454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public class </a:t>
            </a:r>
            <a:r>
              <a:rPr lang="en-IN" sz="1800" dirty="0" err="1"/>
              <a:t>FinallyExampleHandled</a:t>
            </a:r>
            <a:r>
              <a:rPr lang="en-IN" sz="1800" dirty="0"/>
              <a:t> {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public static void main(String[] </a:t>
            </a:r>
            <a:r>
              <a:rPr lang="en-IN" sz="1800" dirty="0" err="1"/>
              <a:t>args</a:t>
            </a:r>
            <a:r>
              <a:rPr lang="en-IN" sz="1800" dirty="0"/>
              <a:t>) {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    try {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int</a:t>
            </a:r>
            <a:r>
              <a:rPr lang="en-IN" sz="1800" dirty="0"/>
              <a:t> result = 10 / 0; // This will throw </a:t>
            </a:r>
            <a:r>
              <a:rPr lang="en-IN" sz="1800" dirty="0" err="1"/>
              <a:t>ArithmeticException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    } catch (</a:t>
            </a:r>
            <a:r>
              <a:rPr lang="en-IN" sz="1800" dirty="0" err="1"/>
              <a:t>ArithmeticException</a:t>
            </a:r>
            <a:r>
              <a:rPr lang="en-IN" sz="1800" dirty="0"/>
              <a:t> e) {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System.out.println</a:t>
            </a:r>
            <a:r>
              <a:rPr lang="en-IN" sz="1800" dirty="0"/>
              <a:t>("Exception caught: " + </a:t>
            </a:r>
            <a:r>
              <a:rPr lang="en-IN" sz="1800" dirty="0" err="1"/>
              <a:t>e.getMessage</a:t>
            </a:r>
            <a:r>
              <a:rPr lang="en-IN" sz="1800" dirty="0"/>
              <a:t>());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    } finally {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System.out.println</a:t>
            </a:r>
            <a:r>
              <a:rPr lang="en-IN" sz="1800" dirty="0"/>
              <a:t>("Finally block executed - Exception handled case.");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    }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    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("Program continues after try-catch-finally.");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/>
              <a:t>    }</a:t>
            </a: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dirty="0" smtClean="0"/>
              <a:t>}</a:t>
            </a:r>
            <a:endParaRPr lang="en-IN" sz="1800" dirty="0" smtClean="0"/>
          </a:p>
          <a:p>
            <a:pPr marL="0" indent="0">
              <a:spcBef>
                <a:spcPts val="400"/>
              </a:spcBef>
              <a:buNone/>
            </a:pPr>
            <a:endParaRPr lang="en-IN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IN" sz="1800" b="1" dirty="0" smtClean="0"/>
              <a:t>Output:</a:t>
            </a:r>
            <a:endParaRPr lang="en-IN" sz="1800" b="1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 smtClean="0"/>
              <a:t>Exception </a:t>
            </a:r>
            <a:r>
              <a:rPr lang="en-US" sz="1800" dirty="0"/>
              <a:t>caught: / by zero </a:t>
            </a:r>
            <a:endParaRPr lang="en-US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 smtClean="0"/>
              <a:t>Finally </a:t>
            </a:r>
            <a:r>
              <a:rPr lang="en-US" sz="1800" dirty="0"/>
              <a:t>block executed - Exception handled case. </a:t>
            </a:r>
            <a:endParaRPr lang="en-US" sz="1800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 smtClean="0"/>
              <a:t>Program </a:t>
            </a:r>
            <a:r>
              <a:rPr lang="en-US" sz="1800" dirty="0"/>
              <a:t>continues after try-catch-finally</a:t>
            </a:r>
            <a:r>
              <a:rPr lang="en-US" sz="1800" dirty="0" smtClean="0"/>
              <a:t>.</a:t>
            </a:r>
            <a:endParaRPr lang="en-IN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473" y="245053"/>
            <a:ext cx="10515600" cy="50309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2: Exception is Unhandled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545" y="1234498"/>
            <a:ext cx="11298381" cy="546186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FinallyExampleUnhandled</a:t>
            </a:r>
            <a:r>
              <a:rPr lang="en-IN" dirty="0"/>
              <a:t>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try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[] numbers = {1, 2, 3};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(numbers[5]); // This will throw </a:t>
            </a:r>
            <a:r>
              <a:rPr lang="en-IN" dirty="0" err="1"/>
              <a:t>ArrayIndexOutOfBoundsException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} finally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("Finally block executed - Exception unhandled case.");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smtClean="0"/>
              <a:t>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("This line will not execute due to unhandled exception.");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Output:</a:t>
            </a:r>
            <a:endParaRPr lang="en-IN" b="1" dirty="0" smtClean="0"/>
          </a:p>
          <a:p>
            <a:pPr marL="0" indent="0">
              <a:buNone/>
            </a:pPr>
            <a:r>
              <a:rPr lang="en-IN" dirty="0"/>
              <a:t>Finally block executed - Exception unhandled case.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Exception in thread "main" </a:t>
            </a:r>
            <a:r>
              <a:rPr lang="en-IN" dirty="0" err="1"/>
              <a:t>java.lang.ArrayIndexOutOfBoundsException</a:t>
            </a:r>
            <a:r>
              <a:rPr lang="en-IN" dirty="0"/>
              <a:t>: Index 5 out of bounds for length 3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at </a:t>
            </a:r>
            <a:r>
              <a:rPr lang="en-IN" dirty="0" err="1"/>
              <a:t>FinallyExampleUnhandled.main</a:t>
            </a:r>
            <a:r>
              <a:rPr lang="en-IN" dirty="0"/>
              <a:t>(FinallyExampleUnhandled.java:5)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0039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 3: Exception doesn’t occur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182" y="1080654"/>
            <a:ext cx="10799618" cy="5477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FinallyExampleNoException</a:t>
            </a:r>
            <a:r>
              <a:rPr lang="en-IN" dirty="0"/>
              <a:t>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try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result = 10 / 2; // No exception here (10 / 2 is 5)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("Result: " + result);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} finally {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("Finally block executed - No exception occurred.");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}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("Program continues after try-finally.");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Output: </a:t>
            </a:r>
            <a:endParaRPr lang="en-IN" b="1" dirty="0" smtClean="0"/>
          </a:p>
          <a:p>
            <a:pPr marL="0" indent="0">
              <a:buNone/>
            </a:pPr>
            <a:r>
              <a:rPr lang="en-US" dirty="0"/>
              <a:t>Result: 5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Finally block executed - No exception occurred.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Program continues after try-finally.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709" y="277091"/>
            <a:ext cx="11065164" cy="858983"/>
          </a:xfrm>
        </p:spPr>
        <p:txBody>
          <a:bodyPr>
            <a:normAutofit/>
          </a:bodyPr>
          <a:lstStyle/>
          <a:p>
            <a:r>
              <a:rPr lang="en-IN" sz="3600" b="1" dirty="0" smtClean="0"/>
              <a:t>Create your own exception (user-defined exception)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709" y="1450109"/>
            <a:ext cx="11012055" cy="5144655"/>
          </a:xfrm>
        </p:spPr>
        <p:txBody>
          <a:bodyPr>
            <a:noAutofit/>
          </a:bodyPr>
          <a:lstStyle/>
          <a:p>
            <a:r>
              <a:rPr lang="en-US" sz="2400" dirty="0"/>
              <a:t>In Java, you can create your own custom exceptions to handle specific error scenarios that aren’t covered by Java’s built-in exceptions. </a:t>
            </a:r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is useful when you want to provide more meaningful error messages or enforce specific application rules. </a:t>
            </a:r>
            <a:endParaRPr lang="en-US" sz="2400" dirty="0" smtClean="0"/>
          </a:p>
          <a:p>
            <a:r>
              <a:rPr lang="en-US" sz="2400" dirty="0" smtClean="0"/>
              <a:t>Creating </a:t>
            </a:r>
            <a:r>
              <a:rPr lang="en-US" sz="2400" dirty="0"/>
              <a:t>custom exceptions involves </a:t>
            </a:r>
            <a:r>
              <a:rPr lang="en-US" sz="2400" dirty="0" err="1"/>
              <a:t>subclassing</a:t>
            </a:r>
            <a:r>
              <a:rPr lang="en-US" sz="2400" dirty="0"/>
              <a:t> the Exception class (or one of its subclasses) and optionally adding custom fields and </a:t>
            </a:r>
            <a:r>
              <a:rPr lang="en-US" sz="2400" dirty="0" smtClean="0"/>
              <a:t>methods.</a:t>
            </a:r>
            <a:endParaRPr lang="en-US" sz="2400" dirty="0" smtClean="0"/>
          </a:p>
          <a:p>
            <a:r>
              <a:rPr lang="en-US" altLang="en-US" sz="2400" b="1" dirty="0" smtClean="0"/>
              <a:t>Steps </a:t>
            </a:r>
            <a:r>
              <a:rPr lang="en-US" altLang="en-US" sz="2400" b="1" dirty="0"/>
              <a:t>to Create a Custom Exception</a:t>
            </a:r>
            <a:endParaRPr lang="en-US" altLang="en-US" sz="2400" b="1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000" b="1" dirty="0"/>
              <a:t>Define a Class</a:t>
            </a:r>
            <a:r>
              <a:rPr lang="en-US" altLang="en-US" sz="2000" dirty="0"/>
              <a:t>: Define a new class that extends Exception (checked exception) or </a:t>
            </a:r>
            <a:r>
              <a:rPr lang="en-US" altLang="en-US" sz="2000" dirty="0" err="1"/>
              <a:t>RuntimeException</a:t>
            </a:r>
            <a:r>
              <a:rPr lang="en-US" altLang="en-US" sz="2000" dirty="0"/>
              <a:t> (unchecked exception), depending on whether you want your exception to be checked or unchecked.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000" b="1" dirty="0"/>
              <a:t>Constructor(s)</a:t>
            </a:r>
            <a:r>
              <a:rPr lang="en-US" altLang="en-US" sz="2000" dirty="0"/>
              <a:t>: Add constructors to initialize the exception. Commonly, custom exceptions have constructors that accept a message and optionally a cause (another </a:t>
            </a:r>
            <a:r>
              <a:rPr lang="en-US" altLang="en-US" sz="2000" dirty="0" err="1"/>
              <a:t>throwable</a:t>
            </a:r>
            <a:r>
              <a:rPr lang="en-US" altLang="en-US" sz="2000" dirty="0"/>
              <a:t>).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000" b="1" dirty="0"/>
              <a:t>Additional Methods (Optional)</a:t>
            </a:r>
            <a:r>
              <a:rPr lang="en-US" altLang="en-US" sz="2000" dirty="0"/>
              <a:t>: Add any additional methods or fields that might help provide more details about the exception</a:t>
            </a:r>
            <a:r>
              <a:rPr lang="en-US" altLang="en-US" sz="2000" dirty="0" smtClean="0"/>
              <a:t>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680" y="222885"/>
            <a:ext cx="10515600" cy="50309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Example 1: Creating a Custom Checked Exception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440" y="725978"/>
            <a:ext cx="11409680" cy="6132022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</a:pPr>
            <a:r>
              <a:rPr lang="en-US" sz="1800" dirty="0"/>
              <a:t>C</a:t>
            </a:r>
            <a:r>
              <a:rPr lang="en-US" sz="1800" smtClean="0"/>
              <a:t>reate </a:t>
            </a:r>
            <a:r>
              <a:rPr lang="en-US" sz="1800" dirty="0"/>
              <a:t>a custom checked exception called </a:t>
            </a:r>
            <a:r>
              <a:rPr lang="en-US" sz="1800" dirty="0" err="1"/>
              <a:t>InvalidAgeException</a:t>
            </a:r>
            <a:r>
              <a:rPr lang="en-US" sz="1800" dirty="0"/>
              <a:t>, which is thrown when an invalid age is provided (for example, a negative age or an age greater than 150</a:t>
            </a:r>
            <a:r>
              <a:rPr lang="en-US" sz="1800" dirty="0" smtClean="0"/>
              <a:t>).</a:t>
            </a:r>
            <a:endParaRPr lang="en-US" sz="1800" dirty="0" smtClean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class </a:t>
            </a:r>
            <a:r>
              <a:rPr lang="en-IN" sz="1800" dirty="0" err="1"/>
              <a:t>InvalidAgeException</a:t>
            </a:r>
            <a:r>
              <a:rPr lang="en-IN" sz="1800" dirty="0"/>
              <a:t> extends Exception </a:t>
            </a:r>
            <a:r>
              <a:rPr lang="en-IN" sz="1800" dirty="0" smtClean="0"/>
              <a:t>{            // </a:t>
            </a:r>
            <a:r>
              <a:rPr lang="en-IN" sz="1800" dirty="0"/>
              <a:t>Define the custom </a:t>
            </a:r>
            <a:r>
              <a:rPr lang="en-IN" sz="1800" dirty="0" smtClean="0"/>
              <a:t>exception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public </a:t>
            </a:r>
            <a:r>
              <a:rPr lang="en-IN" sz="1800" dirty="0" err="1" smtClean="0"/>
              <a:t>InvalidAgeException</a:t>
            </a:r>
            <a:r>
              <a:rPr lang="en-IN" sz="1800" dirty="0" smtClean="0"/>
              <a:t>(String message) {             // </a:t>
            </a:r>
            <a:r>
              <a:rPr lang="en-IN" sz="1800" dirty="0"/>
              <a:t>Constructor that accepts a custom message</a:t>
            </a:r>
            <a:endParaRPr lang="en-IN" sz="1800" dirty="0" smtClean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        </a:t>
            </a:r>
            <a:r>
              <a:rPr lang="en-IN" sz="1800" dirty="0"/>
              <a:t>super(message);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public </a:t>
            </a:r>
            <a:r>
              <a:rPr lang="en-IN" sz="1800" dirty="0"/>
              <a:t>class </a:t>
            </a:r>
            <a:r>
              <a:rPr lang="en-IN" sz="1800" dirty="0" err="1"/>
              <a:t>CustomExceptionExample</a:t>
            </a:r>
            <a:r>
              <a:rPr lang="en-IN" sz="1800" dirty="0"/>
              <a:t> </a:t>
            </a:r>
            <a:r>
              <a:rPr lang="en-IN" sz="1800" dirty="0" smtClean="0"/>
              <a:t>{                        // </a:t>
            </a:r>
            <a:r>
              <a:rPr lang="en-IN" sz="1800" dirty="0"/>
              <a:t>Using the custom </a:t>
            </a:r>
            <a:r>
              <a:rPr lang="en-IN" sz="1800" dirty="0" smtClean="0"/>
              <a:t>exception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public static void main(String[] </a:t>
            </a:r>
            <a:r>
              <a:rPr lang="en-IN" sz="1800" dirty="0" err="1"/>
              <a:t>args</a:t>
            </a:r>
            <a:r>
              <a:rPr lang="en-IN" sz="1800" dirty="0"/>
              <a:t>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try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validateAge</a:t>
            </a:r>
            <a:r>
              <a:rPr lang="en-IN" sz="1800" dirty="0"/>
              <a:t>(-5); // This will throw </a:t>
            </a:r>
            <a:r>
              <a:rPr lang="en-IN" sz="1800" dirty="0" err="1"/>
              <a:t>InvalidAgeException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} catch (</a:t>
            </a:r>
            <a:r>
              <a:rPr lang="en-IN" sz="1800" dirty="0" err="1"/>
              <a:t>InvalidAgeException</a:t>
            </a:r>
            <a:r>
              <a:rPr lang="en-IN" sz="1800" dirty="0"/>
              <a:t> e)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System.out.println</a:t>
            </a:r>
            <a:r>
              <a:rPr lang="en-IN" sz="1800" dirty="0"/>
              <a:t>("Caught Exception: " + </a:t>
            </a:r>
            <a:r>
              <a:rPr lang="en-IN" sz="1800" dirty="0" err="1"/>
              <a:t>e.getMessage</a:t>
            </a:r>
            <a:r>
              <a:rPr lang="en-IN" sz="1800" dirty="0"/>
              <a:t>());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</a:t>
            </a:r>
            <a:r>
              <a:rPr lang="en-IN" sz="1800" dirty="0" smtClean="0"/>
              <a:t>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public </a:t>
            </a:r>
            <a:r>
              <a:rPr lang="en-IN" sz="1800" dirty="0"/>
              <a:t>static void </a:t>
            </a:r>
            <a:r>
              <a:rPr lang="en-IN" sz="1800" dirty="0" err="1"/>
              <a:t>validateAge</a:t>
            </a:r>
            <a:r>
              <a:rPr lang="en-IN" sz="1800" dirty="0"/>
              <a:t>(</a:t>
            </a:r>
            <a:r>
              <a:rPr lang="en-IN" sz="1800" dirty="0" err="1"/>
              <a:t>int</a:t>
            </a:r>
            <a:r>
              <a:rPr lang="en-IN" sz="1800" dirty="0"/>
              <a:t> age) throws </a:t>
            </a:r>
            <a:r>
              <a:rPr lang="en-IN" sz="1800" dirty="0" err="1"/>
              <a:t>InvalidAgeException</a:t>
            </a:r>
            <a:r>
              <a:rPr lang="en-IN" sz="1800" dirty="0"/>
              <a:t> </a:t>
            </a:r>
            <a:r>
              <a:rPr lang="en-IN" sz="1800" dirty="0" smtClean="0"/>
              <a:t>{                     // </a:t>
            </a:r>
            <a:r>
              <a:rPr lang="en-IN" sz="1800" dirty="0"/>
              <a:t>Method to validate </a:t>
            </a:r>
            <a:r>
              <a:rPr lang="en-IN" sz="1800" dirty="0" smtClean="0"/>
              <a:t>age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if (age &lt; 0 || age &gt; 150)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throw new </a:t>
            </a:r>
            <a:r>
              <a:rPr lang="en-IN" sz="1800" dirty="0" err="1"/>
              <a:t>InvalidAgeException</a:t>
            </a:r>
            <a:r>
              <a:rPr lang="en-IN" sz="1800" dirty="0"/>
              <a:t>("Invalid age: " + age);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("Age is valid: " + age);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}</a:t>
            </a:r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280" y="203201"/>
            <a:ext cx="10515600" cy="57912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Example 2: Creating a Custom Unchecked Exception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239" y="782321"/>
            <a:ext cx="11784215" cy="5882639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</a:pPr>
            <a:r>
              <a:rPr lang="en-US" sz="1800" dirty="0"/>
              <a:t>To create an unchecked exception, extend </a:t>
            </a:r>
            <a:r>
              <a:rPr lang="en-US" sz="1800" dirty="0" err="1"/>
              <a:t>RuntimeException</a:t>
            </a:r>
            <a:r>
              <a:rPr lang="en-US" sz="1800" dirty="0"/>
              <a:t> instead of Exception. This way, the compiler won’t require you to handle or declare the exception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pPr>
              <a:spcBef>
                <a:spcPts val="200"/>
              </a:spcBef>
            </a:pPr>
            <a:endParaRPr lang="en-US" sz="1800" dirty="0" smtClean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class </a:t>
            </a:r>
            <a:r>
              <a:rPr lang="en-IN" sz="1800" dirty="0" err="1"/>
              <a:t>NegativeBalanceException</a:t>
            </a:r>
            <a:r>
              <a:rPr lang="en-IN" sz="1800" dirty="0"/>
              <a:t> extends </a:t>
            </a:r>
            <a:r>
              <a:rPr lang="en-IN" sz="1800" dirty="0" err="1"/>
              <a:t>RuntimeException</a:t>
            </a:r>
            <a:r>
              <a:rPr lang="en-IN" sz="1800" dirty="0"/>
              <a:t> </a:t>
            </a:r>
            <a:r>
              <a:rPr lang="en-IN" sz="1800" dirty="0" smtClean="0"/>
              <a:t>{             // </a:t>
            </a:r>
            <a:r>
              <a:rPr lang="en-IN" sz="1800" dirty="0"/>
              <a:t>Define the custom unchecked </a:t>
            </a:r>
            <a:r>
              <a:rPr lang="en-IN" sz="1800" dirty="0" smtClean="0"/>
              <a:t>exception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public </a:t>
            </a:r>
            <a:r>
              <a:rPr lang="en-IN" sz="1800" dirty="0" err="1"/>
              <a:t>NegativeBalanceException</a:t>
            </a:r>
            <a:r>
              <a:rPr lang="en-IN" sz="1800" dirty="0"/>
              <a:t>(String message)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super(message);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public </a:t>
            </a:r>
            <a:r>
              <a:rPr lang="en-IN" sz="1800" dirty="0"/>
              <a:t>class </a:t>
            </a:r>
            <a:r>
              <a:rPr lang="en-IN" sz="1800" dirty="0" err="1"/>
              <a:t>CustomUncheckedExceptionExample</a:t>
            </a:r>
            <a:r>
              <a:rPr lang="en-IN" sz="1800" dirty="0"/>
              <a:t> </a:t>
            </a:r>
            <a:r>
              <a:rPr lang="en-IN" sz="1800" dirty="0" smtClean="0"/>
              <a:t> {                                // </a:t>
            </a:r>
            <a:r>
              <a:rPr lang="en-IN" sz="1800" dirty="0"/>
              <a:t>Using the custom unchecked </a:t>
            </a:r>
            <a:r>
              <a:rPr lang="en-IN" sz="1800" dirty="0" smtClean="0"/>
              <a:t>exception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public static void main(String[] </a:t>
            </a:r>
            <a:r>
              <a:rPr lang="en-IN" sz="1800" dirty="0" err="1"/>
              <a:t>args</a:t>
            </a:r>
            <a:r>
              <a:rPr lang="en-IN" sz="1800" dirty="0"/>
              <a:t>) </a:t>
            </a:r>
            <a:r>
              <a:rPr lang="en-IN" sz="1800" dirty="0" smtClean="0"/>
              <a:t>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withdraw(100, 150); // This will throw </a:t>
            </a:r>
            <a:r>
              <a:rPr lang="en-IN" sz="1800" dirty="0" err="1"/>
              <a:t>NegativeBalanceException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</a:t>
            </a:r>
            <a:r>
              <a:rPr lang="en-IN" sz="1800" dirty="0" smtClean="0"/>
              <a:t>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 smtClean="0"/>
              <a:t>public </a:t>
            </a:r>
            <a:r>
              <a:rPr lang="en-IN" sz="1800" dirty="0"/>
              <a:t>static void withdraw(</a:t>
            </a:r>
            <a:r>
              <a:rPr lang="en-IN" sz="1800" dirty="0" err="1"/>
              <a:t>int</a:t>
            </a:r>
            <a:r>
              <a:rPr lang="en-IN" sz="1800" dirty="0"/>
              <a:t> balance, </a:t>
            </a:r>
            <a:r>
              <a:rPr lang="en-IN" sz="1800" dirty="0" err="1"/>
              <a:t>int</a:t>
            </a:r>
            <a:r>
              <a:rPr lang="en-IN" sz="1800" dirty="0"/>
              <a:t> amount) </a:t>
            </a:r>
            <a:r>
              <a:rPr lang="en-IN" sz="1800" dirty="0" smtClean="0"/>
              <a:t>{                           // </a:t>
            </a:r>
            <a:r>
              <a:rPr lang="en-IN" sz="1800" dirty="0"/>
              <a:t>Method that checks for a valid balance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if (amount &gt; balance) {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    throw new </a:t>
            </a:r>
            <a:r>
              <a:rPr lang="en-IN" sz="1800" dirty="0" err="1"/>
              <a:t>NegativeBalanceException</a:t>
            </a:r>
            <a:r>
              <a:rPr lang="en-IN" sz="1800" dirty="0"/>
              <a:t>("Insufficient balance for withdrawal: balance is " + balance);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("Withdrawal successful. Remaining balance: " + (balance - amount));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    }</a:t>
            </a:r>
            <a:endParaRPr lang="en-IN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IN" sz="1800" dirty="0"/>
              <a:t>}</a:t>
            </a:r>
            <a:endParaRPr lang="en-IN" sz="1800" dirty="0"/>
          </a:p>
          <a:p>
            <a:pPr>
              <a:spcBef>
                <a:spcPts val="200"/>
              </a:spcBef>
            </a:pPr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Redirecting Exceptions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Java, </a:t>
            </a:r>
            <a:r>
              <a:rPr lang="en-US" b="1" dirty="0"/>
              <a:t>redirecting exceptions</a:t>
            </a:r>
            <a:r>
              <a:rPr lang="en-US" dirty="0"/>
              <a:t> refers to the process of </a:t>
            </a:r>
            <a:r>
              <a:rPr lang="en-US" b="1" dirty="0"/>
              <a:t>catching an exception in one block and then throwing it again (or another exception) to be handled elsewhere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technique is useful when you want to add custom handling, such as logging or wrapping an exception into a more meaningful one, without fully resolving the issue within the current scope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There are two main ways to redirect exceptions in Java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Re-throwing </a:t>
            </a:r>
            <a:r>
              <a:rPr lang="en-US" dirty="0"/>
              <a:t>the Same Exception</a:t>
            </a:r>
            <a:r>
              <a:rPr lang="en-US" dirty="0" smtClean="0"/>
              <a:t>:  Simply </a:t>
            </a:r>
            <a:r>
              <a:rPr lang="en-US" dirty="0"/>
              <a:t>catch the exception and throw it again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Throwing </a:t>
            </a:r>
            <a:r>
              <a:rPr lang="en-US" dirty="0"/>
              <a:t>a Different Exception</a:t>
            </a:r>
            <a:r>
              <a:rPr lang="en-US" dirty="0" smtClean="0"/>
              <a:t>:  Catch </a:t>
            </a:r>
            <a:r>
              <a:rPr lang="en-US" dirty="0"/>
              <a:t>one exception and throw a different exception, optionally including the original exception as the cause.</a:t>
            </a:r>
            <a:endParaRPr lang="en-US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82" y="143453"/>
            <a:ext cx="10515600" cy="678584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1: Re-throwing the Same Exception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327" y="822037"/>
            <a:ext cx="11159836" cy="5814290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import </a:t>
            </a:r>
            <a:r>
              <a:rPr lang="en-IN" sz="2000" dirty="0" err="1"/>
              <a:t>java.io.FileReader</a:t>
            </a:r>
            <a:r>
              <a:rPr lang="en-IN" sz="2000" dirty="0"/>
              <a:t>;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import </a:t>
            </a:r>
            <a:r>
              <a:rPr lang="en-IN" sz="2000" dirty="0" err="1"/>
              <a:t>java.io.IOException</a:t>
            </a:r>
            <a:r>
              <a:rPr lang="en-IN" sz="2000" dirty="0" smtClean="0"/>
              <a:t>;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public class </a:t>
            </a:r>
            <a:r>
              <a:rPr lang="en-IN" sz="2000" dirty="0" err="1"/>
              <a:t>ReThrowExample</a:t>
            </a:r>
            <a:r>
              <a:rPr lang="en-IN" sz="2000" dirty="0"/>
              <a:t>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public static void main(String[] </a:t>
            </a:r>
            <a:r>
              <a:rPr lang="en-IN" sz="2000" dirty="0" err="1"/>
              <a:t>args</a:t>
            </a:r>
            <a:r>
              <a:rPr lang="en-IN" sz="2000" dirty="0"/>
              <a:t>)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try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readFile</a:t>
            </a:r>
            <a:r>
              <a:rPr lang="en-IN" sz="2000" dirty="0"/>
              <a:t>();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} catch (</a:t>
            </a:r>
            <a:r>
              <a:rPr lang="en-IN" sz="2000" dirty="0" err="1"/>
              <a:t>IOException</a:t>
            </a:r>
            <a:r>
              <a:rPr lang="en-IN" sz="2000" dirty="0"/>
              <a:t> e)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System.out.println</a:t>
            </a:r>
            <a:r>
              <a:rPr lang="en-IN" sz="2000" dirty="0"/>
              <a:t>("Exception caught in main: " + </a:t>
            </a:r>
            <a:r>
              <a:rPr lang="en-IN" sz="2000" dirty="0" err="1"/>
              <a:t>e.getMessage</a:t>
            </a:r>
            <a:r>
              <a:rPr lang="en-IN" sz="2000" dirty="0"/>
              <a:t>());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}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</a:t>
            </a:r>
            <a:r>
              <a:rPr lang="en-IN" sz="2000" dirty="0" smtClean="0"/>
              <a:t>}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public static void </a:t>
            </a:r>
            <a:r>
              <a:rPr lang="en-IN" sz="2000" dirty="0" err="1"/>
              <a:t>readFile</a:t>
            </a:r>
            <a:r>
              <a:rPr lang="en-IN" sz="2000" dirty="0"/>
              <a:t>() throws </a:t>
            </a:r>
            <a:r>
              <a:rPr lang="en-IN" sz="2000" dirty="0" err="1"/>
              <a:t>IOException</a:t>
            </a:r>
            <a:r>
              <a:rPr lang="en-IN" sz="2000" dirty="0"/>
              <a:t>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try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FileReader</a:t>
            </a:r>
            <a:r>
              <a:rPr lang="en-IN" sz="2000" dirty="0"/>
              <a:t> reader = new </a:t>
            </a:r>
            <a:r>
              <a:rPr lang="en-IN" sz="2000" dirty="0" err="1"/>
              <a:t>FileReader</a:t>
            </a:r>
            <a:r>
              <a:rPr lang="en-IN" sz="2000" dirty="0"/>
              <a:t>("non_existent_file.txt");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} catch (</a:t>
            </a:r>
            <a:r>
              <a:rPr lang="en-IN" sz="2000" dirty="0" err="1"/>
              <a:t>IOException</a:t>
            </a:r>
            <a:r>
              <a:rPr lang="en-IN" sz="2000" dirty="0"/>
              <a:t> e)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System.out.println</a:t>
            </a:r>
            <a:r>
              <a:rPr lang="en-IN" sz="2000" dirty="0"/>
              <a:t>("Logging exception: " + </a:t>
            </a:r>
            <a:r>
              <a:rPr lang="en-IN" sz="2000" dirty="0" err="1"/>
              <a:t>e.getMessage</a:t>
            </a:r>
            <a:r>
              <a:rPr lang="en-IN" sz="2000" dirty="0"/>
              <a:t>());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    throw e; // Re-throwing the same exception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}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}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}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382" y="143453"/>
            <a:ext cx="10515600" cy="678584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</a:t>
            </a:r>
            <a:r>
              <a:rPr lang="en-IN" dirty="0" smtClean="0"/>
              <a:t>2: Redirecting the runtime Exception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218" y="822037"/>
            <a:ext cx="11159836" cy="5814290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public class </a:t>
            </a:r>
            <a:r>
              <a:rPr lang="en-IN" sz="2000" dirty="0" err="1"/>
              <a:t>RuntimeExceptionRedirect</a:t>
            </a:r>
            <a:r>
              <a:rPr lang="en-IN" sz="2000" dirty="0"/>
              <a:t>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public static void main(String[] </a:t>
            </a:r>
            <a:r>
              <a:rPr lang="en-IN" sz="2000" dirty="0" err="1"/>
              <a:t>args</a:t>
            </a:r>
            <a:r>
              <a:rPr lang="en-IN" sz="2000" dirty="0"/>
              <a:t>)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try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    calculate();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} catch (</a:t>
            </a:r>
            <a:r>
              <a:rPr lang="en-IN" sz="2000" dirty="0" err="1"/>
              <a:t>ArithmeticException</a:t>
            </a:r>
            <a:r>
              <a:rPr lang="en-IN" sz="2000" dirty="0"/>
              <a:t> e)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System.out.println</a:t>
            </a:r>
            <a:r>
              <a:rPr lang="en-IN" sz="2000" dirty="0"/>
              <a:t>("Caught exception in main: " + </a:t>
            </a:r>
            <a:r>
              <a:rPr lang="en-IN" sz="2000" dirty="0" err="1"/>
              <a:t>e.getMessage</a:t>
            </a:r>
            <a:r>
              <a:rPr lang="en-IN" sz="2000" dirty="0"/>
              <a:t>());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}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</a:t>
            </a:r>
            <a:r>
              <a:rPr lang="en-IN" sz="2000" dirty="0" smtClean="0"/>
              <a:t>}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public static void calculate()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try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int</a:t>
            </a:r>
            <a:r>
              <a:rPr lang="en-IN" sz="2000" dirty="0"/>
              <a:t> result = 10 / 0; // This will cause </a:t>
            </a:r>
            <a:r>
              <a:rPr lang="en-IN" sz="2000" dirty="0" err="1"/>
              <a:t>ArithmeticException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} catch (</a:t>
            </a:r>
            <a:r>
              <a:rPr lang="en-IN" sz="2000" dirty="0" err="1"/>
              <a:t>ArithmeticException</a:t>
            </a:r>
            <a:r>
              <a:rPr lang="en-IN" sz="2000" dirty="0"/>
              <a:t> e) {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System.out.println</a:t>
            </a:r>
            <a:r>
              <a:rPr lang="en-IN" sz="2000" dirty="0"/>
              <a:t>("</a:t>
            </a:r>
            <a:r>
              <a:rPr lang="en-IN" sz="2000" dirty="0" err="1"/>
              <a:t>ArithmeticException</a:t>
            </a:r>
            <a:r>
              <a:rPr lang="en-IN" sz="2000" dirty="0"/>
              <a:t> caught, re-throwing...");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    throw e; // Re-throwing the same exception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    }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    }</a:t>
            </a:r>
            <a:endParaRPr lang="en-I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IN" sz="2000" dirty="0"/>
              <a:t>}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927" y="272761"/>
            <a:ext cx="10901218" cy="503093"/>
          </a:xfrm>
        </p:spPr>
        <p:txBody>
          <a:bodyPr>
            <a:normAutofit fontScale="90000"/>
          </a:bodyPr>
          <a:lstStyle/>
          <a:p>
            <a:r>
              <a:rPr lang="en-IN" sz="3600" dirty="0" smtClean="0"/>
              <a:t>Example 3: </a:t>
            </a:r>
            <a:r>
              <a:rPr lang="en-US" sz="3600" dirty="0"/>
              <a:t>Wrapping and Throwing a Different Exception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927" y="857394"/>
            <a:ext cx="10515600" cy="777442"/>
          </a:xfrm>
        </p:spPr>
        <p:txBody>
          <a:bodyPr>
            <a:normAutofit/>
          </a:bodyPr>
          <a:lstStyle/>
          <a:p>
            <a:r>
              <a:rPr lang="en-US" sz="2400" dirty="0"/>
              <a:t>You can catch one type of exception and wrap it in a custom exception to provide more context.</a:t>
            </a:r>
            <a:endParaRPr lang="en-IN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2435" y="1542472"/>
          <a:ext cx="11877964" cy="5577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982"/>
                <a:gridCol w="5938982"/>
              </a:tblGrid>
              <a:tr h="5324764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class </a:t>
                      </a:r>
                      <a:r>
                        <a:rPr lang="en-IN" sz="2000" dirty="0" err="1" smtClean="0"/>
                        <a:t>CustomException</a:t>
                      </a:r>
                      <a:r>
                        <a:rPr lang="en-IN" sz="2000" dirty="0" smtClean="0"/>
                        <a:t> extends Exception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public </a:t>
                      </a:r>
                      <a:r>
                        <a:rPr lang="en-IN" sz="2000" dirty="0" err="1" smtClean="0"/>
                        <a:t>CustomException</a:t>
                      </a:r>
                      <a:r>
                        <a:rPr lang="en-IN" sz="2000" dirty="0" smtClean="0"/>
                        <a:t>(String message, </a:t>
                      </a:r>
                      <a:r>
                        <a:rPr lang="en-IN" sz="2000" dirty="0" err="1" smtClean="0"/>
                        <a:t>Throwable</a:t>
                      </a:r>
                      <a:r>
                        <a:rPr lang="en-IN" sz="2000" dirty="0" smtClean="0"/>
                        <a:t> cause)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super(message, cause);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}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}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public class </a:t>
                      </a:r>
                      <a:r>
                        <a:rPr lang="en-IN" sz="2000" dirty="0" err="1" smtClean="0"/>
                        <a:t>WrapExceptionExample</a:t>
                      </a:r>
                      <a:r>
                        <a:rPr lang="en-IN" sz="2000" dirty="0" smtClean="0"/>
                        <a:t>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public static void main(String[] </a:t>
                      </a:r>
                      <a:r>
                        <a:rPr lang="en-IN" sz="2000" dirty="0" err="1" smtClean="0"/>
                        <a:t>args</a:t>
                      </a:r>
                      <a:r>
                        <a:rPr lang="en-IN" sz="2000" dirty="0" smtClean="0"/>
                        <a:t>)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try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processFile</a:t>
                      </a:r>
                      <a:r>
                        <a:rPr lang="en-IN" sz="2000" dirty="0" smtClean="0"/>
                        <a:t>();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} catch (</a:t>
                      </a:r>
                      <a:r>
                        <a:rPr lang="en-IN" sz="2000" dirty="0" err="1" smtClean="0"/>
                        <a:t>CustomException</a:t>
                      </a:r>
                      <a:r>
                        <a:rPr lang="en-IN" sz="2000" dirty="0" smtClean="0"/>
                        <a:t> e)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("Caught </a:t>
                      </a:r>
                      <a:r>
                        <a:rPr lang="en-IN" sz="2000" dirty="0" err="1" smtClean="0"/>
                        <a:t>CustomException</a:t>
                      </a:r>
                      <a:r>
                        <a:rPr lang="en-IN" sz="2000" dirty="0" smtClean="0"/>
                        <a:t>: " + </a:t>
                      </a:r>
                      <a:r>
                        <a:rPr lang="en-IN" sz="2000" dirty="0" err="1" smtClean="0"/>
                        <a:t>e.getMessage</a:t>
                      </a:r>
                      <a:r>
                        <a:rPr lang="en-IN" sz="2000" dirty="0" smtClean="0"/>
                        <a:t>());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System.out.println</a:t>
                      </a:r>
                      <a:r>
                        <a:rPr lang="en-IN" sz="2000" dirty="0" smtClean="0"/>
                        <a:t>("Original cause: " + </a:t>
                      </a:r>
                      <a:r>
                        <a:rPr lang="en-IN" sz="2000" dirty="0" err="1" smtClean="0"/>
                        <a:t>e.getCause</a:t>
                      </a:r>
                      <a:r>
                        <a:rPr lang="en-IN" sz="2000" dirty="0" smtClean="0"/>
                        <a:t>());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}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}</a:t>
                      </a:r>
                      <a:endParaRPr lang="en-IN" sz="2000" dirty="0" smtClean="0"/>
                    </a:p>
                    <a:p>
                      <a:endParaRPr lang="en-IN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 public static void </a:t>
                      </a:r>
                      <a:r>
                        <a:rPr lang="en-IN" sz="2000" dirty="0" err="1" smtClean="0"/>
                        <a:t>processFile</a:t>
                      </a:r>
                      <a:r>
                        <a:rPr lang="en-IN" sz="2000" dirty="0" smtClean="0"/>
                        <a:t>() throws </a:t>
                      </a:r>
                      <a:r>
                        <a:rPr lang="en-IN" sz="2000" dirty="0" err="1" smtClean="0"/>
                        <a:t>CustomException</a:t>
                      </a:r>
                      <a:r>
                        <a:rPr lang="en-IN" sz="2000" dirty="0" smtClean="0"/>
                        <a:t>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try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</a:t>
                      </a:r>
                      <a:r>
                        <a:rPr lang="en-IN" sz="2000" dirty="0" err="1" smtClean="0"/>
                        <a:t>FileReader</a:t>
                      </a:r>
                      <a:r>
                        <a:rPr lang="en-IN" sz="2000" dirty="0" smtClean="0"/>
                        <a:t> reader = new </a:t>
                      </a:r>
                      <a:r>
                        <a:rPr lang="en-IN" sz="2000" dirty="0" err="1" smtClean="0"/>
                        <a:t>FileReader</a:t>
                      </a:r>
                      <a:r>
                        <a:rPr lang="en-IN" sz="2000" dirty="0" smtClean="0"/>
                        <a:t>("non_existent_file.txt");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} catch (</a:t>
                      </a:r>
                      <a:r>
                        <a:rPr lang="en-IN" sz="2000" dirty="0" err="1" smtClean="0"/>
                        <a:t>IOException</a:t>
                      </a:r>
                      <a:r>
                        <a:rPr lang="en-IN" sz="2000" dirty="0" smtClean="0"/>
                        <a:t> e) {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    throw new </a:t>
                      </a:r>
                      <a:r>
                        <a:rPr lang="en-IN" sz="2000" dirty="0" err="1" smtClean="0"/>
                        <a:t>CustomException</a:t>
                      </a:r>
                      <a:r>
                        <a:rPr lang="en-IN" sz="2000" dirty="0" smtClean="0"/>
                        <a:t>("File processing failed", e); // Wrap the </a:t>
                      </a:r>
                      <a:r>
                        <a:rPr lang="en-IN" sz="2000" dirty="0" err="1" smtClean="0"/>
                        <a:t>IOException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    }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    }</a:t>
                      </a:r>
                      <a:endParaRPr lang="en-IN" sz="2000" dirty="0" smtClean="0"/>
                    </a:p>
                    <a:p>
                      <a:r>
                        <a:rPr lang="en-IN" sz="2000" dirty="0" smtClean="0"/>
                        <a:t>}</a:t>
                      </a:r>
                      <a:endParaRPr lang="en-IN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rethrow</a:t>
            </a:r>
            <a:r>
              <a:rPr lang="en-IN" b="1" dirty="0"/>
              <a:t> an </a:t>
            </a:r>
            <a:r>
              <a:rPr lang="en-IN" b="1" dirty="0" smtClean="0"/>
              <a:t>exception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If a catch block cannot handle the particular exception it has caught, we can </a:t>
            </a:r>
            <a:r>
              <a:rPr lang="en-US" dirty="0" err="1"/>
              <a:t>rethrow</a:t>
            </a:r>
            <a:r>
              <a:rPr lang="en-US" dirty="0"/>
              <a:t> the exception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/>
              <a:t>The </a:t>
            </a:r>
            <a:r>
              <a:rPr lang="en-US" dirty="0" err="1"/>
              <a:t>rethrow</a:t>
            </a:r>
            <a:r>
              <a:rPr lang="en-US" dirty="0"/>
              <a:t> expression causes the </a:t>
            </a:r>
            <a:r>
              <a:rPr lang="en-US" b="1" dirty="0"/>
              <a:t>originally thrown object to be </a:t>
            </a:r>
            <a:r>
              <a:rPr lang="en-US" b="1" dirty="0" err="1"/>
              <a:t>rethrown</a:t>
            </a:r>
            <a:r>
              <a:rPr lang="en-US" b="1" dirty="0" smtClean="0"/>
              <a:t>.</a:t>
            </a:r>
            <a:endParaRPr lang="en-US" b="1" dirty="0" smtClean="0"/>
          </a:p>
          <a:p>
            <a:r>
              <a:rPr lang="en-US" dirty="0"/>
              <a:t>You might do this when:</a:t>
            </a:r>
            <a:endParaRPr lang="en-US" dirty="0"/>
          </a:p>
          <a:p>
            <a:pPr lvl="1"/>
            <a:r>
              <a:rPr lang="en-US" dirty="0"/>
              <a:t>You need to perform some cleanup or logging before passing the exception.</a:t>
            </a:r>
            <a:endParaRPr lang="en-US" dirty="0"/>
          </a:p>
          <a:p>
            <a:pPr lvl="1"/>
            <a:r>
              <a:rPr lang="en-US" dirty="0"/>
              <a:t>You want the exception to propagate up the call stack for handling at a higher level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290" y="217344"/>
            <a:ext cx="10515600" cy="3460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289" y="766618"/>
            <a:ext cx="11298383" cy="5846618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IN" dirty="0"/>
              <a:t>class </a:t>
            </a:r>
            <a:r>
              <a:rPr lang="en-IN" dirty="0" err="1"/>
              <a:t>RethrowExample</a:t>
            </a:r>
            <a:r>
              <a:rPr lang="en-IN" dirty="0"/>
              <a:t>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public static void </a:t>
            </a:r>
            <a:r>
              <a:rPr lang="en-IN" dirty="0" err="1"/>
              <a:t>processData</a:t>
            </a:r>
            <a:r>
              <a:rPr lang="en-IN" dirty="0"/>
              <a:t>() throws Exception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try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    // Simulate an error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    throw new </a:t>
            </a:r>
            <a:r>
              <a:rPr lang="en-IN" dirty="0" err="1"/>
              <a:t>ArithmeticException</a:t>
            </a:r>
            <a:r>
              <a:rPr lang="en-IN" dirty="0"/>
              <a:t>("Division by zero");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} catch (</a:t>
            </a:r>
            <a:r>
              <a:rPr lang="en-IN" dirty="0" err="1"/>
              <a:t>ArithmeticException</a:t>
            </a:r>
            <a:r>
              <a:rPr lang="en-IN" dirty="0"/>
              <a:t> e)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    // Log or perform some </a:t>
            </a:r>
            <a:r>
              <a:rPr lang="en-IN" dirty="0" err="1"/>
              <a:t>cleanup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("Logging exception: " + </a:t>
            </a:r>
            <a:r>
              <a:rPr lang="en-IN" dirty="0" err="1"/>
              <a:t>e.getMessage</a:t>
            </a:r>
            <a:r>
              <a:rPr lang="en-IN" dirty="0"/>
              <a:t>());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    // </a:t>
            </a:r>
            <a:r>
              <a:rPr lang="en-IN" dirty="0" err="1"/>
              <a:t>Rethrow</a:t>
            </a:r>
            <a:r>
              <a:rPr lang="en-IN" dirty="0"/>
              <a:t> the same exception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    throw e;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}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 smtClean="0"/>
              <a:t>}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public class Main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try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    </a:t>
            </a:r>
            <a:r>
              <a:rPr lang="en-IN" dirty="0" err="1"/>
              <a:t>RethrowExample.processData</a:t>
            </a:r>
            <a:r>
              <a:rPr lang="en-IN" dirty="0"/>
              <a:t>();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} catch (Exception e) {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("Exception caught in main: " + </a:t>
            </a:r>
            <a:r>
              <a:rPr lang="en-IN" dirty="0" err="1"/>
              <a:t>e.getMessage</a:t>
            </a:r>
            <a:r>
              <a:rPr lang="en-IN" dirty="0"/>
              <a:t>());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    }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    }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r>
              <a:rPr lang="en-IN" dirty="0"/>
              <a:t>}</a:t>
            </a:r>
            <a:endParaRPr lang="en-IN" dirty="0"/>
          </a:p>
          <a:p>
            <a:pPr marL="0" indent="0">
              <a:spcBef>
                <a:spcPts val="300"/>
              </a:spcBef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818" y="318943"/>
            <a:ext cx="10515600" cy="36454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Java Build-in exception classes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9672" y="1018602"/>
            <a:ext cx="6262254" cy="4889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364" y="6022109"/>
            <a:ext cx="7934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Java’s Unchecked </a:t>
            </a:r>
            <a:r>
              <a:rPr lang="en-US" b="1" dirty="0" err="1"/>
              <a:t>RuntimeException</a:t>
            </a:r>
            <a:r>
              <a:rPr lang="en-US" b="1" dirty="0"/>
              <a:t> </a:t>
            </a:r>
            <a:r>
              <a:rPr lang="en-US" dirty="0"/>
              <a:t>Subclasses Defined </a:t>
            </a:r>
            <a:r>
              <a:rPr lang="en-US" dirty="0" smtClean="0"/>
              <a:t>in </a:t>
            </a:r>
            <a:r>
              <a:rPr lang="en-IN" b="1" dirty="0" err="1" smtClean="0"/>
              <a:t>java.lang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818" y="318943"/>
            <a:ext cx="10515600" cy="36454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Java Build-in exception classes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28073" y="5190836"/>
            <a:ext cx="7934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Java’s Checked Exceptions Defined in </a:t>
            </a:r>
            <a:r>
              <a:rPr lang="en-US" b="1" dirty="0" err="1"/>
              <a:t>java.lang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0582" y="1346038"/>
            <a:ext cx="6881091" cy="34383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25637</Words>
  <Application>WPS Presentation</Application>
  <PresentationFormat>Widescreen</PresentationFormat>
  <Paragraphs>679</Paragraphs>
  <Slides>46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0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LiberationSerif</vt:lpstr>
      <vt:lpstr>Thonburi</vt:lpstr>
      <vt:lpstr>LiberationMono</vt:lpstr>
      <vt:lpstr>宋体-简</vt:lpstr>
      <vt:lpstr>Office Theme</vt:lpstr>
      <vt:lpstr>Exception handling</vt:lpstr>
      <vt:lpstr>What is exception?</vt:lpstr>
      <vt:lpstr>Exception example</vt:lpstr>
      <vt:lpstr>Exception handling using try-catch</vt:lpstr>
      <vt:lpstr>Major reasons why an exception Occurs</vt:lpstr>
      <vt:lpstr>Exception-Handling Fundamentals</vt:lpstr>
      <vt:lpstr>Exception-Handling Fundamentals</vt:lpstr>
      <vt:lpstr>Exception Hierarchy</vt:lpstr>
      <vt:lpstr>PowerPoint 演示文稿</vt:lpstr>
      <vt:lpstr>Types of exception</vt:lpstr>
      <vt:lpstr>Example (checked exception)</vt:lpstr>
      <vt:lpstr>Unchecked exception</vt:lpstr>
      <vt:lpstr>Example (unchecked exception)</vt:lpstr>
      <vt:lpstr>Error</vt:lpstr>
      <vt:lpstr>Example (Error)</vt:lpstr>
      <vt:lpstr>Null pointer exception</vt:lpstr>
      <vt:lpstr>Multiple catch Blocks</vt:lpstr>
      <vt:lpstr>Example of unreachable cache block</vt:lpstr>
      <vt:lpstr>Displaying a Description of an Exception</vt:lpstr>
      <vt:lpstr>How Does JVM Handle an Exception?</vt:lpstr>
      <vt:lpstr>PowerPoint 演示文稿</vt:lpstr>
      <vt:lpstr>PowerPoint 演示文稿</vt:lpstr>
      <vt:lpstr>PowerPoint 演示文稿</vt:lpstr>
      <vt:lpstr>PowerPoint 演示文稿</vt:lpstr>
      <vt:lpstr>Nested try block</vt:lpstr>
      <vt:lpstr>throw</vt:lpstr>
      <vt:lpstr>Example (throw)</vt:lpstr>
      <vt:lpstr>Example (throw): custom validation  </vt:lpstr>
      <vt:lpstr>throws</vt:lpstr>
      <vt:lpstr>PowerPoint 演示文稿</vt:lpstr>
      <vt:lpstr>PowerPoint 演示文稿</vt:lpstr>
      <vt:lpstr>finally</vt:lpstr>
      <vt:lpstr>Example 1: Exception is Handled</vt:lpstr>
      <vt:lpstr>Example 2: Exception is Unhandled</vt:lpstr>
      <vt:lpstr>Example 3: Exception doesn’t occur</vt:lpstr>
      <vt:lpstr>Create your own exception (user-defined exception)</vt:lpstr>
      <vt:lpstr>Example 1: Creating a Custom Checked Exception</vt:lpstr>
      <vt:lpstr>Example 2: Creating a Custom Unchecked Exception</vt:lpstr>
      <vt:lpstr>Redirecting Exceptions</vt:lpstr>
      <vt:lpstr>Example 1: Re-throwing the Same Exception</vt:lpstr>
      <vt:lpstr>Example 2: Redirecting the runtime Exception</vt:lpstr>
      <vt:lpstr>Example 3: Wrapping and Throwing a Different Exception</vt:lpstr>
      <vt:lpstr>rethrow an exception</vt:lpstr>
      <vt:lpstr>Example</vt:lpstr>
      <vt:lpstr>Java Build-in exception classes</vt:lpstr>
      <vt:lpstr>Java Build-in exception classes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</dc:title>
  <dc:creator>krishan</dc:creator>
  <cp:lastModifiedBy>testing arena</cp:lastModifiedBy>
  <cp:revision>239</cp:revision>
  <dcterms:created xsi:type="dcterms:W3CDTF">2024-12-05T20:31:53Z</dcterms:created>
  <dcterms:modified xsi:type="dcterms:W3CDTF">2024-12-05T20:31:53Z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9939BFBB31426B6CB90D526778CFEB8E_42</vt:lpwstr>
  </property>
  <property fmtid="{D5CDD505-2E9C-101B-9397-08002B2CF9AE}" pid="3" name="KSOProductBuildVer">
    <vt:lpwstr>1033-6.10.2.8397</vt:lpwstr>
  </property>
</Properties>
</file>