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95" r:id="rId8"/>
    <p:sldId id="297" r:id="rId9"/>
    <p:sldId id="260" r:id="rId10"/>
    <p:sldId id="263" r:id="rId11"/>
    <p:sldId id="264" r:id="rId12"/>
    <p:sldId id="265" r:id="rId13"/>
    <p:sldId id="266" r:id="rId14"/>
    <p:sldId id="267" r:id="rId15"/>
    <p:sldId id="268" r:id="rId16"/>
    <p:sldId id="261" r:id="rId17"/>
    <p:sldId id="270" r:id="rId18"/>
    <p:sldId id="273" r:id="rId19"/>
    <p:sldId id="274" r:id="rId20"/>
    <p:sldId id="271" r:id="rId21"/>
    <p:sldId id="275" r:id="rId22"/>
    <p:sldId id="277" r:id="rId23"/>
    <p:sldId id="298" r:id="rId24"/>
    <p:sldId id="276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8" r:id="rId35"/>
    <p:sldId id="289" r:id="rId36"/>
    <p:sldId id="287" r:id="rId37"/>
    <p:sldId id="290" r:id="rId38"/>
    <p:sldId id="291" r:id="rId39"/>
    <p:sldId id="292" r:id="rId40"/>
    <p:sldId id="293" r:id="rId41"/>
    <p:sldId id="29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3DEE8-ABF7-43F1-A9FA-544D37B93E9B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8553F-9F1F-4166-894E-6FDB46E0476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8553F-9F1F-4166-894E-6FDB46E04765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5A5B2-8684-4FB7-908D-2EF97E42BE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585FA-1FAB-49D1-ACA2-393C0D66F85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File Handling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computer file is </a:t>
            </a:r>
            <a:r>
              <a:rPr lang="en-US" b="1" dirty="0"/>
              <a:t>a resource for recording data on a computer storage </a:t>
            </a:r>
            <a:r>
              <a:rPr lang="en-US" b="1" dirty="0" smtClean="0"/>
              <a:t>device.</a:t>
            </a:r>
            <a:endParaRPr lang="en-US" b="1" dirty="0" smtClean="0"/>
          </a:p>
          <a:p>
            <a:r>
              <a:rPr lang="en-US" dirty="0"/>
              <a:t>In Java, with the help of </a:t>
            </a:r>
            <a:r>
              <a:rPr lang="en-US" b="1" dirty="0"/>
              <a:t>File</a:t>
            </a:r>
            <a:r>
              <a:rPr lang="en-US" dirty="0"/>
              <a:t> Class, we can work with files.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File </a:t>
            </a:r>
            <a:r>
              <a:rPr lang="en-US" dirty="0" smtClean="0"/>
              <a:t>Class is inside the java.io package. </a:t>
            </a:r>
            <a:endParaRPr lang="en-US" dirty="0" smtClean="0"/>
          </a:p>
          <a:p>
            <a:pPr fontAlgn="base"/>
            <a:r>
              <a:rPr lang="en-US" b="1" dirty="0"/>
              <a:t>Why File Handling is Required?</a:t>
            </a:r>
            <a:endParaRPr lang="en-US" dirty="0"/>
          </a:p>
          <a:p>
            <a:pPr lvl="1" fontAlgn="base"/>
            <a:r>
              <a:rPr lang="en-US" dirty="0"/>
              <a:t>File Handling is an integral part of any programming language as file handling enables us to store the output of any particular program in a file and allows us to perform certain operations on it.</a:t>
            </a:r>
            <a:endParaRPr lang="en-US" dirty="0"/>
          </a:p>
          <a:p>
            <a:pPr lvl="1" fontAlgn="base"/>
            <a:r>
              <a:rPr lang="en-US" dirty="0"/>
              <a:t>In simple words, file handling means reading and writing data to a file.</a:t>
            </a:r>
            <a:endParaRPr lang="en-US" dirty="0"/>
          </a:p>
          <a:p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46" y="235816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Create a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3709"/>
            <a:ext cx="10515600" cy="5133254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import </a:t>
            </a:r>
            <a:r>
              <a:rPr lang="en-IN" sz="1800" dirty="0" err="1" smtClean="0"/>
              <a:t>java.io.File</a:t>
            </a:r>
            <a:r>
              <a:rPr lang="en-IN" sz="1800" dirty="0" smtClean="0"/>
              <a:t>;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import </a:t>
            </a:r>
            <a:r>
              <a:rPr lang="en-IN" sz="1800" dirty="0" err="1" smtClean="0"/>
              <a:t>java.io.IOException</a:t>
            </a:r>
            <a:r>
              <a:rPr lang="en-IN" sz="1800" dirty="0" smtClean="0"/>
              <a:t>;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public class </a:t>
            </a:r>
            <a:r>
              <a:rPr lang="en-IN" sz="1800" dirty="0" err="1" smtClean="0"/>
              <a:t>CreateFileExample</a:t>
            </a:r>
            <a:r>
              <a:rPr lang="en-IN" sz="1800" dirty="0" smtClean="0"/>
              <a:t> {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public static void main(String[] </a:t>
            </a:r>
            <a:r>
              <a:rPr lang="en-IN" sz="1800" dirty="0" err="1" smtClean="0"/>
              <a:t>args</a:t>
            </a:r>
            <a:r>
              <a:rPr lang="en-IN" sz="1800" dirty="0" smtClean="0"/>
              <a:t>) {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    File </a:t>
            </a:r>
            <a:r>
              <a:rPr lang="en-IN" sz="1800" dirty="0" err="1" smtClean="0"/>
              <a:t>file</a:t>
            </a:r>
            <a:r>
              <a:rPr lang="en-IN" sz="1800" dirty="0" smtClean="0"/>
              <a:t> = new File("example.txt");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    try {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if (</a:t>
            </a:r>
            <a:r>
              <a:rPr lang="en-IN" sz="1800" dirty="0" err="1" smtClean="0"/>
              <a:t>file.createNewFile</a:t>
            </a:r>
            <a:r>
              <a:rPr lang="en-IN" sz="1800" dirty="0" smtClean="0"/>
              <a:t>()) {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            </a:t>
            </a:r>
            <a:r>
              <a:rPr lang="en-IN" sz="1800" dirty="0" err="1" smtClean="0"/>
              <a:t>System.out.println</a:t>
            </a:r>
            <a:r>
              <a:rPr lang="en-IN" sz="1800" dirty="0" smtClean="0"/>
              <a:t>("File created: " + </a:t>
            </a:r>
            <a:r>
              <a:rPr lang="en-IN" sz="1800" dirty="0" err="1" smtClean="0"/>
              <a:t>file.getName</a:t>
            </a:r>
            <a:r>
              <a:rPr lang="en-IN" sz="1800" dirty="0" smtClean="0"/>
              <a:t>());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        } else {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            </a:t>
            </a:r>
            <a:r>
              <a:rPr lang="en-IN" sz="1800" dirty="0" err="1" smtClean="0"/>
              <a:t>System.out.println</a:t>
            </a:r>
            <a:r>
              <a:rPr lang="en-IN" sz="1800" dirty="0" smtClean="0"/>
              <a:t>("File already exists.");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        }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    } catch (</a:t>
            </a:r>
            <a:r>
              <a:rPr lang="en-IN" sz="1800" dirty="0" err="1" smtClean="0"/>
              <a:t>IOException</a:t>
            </a:r>
            <a:r>
              <a:rPr lang="en-IN" sz="1800" dirty="0" smtClean="0"/>
              <a:t> e) {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        </a:t>
            </a:r>
            <a:r>
              <a:rPr lang="en-IN" sz="1800" dirty="0" err="1" smtClean="0"/>
              <a:t>System.out.println</a:t>
            </a:r>
            <a:r>
              <a:rPr lang="en-IN" sz="1800" dirty="0" smtClean="0"/>
              <a:t>("An error occurred.");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        </a:t>
            </a:r>
            <a:r>
              <a:rPr lang="en-IN" sz="1800" dirty="0" err="1" smtClean="0"/>
              <a:t>e.printStackTrace</a:t>
            </a:r>
            <a:r>
              <a:rPr lang="en-IN" sz="1800" dirty="0" smtClean="0"/>
              <a:t>();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    }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    }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}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File class methods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914401" y="1034469"/>
          <a:ext cx="9374909" cy="5600100"/>
        </p:xfrm>
        <a:graphic>
          <a:graphicData uri="http://schemas.openxmlformats.org/drawingml/2006/table">
            <a:tbl>
              <a:tblPr/>
              <a:tblGrid>
                <a:gridCol w="2161308"/>
                <a:gridCol w="1588529"/>
                <a:gridCol w="5625072"/>
              </a:tblGrid>
              <a:tr h="33585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dirty="0">
                          <a:effectLst/>
                        </a:rPr>
                        <a:t>Method</a:t>
                      </a:r>
                      <a:endParaRPr lang="en-IN" sz="1800" b="1" dirty="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dirty="0">
                          <a:effectLst/>
                        </a:rPr>
                        <a:t>Type</a:t>
                      </a:r>
                      <a:endParaRPr lang="en-IN" sz="1800" b="1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dirty="0">
                          <a:effectLst/>
                        </a:rPr>
                        <a:t>Description</a:t>
                      </a:r>
                      <a:endParaRPr lang="en-IN" sz="1800" b="1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784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 err="1">
                          <a:effectLst/>
                        </a:rPr>
                        <a:t>canRead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  <a:endParaRPr lang="en-IN" sz="1800" dirty="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</a:rPr>
                        <a:t>Boolean</a:t>
                      </a:r>
                      <a:endParaRPr lang="en-IN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Tests whether the file is readable or not</a:t>
                      </a:r>
                      <a:endParaRPr lang="en-US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566784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 err="1">
                          <a:effectLst/>
                        </a:rPr>
                        <a:t>canWrite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  <a:endParaRPr lang="en-IN" sz="1800" dirty="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</a:rPr>
                        <a:t>Boolean</a:t>
                      </a:r>
                      <a:endParaRPr lang="en-IN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Tests whether the file is writable or not</a:t>
                      </a:r>
                      <a:endParaRPr lang="en-US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784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 err="1">
                          <a:effectLst/>
                        </a:rPr>
                        <a:t>createNewFile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  <a:endParaRPr lang="en-IN" sz="1800" dirty="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</a:rPr>
                        <a:t>Boolean</a:t>
                      </a:r>
                      <a:endParaRPr lang="en-IN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Creates an empty file</a:t>
                      </a:r>
                      <a:endParaRPr lang="en-IN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566784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</a:rPr>
                        <a:t>delete()</a:t>
                      </a:r>
                      <a:endParaRPr lang="en-IN" sz="1800" dirty="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</a:rPr>
                        <a:t>Boolean</a:t>
                      </a:r>
                      <a:endParaRPr lang="en-IN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Deletes a file</a:t>
                      </a:r>
                      <a:endParaRPr lang="en-IN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784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</a:rPr>
                        <a:t>exists()</a:t>
                      </a:r>
                      <a:endParaRPr lang="en-IN" sz="1800" dirty="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</a:rPr>
                        <a:t>Boolean</a:t>
                      </a:r>
                      <a:endParaRPr lang="en-IN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Tests whether the file exists</a:t>
                      </a:r>
                      <a:endParaRPr lang="en-US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3585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 err="1">
                          <a:effectLst/>
                        </a:rPr>
                        <a:t>getName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  <a:endParaRPr lang="en-IN" sz="1800" dirty="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</a:rPr>
                        <a:t>String</a:t>
                      </a:r>
                      <a:endParaRPr lang="en-IN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name of the file</a:t>
                      </a:r>
                      <a:endParaRPr lang="en-US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784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getAbsolutePath()</a:t>
                      </a:r>
                      <a:endParaRPr lang="en-IN" sz="180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String</a:t>
                      </a:r>
                      <a:endParaRPr lang="en-IN" sz="180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absolute pathname of the file</a:t>
                      </a:r>
                      <a:endParaRPr lang="en-US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3585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length()</a:t>
                      </a:r>
                      <a:endParaRPr lang="en-IN" sz="180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Long</a:t>
                      </a:r>
                      <a:endParaRPr lang="en-IN" sz="180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size of the file in bytes</a:t>
                      </a:r>
                      <a:endParaRPr lang="en-US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784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list()</a:t>
                      </a:r>
                      <a:endParaRPr lang="en-IN" sz="180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String[]</a:t>
                      </a:r>
                      <a:endParaRPr lang="en-IN" sz="180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an array of the files in the directory</a:t>
                      </a:r>
                      <a:endParaRPr lang="en-US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566784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mkdir()</a:t>
                      </a:r>
                      <a:endParaRPr lang="en-IN" sz="1800">
                        <a:effectLst/>
                      </a:endParaRPr>
                    </a:p>
                  </a:txBody>
                  <a:tcPr marL="80955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</a:rPr>
                        <a:t>Boolean</a:t>
                      </a:r>
                      <a:endParaRPr lang="en-IN" sz="180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Creates a directory</a:t>
                      </a:r>
                      <a:endParaRPr lang="en-IN" sz="1800" dirty="0">
                        <a:effectLst/>
                      </a:endParaRPr>
                    </a:p>
                  </a:txBody>
                  <a:tcPr marL="40478" marR="40478" marT="40478" marB="4047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Read a file using Scanner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7" y="1142133"/>
            <a:ext cx="11011587" cy="5212367"/>
          </a:xfrm>
        </p:spPr>
        <p:txBody>
          <a:bodyPr>
            <a:no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import </a:t>
            </a:r>
            <a:r>
              <a:rPr lang="en-IN" sz="1800" dirty="0" err="1"/>
              <a:t>java.io.File</a:t>
            </a:r>
            <a:r>
              <a:rPr lang="en-IN" sz="1800" dirty="0"/>
              <a:t>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import </a:t>
            </a:r>
            <a:r>
              <a:rPr lang="en-IN" sz="1800" dirty="0" err="1"/>
              <a:t>java.io.FileNotFoundException</a:t>
            </a:r>
            <a:r>
              <a:rPr lang="en-IN" sz="1800" dirty="0"/>
              <a:t>; 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import </a:t>
            </a:r>
            <a:r>
              <a:rPr lang="en-IN" sz="1800" dirty="0" err="1"/>
              <a:t>java.util.Scanner</a:t>
            </a:r>
            <a:r>
              <a:rPr lang="en-IN" sz="1800" dirty="0"/>
              <a:t>; 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public class GFG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public static void main(String[] </a:t>
            </a:r>
            <a:r>
              <a:rPr lang="en-IN" sz="1800" dirty="0" err="1"/>
              <a:t>args</a:t>
            </a:r>
            <a:r>
              <a:rPr lang="en-IN" sz="1800" dirty="0" smtClean="0"/>
              <a:t>){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try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	File </a:t>
            </a:r>
            <a:r>
              <a:rPr lang="en-IN" sz="1800" dirty="0" err="1"/>
              <a:t>Obj</a:t>
            </a:r>
            <a:r>
              <a:rPr lang="en-IN" sz="1800" dirty="0"/>
              <a:t> = new File("myfile.txt");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	Scanner Reader = new Scanner(</a:t>
            </a:r>
            <a:r>
              <a:rPr lang="en-IN" sz="1800" dirty="0" err="1"/>
              <a:t>Obj</a:t>
            </a:r>
            <a:r>
              <a:rPr lang="en-IN" sz="1800" dirty="0"/>
              <a:t>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	while (</a:t>
            </a:r>
            <a:r>
              <a:rPr lang="en-IN" sz="1800" dirty="0" err="1"/>
              <a:t>Reader.hasNextLine</a:t>
            </a:r>
            <a:r>
              <a:rPr lang="en-IN" sz="1800" dirty="0"/>
              <a:t>())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		String data = </a:t>
            </a:r>
            <a:r>
              <a:rPr lang="en-IN" sz="1800" dirty="0" err="1"/>
              <a:t>Reader.nextLine</a:t>
            </a:r>
            <a:r>
              <a:rPr lang="en-IN" sz="1800" dirty="0"/>
              <a:t>();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		</a:t>
            </a:r>
            <a:r>
              <a:rPr lang="en-IN" sz="1800" dirty="0" err="1"/>
              <a:t>System.out.println</a:t>
            </a:r>
            <a:r>
              <a:rPr lang="en-IN" sz="1800" dirty="0"/>
              <a:t>(data);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	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	</a:t>
            </a:r>
            <a:r>
              <a:rPr lang="en-IN" sz="1800" dirty="0" err="1"/>
              <a:t>Reader.close</a:t>
            </a:r>
            <a:r>
              <a:rPr lang="en-IN" sz="1800" dirty="0"/>
              <a:t>();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catch (</a:t>
            </a:r>
            <a:r>
              <a:rPr lang="en-IN" sz="1800" dirty="0" err="1"/>
              <a:t>FileNotFoundException</a:t>
            </a:r>
            <a:r>
              <a:rPr lang="en-IN" sz="1800" dirty="0"/>
              <a:t> e)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	</a:t>
            </a:r>
            <a:r>
              <a:rPr lang="en-IN" sz="1800" dirty="0" err="1"/>
              <a:t>System.out.println</a:t>
            </a:r>
            <a:r>
              <a:rPr lang="en-IN" sz="1800" dirty="0"/>
              <a:t>("An error has occurred.");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	</a:t>
            </a:r>
            <a:r>
              <a:rPr lang="en-IN" sz="1800" dirty="0" err="1"/>
              <a:t>e.printStackTrace</a:t>
            </a:r>
            <a:r>
              <a:rPr lang="en-IN" sz="1800" dirty="0"/>
              <a:t>();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	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	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}</a:t>
            </a:r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206" y="145206"/>
            <a:ext cx="10515600" cy="660111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Write into a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206" y="910639"/>
            <a:ext cx="11011587" cy="5212367"/>
          </a:xfrm>
        </p:spPr>
        <p:txBody>
          <a:bodyPr>
            <a:no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IN" sz="2400" dirty="0" smtClean="0"/>
              <a:t>import </a:t>
            </a:r>
            <a:r>
              <a:rPr lang="en-IN" sz="2400" dirty="0" err="1"/>
              <a:t>java.io.FileWriter</a:t>
            </a:r>
            <a:r>
              <a:rPr lang="en-IN" sz="2400" dirty="0"/>
              <a:t>; 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 smtClean="0"/>
              <a:t>import </a:t>
            </a:r>
            <a:r>
              <a:rPr lang="en-IN" sz="2400" dirty="0" err="1"/>
              <a:t>java.io.IOException</a:t>
            </a:r>
            <a:r>
              <a:rPr lang="en-IN" sz="2400" dirty="0"/>
              <a:t>; 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public class GFG {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{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	try {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		</a:t>
            </a:r>
            <a:r>
              <a:rPr lang="en-IN" sz="2400" dirty="0" err="1"/>
              <a:t>FileWriter</a:t>
            </a:r>
            <a:r>
              <a:rPr lang="en-IN" sz="2400" dirty="0"/>
              <a:t> </a:t>
            </a:r>
            <a:r>
              <a:rPr lang="en-IN" sz="2400" dirty="0" smtClean="0"/>
              <a:t>Writer= </a:t>
            </a:r>
            <a:r>
              <a:rPr lang="en-IN" sz="2400" dirty="0"/>
              <a:t>new </a:t>
            </a:r>
            <a:r>
              <a:rPr lang="en-IN" sz="2400" dirty="0" err="1"/>
              <a:t>FileWriter</a:t>
            </a:r>
            <a:r>
              <a:rPr lang="en-IN" sz="2400" dirty="0"/>
              <a:t>("myfile.txt");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		</a:t>
            </a:r>
            <a:r>
              <a:rPr lang="en-IN" sz="2400" dirty="0" err="1"/>
              <a:t>Writer.write</a:t>
            </a:r>
            <a:r>
              <a:rPr lang="en-IN" sz="2400" dirty="0" smtClean="0"/>
              <a:t>("</a:t>
            </a:r>
            <a:r>
              <a:rPr lang="en-IN" sz="2400" dirty="0"/>
              <a:t>Files in Java are seriously good!!");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		</a:t>
            </a:r>
            <a:r>
              <a:rPr lang="en-IN" sz="2400" dirty="0" err="1"/>
              <a:t>Writer.close</a:t>
            </a:r>
            <a:r>
              <a:rPr lang="en-IN" sz="2400" dirty="0"/>
              <a:t>();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		</a:t>
            </a:r>
            <a:r>
              <a:rPr lang="en-IN" sz="2400" dirty="0" err="1"/>
              <a:t>System.out.println</a:t>
            </a:r>
            <a:r>
              <a:rPr lang="en-IN" sz="2400" dirty="0"/>
              <a:t>("Successfully written.");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	}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	catch (</a:t>
            </a:r>
            <a:r>
              <a:rPr lang="en-IN" sz="2400" dirty="0" err="1"/>
              <a:t>IOException</a:t>
            </a:r>
            <a:r>
              <a:rPr lang="en-IN" sz="2400" dirty="0"/>
              <a:t> e) {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		</a:t>
            </a:r>
            <a:r>
              <a:rPr lang="en-IN" sz="2400" dirty="0" err="1"/>
              <a:t>System.out.println</a:t>
            </a:r>
            <a:r>
              <a:rPr lang="en-IN" sz="2400" dirty="0"/>
              <a:t>("An error has occurred.");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		</a:t>
            </a:r>
            <a:r>
              <a:rPr lang="en-IN" sz="2400" dirty="0" err="1"/>
              <a:t>e.printStackTrace</a:t>
            </a:r>
            <a:r>
              <a:rPr lang="en-IN" sz="2400" dirty="0"/>
              <a:t>();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	}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	}</a:t>
            </a:r>
            <a:endParaRPr lang="en-IN" sz="24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2400" dirty="0"/>
              <a:t>}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272" y="134216"/>
            <a:ext cx="10515600" cy="66011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Streams in </a:t>
            </a:r>
            <a:r>
              <a:rPr lang="en-IN" b="1" dirty="0" smtClean="0"/>
              <a:t>Java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272" y="895927"/>
            <a:ext cx="11436927" cy="5962073"/>
          </a:xfrm>
        </p:spPr>
        <p:txBody>
          <a:bodyPr>
            <a:normAutofit/>
          </a:bodyPr>
          <a:lstStyle/>
          <a:p>
            <a:r>
              <a:rPr lang="en-US" dirty="0"/>
              <a:t>Java programs perform I/O through streams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A </a:t>
            </a:r>
            <a:r>
              <a:rPr lang="en-US" i="1" dirty="0"/>
              <a:t>stream </a:t>
            </a:r>
            <a:r>
              <a:rPr lang="en-US" dirty="0"/>
              <a:t>is an abstraction </a:t>
            </a:r>
            <a:r>
              <a:rPr lang="en-US" dirty="0" smtClean="0"/>
              <a:t>that either </a:t>
            </a:r>
            <a:r>
              <a:rPr lang="en-US" dirty="0"/>
              <a:t>produces or consumes information</a:t>
            </a:r>
            <a:r>
              <a:rPr lang="en-US" dirty="0" smtClean="0"/>
              <a:t>. </a:t>
            </a:r>
            <a:r>
              <a:rPr lang="en-US" dirty="0"/>
              <a:t>A stream is linked to a </a:t>
            </a:r>
            <a:r>
              <a:rPr lang="en-US" dirty="0" smtClean="0"/>
              <a:t>physical </a:t>
            </a:r>
            <a:r>
              <a:rPr lang="en-IN" dirty="0" smtClean="0"/>
              <a:t>device </a:t>
            </a:r>
            <a:r>
              <a:rPr lang="en-IN" dirty="0"/>
              <a:t>by the Java I/O system.</a:t>
            </a:r>
            <a:endParaRPr lang="en-US" dirty="0" smtClean="0"/>
          </a:p>
          <a:p>
            <a:r>
              <a:rPr lang="en-IN" dirty="0" smtClean="0"/>
              <a:t>Same I/O </a:t>
            </a:r>
            <a:r>
              <a:rPr lang="en-US" dirty="0" smtClean="0"/>
              <a:t>classes </a:t>
            </a:r>
            <a:r>
              <a:rPr lang="en-US" dirty="0"/>
              <a:t>and methods can be applied to different types of devices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IN" dirty="0"/>
              <a:t>Java </a:t>
            </a:r>
            <a:r>
              <a:rPr lang="en-IN" dirty="0" smtClean="0"/>
              <a:t>implements </a:t>
            </a:r>
            <a:r>
              <a:rPr lang="en-US" dirty="0" smtClean="0"/>
              <a:t>streams </a:t>
            </a:r>
            <a:r>
              <a:rPr lang="en-US" dirty="0"/>
              <a:t>within class hierarchies defined in the </a:t>
            </a:r>
            <a:r>
              <a:rPr lang="en-US" b="1" dirty="0"/>
              <a:t>java.io </a:t>
            </a:r>
            <a:r>
              <a:rPr lang="en-US" dirty="0"/>
              <a:t>package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Types of stream</a:t>
            </a:r>
            <a:endParaRPr lang="en-US" dirty="0" smtClean="0"/>
          </a:p>
          <a:p>
            <a:pPr lvl="1"/>
            <a:r>
              <a:rPr lang="en-US" dirty="0" smtClean="0"/>
              <a:t>Byte stream</a:t>
            </a:r>
            <a:endParaRPr lang="en-US" dirty="0" smtClean="0"/>
          </a:p>
          <a:p>
            <a:pPr lvl="1"/>
            <a:r>
              <a:rPr lang="en-US" dirty="0" smtClean="0"/>
              <a:t>Character stream</a:t>
            </a:r>
            <a:endParaRPr lang="en-IN" dirty="0"/>
          </a:p>
        </p:txBody>
      </p:sp>
      <p:pic>
        <p:nvPicPr>
          <p:cNvPr id="5122" name="Picture 2" descr="File Operations in Jav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260" y="4284980"/>
            <a:ext cx="3128010" cy="2466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872" y="157018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 smtClean="0"/>
              <a:t>Byte stream and Character stream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i="1" dirty="0"/>
              <a:t>Byte streams </a:t>
            </a:r>
            <a:r>
              <a:rPr lang="en-IN" dirty="0"/>
              <a:t>provide </a:t>
            </a:r>
            <a:r>
              <a:rPr lang="en-IN" dirty="0" smtClean="0"/>
              <a:t>a </a:t>
            </a:r>
            <a:r>
              <a:rPr lang="en-US" dirty="0" smtClean="0"/>
              <a:t>convenient </a:t>
            </a:r>
            <a:r>
              <a:rPr lang="en-US" dirty="0"/>
              <a:t>means for handling input and output of </a:t>
            </a:r>
            <a:r>
              <a:rPr lang="en-US" dirty="0" smtClean="0"/>
              <a:t>bytes.</a:t>
            </a:r>
            <a:endParaRPr lang="en-US" dirty="0" smtClean="0"/>
          </a:p>
          <a:p>
            <a:r>
              <a:rPr lang="en-IN" dirty="0"/>
              <a:t>Byte streams </a:t>
            </a:r>
            <a:r>
              <a:rPr lang="en-IN" dirty="0" smtClean="0"/>
              <a:t>are </a:t>
            </a:r>
            <a:r>
              <a:rPr lang="en-US" dirty="0" smtClean="0"/>
              <a:t>used</a:t>
            </a:r>
            <a:r>
              <a:rPr lang="en-US" dirty="0"/>
              <a:t>, for example, when reading or writing binary data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IN" i="1" dirty="0"/>
              <a:t>Character </a:t>
            </a:r>
            <a:r>
              <a:rPr lang="en-IN" i="1" dirty="0" smtClean="0"/>
              <a:t>streams </a:t>
            </a:r>
            <a:r>
              <a:rPr lang="en-US" dirty="0" smtClean="0"/>
              <a:t>provide </a:t>
            </a:r>
            <a:r>
              <a:rPr lang="en-US" dirty="0"/>
              <a:t>a convenient means for handling input and output of characters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IN" dirty="0" smtClean="0"/>
              <a:t>They </a:t>
            </a:r>
            <a:r>
              <a:rPr lang="en-US" dirty="0" smtClean="0"/>
              <a:t>use </a:t>
            </a:r>
            <a:r>
              <a:rPr lang="en-US" dirty="0"/>
              <a:t>Unicode and, therefore, can be internationalized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At </a:t>
            </a:r>
            <a:r>
              <a:rPr lang="en-US" dirty="0"/>
              <a:t>the lowest level, all I/O is still byte-oriented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IN" dirty="0" smtClean="0"/>
              <a:t>The </a:t>
            </a:r>
            <a:r>
              <a:rPr lang="en-US" dirty="0" smtClean="0"/>
              <a:t>character-based </a:t>
            </a:r>
            <a:r>
              <a:rPr lang="en-US" dirty="0"/>
              <a:t>streams simply provide a convenient and efficient means </a:t>
            </a:r>
            <a:r>
              <a:rPr lang="en-US" dirty="0" smtClean="0"/>
              <a:t>for </a:t>
            </a:r>
            <a:r>
              <a:rPr lang="en-IN" dirty="0" smtClean="0"/>
              <a:t>handling </a:t>
            </a:r>
            <a:r>
              <a:rPr lang="en-IN" dirty="0"/>
              <a:t>characters.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Byte stream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Byte streams are defined by using two class hierarchies. At the top are </a:t>
            </a:r>
            <a:r>
              <a:rPr lang="en-US" dirty="0" smtClean="0"/>
              <a:t>two abstract </a:t>
            </a:r>
            <a:r>
              <a:rPr lang="en-US" dirty="0"/>
              <a:t>classes: </a:t>
            </a:r>
            <a:r>
              <a:rPr lang="en-US" b="1" dirty="0" err="1"/>
              <a:t>InputStream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OutputStream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Each of these abstract classes has several concrete subclasses that handle the differences among various devices, such as disk files, network connections, and even memory buffers.</a:t>
            </a:r>
            <a:endParaRPr lang="en-US" dirty="0" smtClean="0"/>
          </a:p>
          <a:p>
            <a:r>
              <a:rPr lang="en-US" dirty="0"/>
              <a:t>The abstract classes </a:t>
            </a:r>
            <a:r>
              <a:rPr lang="en-US" b="1" dirty="0" err="1"/>
              <a:t>InputStream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OutputStream</a:t>
            </a:r>
            <a:r>
              <a:rPr lang="en-US" b="1" dirty="0"/>
              <a:t> </a:t>
            </a:r>
            <a:r>
              <a:rPr lang="en-US" dirty="0"/>
              <a:t>define several </a:t>
            </a:r>
            <a:r>
              <a:rPr lang="en-US" dirty="0" smtClean="0"/>
              <a:t>key methods </a:t>
            </a:r>
            <a:r>
              <a:rPr lang="en-US" dirty="0"/>
              <a:t>that the other stream classes implement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Two of the most </a:t>
            </a:r>
            <a:r>
              <a:rPr lang="en-US" dirty="0" smtClean="0"/>
              <a:t>important are </a:t>
            </a:r>
            <a:r>
              <a:rPr lang="en-US" b="1" dirty="0"/>
              <a:t>read( ) </a:t>
            </a:r>
            <a:r>
              <a:rPr lang="en-US" dirty="0"/>
              <a:t>and </a:t>
            </a:r>
            <a:r>
              <a:rPr lang="en-US" b="1" dirty="0"/>
              <a:t>write( )</a:t>
            </a:r>
            <a:r>
              <a:rPr lang="en-US" dirty="0"/>
              <a:t>, which, </a:t>
            </a:r>
            <a:r>
              <a:rPr lang="en-US" dirty="0" smtClean="0"/>
              <a:t>respectively</a:t>
            </a:r>
            <a:r>
              <a:rPr lang="en-US" dirty="0"/>
              <a:t>, read and write bytes of data.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873" y="161926"/>
            <a:ext cx="10515600" cy="41996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Byte Steam classes in java.io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26836" y="738909"/>
            <a:ext cx="9707419" cy="60498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964" y="129092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Character stream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1373764"/>
            <a:ext cx="11649363" cy="4351338"/>
          </a:xfrm>
        </p:spPr>
        <p:txBody>
          <a:bodyPr>
            <a:normAutofit/>
          </a:bodyPr>
          <a:lstStyle/>
          <a:p>
            <a:r>
              <a:rPr lang="en-US" sz="3200" dirty="0"/>
              <a:t>Character streams are defined by using two class hierarchies. At the top are </a:t>
            </a:r>
            <a:r>
              <a:rPr lang="en-US" sz="3200" dirty="0" smtClean="0"/>
              <a:t>two abstract </a:t>
            </a:r>
            <a:r>
              <a:rPr lang="en-US" sz="3200" dirty="0"/>
              <a:t>classes: </a:t>
            </a:r>
            <a:r>
              <a:rPr lang="en-US" sz="3200" b="1" dirty="0" smtClean="0"/>
              <a:t>Reader </a:t>
            </a:r>
            <a:r>
              <a:rPr lang="en-US" sz="3200" dirty="0" smtClean="0"/>
              <a:t>and </a:t>
            </a:r>
            <a:r>
              <a:rPr lang="en-US" sz="3200" b="1" dirty="0"/>
              <a:t>Writer</a:t>
            </a:r>
            <a:r>
              <a:rPr lang="en-US" sz="3200" dirty="0" smtClean="0"/>
              <a:t>.</a:t>
            </a:r>
            <a:endParaRPr lang="en-US" sz="3200" dirty="0" smtClean="0"/>
          </a:p>
          <a:p>
            <a:r>
              <a:rPr lang="en-US" sz="3200" dirty="0"/>
              <a:t>The abstract classes </a:t>
            </a:r>
            <a:r>
              <a:rPr lang="en-US" sz="3200" b="1" dirty="0"/>
              <a:t>Reader </a:t>
            </a:r>
            <a:r>
              <a:rPr lang="en-US" sz="3200" dirty="0"/>
              <a:t>and </a:t>
            </a:r>
            <a:r>
              <a:rPr lang="en-US" sz="3200" b="1" dirty="0" smtClean="0"/>
              <a:t>Writer </a:t>
            </a:r>
            <a:r>
              <a:rPr lang="en-US" sz="3200" dirty="0"/>
              <a:t>define several key methods that </a:t>
            </a:r>
            <a:r>
              <a:rPr lang="en-US" sz="3200" dirty="0" smtClean="0"/>
              <a:t>the other </a:t>
            </a:r>
            <a:r>
              <a:rPr lang="en-US" sz="3200" dirty="0"/>
              <a:t>stream classes implement. </a:t>
            </a:r>
            <a:endParaRPr lang="en-US" sz="3200" dirty="0" smtClean="0"/>
          </a:p>
          <a:p>
            <a:r>
              <a:rPr lang="en-US" sz="3200" dirty="0" smtClean="0"/>
              <a:t>Two </a:t>
            </a:r>
            <a:r>
              <a:rPr lang="en-US" sz="3200" dirty="0"/>
              <a:t>of the most important methods are </a:t>
            </a:r>
            <a:r>
              <a:rPr lang="en-US" sz="3200" dirty="0" smtClean="0"/>
              <a:t> </a:t>
            </a:r>
            <a:r>
              <a:rPr lang="en-US" sz="3200" b="1" dirty="0" smtClean="0"/>
              <a:t>read() </a:t>
            </a:r>
            <a:r>
              <a:rPr lang="en-US" sz="3200" dirty="0"/>
              <a:t>and </a:t>
            </a:r>
            <a:r>
              <a:rPr lang="en-US" sz="3200" b="1" dirty="0"/>
              <a:t>write( )</a:t>
            </a:r>
            <a:r>
              <a:rPr lang="en-US" sz="3200" dirty="0"/>
              <a:t>, which read and write characters of data, respectively.</a:t>
            </a:r>
            <a:endParaRPr lang="en-US" sz="3200" dirty="0" smtClean="0"/>
          </a:p>
          <a:p>
            <a:endParaRPr lang="en-IN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080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Character stream class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48873" y="988290"/>
            <a:ext cx="8386618" cy="57727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The Predefined Streams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3855"/>
            <a:ext cx="10515600" cy="489310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 smtClean="0"/>
              <a:t>java.lang</a:t>
            </a:r>
            <a:r>
              <a:rPr lang="en-IN" b="1" dirty="0" smtClean="0"/>
              <a:t> </a:t>
            </a:r>
            <a:r>
              <a:rPr lang="en-IN" dirty="0" smtClean="0"/>
              <a:t>package </a:t>
            </a:r>
            <a:r>
              <a:rPr lang="en-US" dirty="0" smtClean="0"/>
              <a:t>defines a class called </a:t>
            </a:r>
            <a:r>
              <a:rPr lang="en-US" b="1" dirty="0" smtClean="0"/>
              <a:t>System </a:t>
            </a:r>
            <a:r>
              <a:rPr lang="en-US" dirty="0" smtClean="0"/>
              <a:t>which contains three stream variables: </a:t>
            </a:r>
            <a:r>
              <a:rPr lang="en-US" i="1" dirty="0" smtClean="0"/>
              <a:t>in, out, </a:t>
            </a:r>
            <a:r>
              <a:rPr lang="en-US" dirty="0" smtClean="0"/>
              <a:t>and </a:t>
            </a:r>
            <a:r>
              <a:rPr lang="en-US" i="1" dirty="0" smtClean="0"/>
              <a:t>err</a:t>
            </a:r>
            <a:r>
              <a:rPr lang="en-US" b="1" dirty="0" smtClean="0"/>
              <a:t>.</a:t>
            </a:r>
            <a:endParaRPr lang="en-US" dirty="0" smtClean="0"/>
          </a:p>
          <a:p>
            <a:r>
              <a:rPr lang="en-US" dirty="0" err="1" smtClean="0"/>
              <a:t>System.out</a:t>
            </a:r>
            <a:r>
              <a:rPr lang="en-US" dirty="0" smtClean="0"/>
              <a:t> refers to the standard output stream. By default, this is the console.</a:t>
            </a:r>
            <a:endParaRPr lang="en-US" dirty="0" smtClean="0"/>
          </a:p>
          <a:p>
            <a:r>
              <a:rPr lang="en-US" dirty="0" smtClean="0"/>
              <a:t>System.in refers to standard input, which is the keyboard by default.</a:t>
            </a:r>
            <a:endParaRPr lang="en-US" dirty="0" smtClean="0"/>
          </a:p>
          <a:p>
            <a:r>
              <a:rPr lang="en-US" dirty="0" err="1" smtClean="0"/>
              <a:t>System.err</a:t>
            </a:r>
            <a:r>
              <a:rPr lang="en-US" dirty="0" smtClean="0"/>
              <a:t> refers to the standard error stream, which also is the console by default.</a:t>
            </a:r>
            <a:endParaRPr lang="en-US" dirty="0" smtClean="0"/>
          </a:p>
          <a:p>
            <a:r>
              <a:rPr lang="en-US" dirty="0" smtClean="0"/>
              <a:t>System.in is an object of type </a:t>
            </a:r>
            <a:r>
              <a:rPr lang="en-US" dirty="0" err="1" smtClean="0"/>
              <a:t>InputStream</a:t>
            </a:r>
            <a:r>
              <a:rPr lang="en-US" dirty="0" smtClean="0"/>
              <a:t>; </a:t>
            </a:r>
            <a:r>
              <a:rPr lang="en-US" dirty="0" err="1" smtClean="0"/>
              <a:t>System.out</a:t>
            </a:r>
            <a:r>
              <a:rPr lang="en-US" dirty="0" smtClean="0"/>
              <a:t> and </a:t>
            </a:r>
            <a:r>
              <a:rPr lang="en-US" dirty="0" err="1" smtClean="0"/>
              <a:t>System.err</a:t>
            </a:r>
            <a:r>
              <a:rPr lang="en-US" dirty="0" smtClean="0"/>
              <a:t> are objects of type </a:t>
            </a:r>
            <a:r>
              <a:rPr lang="en-US" dirty="0" err="1" smtClean="0"/>
              <a:t>PrintStream.These</a:t>
            </a:r>
            <a:r>
              <a:rPr lang="en-US" dirty="0" smtClean="0"/>
              <a:t> are byte streams.</a:t>
            </a:r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NOTE</a:t>
            </a:r>
            <a:r>
              <a:rPr lang="en-US" dirty="0" smtClean="0"/>
              <a:t> : Names of character streams typically end with Reader/Writer &amp; names of byte streams end with </a:t>
            </a:r>
            <a:r>
              <a:rPr lang="en-US" dirty="0" err="1" smtClean="0"/>
              <a:t>InputStream</a:t>
            </a:r>
            <a:r>
              <a:rPr lang="en-US" dirty="0" smtClean="0"/>
              <a:t>/</a:t>
            </a:r>
            <a:r>
              <a:rPr lang="en-US" dirty="0" err="1" smtClean="0"/>
              <a:t>OutputStream</a:t>
            </a:r>
            <a:r>
              <a:rPr lang="en-US" dirty="0" smtClean="0"/>
              <a:t>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Input Stream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182" y="1052944"/>
            <a:ext cx="11231418" cy="563418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 The input stream is used to read data from numerous input devices like the keyboard, network, etc.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Java </a:t>
            </a:r>
            <a:r>
              <a:rPr lang="en-US" b="1" dirty="0" err="1"/>
              <a:t>InputStream</a:t>
            </a:r>
            <a:r>
              <a:rPr lang="en-US" dirty="0"/>
              <a:t> </a:t>
            </a:r>
            <a:r>
              <a:rPr lang="en-US" dirty="0" smtClean="0"/>
              <a:t>class </a:t>
            </a:r>
            <a:r>
              <a:rPr lang="en-US" dirty="0"/>
              <a:t>is the superclass of all input streams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err="1"/>
              <a:t>InputStream</a:t>
            </a:r>
            <a:r>
              <a:rPr lang="en-US" dirty="0"/>
              <a:t> is an abstract class, and because of this, it is not useful by itself. However, its subclasses are used to read data</a:t>
            </a:r>
            <a:r>
              <a:rPr lang="en-US" dirty="0" smtClean="0"/>
              <a:t>.</a:t>
            </a:r>
            <a:endParaRPr lang="en-US" dirty="0" smtClean="0"/>
          </a:p>
          <a:p>
            <a:pPr fontAlgn="base"/>
            <a:r>
              <a:rPr lang="en-US" dirty="0"/>
              <a:t>There are several subclasses of the </a:t>
            </a:r>
            <a:r>
              <a:rPr lang="en-US" dirty="0" err="1"/>
              <a:t>InputStream</a:t>
            </a:r>
            <a:r>
              <a:rPr lang="en-US" dirty="0"/>
              <a:t> class, which are as follows:</a:t>
            </a:r>
            <a:endParaRPr lang="en-US" dirty="0"/>
          </a:p>
          <a:p>
            <a:pPr lvl="1" fontAlgn="base"/>
            <a:r>
              <a:rPr lang="en-US" dirty="0" err="1"/>
              <a:t>AudioInputStream</a:t>
            </a:r>
            <a:endParaRPr lang="en-US" dirty="0"/>
          </a:p>
          <a:p>
            <a:pPr lvl="1" fontAlgn="base"/>
            <a:r>
              <a:rPr lang="en-US" dirty="0" err="1"/>
              <a:t>ByteArrayInputStream</a:t>
            </a:r>
            <a:endParaRPr lang="en-US" dirty="0"/>
          </a:p>
          <a:p>
            <a:pPr lvl="1" fontAlgn="base"/>
            <a:r>
              <a:rPr lang="en-US" dirty="0" err="1"/>
              <a:t>FileInputStream</a:t>
            </a:r>
            <a:endParaRPr lang="en-US" dirty="0"/>
          </a:p>
          <a:p>
            <a:pPr lvl="1" fontAlgn="base"/>
            <a:r>
              <a:rPr lang="en-US" dirty="0" err="1"/>
              <a:t>FilterInputStream</a:t>
            </a:r>
            <a:endParaRPr lang="en-US" dirty="0"/>
          </a:p>
          <a:p>
            <a:pPr lvl="1" fontAlgn="base"/>
            <a:r>
              <a:rPr lang="en-US" dirty="0" err="1"/>
              <a:t>StringBufferInputStream</a:t>
            </a:r>
            <a:endParaRPr lang="en-US" dirty="0"/>
          </a:p>
          <a:p>
            <a:pPr lvl="1" fontAlgn="base"/>
            <a:r>
              <a:rPr lang="en-US" dirty="0" err="1"/>
              <a:t>ObjectInputStream</a:t>
            </a:r>
            <a:endParaRPr lang="en-US" dirty="0"/>
          </a:p>
          <a:p>
            <a:r>
              <a:rPr lang="en-US" dirty="0" smtClean="0"/>
              <a:t>Creating an </a:t>
            </a:r>
            <a:r>
              <a:rPr lang="en-US" dirty="0" err="1" smtClean="0"/>
              <a:t>InputStream</a:t>
            </a:r>
            <a:endParaRPr lang="en-US" dirty="0" smtClean="0"/>
          </a:p>
          <a:p>
            <a:pPr lvl="1"/>
            <a:r>
              <a:rPr lang="en-US" dirty="0" err="1" smtClean="0"/>
              <a:t>InputStream</a:t>
            </a:r>
            <a:r>
              <a:rPr lang="en-US" dirty="0" smtClean="0"/>
              <a:t> </a:t>
            </a:r>
            <a:r>
              <a:rPr lang="en-US" dirty="0" err="1" smtClean="0"/>
              <a:t>obj</a:t>
            </a:r>
            <a:r>
              <a:rPr lang="en-US" dirty="0" smtClean="0"/>
              <a:t> = new </a:t>
            </a:r>
            <a:r>
              <a:rPr lang="en-US" dirty="0" err="1" smtClean="0"/>
              <a:t>FileInputStream</a:t>
            </a:r>
            <a:r>
              <a:rPr lang="en-US" dirty="0" smtClean="0"/>
              <a:t>();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b="1" i="1" dirty="0"/>
              <a:t>Note: </a:t>
            </a:r>
            <a:r>
              <a:rPr lang="en-US" i="1" dirty="0"/>
              <a:t>We can create an input stream from other subclasses as well as </a:t>
            </a:r>
            <a:r>
              <a:rPr lang="en-US" i="1" dirty="0" err="1"/>
              <a:t>InputStream</a:t>
            </a:r>
            <a:r>
              <a:rPr lang="en-US" i="1" dirty="0"/>
              <a:t>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873" y="365125"/>
            <a:ext cx="11342253" cy="392257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Example: </a:t>
            </a:r>
            <a:r>
              <a:rPr lang="en-US" dirty="0" smtClean="0"/>
              <a:t>Reading from a File Using </a:t>
            </a:r>
            <a:r>
              <a:rPr lang="en-US" dirty="0" err="1" smtClean="0"/>
              <a:t>FileInputStream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218" y="1089891"/>
            <a:ext cx="11831782" cy="56526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java.io.FileInputStream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import </a:t>
            </a:r>
            <a:r>
              <a:rPr lang="en-IN" dirty="0" err="1"/>
              <a:t>java.io.InputStream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</a:t>
            </a:r>
            <a:r>
              <a:rPr lang="en-IN" dirty="0" err="1"/>
              <a:t>FileInputStreamExample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try (</a:t>
            </a:r>
            <a:r>
              <a:rPr lang="en-IN" dirty="0" err="1"/>
              <a:t>InputStream</a:t>
            </a:r>
            <a:r>
              <a:rPr lang="en-IN" dirty="0"/>
              <a:t> </a:t>
            </a:r>
            <a:r>
              <a:rPr lang="en-IN" dirty="0" err="1"/>
              <a:t>fis</a:t>
            </a:r>
            <a:r>
              <a:rPr lang="en-IN" dirty="0"/>
              <a:t> = new </a:t>
            </a:r>
            <a:r>
              <a:rPr lang="en-IN" dirty="0" err="1"/>
              <a:t>FileInputStream</a:t>
            </a:r>
            <a:r>
              <a:rPr lang="en-IN" dirty="0"/>
              <a:t>("test.txt")) {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data;</a:t>
            </a:r>
            <a:br>
              <a:rPr lang="en-IN" dirty="0"/>
            </a:br>
            <a:r>
              <a:rPr lang="en-IN" dirty="0"/>
              <a:t>            while ((data = </a:t>
            </a:r>
            <a:r>
              <a:rPr lang="en-IN" dirty="0" err="1"/>
              <a:t>fis.read</a:t>
            </a:r>
            <a:r>
              <a:rPr lang="en-IN" dirty="0"/>
              <a:t>()) != -1) { // Read byte by byte</a:t>
            </a:r>
            <a:br>
              <a:rPr lang="en-IN" dirty="0"/>
            </a:br>
            <a:r>
              <a:rPr lang="en-IN" dirty="0"/>
              <a:t>                </a:t>
            </a:r>
            <a:r>
              <a:rPr lang="en-IN" dirty="0" err="1"/>
              <a:t>System.out.print</a:t>
            </a:r>
            <a:r>
              <a:rPr lang="en-IN" dirty="0"/>
              <a:t>((char) data); // Convert byte to character (optional)</a:t>
            </a:r>
            <a:br>
              <a:rPr lang="en-IN" dirty="0"/>
            </a:br>
            <a:r>
              <a:rPr lang="en-IN" dirty="0"/>
              <a:t>            }</a:t>
            </a:r>
            <a:br>
              <a:rPr lang="en-IN" dirty="0"/>
            </a:br>
            <a:r>
              <a:rPr lang="en-IN" dirty="0"/>
              <a:t>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109" y="208106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Methods of </a:t>
            </a:r>
            <a:r>
              <a:rPr lang="en-IN" b="1" dirty="0" err="1" smtClean="0"/>
              <a:t>InputStream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61109" y="1015999"/>
          <a:ext cx="11261436" cy="5040844"/>
        </p:xfrm>
        <a:graphic>
          <a:graphicData uri="http://schemas.openxmlformats.org/drawingml/2006/table">
            <a:tbl>
              <a:tblPr/>
              <a:tblGrid>
                <a:gridCol w="870527"/>
                <a:gridCol w="2290619"/>
                <a:gridCol w="8100290"/>
              </a:tblGrid>
              <a:tr h="335795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 dirty="0">
                          <a:effectLst/>
                        </a:rPr>
                        <a:t>S No.</a:t>
                      </a:r>
                      <a:endParaRPr lang="en-IN" sz="2400" b="1" dirty="0">
                        <a:effectLst/>
                      </a:endParaRPr>
                    </a:p>
                  </a:txBody>
                  <a:tcPr marL="34979" marR="34979" marT="69957" marB="69957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 dirty="0">
                          <a:effectLst/>
                        </a:rPr>
                        <a:t>Method</a:t>
                      </a:r>
                      <a:endParaRPr lang="en-IN" sz="2400" b="1" dirty="0">
                        <a:effectLst/>
                      </a:endParaRPr>
                    </a:p>
                  </a:txBody>
                  <a:tcPr marL="69957" marR="69957" marT="69957" marB="69957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dirty="0">
                          <a:effectLst/>
                        </a:rPr>
                        <a:t>Description</a:t>
                      </a:r>
                      <a:endParaRPr lang="en-IN" sz="2400" b="1" dirty="0">
                        <a:effectLst/>
                      </a:endParaRPr>
                    </a:p>
                  </a:txBody>
                  <a:tcPr marL="69957" marR="69957" marT="69957" marB="69957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1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read()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dirty="0">
                          <a:effectLst/>
                        </a:rPr>
                        <a:t>Reads one byte of data from the input stream.</a:t>
                      </a:r>
                      <a:endParaRPr lang="en-US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6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>
                          <a:effectLst/>
                        </a:rPr>
                        <a:t>2</a:t>
                      </a:r>
                      <a:endParaRPr lang="en-IN" sz="2000" b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read(byte[] array)()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dirty="0">
                          <a:effectLst/>
                        </a:rPr>
                        <a:t>Reads byte from the stream and stores that byte in the specified array.</a:t>
                      </a:r>
                      <a:endParaRPr lang="en-US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6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>
                          <a:effectLst/>
                        </a:rPr>
                        <a:t>3</a:t>
                      </a:r>
                      <a:endParaRPr lang="en-IN" sz="2000" b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mark()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dirty="0">
                          <a:effectLst/>
                        </a:rPr>
                        <a:t>It marks the position in the input stream until the data has been read.</a:t>
                      </a:r>
                      <a:endParaRPr lang="en-US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6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4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available()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dirty="0">
                          <a:effectLst/>
                        </a:rPr>
                        <a:t>Returns the number of bytes available in the input stream.</a:t>
                      </a:r>
                      <a:endParaRPr lang="en-US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6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5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 err="1">
                          <a:effectLst/>
                        </a:rPr>
                        <a:t>markSupported</a:t>
                      </a:r>
                      <a:r>
                        <a:rPr lang="en-IN" sz="2000" b="0" dirty="0">
                          <a:effectLst/>
                        </a:rPr>
                        <a:t>()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dirty="0">
                          <a:effectLst/>
                        </a:rPr>
                        <a:t>It checks if the mark() method and the reset() method is supported in the stream.</a:t>
                      </a:r>
                      <a:endParaRPr lang="en-US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6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6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reset()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dirty="0">
                          <a:effectLst/>
                        </a:rPr>
                        <a:t>Returns the control to the point where the mark was set inside the stream.</a:t>
                      </a:r>
                      <a:endParaRPr lang="en-US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6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7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skips()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dirty="0">
                          <a:effectLst/>
                        </a:rPr>
                        <a:t> Skips and removes a particular number of bytes from the input stream.</a:t>
                      </a:r>
                      <a:endParaRPr lang="en-US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8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close()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</a:rPr>
                        <a:t>Closes the input stream.</a:t>
                      </a:r>
                      <a:endParaRPr lang="en-IN" sz="2000" b="0" dirty="0">
                        <a:effectLst/>
                      </a:endParaRPr>
                    </a:p>
                  </a:txBody>
                  <a:tcPr marL="69957" marR="69957" marT="97940" marB="9794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19" y="281999"/>
            <a:ext cx="10515600" cy="28142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Output Steam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455" y="858982"/>
            <a:ext cx="10984345" cy="5698836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The output stream is used to write data to numerous output devices like the monitor, file, etc. </a:t>
            </a:r>
            <a:endParaRPr lang="en-US" dirty="0" smtClean="0"/>
          </a:p>
          <a:p>
            <a:pPr fontAlgn="base"/>
            <a:r>
              <a:rPr lang="en-US" dirty="0" err="1" smtClean="0"/>
              <a:t>OutputStream</a:t>
            </a:r>
            <a:r>
              <a:rPr lang="en-US" dirty="0" smtClean="0"/>
              <a:t> </a:t>
            </a:r>
            <a:r>
              <a:rPr lang="en-US" dirty="0"/>
              <a:t>is an abstract superclass that represents an output </a:t>
            </a:r>
            <a:r>
              <a:rPr lang="en-US" dirty="0" smtClean="0"/>
              <a:t>stream. </a:t>
            </a:r>
            <a:r>
              <a:rPr lang="en-US" dirty="0" err="1" smtClean="0"/>
              <a:t>OutputStream</a:t>
            </a:r>
            <a:r>
              <a:rPr lang="en-US" dirty="0" smtClean="0"/>
              <a:t> </a:t>
            </a:r>
            <a:r>
              <a:rPr lang="en-US" dirty="0"/>
              <a:t>is an abstract class and because of this, it is not useful by itself. However, its subclasses are used to write data.</a:t>
            </a:r>
            <a:endParaRPr lang="en-US" dirty="0"/>
          </a:p>
          <a:p>
            <a:pPr fontAlgn="base"/>
            <a:r>
              <a:rPr lang="en-US" dirty="0"/>
              <a:t>There are several subclasses of the </a:t>
            </a:r>
            <a:r>
              <a:rPr lang="en-US" dirty="0" err="1"/>
              <a:t>OutputStream</a:t>
            </a:r>
            <a:r>
              <a:rPr lang="en-US" dirty="0"/>
              <a:t> class which are as follows:</a:t>
            </a:r>
            <a:endParaRPr lang="en-US" dirty="0"/>
          </a:p>
          <a:p>
            <a:pPr lvl="1" fontAlgn="base"/>
            <a:r>
              <a:rPr lang="en-US" dirty="0" err="1"/>
              <a:t>ByteArrayOutputStream</a:t>
            </a:r>
            <a:endParaRPr lang="en-US" dirty="0"/>
          </a:p>
          <a:p>
            <a:pPr lvl="1" fontAlgn="base"/>
            <a:r>
              <a:rPr lang="en-US" dirty="0" err="1"/>
              <a:t>FileOutputStream</a:t>
            </a:r>
            <a:endParaRPr lang="en-US" dirty="0"/>
          </a:p>
          <a:p>
            <a:pPr lvl="1" fontAlgn="base"/>
            <a:r>
              <a:rPr lang="en-US" dirty="0" err="1"/>
              <a:t>StringBufferOutputStream</a:t>
            </a:r>
            <a:endParaRPr lang="en-US" dirty="0"/>
          </a:p>
          <a:p>
            <a:pPr lvl="1" fontAlgn="base"/>
            <a:r>
              <a:rPr lang="en-US" dirty="0" err="1"/>
              <a:t>ObjectOutputStream</a:t>
            </a:r>
            <a:endParaRPr lang="en-US" dirty="0"/>
          </a:p>
          <a:p>
            <a:pPr lvl="1" fontAlgn="base"/>
            <a:r>
              <a:rPr lang="en-US" dirty="0" err="1"/>
              <a:t>DataOutputStream</a:t>
            </a:r>
            <a:endParaRPr lang="en-US" dirty="0"/>
          </a:p>
          <a:p>
            <a:pPr lvl="1" fontAlgn="base"/>
            <a:r>
              <a:rPr lang="en-US" dirty="0" err="1"/>
              <a:t>PrintStream</a:t>
            </a:r>
            <a:endParaRPr lang="en-US" dirty="0"/>
          </a:p>
          <a:p>
            <a:r>
              <a:rPr lang="en-IN" b="1" dirty="0"/>
              <a:t>Creating an </a:t>
            </a:r>
            <a:r>
              <a:rPr lang="en-IN" b="1" dirty="0" err="1"/>
              <a:t>OutputStream</a:t>
            </a:r>
            <a:endParaRPr lang="en-IN" b="1" dirty="0"/>
          </a:p>
          <a:p>
            <a:pPr lvl="1"/>
            <a:r>
              <a:rPr lang="en-IN" dirty="0" err="1" smtClean="0"/>
              <a:t>OutputStream</a:t>
            </a:r>
            <a:r>
              <a:rPr lang="en-IN" dirty="0" smtClean="0"/>
              <a:t> </a:t>
            </a:r>
            <a:r>
              <a:rPr lang="en-IN" dirty="0" err="1" smtClean="0"/>
              <a:t>obj</a:t>
            </a:r>
            <a:r>
              <a:rPr lang="en-IN" dirty="0" smtClean="0"/>
              <a:t> = new </a:t>
            </a:r>
            <a:r>
              <a:rPr lang="en-IN" dirty="0" err="1" smtClean="0"/>
              <a:t>FileOutputStream</a:t>
            </a:r>
            <a:r>
              <a:rPr lang="en-IN" dirty="0" smtClean="0"/>
              <a:t>();</a:t>
            </a:r>
            <a:endParaRPr lang="en-IN" dirty="0" smtClean="0"/>
          </a:p>
          <a:p>
            <a:r>
              <a:rPr lang="en-US" b="1" i="1" dirty="0"/>
              <a:t>Note:</a:t>
            </a:r>
            <a:r>
              <a:rPr lang="en-US" i="1" dirty="0"/>
              <a:t> We can create an output stream from other subclasses as well as </a:t>
            </a:r>
            <a:r>
              <a:rPr lang="en-US" i="1" dirty="0" err="1"/>
              <a:t>OutputStream</a:t>
            </a:r>
            <a:r>
              <a:rPr lang="en-US" i="1" dirty="0"/>
              <a:t>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418" y="152689"/>
            <a:ext cx="11573163" cy="45691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Example: Writing to a File Using </a:t>
            </a:r>
            <a:r>
              <a:rPr lang="en-US" dirty="0" err="1" smtClean="0"/>
              <a:t>FileOutputStream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709" y="1016000"/>
            <a:ext cx="11194473" cy="5160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 err="1" smtClean="0"/>
              <a:t>java.io.FileOutputStream</a:t>
            </a:r>
            <a:r>
              <a:rPr lang="en-IN" dirty="0" smtClean="0"/>
              <a:t>;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 err="1" smtClean="0"/>
              <a:t>java.io.IOException</a:t>
            </a:r>
            <a:r>
              <a:rPr lang="en-IN" dirty="0" smtClean="0"/>
              <a:t>;</a:t>
            </a: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public class </a:t>
            </a:r>
            <a:r>
              <a:rPr lang="en-IN" dirty="0" err="1" smtClean="0"/>
              <a:t>FileOutputStreamExample</a:t>
            </a:r>
            <a:r>
              <a:rPr lang="en-IN" dirty="0" smtClean="0"/>
              <a:t> {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public static void main(String[] </a:t>
            </a:r>
            <a:r>
              <a:rPr lang="en-IN" dirty="0" err="1" smtClean="0"/>
              <a:t>args</a:t>
            </a:r>
            <a:r>
              <a:rPr lang="en-IN" dirty="0" smtClean="0"/>
              <a:t>) {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try (</a:t>
            </a:r>
            <a:r>
              <a:rPr lang="en-IN" dirty="0" err="1" smtClean="0"/>
              <a:t>FileOutputStream</a:t>
            </a:r>
            <a:r>
              <a:rPr lang="en-IN" dirty="0" smtClean="0"/>
              <a:t> </a:t>
            </a:r>
            <a:r>
              <a:rPr lang="en-IN" dirty="0" err="1" smtClean="0"/>
              <a:t>fos</a:t>
            </a:r>
            <a:r>
              <a:rPr lang="en-IN" dirty="0" smtClean="0"/>
              <a:t> = new </a:t>
            </a:r>
            <a:r>
              <a:rPr lang="en-IN" dirty="0" err="1" smtClean="0"/>
              <a:t>FileOutputStream</a:t>
            </a:r>
            <a:r>
              <a:rPr lang="en-IN" dirty="0" smtClean="0"/>
              <a:t>("example.txt")) {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String content = "Hello, byte stream!";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 err="1" smtClean="0"/>
              <a:t>fos.write</a:t>
            </a:r>
            <a:r>
              <a:rPr lang="en-IN" dirty="0" smtClean="0"/>
              <a:t>(</a:t>
            </a:r>
            <a:r>
              <a:rPr lang="en-IN" dirty="0" err="1" smtClean="0"/>
              <a:t>content.getBytes</a:t>
            </a:r>
            <a:r>
              <a:rPr lang="en-IN" dirty="0" smtClean="0"/>
              <a:t>()); // Convert String to bytes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 err="1" smtClean="0"/>
              <a:t>System.out.println</a:t>
            </a:r>
            <a:r>
              <a:rPr lang="en-IN" dirty="0" smtClean="0"/>
              <a:t>("Data written to file.");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} catch (</a:t>
            </a:r>
            <a:r>
              <a:rPr lang="en-IN" dirty="0" err="1" smtClean="0"/>
              <a:t>IOException</a:t>
            </a:r>
            <a:r>
              <a:rPr lang="en-IN" dirty="0" smtClean="0"/>
              <a:t> e) {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 err="1" smtClean="0"/>
              <a:t>e.printStackTrace</a:t>
            </a:r>
            <a:r>
              <a:rPr lang="en-IN" dirty="0" smtClean="0"/>
              <a:t>();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}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}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3239"/>
          </a:xfrm>
        </p:spPr>
        <p:txBody>
          <a:bodyPr/>
          <a:lstStyle/>
          <a:p>
            <a:r>
              <a:rPr lang="en-IN" b="1" dirty="0"/>
              <a:t>Methods of </a:t>
            </a:r>
            <a:r>
              <a:rPr lang="en-IN" b="1" dirty="0" err="1" smtClean="0"/>
              <a:t>OutputStream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789516"/>
          <a:ext cx="10515600" cy="3990108"/>
        </p:xfrm>
        <a:graphic>
          <a:graphicData uri="http://schemas.openxmlformats.org/drawingml/2006/table">
            <a:tbl>
              <a:tblPr/>
              <a:tblGrid>
                <a:gridCol w="1729509"/>
                <a:gridCol w="2022764"/>
                <a:gridCol w="6763327"/>
              </a:tblGrid>
              <a:tr h="637076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800" b="1">
                          <a:effectLst/>
                        </a:rPr>
                        <a:t>S. No.</a:t>
                      </a:r>
                      <a:endParaRPr lang="en-IN" sz="2800" b="1">
                        <a:effectLst/>
                      </a:endParaRPr>
                    </a:p>
                  </a:txBody>
                  <a:tcPr marL="38100" marR="381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800" b="1">
                          <a:effectLst/>
                        </a:rPr>
                        <a:t>Method</a:t>
                      </a:r>
                      <a:endParaRPr lang="en-IN" sz="2800" b="1">
                        <a:effectLst/>
                      </a:endParaRP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800" b="1">
                          <a:effectLst/>
                        </a:rPr>
                        <a:t>Description</a:t>
                      </a:r>
                      <a:endParaRPr lang="en-IN" sz="2800" b="1">
                        <a:effectLst/>
                      </a:endParaRP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707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>
                          <a:effectLst/>
                        </a:rPr>
                        <a:t>1.</a:t>
                      </a:r>
                      <a:endParaRPr lang="en-IN" sz="2400" b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>
                          <a:effectLst/>
                        </a:rPr>
                        <a:t>write()</a:t>
                      </a:r>
                      <a:endParaRPr lang="en-IN" sz="2400" b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>
                          <a:effectLst/>
                        </a:rPr>
                        <a:t>Writes the specified byte to the output stream.</a:t>
                      </a:r>
                      <a:endParaRPr lang="en-US" sz="2400" b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94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>
                          <a:effectLst/>
                        </a:rPr>
                        <a:t>2.</a:t>
                      </a:r>
                      <a:endParaRPr lang="en-IN" sz="2400" b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dirty="0">
                          <a:effectLst/>
                        </a:rPr>
                        <a:t>write(byte[] array)</a:t>
                      </a:r>
                      <a:endParaRPr lang="en-IN" sz="2400" b="0" dirty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>
                          <a:effectLst/>
                        </a:rPr>
                        <a:t>Writes the bytes which are inside a specific array to the output stream.</a:t>
                      </a:r>
                      <a:endParaRPr lang="en-US" sz="2400" b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707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>
                          <a:effectLst/>
                        </a:rPr>
                        <a:t>3.</a:t>
                      </a:r>
                      <a:endParaRPr lang="en-IN" sz="2400" b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>
                          <a:effectLst/>
                        </a:rPr>
                        <a:t>close()</a:t>
                      </a:r>
                      <a:endParaRPr lang="en-IN" sz="2400" b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>
                          <a:effectLst/>
                        </a:rPr>
                        <a:t>Closes the output stream.</a:t>
                      </a:r>
                      <a:endParaRPr lang="en-IN" sz="2400" b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94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>
                          <a:effectLst/>
                        </a:rPr>
                        <a:t>4.</a:t>
                      </a:r>
                      <a:endParaRPr lang="en-IN" sz="2400" b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>
                          <a:effectLst/>
                        </a:rPr>
                        <a:t>flush()</a:t>
                      </a:r>
                      <a:endParaRPr lang="en-IN" sz="2400" b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dirty="0">
                          <a:effectLst/>
                        </a:rPr>
                        <a:t>Forces to write all the data present in an output stream to the destination.</a:t>
                      </a:r>
                      <a:endParaRPr lang="en-US" sz="2400" b="0" dirty="0">
                        <a:effectLst/>
                      </a:endParaRP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879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File Read using Buffered Streams for Efficiency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" y="1137920"/>
            <a:ext cx="11440160" cy="5547360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import </a:t>
            </a:r>
            <a:r>
              <a:rPr lang="en-IN" sz="2000" dirty="0" err="1" smtClean="0"/>
              <a:t>java.io.BufferedInputStream</a:t>
            </a:r>
            <a:r>
              <a:rPr lang="en-IN" sz="2000" dirty="0" smtClean="0"/>
              <a:t>;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import </a:t>
            </a:r>
            <a:r>
              <a:rPr lang="en-IN" sz="2000" dirty="0" err="1" smtClean="0"/>
              <a:t>java.io.FileInputStream</a:t>
            </a:r>
            <a:r>
              <a:rPr lang="en-IN" sz="2000" dirty="0" smtClean="0"/>
              <a:t>;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import </a:t>
            </a:r>
            <a:r>
              <a:rPr lang="en-IN" sz="2000" dirty="0" err="1" smtClean="0"/>
              <a:t>java.io.IOException</a:t>
            </a:r>
            <a:r>
              <a:rPr lang="en-IN" sz="2000" dirty="0" smtClean="0"/>
              <a:t>;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public class </a:t>
            </a:r>
            <a:r>
              <a:rPr lang="en-IN" sz="2000" dirty="0" err="1" smtClean="0"/>
              <a:t>BufferedInputStreamExample</a:t>
            </a:r>
            <a:r>
              <a:rPr lang="en-IN" sz="2000" dirty="0" smtClean="0"/>
              <a:t> {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    public static void main(String[] </a:t>
            </a:r>
            <a:r>
              <a:rPr lang="en-IN" sz="2000" dirty="0" err="1" smtClean="0"/>
              <a:t>args</a:t>
            </a:r>
            <a:r>
              <a:rPr lang="en-IN" sz="2000" dirty="0" smtClean="0"/>
              <a:t>) {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        try (</a:t>
            </a:r>
            <a:r>
              <a:rPr lang="en-IN" sz="2000" dirty="0" err="1" smtClean="0"/>
              <a:t>BufferedInputStream</a:t>
            </a:r>
            <a:r>
              <a:rPr lang="en-IN" sz="2000" dirty="0" smtClean="0"/>
              <a:t> </a:t>
            </a:r>
            <a:r>
              <a:rPr lang="en-IN" sz="2000" dirty="0" err="1" smtClean="0"/>
              <a:t>bis</a:t>
            </a:r>
            <a:r>
              <a:rPr lang="en-IN" sz="2000" dirty="0" smtClean="0"/>
              <a:t> = new </a:t>
            </a:r>
            <a:r>
              <a:rPr lang="en-IN" sz="2000" dirty="0" err="1" smtClean="0"/>
              <a:t>BufferedInputStream</a:t>
            </a:r>
            <a:r>
              <a:rPr lang="en-IN" sz="2000" dirty="0" smtClean="0"/>
              <a:t>(new </a:t>
            </a:r>
            <a:r>
              <a:rPr lang="en-IN" sz="2000" dirty="0" err="1" smtClean="0"/>
              <a:t>FileInputStream</a:t>
            </a:r>
            <a:r>
              <a:rPr lang="en-IN" sz="2000" dirty="0" smtClean="0"/>
              <a:t>("example.txt"))) {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            </a:t>
            </a:r>
            <a:r>
              <a:rPr lang="en-IN" sz="2000" dirty="0" err="1" smtClean="0"/>
              <a:t>int</a:t>
            </a:r>
            <a:r>
              <a:rPr lang="en-IN" sz="2000" dirty="0" smtClean="0"/>
              <a:t> data;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            while ((data = </a:t>
            </a:r>
            <a:r>
              <a:rPr lang="en-IN" sz="2000" dirty="0" err="1" smtClean="0"/>
              <a:t>bis.read</a:t>
            </a:r>
            <a:r>
              <a:rPr lang="en-IN" sz="2000" dirty="0" smtClean="0"/>
              <a:t>()) != -1) { // Read data in chunks using a buffer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                </a:t>
            </a:r>
            <a:r>
              <a:rPr lang="en-IN" sz="2000" dirty="0" err="1" smtClean="0"/>
              <a:t>System.out.print</a:t>
            </a:r>
            <a:r>
              <a:rPr lang="en-IN" sz="2000" dirty="0" smtClean="0"/>
              <a:t>((char) data);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            }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        } catch (</a:t>
            </a:r>
            <a:r>
              <a:rPr lang="en-IN" sz="2000" dirty="0" err="1" smtClean="0"/>
              <a:t>IOException</a:t>
            </a:r>
            <a:r>
              <a:rPr lang="en-IN" sz="2000" dirty="0" smtClean="0"/>
              <a:t> e) {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            </a:t>
            </a:r>
            <a:r>
              <a:rPr lang="en-IN" sz="2000" dirty="0" err="1" smtClean="0"/>
              <a:t>e.printStackTrace</a:t>
            </a:r>
            <a:r>
              <a:rPr lang="en-IN" sz="2000" dirty="0" smtClean="0"/>
              <a:t>();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        }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    }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 smtClean="0"/>
              <a:t>}</a:t>
            </a:r>
            <a:endParaRPr lang="en-IN" sz="2000" dirty="0" smtClean="0"/>
          </a:p>
          <a:p>
            <a:pPr marL="0" indent="0">
              <a:spcBef>
                <a:spcPts val="400"/>
              </a:spcBef>
              <a:buNone/>
            </a:pP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910" y="193965"/>
            <a:ext cx="10515600" cy="711200"/>
          </a:xfrm>
        </p:spPr>
        <p:txBody>
          <a:bodyPr/>
          <a:lstStyle/>
          <a:p>
            <a:r>
              <a:rPr lang="en-IN" b="1" dirty="0" smtClean="0"/>
              <a:t>File Write</a:t>
            </a:r>
            <a:r>
              <a:rPr lang="en-US" b="1" dirty="0"/>
              <a:t> using Buffered Streams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526" y="818862"/>
            <a:ext cx="10935007" cy="6039138"/>
          </a:xfrm>
        </p:spPr>
        <p:txBody>
          <a:bodyPr>
            <a:no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import </a:t>
            </a:r>
            <a:r>
              <a:rPr lang="en-IN" sz="1800" dirty="0" err="1"/>
              <a:t>java.io.FileOutputStream</a:t>
            </a:r>
            <a:r>
              <a:rPr lang="en-IN" sz="1800" dirty="0"/>
              <a:t>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import </a:t>
            </a:r>
            <a:r>
              <a:rPr lang="en-IN" sz="1800" dirty="0" err="1"/>
              <a:t>java.io.BufferedOutputStream</a:t>
            </a:r>
            <a:r>
              <a:rPr lang="en-IN" sz="1800" dirty="0"/>
              <a:t>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import </a:t>
            </a:r>
            <a:r>
              <a:rPr lang="en-IN" sz="1800" dirty="0" err="1"/>
              <a:t>java.io.IOException</a:t>
            </a:r>
            <a:r>
              <a:rPr lang="en-IN" sz="1800" dirty="0" smtClean="0"/>
              <a:t>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public class </a:t>
            </a:r>
            <a:r>
              <a:rPr lang="en-IN" sz="1800" dirty="0" err="1"/>
              <a:t>BufferedFileWriteBinary</a:t>
            </a:r>
            <a:r>
              <a:rPr lang="en-IN" sz="1800" dirty="0"/>
              <a:t>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public static void main(String[] </a:t>
            </a:r>
            <a:r>
              <a:rPr lang="en-IN" sz="1800" dirty="0" err="1"/>
              <a:t>args</a:t>
            </a:r>
            <a:r>
              <a:rPr lang="en-IN" sz="1800" dirty="0"/>
              <a:t>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</a:t>
            </a:r>
            <a:r>
              <a:rPr lang="en-IN" sz="1800" dirty="0" err="1"/>
              <a:t>BufferedOutputStream</a:t>
            </a:r>
            <a:r>
              <a:rPr lang="en-IN" sz="1800" dirty="0"/>
              <a:t> </a:t>
            </a:r>
            <a:r>
              <a:rPr lang="en-IN" sz="1800" dirty="0" err="1"/>
              <a:t>bos</a:t>
            </a:r>
            <a:r>
              <a:rPr lang="en-IN" sz="1800" dirty="0"/>
              <a:t> = null</a:t>
            </a:r>
            <a:r>
              <a:rPr lang="en-IN" sz="1800" dirty="0" smtClean="0"/>
              <a:t>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try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                 </a:t>
            </a:r>
            <a:r>
              <a:rPr lang="en-IN" sz="1800" dirty="0" err="1" smtClean="0"/>
              <a:t>bos</a:t>
            </a:r>
            <a:r>
              <a:rPr lang="en-IN" sz="1800" dirty="0" smtClean="0"/>
              <a:t> </a:t>
            </a:r>
            <a:r>
              <a:rPr lang="en-IN" sz="1800" dirty="0"/>
              <a:t>= new </a:t>
            </a:r>
            <a:r>
              <a:rPr lang="en-IN" sz="1800" dirty="0" err="1"/>
              <a:t>BufferedOutputStream</a:t>
            </a:r>
            <a:r>
              <a:rPr lang="en-IN" sz="1800" dirty="0"/>
              <a:t>(new </a:t>
            </a:r>
            <a:r>
              <a:rPr lang="en-IN" sz="1800" dirty="0" err="1"/>
              <a:t>FileOutputStream</a:t>
            </a:r>
            <a:r>
              <a:rPr lang="en-IN" sz="1800" dirty="0"/>
              <a:t>("example.dat"));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smtClean="0"/>
              <a:t>    byte</a:t>
            </a:r>
            <a:r>
              <a:rPr lang="en-IN" sz="1800" dirty="0"/>
              <a:t>[] data = {65, 66, 67, 68, 69}; </a:t>
            </a:r>
            <a:r>
              <a:rPr lang="en-IN" sz="1800" dirty="0" smtClean="0"/>
              <a:t>     // </a:t>
            </a:r>
            <a:r>
              <a:rPr lang="en-IN" sz="1800" dirty="0"/>
              <a:t>ASCII values for 'A', 'B', 'C', 'D', 'E'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                </a:t>
            </a:r>
            <a:r>
              <a:rPr lang="en-IN" sz="1800" dirty="0" err="1" smtClean="0"/>
              <a:t>bos.write</a:t>
            </a:r>
            <a:r>
              <a:rPr lang="en-IN" sz="1800" dirty="0" smtClean="0"/>
              <a:t>(data</a:t>
            </a:r>
            <a:r>
              <a:rPr lang="en-IN" sz="1800" dirty="0"/>
              <a:t>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               </a:t>
            </a:r>
            <a:r>
              <a:rPr lang="en-IN" sz="1800" dirty="0" err="1"/>
              <a:t>System.out.println</a:t>
            </a:r>
            <a:r>
              <a:rPr lang="en-IN" sz="1800" dirty="0"/>
              <a:t>("Data written to file successfully.");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} catch (</a:t>
            </a:r>
            <a:r>
              <a:rPr lang="en-IN" sz="1800" dirty="0" err="1"/>
              <a:t>IOException</a:t>
            </a:r>
            <a:r>
              <a:rPr lang="en-IN" sz="1800" dirty="0"/>
              <a:t> e)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e.printStackTrace</a:t>
            </a:r>
            <a:r>
              <a:rPr lang="en-IN" sz="1800" dirty="0"/>
              <a:t>();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} finally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try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    if (</a:t>
            </a:r>
            <a:r>
              <a:rPr lang="en-IN" sz="1800" dirty="0" err="1"/>
              <a:t>bos</a:t>
            </a:r>
            <a:r>
              <a:rPr lang="en-IN" sz="1800" dirty="0"/>
              <a:t> != null)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        </a:t>
            </a:r>
            <a:r>
              <a:rPr lang="en-IN" sz="1800" dirty="0" err="1"/>
              <a:t>bos.close</a:t>
            </a:r>
            <a:r>
              <a:rPr lang="en-IN" sz="1800" dirty="0"/>
              <a:t>();  // Close the </a:t>
            </a:r>
            <a:r>
              <a:rPr lang="en-IN" sz="1800" dirty="0" err="1"/>
              <a:t>BufferedOutputStream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} catch (</a:t>
            </a:r>
            <a:r>
              <a:rPr lang="en-IN" sz="1800" dirty="0" err="1"/>
              <a:t>IOException</a:t>
            </a:r>
            <a:r>
              <a:rPr lang="en-IN" sz="1800" dirty="0"/>
              <a:t> e)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    </a:t>
            </a:r>
            <a:r>
              <a:rPr lang="en-IN" sz="1800" dirty="0" err="1"/>
              <a:t>e.printStackTrace</a:t>
            </a:r>
            <a:r>
              <a:rPr lang="en-IN" sz="1800" dirty="0"/>
              <a:t>();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}</a:t>
            </a:r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1285"/>
            <a:ext cx="10515600" cy="437515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Delete a file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520" y="962024"/>
            <a:ext cx="11765280" cy="5763896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import </a:t>
            </a:r>
            <a:r>
              <a:rPr lang="en-IN" dirty="0" err="1" smtClean="0"/>
              <a:t>java.io.File</a:t>
            </a:r>
            <a:r>
              <a:rPr lang="en-IN" dirty="0" smtClean="0"/>
              <a:t>; 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public class GFG {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	public static void main(String[] </a:t>
            </a:r>
            <a:r>
              <a:rPr lang="en-IN" dirty="0" err="1" smtClean="0"/>
              <a:t>args</a:t>
            </a:r>
            <a:r>
              <a:rPr lang="en-IN" dirty="0" smtClean="0"/>
              <a:t>){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		File </a:t>
            </a:r>
            <a:r>
              <a:rPr lang="en-IN" dirty="0" err="1" smtClean="0"/>
              <a:t>Obj</a:t>
            </a:r>
            <a:r>
              <a:rPr lang="en-IN" dirty="0" smtClean="0"/>
              <a:t> = new File("myfile.txt");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		if (</a:t>
            </a:r>
            <a:r>
              <a:rPr lang="en-IN" dirty="0" err="1" smtClean="0"/>
              <a:t>Obj.delete</a:t>
            </a:r>
            <a:r>
              <a:rPr lang="en-IN" dirty="0" smtClean="0"/>
              <a:t>()) {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			</a:t>
            </a:r>
            <a:r>
              <a:rPr lang="en-IN" dirty="0" err="1" smtClean="0"/>
              <a:t>System.out.println</a:t>
            </a:r>
            <a:r>
              <a:rPr lang="en-IN" dirty="0" smtClean="0"/>
              <a:t>("The deleted file is : "+ </a:t>
            </a:r>
            <a:r>
              <a:rPr lang="en-IN" dirty="0" err="1" smtClean="0"/>
              <a:t>Obj.getName</a:t>
            </a:r>
            <a:r>
              <a:rPr lang="en-IN" dirty="0" smtClean="0"/>
              <a:t>());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		}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		else {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			</a:t>
            </a:r>
            <a:r>
              <a:rPr lang="en-IN" dirty="0" err="1" smtClean="0"/>
              <a:t>System.out.println</a:t>
            </a:r>
            <a:r>
              <a:rPr lang="en-IN" dirty="0" smtClean="0"/>
              <a:t>("Failed in deleting the file.");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		}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	}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IN" dirty="0" smtClean="0"/>
              <a:t>}</a:t>
            </a:r>
            <a:endParaRPr lang="en-IN" dirty="0" smtClean="0"/>
          </a:p>
          <a:p>
            <a:pPr marL="0" indent="0">
              <a:spcBef>
                <a:spcPts val="400"/>
              </a:spcBef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Filter stream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1809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Java, </a:t>
            </a:r>
            <a:r>
              <a:rPr lang="en-US" b="1" dirty="0"/>
              <a:t>filter streams</a:t>
            </a:r>
            <a:r>
              <a:rPr lang="en-US" dirty="0"/>
              <a:t> are streams that process data read from or written to another </a:t>
            </a:r>
            <a:r>
              <a:rPr lang="en-US" dirty="0" smtClean="0"/>
              <a:t>stream.</a:t>
            </a:r>
            <a:endParaRPr lang="en-US" dirty="0" smtClean="0"/>
          </a:p>
          <a:p>
            <a:r>
              <a:rPr lang="en-US" dirty="0"/>
              <a:t>They are used to modify or filter the data in some way while it is being read or written. </a:t>
            </a:r>
            <a:endParaRPr lang="en-US" dirty="0" smtClean="0"/>
          </a:p>
          <a:p>
            <a:r>
              <a:rPr lang="en-US" dirty="0"/>
              <a:t>A filter stream can wrap an existing stream to provide additional functionality, such as buffering, data conversion, or compression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IN" dirty="0"/>
              <a:t>Common Filter Stream </a:t>
            </a:r>
            <a:r>
              <a:rPr lang="en-IN" dirty="0" err="1"/>
              <a:t>ClassesBuffered</a:t>
            </a:r>
            <a:r>
              <a:rPr lang="en-IN" dirty="0"/>
              <a:t> </a:t>
            </a:r>
            <a:r>
              <a:rPr lang="en-IN" dirty="0" smtClean="0"/>
              <a:t>Streams:</a:t>
            </a:r>
            <a:endParaRPr lang="en-IN" dirty="0" smtClean="0"/>
          </a:p>
          <a:p>
            <a:pPr lvl="1"/>
            <a:r>
              <a:rPr lang="en-IN" dirty="0" err="1" smtClean="0"/>
              <a:t>BufferedInputStream</a:t>
            </a:r>
            <a:r>
              <a:rPr lang="en-IN" dirty="0" smtClean="0"/>
              <a:t>, </a:t>
            </a:r>
            <a:r>
              <a:rPr lang="en-IN" dirty="0" err="1" smtClean="0"/>
              <a:t>BufferedOutputStream</a:t>
            </a:r>
            <a:r>
              <a:rPr lang="en-IN" dirty="0" smtClean="0"/>
              <a:t>, </a:t>
            </a:r>
            <a:r>
              <a:rPr lang="en-IN" dirty="0" err="1" smtClean="0"/>
              <a:t>BufferedReader,BufferedWriter</a:t>
            </a:r>
            <a:r>
              <a:rPr lang="en-IN" dirty="0" smtClean="0"/>
              <a:t>.</a:t>
            </a:r>
            <a:endParaRPr lang="en-IN" dirty="0" smtClean="0"/>
          </a:p>
          <a:p>
            <a:pPr lvl="1"/>
            <a:r>
              <a:rPr lang="en-IN" dirty="0" smtClean="0"/>
              <a:t>Data </a:t>
            </a:r>
            <a:r>
              <a:rPr lang="en-IN" dirty="0" smtClean="0"/>
              <a:t>Streams: </a:t>
            </a:r>
            <a:r>
              <a:rPr lang="en-IN" dirty="0" err="1" smtClean="0"/>
              <a:t>DataInputStream</a:t>
            </a:r>
            <a:r>
              <a:rPr lang="en-IN" dirty="0" smtClean="0"/>
              <a:t>, </a:t>
            </a:r>
            <a:r>
              <a:rPr lang="en-IN" dirty="0" err="1" smtClean="0"/>
              <a:t>DataOutputStream.Object</a:t>
            </a:r>
            <a:endParaRPr lang="en-IN" dirty="0" smtClean="0"/>
          </a:p>
          <a:p>
            <a:pPr lvl="1"/>
            <a:r>
              <a:rPr lang="en-IN" dirty="0" smtClean="0"/>
              <a:t>Streams: </a:t>
            </a:r>
            <a:r>
              <a:rPr lang="en-IN" dirty="0" err="1" smtClean="0"/>
              <a:t>ObjectInputStream</a:t>
            </a:r>
            <a:r>
              <a:rPr lang="en-IN" dirty="0" smtClean="0"/>
              <a:t>, </a:t>
            </a:r>
            <a:r>
              <a:rPr lang="en-IN" dirty="0" err="1" smtClean="0"/>
              <a:t>ObjectOutputStream</a:t>
            </a:r>
            <a:r>
              <a:rPr lang="en-IN" dirty="0" smtClean="0"/>
              <a:t>.</a:t>
            </a:r>
            <a:endParaRPr lang="en-IN" dirty="0" smtClean="0"/>
          </a:p>
          <a:p>
            <a:pPr lvl="1"/>
            <a:r>
              <a:rPr lang="en-IN" dirty="0" smtClean="0"/>
              <a:t>Others: </a:t>
            </a:r>
            <a:r>
              <a:rPr lang="en-IN" dirty="0" err="1" smtClean="0"/>
              <a:t>PrintStream</a:t>
            </a:r>
            <a:r>
              <a:rPr lang="en-IN" dirty="0" smtClean="0"/>
              <a:t>, </a:t>
            </a:r>
            <a:r>
              <a:rPr lang="en-IN" dirty="0" err="1" smtClean="0"/>
              <a:t>PushbackInputStream</a:t>
            </a:r>
            <a:r>
              <a:rPr lang="en-IN" dirty="0" smtClean="0"/>
              <a:t>.</a:t>
            </a:r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09" y="143838"/>
            <a:ext cx="10515600" cy="595457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Using </a:t>
            </a:r>
            <a:r>
              <a:rPr lang="en-IN" sz="4000" dirty="0" err="1"/>
              <a:t>DataOutputStream</a:t>
            </a:r>
            <a:r>
              <a:rPr lang="en-IN" sz="4000" dirty="0"/>
              <a:t> and </a:t>
            </a:r>
            <a:r>
              <a:rPr lang="en-IN" sz="4000" dirty="0" err="1"/>
              <a:t>DataInputStream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036" y="739295"/>
            <a:ext cx="11397673" cy="452196"/>
          </a:xfrm>
        </p:spPr>
        <p:txBody>
          <a:bodyPr>
            <a:noAutofit/>
          </a:bodyPr>
          <a:lstStyle/>
          <a:p>
            <a:r>
              <a:rPr lang="en-US" sz="2400" dirty="0"/>
              <a:t>This example demonstrates writing primitive data types to a file and reading them back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endParaRPr lang="en-IN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4037" y="1191491"/>
          <a:ext cx="11711708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5854"/>
                <a:gridCol w="5855854"/>
              </a:tblGrid>
              <a:tr h="5486400">
                <a:tc>
                  <a:txBody>
                    <a:bodyPr/>
                    <a:lstStyle/>
                    <a:p>
                      <a:r>
                        <a:rPr lang="en-IN" dirty="0" smtClean="0"/>
                        <a:t>import </a:t>
                      </a:r>
                      <a:r>
                        <a:rPr lang="en-IN" dirty="0" err="1" smtClean="0"/>
                        <a:t>java.io.DataInputStream</a:t>
                      </a:r>
                      <a:r>
                        <a:rPr lang="en-IN" dirty="0" smtClean="0"/>
                        <a:t>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import </a:t>
                      </a:r>
                      <a:r>
                        <a:rPr lang="en-IN" dirty="0" err="1" smtClean="0"/>
                        <a:t>java.io.DataOutputStream</a:t>
                      </a:r>
                      <a:r>
                        <a:rPr lang="en-IN" dirty="0" smtClean="0"/>
                        <a:t>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import </a:t>
                      </a:r>
                      <a:r>
                        <a:rPr lang="en-IN" dirty="0" err="1" smtClean="0"/>
                        <a:t>java.io.FileInputStream</a:t>
                      </a:r>
                      <a:r>
                        <a:rPr lang="en-IN" dirty="0" smtClean="0"/>
                        <a:t>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import </a:t>
                      </a:r>
                      <a:r>
                        <a:rPr lang="en-IN" dirty="0" err="1" smtClean="0"/>
                        <a:t>java.io.FileOutputStream</a:t>
                      </a:r>
                      <a:r>
                        <a:rPr lang="en-IN" dirty="0" smtClean="0"/>
                        <a:t>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import </a:t>
                      </a:r>
                      <a:r>
                        <a:rPr lang="en-IN" dirty="0" err="1" smtClean="0"/>
                        <a:t>java.io.IOException</a:t>
                      </a:r>
                      <a:r>
                        <a:rPr lang="en-IN" dirty="0" smtClean="0"/>
                        <a:t>;</a:t>
                      </a:r>
                      <a:endParaRPr lang="en-IN" dirty="0" smtClean="0"/>
                    </a:p>
                    <a:p>
                      <a:endParaRPr lang="en-IN" dirty="0" smtClean="0"/>
                    </a:p>
                    <a:p>
                      <a:r>
                        <a:rPr lang="en-IN" dirty="0" smtClean="0"/>
                        <a:t>public class </a:t>
                      </a:r>
                      <a:r>
                        <a:rPr lang="en-IN" dirty="0" err="1" smtClean="0"/>
                        <a:t>DataStreamExample</a:t>
                      </a:r>
                      <a:r>
                        <a:rPr lang="en-IN" dirty="0" smtClean="0"/>
                        <a:t> {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public static void main(String[] </a:t>
                      </a:r>
                      <a:r>
                        <a:rPr lang="en-IN" dirty="0" err="1" smtClean="0"/>
                        <a:t>args</a:t>
                      </a:r>
                      <a:r>
                        <a:rPr lang="en-IN" dirty="0" smtClean="0"/>
                        <a:t>) {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// Writing data to a file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try (</a:t>
                      </a:r>
                      <a:r>
                        <a:rPr lang="en-IN" dirty="0" err="1" smtClean="0"/>
                        <a:t>DataOutputStream</a:t>
                      </a:r>
                      <a:r>
                        <a:rPr lang="en-IN" dirty="0" smtClean="0"/>
                        <a:t> dos = new </a:t>
                      </a:r>
                      <a:r>
                        <a:rPr lang="en-IN" dirty="0" err="1" smtClean="0"/>
                        <a:t>DataOutputStream</a:t>
                      </a:r>
                      <a:r>
                        <a:rPr lang="en-IN" dirty="0" smtClean="0"/>
                        <a:t>(new </a:t>
                      </a:r>
                      <a:r>
                        <a:rPr lang="en-IN" dirty="0" err="1" smtClean="0"/>
                        <a:t>FileOutputStream</a:t>
                      </a:r>
                      <a:r>
                        <a:rPr lang="en-IN" dirty="0" smtClean="0"/>
                        <a:t>("</a:t>
                      </a:r>
                      <a:r>
                        <a:rPr lang="en-IN" dirty="0" err="1" smtClean="0"/>
                        <a:t>data.bin</a:t>
                      </a:r>
                      <a:r>
                        <a:rPr lang="en-IN" dirty="0" smtClean="0"/>
                        <a:t>"))) {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    </a:t>
                      </a:r>
                      <a:r>
                        <a:rPr lang="en-IN" dirty="0" err="1" smtClean="0"/>
                        <a:t>dos.writeInt</a:t>
                      </a:r>
                      <a:r>
                        <a:rPr lang="en-IN" dirty="0" smtClean="0"/>
                        <a:t>(42);          // Write an integer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    </a:t>
                      </a:r>
                      <a:r>
                        <a:rPr lang="en-IN" dirty="0" err="1" smtClean="0"/>
                        <a:t>dos.writeDouble</a:t>
                      </a:r>
                      <a:r>
                        <a:rPr lang="en-IN" dirty="0" smtClean="0"/>
                        <a:t>(3.14);     // Write a double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    </a:t>
                      </a:r>
                      <a:r>
                        <a:rPr lang="en-IN" dirty="0" err="1" smtClean="0"/>
                        <a:t>dos.writeUTF</a:t>
                      </a:r>
                      <a:r>
                        <a:rPr lang="en-IN" dirty="0" smtClean="0"/>
                        <a:t>("Hello!");    // Write a UTF-8 encoded string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} catch (</a:t>
                      </a:r>
                      <a:r>
                        <a:rPr lang="en-IN" dirty="0" err="1" smtClean="0"/>
                        <a:t>IOException</a:t>
                      </a:r>
                      <a:r>
                        <a:rPr lang="en-IN" dirty="0" smtClean="0"/>
                        <a:t> e) {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    </a:t>
                      </a:r>
                      <a:r>
                        <a:rPr lang="en-IN" dirty="0" err="1" smtClean="0"/>
                        <a:t>System.out.println</a:t>
                      </a:r>
                      <a:r>
                        <a:rPr lang="en-IN" dirty="0" smtClean="0"/>
                        <a:t>("Error writing data: " + </a:t>
                      </a:r>
                      <a:r>
                        <a:rPr lang="en-IN" dirty="0" err="1" smtClean="0"/>
                        <a:t>e.getMessage</a:t>
                      </a:r>
                      <a:r>
                        <a:rPr lang="en-IN" dirty="0" smtClean="0"/>
                        <a:t>());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}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// Reading data from the file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try (</a:t>
                      </a:r>
                      <a:r>
                        <a:rPr lang="en-IN" dirty="0" err="1" smtClean="0"/>
                        <a:t>DataInputStream</a:t>
                      </a:r>
                      <a:r>
                        <a:rPr lang="en-IN" dirty="0" smtClean="0"/>
                        <a:t> dis = new </a:t>
                      </a:r>
                      <a:r>
                        <a:rPr lang="en-IN" dirty="0" err="1" smtClean="0"/>
                        <a:t>DataInputStream</a:t>
                      </a:r>
                      <a:r>
                        <a:rPr lang="en-IN" dirty="0" smtClean="0"/>
                        <a:t>(new </a:t>
                      </a:r>
                      <a:r>
                        <a:rPr lang="en-IN" dirty="0" err="1" smtClean="0"/>
                        <a:t>FileInputStream</a:t>
                      </a:r>
                      <a:r>
                        <a:rPr lang="en-IN" dirty="0" smtClean="0"/>
                        <a:t>("</a:t>
                      </a:r>
                      <a:r>
                        <a:rPr lang="en-IN" dirty="0" err="1" smtClean="0"/>
                        <a:t>data.bin</a:t>
                      </a:r>
                      <a:r>
                        <a:rPr lang="en-IN" dirty="0" smtClean="0"/>
                        <a:t>"))) {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    </a:t>
                      </a:r>
                      <a:r>
                        <a:rPr lang="en-IN" dirty="0" err="1" smtClean="0"/>
                        <a:t>int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intValue</a:t>
                      </a:r>
                      <a:r>
                        <a:rPr lang="en-IN" dirty="0" smtClean="0"/>
                        <a:t> = </a:t>
                      </a:r>
                      <a:r>
                        <a:rPr lang="en-IN" dirty="0" err="1" smtClean="0"/>
                        <a:t>dis.readInt</a:t>
                      </a:r>
                      <a:r>
                        <a:rPr lang="en-IN" dirty="0" smtClean="0"/>
                        <a:t>();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    double </a:t>
                      </a:r>
                      <a:r>
                        <a:rPr lang="en-IN" dirty="0" err="1" smtClean="0"/>
                        <a:t>doubleValue</a:t>
                      </a:r>
                      <a:r>
                        <a:rPr lang="en-IN" dirty="0" smtClean="0"/>
                        <a:t> = </a:t>
                      </a:r>
                      <a:r>
                        <a:rPr lang="en-IN" dirty="0" err="1" smtClean="0"/>
                        <a:t>dis.readDouble</a:t>
                      </a:r>
                      <a:r>
                        <a:rPr lang="en-IN" dirty="0" smtClean="0"/>
                        <a:t>();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    String </a:t>
                      </a:r>
                      <a:r>
                        <a:rPr lang="en-IN" dirty="0" err="1" smtClean="0"/>
                        <a:t>stringValue</a:t>
                      </a:r>
                      <a:r>
                        <a:rPr lang="en-IN" dirty="0" smtClean="0"/>
                        <a:t> = </a:t>
                      </a:r>
                      <a:r>
                        <a:rPr lang="en-IN" dirty="0" err="1" smtClean="0"/>
                        <a:t>dis.readUTF</a:t>
                      </a:r>
                      <a:r>
                        <a:rPr lang="en-IN" dirty="0" smtClean="0"/>
                        <a:t>();</a:t>
                      </a:r>
                      <a:endParaRPr lang="en-IN" dirty="0" smtClean="0"/>
                    </a:p>
                    <a:p>
                      <a:endParaRPr lang="en-IN" dirty="0" smtClean="0"/>
                    </a:p>
                    <a:p>
                      <a:r>
                        <a:rPr lang="en-IN" dirty="0" smtClean="0"/>
                        <a:t>            </a:t>
                      </a:r>
                      <a:r>
                        <a:rPr lang="en-IN" dirty="0" err="1" smtClean="0"/>
                        <a:t>System.out.println</a:t>
                      </a:r>
                      <a:r>
                        <a:rPr lang="en-IN" dirty="0" smtClean="0"/>
                        <a:t>("Read Integer: " + </a:t>
                      </a:r>
                      <a:r>
                        <a:rPr lang="en-IN" dirty="0" err="1" smtClean="0"/>
                        <a:t>intValue</a:t>
                      </a:r>
                      <a:r>
                        <a:rPr lang="en-IN" dirty="0" smtClean="0"/>
                        <a:t>);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    </a:t>
                      </a:r>
                      <a:r>
                        <a:rPr lang="en-IN" dirty="0" err="1" smtClean="0"/>
                        <a:t>System.out.println</a:t>
                      </a:r>
                      <a:r>
                        <a:rPr lang="en-IN" dirty="0" smtClean="0"/>
                        <a:t>("Read Double: " + </a:t>
                      </a:r>
                      <a:r>
                        <a:rPr lang="en-IN" dirty="0" err="1" smtClean="0"/>
                        <a:t>doubleValue</a:t>
                      </a:r>
                      <a:r>
                        <a:rPr lang="en-IN" dirty="0" smtClean="0"/>
                        <a:t>);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    </a:t>
                      </a:r>
                      <a:r>
                        <a:rPr lang="en-IN" dirty="0" err="1" smtClean="0"/>
                        <a:t>System.out.println</a:t>
                      </a:r>
                      <a:r>
                        <a:rPr lang="en-IN" dirty="0" smtClean="0"/>
                        <a:t>("Read String: " + </a:t>
                      </a:r>
                      <a:r>
                        <a:rPr lang="en-IN" dirty="0" err="1" smtClean="0"/>
                        <a:t>stringValue</a:t>
                      </a:r>
                      <a:r>
                        <a:rPr lang="en-IN" dirty="0" smtClean="0"/>
                        <a:t>);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} catch (</a:t>
                      </a:r>
                      <a:r>
                        <a:rPr lang="en-IN" dirty="0" err="1" smtClean="0"/>
                        <a:t>IOException</a:t>
                      </a:r>
                      <a:r>
                        <a:rPr lang="en-IN" dirty="0" smtClean="0"/>
                        <a:t> e) {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    </a:t>
                      </a:r>
                      <a:r>
                        <a:rPr lang="en-IN" dirty="0" err="1" smtClean="0"/>
                        <a:t>System.out.println</a:t>
                      </a:r>
                      <a:r>
                        <a:rPr lang="en-IN" dirty="0" smtClean="0"/>
                        <a:t>("Error reading data: " + </a:t>
                      </a:r>
                      <a:r>
                        <a:rPr lang="en-IN" dirty="0" err="1" smtClean="0"/>
                        <a:t>e.getMessage</a:t>
                      </a:r>
                      <a:r>
                        <a:rPr lang="en-IN" dirty="0" smtClean="0"/>
                        <a:t>());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  }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}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}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745" y="143453"/>
            <a:ext cx="11508509" cy="521566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Using </a:t>
            </a:r>
            <a:r>
              <a:rPr lang="en-IN" sz="4000" b="1" dirty="0" err="1"/>
              <a:t>ObjectOutputStream</a:t>
            </a:r>
            <a:r>
              <a:rPr lang="en-IN" sz="4000" b="1" dirty="0"/>
              <a:t> and </a:t>
            </a:r>
            <a:r>
              <a:rPr lang="en-IN" sz="4000" b="1" dirty="0" err="1"/>
              <a:t>ObjectInputStream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665019"/>
            <a:ext cx="11157527" cy="618836"/>
          </a:xfrm>
        </p:spPr>
        <p:txBody>
          <a:bodyPr/>
          <a:lstStyle/>
          <a:p>
            <a:r>
              <a:rPr lang="en-US" dirty="0" smtClean="0"/>
              <a:t>This </a:t>
            </a:r>
            <a:r>
              <a:rPr lang="en-US" dirty="0"/>
              <a:t>example demonstrates writing and reading objects to/from a file.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308" y="1186585"/>
          <a:ext cx="11887202" cy="5577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3601"/>
                <a:gridCol w="5943601"/>
              </a:tblGrid>
              <a:tr h="5440218"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import java.io.*;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class Person implements Serializable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private static final long </a:t>
                      </a:r>
                      <a:r>
                        <a:rPr lang="en-IN" sz="1800" dirty="0" err="1" smtClean="0"/>
                        <a:t>serialVersionUID</a:t>
                      </a:r>
                      <a:r>
                        <a:rPr lang="en-IN" sz="1800" dirty="0" smtClean="0"/>
                        <a:t> = 1L;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String name;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</a:t>
                      </a:r>
                      <a:r>
                        <a:rPr lang="en-IN" sz="1800" dirty="0" err="1" smtClean="0"/>
                        <a:t>int</a:t>
                      </a:r>
                      <a:r>
                        <a:rPr lang="en-IN" sz="1800" dirty="0" smtClean="0"/>
                        <a:t> age;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Person(String name, </a:t>
                      </a:r>
                      <a:r>
                        <a:rPr lang="en-IN" sz="1800" dirty="0" err="1" smtClean="0"/>
                        <a:t>int</a:t>
                      </a:r>
                      <a:r>
                        <a:rPr lang="en-IN" sz="1800" dirty="0" smtClean="0"/>
                        <a:t> age)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this.name = name;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</a:t>
                      </a:r>
                      <a:r>
                        <a:rPr lang="en-IN" sz="1800" dirty="0" err="1" smtClean="0"/>
                        <a:t>this.age</a:t>
                      </a:r>
                      <a:r>
                        <a:rPr lang="en-IN" sz="1800" dirty="0" smtClean="0"/>
                        <a:t> = age;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}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@Override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public String </a:t>
                      </a:r>
                      <a:r>
                        <a:rPr lang="en-IN" sz="1800" dirty="0" err="1" smtClean="0"/>
                        <a:t>toString</a:t>
                      </a:r>
                      <a:r>
                        <a:rPr lang="en-IN" sz="1800" dirty="0" smtClean="0"/>
                        <a:t>()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return "Person{name='" + name + "', age=" + age + "}";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}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}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public class </a:t>
                      </a:r>
                      <a:r>
                        <a:rPr lang="en-IN" sz="1800" dirty="0" err="1" smtClean="0"/>
                        <a:t>ObjectStreamExample</a:t>
                      </a:r>
                      <a:r>
                        <a:rPr lang="en-IN" sz="1800" dirty="0" smtClean="0"/>
                        <a:t>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public static void main(String[] </a:t>
                      </a:r>
                      <a:r>
                        <a:rPr lang="en-IN" sz="1800" dirty="0" err="1" smtClean="0"/>
                        <a:t>args</a:t>
                      </a:r>
                      <a:r>
                        <a:rPr lang="en-IN" sz="1800" dirty="0" smtClean="0"/>
                        <a:t>)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// Writing an object to a file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try (</a:t>
                      </a:r>
                      <a:r>
                        <a:rPr lang="en-IN" sz="1800" dirty="0" err="1" smtClean="0"/>
                        <a:t>ObjectOutputStream</a:t>
                      </a:r>
                      <a:r>
                        <a:rPr lang="en-IN" sz="1800" dirty="0" smtClean="0"/>
                        <a:t> </a:t>
                      </a:r>
                      <a:r>
                        <a:rPr lang="en-IN" sz="1800" dirty="0" err="1" smtClean="0"/>
                        <a:t>oos</a:t>
                      </a:r>
                      <a:r>
                        <a:rPr lang="en-IN" sz="1800" dirty="0" smtClean="0"/>
                        <a:t> = new </a:t>
                      </a:r>
                      <a:r>
                        <a:rPr lang="en-IN" sz="1800" dirty="0" err="1" smtClean="0"/>
                        <a:t>ObjectOutputStream</a:t>
                      </a:r>
                      <a:r>
                        <a:rPr lang="en-IN" sz="1800" dirty="0" smtClean="0"/>
                        <a:t>(new </a:t>
                      </a:r>
                      <a:r>
                        <a:rPr lang="en-IN" sz="1800" dirty="0" err="1" smtClean="0"/>
                        <a:t>FileOutputStream</a:t>
                      </a:r>
                      <a:r>
                        <a:rPr lang="en-IN" sz="1800" dirty="0" smtClean="0"/>
                        <a:t>("person.obj"))) {</a:t>
                      </a:r>
                      <a:endParaRPr lang="en-IN" sz="1800" dirty="0" smtClean="0"/>
                    </a:p>
                    <a:p>
                      <a:endParaRPr lang="en-IN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 Person </a:t>
                      </a:r>
                      <a:r>
                        <a:rPr lang="en-IN" sz="1800" dirty="0" err="1" smtClean="0"/>
                        <a:t>person</a:t>
                      </a:r>
                      <a:r>
                        <a:rPr lang="en-IN" sz="1800" dirty="0" smtClean="0"/>
                        <a:t> = new Person("Alice", 30);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    </a:t>
                      </a:r>
                      <a:r>
                        <a:rPr lang="en-IN" sz="1800" dirty="0" err="1" smtClean="0"/>
                        <a:t>oos.writeObject</a:t>
                      </a:r>
                      <a:r>
                        <a:rPr lang="en-IN" sz="1800" dirty="0" smtClean="0"/>
                        <a:t>(person);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} catch (</a:t>
                      </a:r>
                      <a:r>
                        <a:rPr lang="en-IN" sz="1800" dirty="0" err="1" smtClean="0"/>
                        <a:t>IOException</a:t>
                      </a:r>
                      <a:r>
                        <a:rPr lang="en-IN" sz="1800" dirty="0" smtClean="0"/>
                        <a:t> e)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    </a:t>
                      </a:r>
                      <a:r>
                        <a:rPr lang="en-IN" sz="1800" dirty="0" err="1" smtClean="0"/>
                        <a:t>System.out.println</a:t>
                      </a:r>
                      <a:r>
                        <a:rPr lang="en-IN" sz="1800" dirty="0" smtClean="0"/>
                        <a:t>("Error writing object: " + </a:t>
                      </a:r>
                      <a:r>
                        <a:rPr lang="en-IN" sz="1800" dirty="0" err="1" smtClean="0"/>
                        <a:t>e.getMessage</a:t>
                      </a:r>
                      <a:r>
                        <a:rPr lang="en-IN" sz="1800" dirty="0" smtClean="0"/>
                        <a:t>());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}</a:t>
                      </a:r>
                      <a:endParaRPr lang="en-IN" sz="1800" dirty="0" smtClean="0"/>
                    </a:p>
                    <a:p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// Reading an object from the file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try (</a:t>
                      </a:r>
                      <a:r>
                        <a:rPr lang="en-IN" sz="1800" dirty="0" err="1" smtClean="0"/>
                        <a:t>ObjectInputStream</a:t>
                      </a:r>
                      <a:r>
                        <a:rPr lang="en-IN" sz="1800" dirty="0" smtClean="0"/>
                        <a:t> </a:t>
                      </a:r>
                      <a:r>
                        <a:rPr lang="en-IN" sz="1800" dirty="0" err="1" smtClean="0"/>
                        <a:t>ois</a:t>
                      </a:r>
                      <a:r>
                        <a:rPr lang="en-IN" sz="1800" dirty="0" smtClean="0"/>
                        <a:t> = new </a:t>
                      </a:r>
                      <a:r>
                        <a:rPr lang="en-IN" sz="1800" dirty="0" err="1" smtClean="0"/>
                        <a:t>ObjectInputStream</a:t>
                      </a:r>
                      <a:r>
                        <a:rPr lang="en-IN" sz="1800" dirty="0" smtClean="0"/>
                        <a:t>(new </a:t>
                      </a:r>
                      <a:r>
                        <a:rPr lang="en-IN" sz="1800" dirty="0" err="1" smtClean="0"/>
                        <a:t>FileInputStream</a:t>
                      </a:r>
                      <a:r>
                        <a:rPr lang="en-IN" sz="1800" dirty="0" smtClean="0"/>
                        <a:t>("person.obj")))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    Person </a:t>
                      </a:r>
                      <a:r>
                        <a:rPr lang="en-IN" sz="1800" dirty="0" err="1" smtClean="0"/>
                        <a:t>person</a:t>
                      </a:r>
                      <a:r>
                        <a:rPr lang="en-IN" sz="1800" dirty="0" smtClean="0"/>
                        <a:t> = (Person) </a:t>
                      </a:r>
                      <a:r>
                        <a:rPr lang="en-IN" sz="1800" dirty="0" err="1" smtClean="0"/>
                        <a:t>ois.readObject</a:t>
                      </a:r>
                      <a:r>
                        <a:rPr lang="en-IN" sz="1800" dirty="0" smtClean="0"/>
                        <a:t>();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    </a:t>
                      </a:r>
                      <a:r>
                        <a:rPr lang="en-IN" sz="1800" dirty="0" err="1" smtClean="0"/>
                        <a:t>System.out.println</a:t>
                      </a:r>
                      <a:r>
                        <a:rPr lang="en-IN" sz="1800" dirty="0" smtClean="0"/>
                        <a:t>("Read Object: " + person);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} catch (</a:t>
                      </a:r>
                      <a:r>
                        <a:rPr lang="en-IN" sz="1800" dirty="0" err="1" smtClean="0"/>
                        <a:t>IOException</a:t>
                      </a:r>
                      <a:r>
                        <a:rPr lang="en-IN" sz="1800" dirty="0" smtClean="0"/>
                        <a:t> | </a:t>
                      </a:r>
                      <a:r>
                        <a:rPr lang="en-IN" sz="1800" dirty="0" err="1" smtClean="0"/>
                        <a:t>ClassNotFoundException</a:t>
                      </a:r>
                      <a:r>
                        <a:rPr lang="en-IN" sz="1800" dirty="0" smtClean="0"/>
                        <a:t> e)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    </a:t>
                      </a:r>
                      <a:r>
                        <a:rPr lang="en-IN" sz="1800" dirty="0" err="1" smtClean="0"/>
                        <a:t>System.out.println</a:t>
                      </a:r>
                      <a:r>
                        <a:rPr lang="en-IN" sz="1800" dirty="0" smtClean="0"/>
                        <a:t>("Error reading object: " + </a:t>
                      </a:r>
                      <a:r>
                        <a:rPr lang="en-IN" sz="1800" dirty="0" err="1" smtClean="0"/>
                        <a:t>e.getMessage</a:t>
                      </a:r>
                      <a:r>
                        <a:rPr lang="en-IN" sz="1800" dirty="0" smtClean="0"/>
                        <a:t>());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}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}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}</a:t>
                      </a:r>
                      <a:endParaRPr lang="en-IN" sz="1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472" y="245052"/>
            <a:ext cx="10515600" cy="493857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P</a:t>
            </a:r>
            <a:r>
              <a:rPr lang="en-IN" dirty="0" err="1" smtClean="0"/>
              <a:t>rintStream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799" y="920461"/>
            <a:ext cx="11427691" cy="565583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Java, </a:t>
            </a:r>
            <a:r>
              <a:rPr lang="en-US" dirty="0" err="1"/>
              <a:t>PrintStream</a:t>
            </a:r>
            <a:r>
              <a:rPr lang="en-US" dirty="0"/>
              <a:t> is a subclass of </a:t>
            </a:r>
            <a:r>
              <a:rPr lang="en-US" dirty="0" err="1"/>
              <a:t>OutputStream</a:t>
            </a:r>
            <a:r>
              <a:rPr lang="en-US" dirty="0"/>
              <a:t> that is used to write formatted text (such as strings, numbers, or objects) to an output destination like a file, console, or network </a:t>
            </a:r>
            <a:r>
              <a:rPr lang="en-US" dirty="0" smtClean="0"/>
              <a:t>socket.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part of the java.io package and provides methods to output data in a human-readable format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Automatic Flushing</a:t>
            </a:r>
            <a:r>
              <a:rPr lang="en-US" dirty="0" smtClean="0"/>
              <a:t>: If </a:t>
            </a:r>
            <a:r>
              <a:rPr lang="en-US" dirty="0" err="1"/>
              <a:t>autoFlush</a:t>
            </a:r>
            <a:r>
              <a:rPr lang="en-US" dirty="0"/>
              <a:t> is enabled, the stream flushes automatically whenever a newline character (\n) is written, or one of the print/</a:t>
            </a:r>
            <a:r>
              <a:rPr lang="en-US" dirty="0" err="1"/>
              <a:t>println</a:t>
            </a:r>
            <a:r>
              <a:rPr lang="en-US" dirty="0"/>
              <a:t> methods is called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No I/O </a:t>
            </a:r>
            <a:r>
              <a:rPr lang="en-US" dirty="0" err="1"/>
              <a:t>Exceptions:Unlike</a:t>
            </a:r>
            <a:r>
              <a:rPr lang="en-US" dirty="0"/>
              <a:t> other streams, </a:t>
            </a:r>
            <a:r>
              <a:rPr lang="en-US" dirty="0" err="1"/>
              <a:t>PrintStream</a:t>
            </a:r>
            <a:r>
              <a:rPr lang="en-US" dirty="0"/>
              <a:t> does not throw </a:t>
            </a:r>
            <a:r>
              <a:rPr lang="en-US" dirty="0" err="1"/>
              <a:t>IOException</a:t>
            </a:r>
            <a:r>
              <a:rPr lang="en-US" dirty="0"/>
              <a:t> during operations. Instead, errors are internally handled, and you can check the error status using the </a:t>
            </a:r>
            <a:r>
              <a:rPr lang="en-US" dirty="0" err="1"/>
              <a:t>checkError</a:t>
            </a:r>
            <a:r>
              <a:rPr lang="en-US" dirty="0"/>
              <a:t>() method. </a:t>
            </a:r>
            <a:endParaRPr lang="en-US" dirty="0" smtClean="0"/>
          </a:p>
          <a:p>
            <a:r>
              <a:rPr lang="en-US" dirty="0" smtClean="0"/>
              <a:t>Convenient </a:t>
            </a:r>
            <a:r>
              <a:rPr lang="en-US" dirty="0"/>
              <a:t>Printing</a:t>
            </a:r>
            <a:r>
              <a:rPr lang="en-US" dirty="0" smtClean="0"/>
              <a:t>: Provides </a:t>
            </a:r>
            <a:r>
              <a:rPr lang="en-US" dirty="0"/>
              <a:t>easy-to-use methods like print() and </a:t>
            </a:r>
            <a:r>
              <a:rPr lang="en-US" dirty="0" err="1"/>
              <a:t>println</a:t>
            </a:r>
            <a:r>
              <a:rPr lang="en-US" dirty="0"/>
              <a:t>() for outputting various data types, including primitives, objects, and strings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Encapsulation</a:t>
            </a:r>
            <a:r>
              <a:rPr lang="en-US" dirty="0" smtClean="0"/>
              <a:t>: Wraps </a:t>
            </a:r>
            <a:r>
              <a:rPr lang="en-US" dirty="0"/>
              <a:t>around another output stream, such as </a:t>
            </a:r>
            <a:r>
              <a:rPr lang="en-US" dirty="0" err="1"/>
              <a:t>FileOutputStream</a:t>
            </a:r>
            <a:r>
              <a:rPr lang="en-US" dirty="0"/>
              <a:t>, to make it easier to write human-readable text.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73" y="189635"/>
            <a:ext cx="10515600" cy="383020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PrintStream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72" y="701964"/>
            <a:ext cx="11538527" cy="6077527"/>
          </a:xfrm>
        </p:spPr>
        <p:txBody>
          <a:bodyPr>
            <a:noAutofit/>
          </a:bodyPr>
          <a:lstStyle/>
          <a:p>
            <a:r>
              <a:rPr lang="en-US" sz="2400" dirty="0"/>
              <a:t>Common </a:t>
            </a:r>
            <a:r>
              <a:rPr lang="en-US" sz="2400" dirty="0" smtClean="0"/>
              <a:t>Constructors</a:t>
            </a:r>
            <a:endParaRPr lang="en-US" sz="2400" dirty="0" smtClean="0"/>
          </a:p>
          <a:p>
            <a:pPr lvl="1"/>
            <a:r>
              <a:rPr lang="en-US" sz="2000" dirty="0" err="1" smtClean="0"/>
              <a:t>PrintStream</a:t>
            </a:r>
            <a:r>
              <a:rPr lang="en-US" sz="2000" dirty="0" smtClean="0"/>
              <a:t>(</a:t>
            </a:r>
            <a:r>
              <a:rPr lang="en-US" sz="2000" dirty="0" err="1" smtClean="0"/>
              <a:t>OutputStream</a:t>
            </a:r>
            <a:r>
              <a:rPr lang="en-US" sz="2000" dirty="0" smtClean="0"/>
              <a:t> </a:t>
            </a:r>
            <a:r>
              <a:rPr lang="en-US" sz="2000" dirty="0"/>
              <a:t>out): Creates a new print stream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lvl="1"/>
            <a:r>
              <a:rPr lang="en-US" sz="2000" dirty="0" err="1" smtClean="0"/>
              <a:t>PrintStream</a:t>
            </a:r>
            <a:r>
              <a:rPr lang="en-US" sz="2000" dirty="0" smtClean="0"/>
              <a:t>(</a:t>
            </a:r>
            <a:r>
              <a:rPr lang="en-US" sz="2000" dirty="0" err="1" smtClean="0"/>
              <a:t>OutputStream</a:t>
            </a:r>
            <a:r>
              <a:rPr lang="en-US" sz="2000" dirty="0" smtClean="0"/>
              <a:t> </a:t>
            </a:r>
            <a:r>
              <a:rPr lang="en-US" sz="2000" dirty="0"/>
              <a:t>out, </a:t>
            </a:r>
            <a:r>
              <a:rPr lang="en-US" sz="2000" dirty="0" err="1"/>
              <a:t>boolean</a:t>
            </a:r>
            <a:r>
              <a:rPr lang="en-US" sz="2000" dirty="0"/>
              <a:t> </a:t>
            </a:r>
            <a:r>
              <a:rPr lang="en-US" sz="2000" dirty="0" err="1"/>
              <a:t>autoFlush</a:t>
            </a:r>
            <a:r>
              <a:rPr lang="en-US" sz="2000" dirty="0"/>
              <a:t>): Enables/disables automatic flushing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lvl="1"/>
            <a:r>
              <a:rPr lang="en-US" sz="2000" dirty="0" err="1" smtClean="0"/>
              <a:t>PrintStream</a:t>
            </a:r>
            <a:r>
              <a:rPr lang="en-US" sz="2000" dirty="0" smtClean="0"/>
              <a:t>(String </a:t>
            </a:r>
            <a:r>
              <a:rPr lang="en-US" sz="2000" dirty="0" err="1"/>
              <a:t>fileName</a:t>
            </a:r>
            <a:r>
              <a:rPr lang="en-US" sz="2000" dirty="0"/>
              <a:t>): Writes data to a file with the given name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lvl="1"/>
            <a:r>
              <a:rPr lang="en-US" sz="2000" dirty="0" err="1" smtClean="0"/>
              <a:t>PrintStream</a:t>
            </a:r>
            <a:r>
              <a:rPr lang="en-US" sz="2000" dirty="0" smtClean="0"/>
              <a:t>(File </a:t>
            </a:r>
            <a:r>
              <a:rPr lang="en-US" sz="2000" dirty="0"/>
              <a:t>file): Writes data to a specified file </a:t>
            </a:r>
            <a:r>
              <a:rPr lang="en-US" sz="2000" dirty="0" smtClean="0"/>
              <a:t>object</a:t>
            </a:r>
            <a:endParaRPr lang="en-US" altLang="en-US" b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 smtClean="0"/>
              <a:t>Key </a:t>
            </a:r>
            <a:r>
              <a:rPr lang="en-US" altLang="en-US" sz="2000" b="1" dirty="0"/>
              <a:t>Methods of </a:t>
            </a:r>
            <a:r>
              <a:rPr lang="en-US" altLang="en-US" sz="2000" b="1" dirty="0" err="1"/>
              <a:t>PrintStream</a:t>
            </a:r>
            <a:endParaRPr lang="en-US" altLang="en-US" sz="20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000" b="1" dirty="0"/>
              <a:t>Output Methods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print(): Prints data without a newline.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/>
              <a:t>println</a:t>
            </a:r>
            <a:r>
              <a:rPr lang="en-US" altLang="en-US" sz="2000" dirty="0"/>
              <a:t>(): Prints data followed by a newline.</a:t>
            </a: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000" b="1" dirty="0"/>
              <a:t>Formatting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/>
              <a:t>printf</a:t>
            </a:r>
            <a:r>
              <a:rPr lang="en-US" altLang="en-US" sz="2000" dirty="0"/>
              <a:t>(String format, Object... </a:t>
            </a:r>
            <a:r>
              <a:rPr lang="en-US" altLang="en-US" sz="2000" dirty="0" err="1"/>
              <a:t>args</a:t>
            </a:r>
            <a:r>
              <a:rPr lang="en-US" altLang="en-US" sz="2000" dirty="0"/>
              <a:t>): Writes formatted data, similar to </a:t>
            </a:r>
            <a:r>
              <a:rPr lang="en-US" altLang="en-US" sz="2000" dirty="0" err="1"/>
              <a:t>System.out.printf</a:t>
            </a:r>
            <a:r>
              <a:rPr lang="en-US" altLang="en-US" sz="2000" dirty="0"/>
              <a:t>().</a:t>
            </a: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000" b="1" dirty="0"/>
              <a:t>Error Handling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/>
              <a:t>checkError</a:t>
            </a:r>
            <a:r>
              <a:rPr lang="en-US" altLang="en-US" sz="2000" dirty="0"/>
              <a:t>(): Returns true if the stream has encountered an error.</a:t>
            </a: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2000" b="1" dirty="0"/>
              <a:t>Flushing and Closing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flush(): Forces any buffered output to be written.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close(): Closes the stream and releases resources.</a:t>
            </a:r>
            <a:endParaRPr lang="en-US" altLang="en-US" sz="2000" dirty="0"/>
          </a:p>
          <a:p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Writing to the Console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By default, </a:t>
            </a:r>
            <a:r>
              <a:rPr lang="en-US" dirty="0" err="1"/>
              <a:t>System.out</a:t>
            </a:r>
            <a:r>
              <a:rPr lang="en-US" dirty="0"/>
              <a:t> is a </a:t>
            </a:r>
            <a:r>
              <a:rPr lang="en-US" dirty="0" err="1"/>
              <a:t>PrintStream</a:t>
            </a:r>
            <a:r>
              <a:rPr lang="en-US" dirty="0"/>
              <a:t>, so you’ve likely used it without realizing it</a:t>
            </a:r>
            <a:r>
              <a:rPr lang="en-US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PrintStreamExample</a:t>
            </a:r>
            <a:r>
              <a:rPr lang="en-IN" dirty="0"/>
              <a:t>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PrintStream</a:t>
            </a:r>
            <a:r>
              <a:rPr lang="en-IN" dirty="0"/>
              <a:t> </a:t>
            </a:r>
            <a:r>
              <a:rPr lang="en-IN" dirty="0" err="1"/>
              <a:t>ps</a:t>
            </a:r>
            <a:r>
              <a:rPr lang="en-IN" dirty="0"/>
              <a:t> = </a:t>
            </a:r>
            <a:r>
              <a:rPr lang="en-IN" dirty="0" err="1"/>
              <a:t>System.out</a:t>
            </a:r>
            <a:r>
              <a:rPr lang="en-IN" dirty="0"/>
              <a:t>; // </a:t>
            </a:r>
            <a:r>
              <a:rPr lang="en-IN" dirty="0" err="1"/>
              <a:t>System.out</a:t>
            </a:r>
            <a:r>
              <a:rPr lang="en-IN" dirty="0"/>
              <a:t> is a </a:t>
            </a:r>
            <a:r>
              <a:rPr lang="en-IN" dirty="0" err="1"/>
              <a:t>PrintStream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ps.println</a:t>
            </a:r>
            <a:r>
              <a:rPr lang="en-IN" dirty="0"/>
              <a:t>("Hello, </a:t>
            </a:r>
            <a:r>
              <a:rPr lang="en-IN" dirty="0" err="1"/>
              <a:t>PrintStream</a:t>
            </a:r>
            <a:r>
              <a:rPr lang="en-IN" dirty="0"/>
              <a:t>!"); // Prints with a newline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ps.print</a:t>
            </a:r>
            <a:r>
              <a:rPr lang="en-IN" dirty="0"/>
              <a:t>("This is ");              // Prints without a newline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ps.print</a:t>
            </a:r>
            <a:r>
              <a:rPr lang="en-IN" dirty="0"/>
              <a:t>("on the same line.");     // Continues on the same line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746" y="152689"/>
            <a:ext cx="10515600" cy="521566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2: Writing to </a:t>
            </a:r>
            <a:r>
              <a:rPr lang="en-US" dirty="0" smtClean="0"/>
              <a:t>a </a:t>
            </a:r>
            <a:r>
              <a:rPr lang="en-US" dirty="0"/>
              <a:t>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55" y="831272"/>
            <a:ext cx="11647053" cy="5939917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sz="2400" dirty="0" smtClean="0"/>
              <a:t>You </a:t>
            </a:r>
            <a:r>
              <a:rPr lang="en-US" sz="2400" dirty="0"/>
              <a:t>can wrap a </a:t>
            </a:r>
            <a:r>
              <a:rPr lang="en-US" sz="2400" dirty="0" err="1"/>
              <a:t>FileOutputStream</a:t>
            </a:r>
            <a:r>
              <a:rPr lang="en-US" sz="2400" dirty="0"/>
              <a:t> in a </a:t>
            </a:r>
            <a:r>
              <a:rPr lang="en-US" sz="2400" dirty="0" err="1"/>
              <a:t>PrintStream</a:t>
            </a:r>
            <a:r>
              <a:rPr lang="en-US" sz="2400" dirty="0"/>
              <a:t> to write formatted text to a </a:t>
            </a:r>
            <a:r>
              <a:rPr lang="en-US" sz="2400" dirty="0" smtClean="0"/>
              <a:t>file.</a:t>
            </a:r>
            <a:endParaRPr lang="en-US" sz="2400" dirty="0" smtClean="0"/>
          </a:p>
          <a:p>
            <a:pPr>
              <a:spcBef>
                <a:spcPts val="300"/>
              </a:spcBef>
            </a:pPr>
            <a:endParaRPr lang="en-US" sz="2400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 smtClean="0"/>
              <a:t>import </a:t>
            </a:r>
            <a:r>
              <a:rPr lang="en-IN" sz="2400" dirty="0" err="1"/>
              <a:t>java.io.FileOutputStream</a:t>
            </a:r>
            <a:r>
              <a:rPr lang="en-IN" sz="2400" dirty="0"/>
              <a:t>;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java.io.PrintStream</a:t>
            </a:r>
            <a:r>
              <a:rPr lang="en-IN" sz="2400" dirty="0"/>
              <a:t>;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java.io.IOException</a:t>
            </a:r>
            <a:r>
              <a:rPr lang="en-IN" sz="2400" dirty="0" smtClean="0"/>
              <a:t>;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public class </a:t>
            </a:r>
            <a:r>
              <a:rPr lang="en-IN" sz="2400" dirty="0" err="1"/>
              <a:t>PrintStreamToFile</a:t>
            </a:r>
            <a:r>
              <a:rPr lang="en-IN" sz="2400" dirty="0"/>
              <a:t> {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  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        try (</a:t>
            </a:r>
            <a:r>
              <a:rPr lang="en-IN" sz="2400" dirty="0" err="1"/>
              <a:t>PrintStream</a:t>
            </a:r>
            <a:r>
              <a:rPr lang="en-IN" sz="2400" dirty="0"/>
              <a:t> </a:t>
            </a:r>
            <a:r>
              <a:rPr lang="en-IN" sz="2400" dirty="0" err="1"/>
              <a:t>ps</a:t>
            </a:r>
            <a:r>
              <a:rPr lang="en-IN" sz="2400" dirty="0"/>
              <a:t> = new </a:t>
            </a:r>
            <a:r>
              <a:rPr lang="en-IN" sz="2400" dirty="0" err="1"/>
              <a:t>PrintStream</a:t>
            </a:r>
            <a:r>
              <a:rPr lang="en-IN" sz="2400" dirty="0"/>
              <a:t>(new </a:t>
            </a:r>
            <a:r>
              <a:rPr lang="en-IN" sz="2400" dirty="0" err="1"/>
              <a:t>FileOutputStream</a:t>
            </a:r>
            <a:r>
              <a:rPr lang="en-IN" sz="2400" dirty="0"/>
              <a:t>("output.txt"))) {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ps.println</a:t>
            </a:r>
            <a:r>
              <a:rPr lang="en-IN" sz="2400" dirty="0"/>
              <a:t>("This is a line of text.");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ps.println</a:t>
            </a:r>
            <a:r>
              <a:rPr lang="en-IN" sz="2400" dirty="0"/>
              <a:t>(123); // Writes an integer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ps.printf</a:t>
            </a:r>
            <a:r>
              <a:rPr lang="en-IN" sz="2400" dirty="0"/>
              <a:t>("Formatted number: %.2f%n", 45.6789); // Writes a formatted number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        } catch (</a:t>
            </a:r>
            <a:r>
              <a:rPr lang="en-IN" sz="2400" dirty="0" err="1"/>
              <a:t>IOException</a:t>
            </a:r>
            <a:r>
              <a:rPr lang="en-IN" sz="2400" dirty="0"/>
              <a:t> e) {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System.out.println</a:t>
            </a:r>
            <a:r>
              <a:rPr lang="en-IN" sz="2400" dirty="0"/>
              <a:t>("An error occurred: " + </a:t>
            </a:r>
            <a:r>
              <a:rPr lang="en-IN" sz="2400" dirty="0" err="1"/>
              <a:t>e.getMessage</a:t>
            </a:r>
            <a:r>
              <a:rPr lang="en-IN" sz="2400" dirty="0"/>
              <a:t>());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        }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    }</a:t>
            </a:r>
            <a:endParaRPr lang="en-IN" sz="24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400" dirty="0"/>
              <a:t>}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281" y="925974"/>
            <a:ext cx="10910104" cy="5019495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import </a:t>
            </a:r>
            <a:r>
              <a:rPr lang="en-IN" sz="2000" dirty="0" err="1"/>
              <a:t>java.io.PrintStream</a:t>
            </a:r>
            <a:r>
              <a:rPr lang="en-IN" sz="2000" dirty="0" smtClean="0"/>
              <a:t>;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public class </a:t>
            </a:r>
            <a:r>
              <a:rPr lang="en-IN" sz="2000" dirty="0" err="1"/>
              <a:t>CheckErrorExample</a:t>
            </a:r>
            <a:r>
              <a:rPr lang="en-IN" sz="2000" dirty="0"/>
              <a:t> {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public static void main(String[] </a:t>
            </a:r>
            <a:r>
              <a:rPr lang="en-IN" sz="2000" dirty="0" err="1"/>
              <a:t>args</a:t>
            </a:r>
            <a:r>
              <a:rPr lang="en-IN" sz="2000" dirty="0"/>
              <a:t>) {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</a:t>
            </a:r>
            <a:r>
              <a:rPr lang="en-IN" sz="2000" dirty="0" err="1"/>
              <a:t>PrintStream</a:t>
            </a:r>
            <a:r>
              <a:rPr lang="en-IN" sz="2000" dirty="0"/>
              <a:t> </a:t>
            </a:r>
            <a:r>
              <a:rPr lang="en-IN" sz="2000" dirty="0" err="1"/>
              <a:t>ps</a:t>
            </a:r>
            <a:r>
              <a:rPr lang="en-IN" sz="2000" dirty="0"/>
              <a:t> = null;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try {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ps</a:t>
            </a:r>
            <a:r>
              <a:rPr lang="en-IN" sz="2000" dirty="0"/>
              <a:t> = new </a:t>
            </a:r>
            <a:r>
              <a:rPr lang="en-IN" sz="2000" dirty="0" err="1"/>
              <a:t>PrintStream</a:t>
            </a:r>
            <a:r>
              <a:rPr lang="en-IN" sz="2000" dirty="0" smtClean="0"/>
              <a:t>("invalid/path/output.txt</a:t>
            </a:r>
            <a:r>
              <a:rPr lang="en-IN" sz="2000" dirty="0"/>
              <a:t>");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ps.println</a:t>
            </a:r>
            <a:r>
              <a:rPr lang="en-IN" sz="2000" dirty="0"/>
              <a:t>("This will cause an error!");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} catch (Exception e) {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System.out.println</a:t>
            </a:r>
            <a:r>
              <a:rPr lang="en-IN" sz="2000" dirty="0"/>
              <a:t>("Caught an exception: " + </a:t>
            </a:r>
            <a:r>
              <a:rPr lang="en-IN" sz="2000" dirty="0" err="1"/>
              <a:t>e.getMessage</a:t>
            </a:r>
            <a:r>
              <a:rPr lang="en-IN" sz="2000" dirty="0"/>
              <a:t>());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} finally {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    if (</a:t>
            </a:r>
            <a:r>
              <a:rPr lang="en-IN" sz="2000" dirty="0" err="1"/>
              <a:t>ps</a:t>
            </a:r>
            <a:r>
              <a:rPr lang="en-IN" sz="2000" dirty="0"/>
              <a:t> != null &amp;&amp; </a:t>
            </a:r>
            <a:r>
              <a:rPr lang="en-IN" sz="2000" dirty="0" err="1"/>
              <a:t>ps.checkError</a:t>
            </a:r>
            <a:r>
              <a:rPr lang="en-IN" sz="2000" dirty="0"/>
              <a:t>()) {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        </a:t>
            </a:r>
            <a:r>
              <a:rPr lang="en-IN" sz="2000" dirty="0" err="1"/>
              <a:t>System.out.println</a:t>
            </a:r>
            <a:r>
              <a:rPr lang="en-IN" sz="2000" dirty="0"/>
              <a:t>("An error occurred while writing to the stream.");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    }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    if (</a:t>
            </a:r>
            <a:r>
              <a:rPr lang="en-IN" sz="2000" dirty="0" err="1"/>
              <a:t>ps</a:t>
            </a:r>
            <a:r>
              <a:rPr lang="en-IN" sz="2000" dirty="0"/>
              <a:t> != null) {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        </a:t>
            </a:r>
            <a:r>
              <a:rPr lang="en-IN" sz="2000" dirty="0" err="1"/>
              <a:t>ps.close</a:t>
            </a:r>
            <a:r>
              <a:rPr lang="en-IN" sz="2000" dirty="0"/>
              <a:t>();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    }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    }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    }</a:t>
            </a:r>
            <a:endParaRPr lang="en-IN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000" dirty="0"/>
              <a:t>}</a:t>
            </a:r>
            <a:endParaRPr lang="en-IN" sz="20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14109" y="137582"/>
            <a:ext cx="89963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Example 3: Error Handling with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charset="-122"/>
              </a:rPr>
              <a:t>checkError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charset="-122"/>
              </a:rPr>
              <a:t>()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466" y="226230"/>
            <a:ext cx="10515600" cy="630298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Reader Class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466" y="989638"/>
            <a:ext cx="10948686" cy="5503760"/>
          </a:xfrm>
        </p:spPr>
        <p:txBody>
          <a:bodyPr>
            <a:normAutofit/>
          </a:bodyPr>
          <a:lstStyle/>
          <a:p>
            <a:r>
              <a:rPr lang="en-US" dirty="0"/>
              <a:t>The Reader class is the superclass for all character-based input streams. It provides methods to read characters, arrays of characters, or lines from a source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Key Subclasses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en-US" dirty="0" err="1" smtClean="0"/>
              <a:t>BufferedReader</a:t>
            </a:r>
            <a:r>
              <a:rPr lang="en-US" dirty="0"/>
              <a:t>: For efficient reading using a buffer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err="1" smtClean="0"/>
              <a:t>InputStreamReader</a:t>
            </a:r>
            <a:r>
              <a:rPr lang="en-US" dirty="0"/>
              <a:t>: Converts byte streams to character streams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err="1" smtClean="0"/>
              <a:t>FileReader</a:t>
            </a:r>
            <a:r>
              <a:rPr lang="en-US" dirty="0"/>
              <a:t>: For reading files as characters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Common Methods in Reader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read(): Reads a single character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read(char[] </a:t>
            </a:r>
            <a:r>
              <a:rPr lang="en-US" dirty="0" err="1"/>
              <a:t>cbuf</a:t>
            </a:r>
            <a:r>
              <a:rPr lang="en-US" dirty="0"/>
              <a:t>): Reads characters into an array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void </a:t>
            </a:r>
            <a:r>
              <a:rPr lang="en-US" dirty="0"/>
              <a:t>close(): Closes the reader.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466" y="226230"/>
            <a:ext cx="10515600" cy="630298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Writer Class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466" y="989638"/>
            <a:ext cx="10948686" cy="5619506"/>
          </a:xfrm>
        </p:spPr>
        <p:txBody>
          <a:bodyPr>
            <a:normAutofit/>
          </a:bodyPr>
          <a:lstStyle/>
          <a:p>
            <a:r>
              <a:rPr lang="en-US" dirty="0"/>
              <a:t>The Writer class is the superclass for all character-based output streams. It provides methods to write characters, arrays of characters, or strings to a destination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Key </a:t>
            </a:r>
            <a:r>
              <a:rPr lang="en-US" dirty="0"/>
              <a:t>Subclasses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en-US" dirty="0" err="1"/>
              <a:t>BufferedWriter</a:t>
            </a:r>
            <a:r>
              <a:rPr lang="en-US" dirty="0"/>
              <a:t>: For efficient writing using a buffer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err="1" smtClean="0"/>
              <a:t>OutputStreamWriter</a:t>
            </a:r>
            <a:r>
              <a:rPr lang="en-US" dirty="0"/>
              <a:t>: Converts character streams to byte streams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err="1" smtClean="0"/>
              <a:t>FileWriter</a:t>
            </a:r>
            <a:r>
              <a:rPr lang="en-US" dirty="0"/>
              <a:t>: For writing files as characters.</a:t>
            </a:r>
            <a:endParaRPr lang="en-US" dirty="0" smtClean="0"/>
          </a:p>
          <a:p>
            <a:r>
              <a:rPr lang="en-US" dirty="0" smtClean="0"/>
              <a:t>Common </a:t>
            </a:r>
            <a:r>
              <a:rPr lang="en-US" dirty="0"/>
              <a:t>Methods in Reader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en-US" dirty="0"/>
              <a:t>void write(</a:t>
            </a:r>
            <a:r>
              <a:rPr lang="en-US" dirty="0" err="1"/>
              <a:t>int</a:t>
            </a:r>
            <a:r>
              <a:rPr lang="en-US" dirty="0"/>
              <a:t> c): Writes a single character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void </a:t>
            </a:r>
            <a:r>
              <a:rPr lang="en-US" dirty="0"/>
              <a:t>write(char[] </a:t>
            </a:r>
            <a:r>
              <a:rPr lang="en-US" dirty="0" err="1"/>
              <a:t>cbuf</a:t>
            </a:r>
            <a:r>
              <a:rPr lang="en-US" dirty="0"/>
              <a:t>): Writes an array of characters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void </a:t>
            </a:r>
            <a:r>
              <a:rPr lang="en-US" dirty="0"/>
              <a:t>write(String </a:t>
            </a:r>
            <a:r>
              <a:rPr lang="en-US" dirty="0" err="1"/>
              <a:t>str</a:t>
            </a:r>
            <a:r>
              <a:rPr lang="en-US" dirty="0"/>
              <a:t>): Writes a string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void </a:t>
            </a:r>
            <a:r>
              <a:rPr lang="en-US" dirty="0"/>
              <a:t>flush(): Flushes the stream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void </a:t>
            </a:r>
            <a:r>
              <a:rPr lang="en-US" dirty="0"/>
              <a:t>close(): Closes the writer</a:t>
            </a:r>
            <a:endParaRPr lang="en-US" dirty="0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960" y="203081"/>
            <a:ext cx="10515600" cy="630298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1: Reading from a File using Reader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960" y="1076446"/>
            <a:ext cx="10862840" cy="5100517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java.io.FileReader</a:t>
            </a:r>
            <a:r>
              <a:rPr lang="en-IN" sz="2400" dirty="0"/>
              <a:t>;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java.io.IOException</a:t>
            </a:r>
            <a:r>
              <a:rPr lang="en-IN" sz="2400" dirty="0"/>
              <a:t>;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public class </a:t>
            </a:r>
            <a:r>
              <a:rPr lang="en-IN" sz="2400" dirty="0" err="1"/>
              <a:t>ReaderExample</a:t>
            </a:r>
            <a:r>
              <a:rPr lang="en-IN" sz="2400" dirty="0"/>
              <a:t> {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try (</a:t>
            </a:r>
            <a:r>
              <a:rPr lang="en-IN" sz="2400" dirty="0" err="1"/>
              <a:t>FileReader</a:t>
            </a:r>
            <a:r>
              <a:rPr lang="en-IN" sz="2400" dirty="0"/>
              <a:t> reader = new </a:t>
            </a:r>
            <a:r>
              <a:rPr lang="en-IN" sz="2400" dirty="0" err="1"/>
              <a:t>FileReader</a:t>
            </a:r>
            <a:r>
              <a:rPr lang="en-IN" sz="2400" dirty="0"/>
              <a:t>("example.txt")) {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int</a:t>
            </a:r>
            <a:r>
              <a:rPr lang="en-IN" sz="2400" dirty="0"/>
              <a:t> character;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    while ((character = </a:t>
            </a:r>
            <a:r>
              <a:rPr lang="en-IN" sz="2400" dirty="0" err="1"/>
              <a:t>reader.read</a:t>
            </a:r>
            <a:r>
              <a:rPr lang="en-IN" sz="2400" dirty="0"/>
              <a:t>()) != -1) {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        </a:t>
            </a:r>
            <a:r>
              <a:rPr lang="en-IN" sz="2400" dirty="0" err="1"/>
              <a:t>System.out.print</a:t>
            </a:r>
            <a:r>
              <a:rPr lang="en-IN" sz="2400" dirty="0"/>
              <a:t>((char) character);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    }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} catch (</a:t>
            </a:r>
            <a:r>
              <a:rPr lang="en-IN" sz="2400" dirty="0" err="1"/>
              <a:t>IOException</a:t>
            </a:r>
            <a:r>
              <a:rPr lang="en-IN" sz="2400" dirty="0"/>
              <a:t> e) {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System.out.println</a:t>
            </a:r>
            <a:r>
              <a:rPr lang="en-IN" sz="2400" dirty="0"/>
              <a:t>("An error occurred: " + </a:t>
            </a:r>
            <a:r>
              <a:rPr lang="en-IN" sz="2400" dirty="0" err="1"/>
              <a:t>e.getMessage</a:t>
            </a:r>
            <a:r>
              <a:rPr lang="en-IN" sz="2400" dirty="0"/>
              <a:t>());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}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}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}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344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2: Writing to a File using Writer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4319"/>
            <a:ext cx="10515600" cy="5220182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IN" dirty="0"/>
              <a:t>import </a:t>
            </a:r>
            <a:r>
              <a:rPr lang="en-IN" dirty="0" err="1"/>
              <a:t>java.io.FileWriter</a:t>
            </a:r>
            <a:r>
              <a:rPr lang="en-IN" dirty="0"/>
              <a:t>;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public class </a:t>
            </a:r>
            <a:r>
              <a:rPr lang="en-IN" dirty="0" err="1"/>
              <a:t>WriterExample</a:t>
            </a:r>
            <a:r>
              <a:rPr lang="en-IN" dirty="0"/>
              <a:t> {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        try (</a:t>
            </a:r>
            <a:r>
              <a:rPr lang="en-IN" dirty="0" err="1"/>
              <a:t>FileWriter</a:t>
            </a:r>
            <a:r>
              <a:rPr lang="en-IN" dirty="0"/>
              <a:t> writer = new </a:t>
            </a:r>
            <a:r>
              <a:rPr lang="en-IN" dirty="0" err="1"/>
              <a:t>FileWriter</a:t>
            </a:r>
            <a:r>
              <a:rPr lang="en-IN" dirty="0"/>
              <a:t>("output.txt")) {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            </a:t>
            </a:r>
            <a:r>
              <a:rPr lang="en-IN" dirty="0" err="1"/>
              <a:t>writer.write</a:t>
            </a:r>
            <a:r>
              <a:rPr lang="en-IN" dirty="0"/>
              <a:t>("Hello, World!\n");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            </a:t>
            </a:r>
            <a:r>
              <a:rPr lang="en-IN" dirty="0" err="1"/>
              <a:t>writer.write</a:t>
            </a:r>
            <a:r>
              <a:rPr lang="en-IN" dirty="0"/>
              <a:t>("This is an example of using Writer.");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("An error occurred: " + </a:t>
            </a:r>
            <a:r>
              <a:rPr lang="en-IN" dirty="0" err="1"/>
              <a:t>e.getMessage</a:t>
            </a:r>
            <a:r>
              <a:rPr lang="en-IN" dirty="0"/>
              <a:t>());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        }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spcBef>
                <a:spcPts val="400"/>
              </a:spcBef>
              <a:buNone/>
            </a:pPr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88" y="133632"/>
            <a:ext cx="10967977" cy="526126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3: </a:t>
            </a:r>
            <a:r>
              <a:rPr lang="en-US" dirty="0" err="1"/>
              <a:t>BufferedReader</a:t>
            </a:r>
            <a:r>
              <a:rPr lang="en-US" dirty="0"/>
              <a:t> and </a:t>
            </a:r>
            <a:r>
              <a:rPr lang="en-US" dirty="0" err="1"/>
              <a:t>BufferedWriter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469" y="765965"/>
          <a:ext cx="11748306" cy="588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4153"/>
                <a:gridCol w="5874153"/>
              </a:tblGrid>
              <a:tr h="58779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import </a:t>
                      </a:r>
                      <a:r>
                        <a:rPr lang="en-IN" sz="2000" dirty="0" err="1" smtClean="0"/>
                        <a:t>java.io.BufferedReader</a:t>
                      </a:r>
                      <a:r>
                        <a:rPr lang="en-IN" sz="2000" dirty="0" smtClean="0"/>
                        <a:t>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import </a:t>
                      </a:r>
                      <a:r>
                        <a:rPr lang="en-IN" sz="2000" dirty="0" err="1" smtClean="0"/>
                        <a:t>java.io.BufferedWriter</a:t>
                      </a:r>
                      <a:r>
                        <a:rPr lang="en-IN" sz="2000" dirty="0" smtClean="0"/>
                        <a:t>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import </a:t>
                      </a:r>
                      <a:r>
                        <a:rPr lang="en-IN" sz="2000" dirty="0" err="1" smtClean="0"/>
                        <a:t>java.io.FileReader</a:t>
                      </a:r>
                      <a:r>
                        <a:rPr lang="en-IN" sz="2000" dirty="0" smtClean="0"/>
                        <a:t>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import </a:t>
                      </a:r>
                      <a:r>
                        <a:rPr lang="en-IN" sz="2000" dirty="0" err="1" smtClean="0"/>
                        <a:t>java.io.FileWriter</a:t>
                      </a:r>
                      <a:r>
                        <a:rPr lang="en-IN" sz="2000" dirty="0" smtClean="0"/>
                        <a:t>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import </a:t>
                      </a:r>
                      <a:r>
                        <a:rPr lang="en-IN" sz="2000" dirty="0" err="1" smtClean="0"/>
                        <a:t>java.io.IOException</a:t>
                      </a:r>
                      <a:r>
                        <a:rPr lang="en-IN" sz="2000" dirty="0" smtClean="0"/>
                        <a:t>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public class </a:t>
                      </a:r>
                      <a:r>
                        <a:rPr lang="en-IN" sz="2000" dirty="0" err="1" smtClean="0"/>
                        <a:t>BufferedReaderWriterExample</a:t>
                      </a:r>
                      <a:r>
                        <a:rPr lang="en-IN" sz="2000" dirty="0" smtClean="0"/>
                        <a:t> {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public static void main(String[] </a:t>
                      </a:r>
                      <a:r>
                        <a:rPr lang="en-IN" sz="2000" dirty="0" err="1" smtClean="0"/>
                        <a:t>args</a:t>
                      </a:r>
                      <a:r>
                        <a:rPr lang="en-IN" sz="2000" dirty="0" smtClean="0"/>
                        <a:t>) {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// Write to a file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try (</a:t>
                      </a:r>
                      <a:r>
                        <a:rPr lang="en-IN" sz="2000" dirty="0" err="1" smtClean="0"/>
                        <a:t>BufferedWriter</a:t>
                      </a:r>
                      <a:r>
                        <a:rPr lang="en-IN" sz="2000" dirty="0" smtClean="0"/>
                        <a:t> writer = new </a:t>
                      </a:r>
                      <a:r>
                        <a:rPr lang="en-IN" sz="2000" dirty="0" err="1" smtClean="0"/>
                        <a:t>BufferedWriter</a:t>
                      </a:r>
                      <a:r>
                        <a:rPr lang="en-IN" sz="2000" dirty="0" smtClean="0"/>
                        <a:t>(new </a:t>
                      </a:r>
                      <a:r>
                        <a:rPr lang="en-IN" sz="2000" dirty="0" err="1" smtClean="0"/>
                        <a:t>FileWriter</a:t>
                      </a:r>
                      <a:r>
                        <a:rPr lang="en-IN" sz="2000" dirty="0" smtClean="0"/>
                        <a:t>("buffered_output.txt"))) {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writer.write</a:t>
                      </a:r>
                      <a:r>
                        <a:rPr lang="en-IN" sz="2000" dirty="0" smtClean="0"/>
                        <a:t>("This is the first line.");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writer.newLine</a:t>
                      </a:r>
                      <a:r>
                        <a:rPr lang="en-IN" sz="2000" dirty="0" smtClean="0"/>
                        <a:t>(); // Writes a newline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writer.write</a:t>
                      </a:r>
                      <a:r>
                        <a:rPr lang="en-IN" sz="2000" dirty="0" smtClean="0"/>
                        <a:t>("This is the second line.");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} catch (</a:t>
                      </a:r>
                      <a:r>
                        <a:rPr lang="en-IN" sz="2000" dirty="0" err="1" smtClean="0"/>
                        <a:t>IOException</a:t>
                      </a:r>
                      <a:r>
                        <a:rPr lang="en-IN" sz="2000" dirty="0" smtClean="0"/>
                        <a:t> e) {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("Error writing to the file: " + </a:t>
                      </a:r>
                      <a:r>
                        <a:rPr lang="en-IN" sz="2000" dirty="0" err="1" smtClean="0"/>
                        <a:t>e.getMessage</a:t>
                      </a:r>
                      <a:r>
                        <a:rPr lang="en-IN" sz="2000" dirty="0" smtClean="0"/>
                        <a:t>());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}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endParaRPr lang="en-IN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// Read from the file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try (</a:t>
                      </a:r>
                      <a:r>
                        <a:rPr lang="en-IN" sz="2000" dirty="0" err="1" smtClean="0"/>
                        <a:t>BufferedReader</a:t>
                      </a:r>
                      <a:r>
                        <a:rPr lang="en-IN" sz="2000" dirty="0" smtClean="0"/>
                        <a:t> reader = new </a:t>
                      </a:r>
                      <a:r>
                        <a:rPr lang="en-IN" sz="2000" dirty="0" err="1" smtClean="0"/>
                        <a:t>BufferedReader</a:t>
                      </a:r>
                      <a:r>
                        <a:rPr lang="en-IN" sz="2000" dirty="0" smtClean="0"/>
                        <a:t>(new </a:t>
                      </a:r>
                      <a:r>
                        <a:rPr lang="en-IN" sz="2000" dirty="0" err="1" smtClean="0"/>
                        <a:t>FileReader</a:t>
                      </a:r>
                      <a:r>
                        <a:rPr lang="en-IN" sz="2000" dirty="0" smtClean="0"/>
                        <a:t>("buffered_output.txt"))) {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    String line;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    while ((line = </a:t>
                      </a:r>
                      <a:r>
                        <a:rPr lang="en-IN" sz="2000" dirty="0" err="1" smtClean="0"/>
                        <a:t>reader.readLine</a:t>
                      </a:r>
                      <a:r>
                        <a:rPr lang="en-IN" sz="2000" dirty="0" smtClean="0"/>
                        <a:t>()) != null) { // Reads line by line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(line);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    }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} catch (</a:t>
                      </a:r>
                      <a:r>
                        <a:rPr lang="en-IN" sz="2000" dirty="0" err="1" smtClean="0"/>
                        <a:t>IOException</a:t>
                      </a:r>
                      <a:r>
                        <a:rPr lang="en-IN" sz="2000" dirty="0" smtClean="0"/>
                        <a:t> e) {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("Error reading the file: " + </a:t>
                      </a:r>
                      <a:r>
                        <a:rPr lang="en-IN" sz="2000" dirty="0" err="1" smtClean="0"/>
                        <a:t>e.getMessage</a:t>
                      </a:r>
                      <a:r>
                        <a:rPr lang="en-IN" sz="2000" dirty="0" smtClean="0"/>
                        <a:t>());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    }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    }</a:t>
                      </a:r>
                      <a:endParaRPr lang="en-IN" sz="2000" dirty="0" smtClean="0"/>
                    </a:p>
                    <a:p>
                      <a:pPr marL="0" indent="0">
                        <a:buNone/>
                      </a:pPr>
                      <a:r>
                        <a:rPr lang="en-IN" sz="2000" dirty="0" smtClean="0"/>
                        <a:t>}</a:t>
                      </a:r>
                      <a:endParaRPr lang="en-IN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660" y="228600"/>
            <a:ext cx="10515600" cy="697375"/>
          </a:xfrm>
        </p:spPr>
        <p:txBody>
          <a:bodyPr>
            <a:normAutofit/>
          </a:bodyPr>
          <a:lstStyle/>
          <a:p>
            <a:r>
              <a:rPr lang="en-IN" b="1" dirty="0" smtClean="0"/>
              <a:t>Random access files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59" y="1073270"/>
            <a:ext cx="11349943" cy="55011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Java, </a:t>
            </a:r>
            <a:r>
              <a:rPr lang="en-US" b="1" dirty="0"/>
              <a:t>Random Access Files</a:t>
            </a:r>
            <a:r>
              <a:rPr lang="en-US" dirty="0"/>
              <a:t> provide a way to read from and write to a file at any position. Unlike sequential access files, where data is read or written in order, random access files allow </a:t>
            </a:r>
            <a:r>
              <a:rPr lang="en-US" dirty="0" smtClean="0"/>
              <a:t>you to </a:t>
            </a:r>
            <a:r>
              <a:rPr lang="en-US" dirty="0"/>
              <a:t>jump to a specific location in the file and perform read/write operations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The class that supports random access file operations is </a:t>
            </a:r>
            <a:r>
              <a:rPr lang="en-US" dirty="0" err="1"/>
              <a:t>RandomAccessFile</a:t>
            </a:r>
            <a:r>
              <a:rPr lang="en-US" dirty="0"/>
              <a:t>, part of the java.io package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Key Features of </a:t>
            </a:r>
            <a:r>
              <a:rPr lang="en-US" dirty="0" err="1"/>
              <a:t>RandomAccessFile</a:t>
            </a:r>
            <a:endParaRPr lang="en-US" dirty="0"/>
          </a:p>
          <a:p>
            <a:r>
              <a:rPr lang="en-US" dirty="0"/>
              <a:t>Random </a:t>
            </a:r>
            <a:r>
              <a:rPr lang="en-US" dirty="0" smtClean="0"/>
              <a:t>Access: </a:t>
            </a:r>
            <a:endParaRPr lang="en-US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can move the file pointer to any location in the file using the seek() method.</a:t>
            </a:r>
            <a:endParaRPr lang="en-US" dirty="0"/>
          </a:p>
          <a:p>
            <a:pPr lvl="1"/>
            <a:r>
              <a:rPr lang="en-US" dirty="0"/>
              <a:t>It allows non-sequential (random) reading and writing.</a:t>
            </a:r>
            <a:endParaRPr lang="en-US" dirty="0"/>
          </a:p>
          <a:p>
            <a:r>
              <a:rPr lang="en-US" dirty="0"/>
              <a:t>Dual Modes:</a:t>
            </a:r>
            <a:endParaRPr lang="en-US" dirty="0"/>
          </a:p>
          <a:p>
            <a:pPr lvl="1"/>
            <a:r>
              <a:rPr lang="en-US" dirty="0"/>
              <a:t>"r": Open the file in read-only mode.</a:t>
            </a:r>
            <a:endParaRPr lang="en-US" dirty="0"/>
          </a:p>
          <a:p>
            <a:pPr lvl="1"/>
            <a:r>
              <a:rPr lang="en-US" dirty="0"/>
              <a:t>"</a:t>
            </a:r>
            <a:r>
              <a:rPr lang="en-US" dirty="0" err="1"/>
              <a:t>rw</a:t>
            </a:r>
            <a:r>
              <a:rPr lang="en-US" dirty="0"/>
              <a:t>": Open the file in read/write mode.</a:t>
            </a:r>
            <a:endParaRPr lang="en-US" dirty="0"/>
          </a:p>
          <a:p>
            <a:r>
              <a:rPr lang="en-US" dirty="0"/>
              <a:t>Supports Both Reading and Writing:</a:t>
            </a:r>
            <a:endParaRPr lang="en-US" dirty="0"/>
          </a:p>
          <a:p>
            <a:pPr lvl="1"/>
            <a:r>
              <a:rPr lang="en-US" dirty="0"/>
              <a:t>Provides methods to read (</a:t>
            </a:r>
            <a:r>
              <a:rPr lang="en-US" dirty="0" err="1"/>
              <a:t>readInt</a:t>
            </a:r>
            <a:r>
              <a:rPr lang="en-US" dirty="0"/>
              <a:t>(), </a:t>
            </a:r>
            <a:r>
              <a:rPr lang="en-US" dirty="0" err="1"/>
              <a:t>readLine</a:t>
            </a:r>
            <a:r>
              <a:rPr lang="en-US" dirty="0"/>
              <a:t>(), etc.) and write (</a:t>
            </a:r>
            <a:r>
              <a:rPr lang="en-US" dirty="0" err="1"/>
              <a:t>writeInt</a:t>
            </a:r>
            <a:r>
              <a:rPr lang="en-US" dirty="0"/>
              <a:t>(), </a:t>
            </a:r>
            <a:r>
              <a:rPr lang="en-US" dirty="0" err="1"/>
              <a:t>writeUTF</a:t>
            </a:r>
            <a:r>
              <a:rPr lang="en-US" dirty="0"/>
              <a:t>(), etc.) various data types.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14" y="161653"/>
            <a:ext cx="10515600" cy="61872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Random access files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85" y="780376"/>
            <a:ext cx="10515600" cy="2078571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dirty="0" smtClean="0"/>
              <a:t>Constructors</a:t>
            </a:r>
            <a:endParaRPr lang="en-US" dirty="0" smtClean="0"/>
          </a:p>
          <a:p>
            <a:pPr lvl="1">
              <a:spcBef>
                <a:spcPts val="200"/>
              </a:spcBef>
            </a:pPr>
            <a:r>
              <a:rPr lang="en-US" dirty="0" err="1"/>
              <a:t>RandomAccessFile</a:t>
            </a:r>
            <a:r>
              <a:rPr lang="en-US" dirty="0"/>
              <a:t>(String name, String mode): Opens the file with the specified name and mode.</a:t>
            </a:r>
            <a:endParaRPr lang="en-US" dirty="0"/>
          </a:p>
          <a:p>
            <a:pPr lvl="1">
              <a:spcBef>
                <a:spcPts val="200"/>
              </a:spcBef>
            </a:pPr>
            <a:r>
              <a:rPr lang="en-US" dirty="0" err="1"/>
              <a:t>RandomAccessFile</a:t>
            </a:r>
            <a:r>
              <a:rPr lang="en-US" dirty="0"/>
              <a:t>(File </a:t>
            </a:r>
            <a:r>
              <a:rPr lang="en-US" dirty="0" err="1"/>
              <a:t>file</a:t>
            </a:r>
            <a:r>
              <a:rPr lang="en-US" dirty="0"/>
              <a:t>, String mode): Opens the specified File object.</a:t>
            </a:r>
            <a:endParaRPr lang="en-IN" dirty="0"/>
          </a:p>
          <a:p>
            <a:pPr>
              <a:spcBef>
                <a:spcPts val="200"/>
              </a:spcBef>
            </a:pPr>
            <a:r>
              <a:rPr lang="en-US" dirty="0" smtClean="0"/>
              <a:t>Common methods:</a:t>
            </a:r>
            <a:endParaRPr lang="en-US" dirty="0" smtClean="0"/>
          </a:p>
          <a:p>
            <a:pPr>
              <a:spcBef>
                <a:spcPts val="200"/>
              </a:spcBef>
            </a:pPr>
            <a:endParaRPr lang="en-US" dirty="0" smtClean="0"/>
          </a:p>
          <a:p>
            <a:pPr>
              <a:spcBef>
                <a:spcPts val="200"/>
              </a:spcBef>
            </a:pPr>
            <a:endParaRPr lang="en-US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9385" y="2631953"/>
          <a:ext cx="11523561" cy="4139240"/>
        </p:xfrm>
        <a:graphic>
          <a:graphicData uri="http://schemas.openxmlformats.org/drawingml/2006/table">
            <a:tbl>
              <a:tblPr/>
              <a:tblGrid>
                <a:gridCol w="3803248"/>
                <a:gridCol w="7720313"/>
              </a:tblGrid>
              <a:tr h="413924">
                <a:tc>
                  <a:txBody>
                    <a:bodyPr/>
                    <a:lstStyle/>
                    <a:p>
                      <a:r>
                        <a:rPr lang="en-IN" sz="2000" b="1" dirty="0"/>
                        <a:t>Method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924">
                <a:tc>
                  <a:txBody>
                    <a:bodyPr/>
                    <a:lstStyle/>
                    <a:p>
                      <a:r>
                        <a:rPr lang="en-IN" sz="2000" dirty="0"/>
                        <a:t>read()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Reads a single byte of data.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924">
                <a:tc>
                  <a:txBody>
                    <a:bodyPr/>
                    <a:lstStyle/>
                    <a:p>
                      <a:r>
                        <a:rPr lang="en-IN" sz="2000"/>
                        <a:t>read(byte[] b)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Reads a sequence of bytes into an array.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924">
                <a:tc>
                  <a:txBody>
                    <a:bodyPr/>
                    <a:lstStyle/>
                    <a:p>
                      <a:r>
                        <a:rPr lang="en-IN" sz="2000" dirty="0"/>
                        <a:t>write(</a:t>
                      </a:r>
                      <a:r>
                        <a:rPr lang="en-IN" sz="2000" dirty="0" err="1"/>
                        <a:t>int</a:t>
                      </a:r>
                      <a:r>
                        <a:rPr lang="en-IN" sz="2000" dirty="0"/>
                        <a:t> b)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Writes a single byte to the file.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924">
                <a:tc>
                  <a:txBody>
                    <a:bodyPr/>
                    <a:lstStyle/>
                    <a:p>
                      <a:r>
                        <a:rPr lang="en-IN" sz="2000"/>
                        <a:t>write(byte[] b)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Writes an array of bytes to the file.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924">
                <a:tc>
                  <a:txBody>
                    <a:bodyPr/>
                    <a:lstStyle/>
                    <a:p>
                      <a:r>
                        <a:rPr lang="en-IN" sz="2000" dirty="0"/>
                        <a:t>seek(long </a:t>
                      </a:r>
                      <a:r>
                        <a:rPr lang="en-IN" sz="2000" dirty="0" err="1"/>
                        <a:t>pos</a:t>
                      </a:r>
                      <a:r>
                        <a:rPr lang="en-IN" sz="2000" dirty="0"/>
                        <a:t>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Moves the file pointer to the specified position.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924">
                <a:tc>
                  <a:txBody>
                    <a:bodyPr/>
                    <a:lstStyle/>
                    <a:p>
                      <a:r>
                        <a:rPr lang="en-IN" sz="2000"/>
                        <a:t>getFilePointer()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Returns the current position of the file pointer.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924">
                <a:tc>
                  <a:txBody>
                    <a:bodyPr/>
                    <a:lstStyle/>
                    <a:p>
                      <a:r>
                        <a:rPr lang="en-IN" sz="2000"/>
                        <a:t>length()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Returns the length of the file in bytes.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924">
                <a:tc>
                  <a:txBody>
                    <a:bodyPr/>
                    <a:lstStyle/>
                    <a:p>
                      <a:r>
                        <a:rPr lang="en-IN" sz="2000"/>
                        <a:t>setLength(long newLength)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Sets the length of the file (truncates or extends).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924">
                <a:tc>
                  <a:txBody>
                    <a:bodyPr/>
                    <a:lstStyle/>
                    <a:p>
                      <a:r>
                        <a:rPr lang="en-IN" sz="2000"/>
                        <a:t>close()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Closes the file.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287" y="365125"/>
            <a:ext cx="11296890" cy="352505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Example 1: Writing and Reading Using </a:t>
            </a:r>
            <a:r>
              <a:rPr lang="en-US" sz="3600" dirty="0" err="1"/>
              <a:t>RandomAccessFile</a:t>
            </a:r>
            <a:endParaRPr lang="en-IN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6769" y="946511"/>
          <a:ext cx="11875626" cy="5199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7813"/>
                <a:gridCol w="5937813"/>
              </a:tblGrid>
              <a:tr h="5199645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import </a:t>
                      </a:r>
                      <a:r>
                        <a:rPr lang="en-IN" sz="2000" dirty="0" err="1" smtClean="0"/>
                        <a:t>java.io.RandomAccessFile</a:t>
                      </a:r>
                      <a:r>
                        <a:rPr lang="en-IN" sz="2000" dirty="0" smtClean="0"/>
                        <a:t>;</a:t>
                      </a:r>
                      <a:endParaRPr lang="en-IN" sz="2000" dirty="0" smtClean="0"/>
                    </a:p>
                    <a:p>
                      <a:endParaRPr lang="en-IN" sz="2000" dirty="0" smtClean="0"/>
                    </a:p>
                    <a:p>
                      <a:r>
                        <a:rPr lang="en-IN" sz="2000" dirty="0" smtClean="0"/>
                        <a:t>public class </a:t>
                      </a:r>
                      <a:r>
                        <a:rPr lang="en-IN" sz="2000" dirty="0" err="1" smtClean="0"/>
                        <a:t>RandomAccessFileExample</a:t>
                      </a:r>
                      <a:r>
                        <a:rPr lang="en-IN" sz="2000" dirty="0" smtClean="0"/>
                        <a:t>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public static void main(String[] </a:t>
                      </a:r>
                      <a:r>
                        <a:rPr lang="en-IN" sz="2000" dirty="0" err="1" smtClean="0"/>
                        <a:t>args</a:t>
                      </a:r>
                      <a:r>
                        <a:rPr lang="en-IN" sz="2000" dirty="0" smtClean="0"/>
                        <a:t>)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try (</a:t>
                      </a:r>
                      <a:r>
                        <a:rPr lang="en-IN" sz="2000" dirty="0" err="1" smtClean="0"/>
                        <a:t>RandomAccessFile</a:t>
                      </a:r>
                      <a:r>
                        <a:rPr lang="en-IN" sz="2000" dirty="0" smtClean="0"/>
                        <a:t> </a:t>
                      </a:r>
                      <a:r>
                        <a:rPr lang="en-IN" sz="2000" dirty="0" err="1" smtClean="0"/>
                        <a:t>raf</a:t>
                      </a:r>
                      <a:r>
                        <a:rPr lang="en-IN" sz="2000" dirty="0" smtClean="0"/>
                        <a:t> = new </a:t>
                      </a:r>
                      <a:r>
                        <a:rPr lang="en-IN" sz="2000" dirty="0" err="1" smtClean="0"/>
                        <a:t>RandomAccessFile</a:t>
                      </a:r>
                      <a:r>
                        <a:rPr lang="en-IN" sz="2000" dirty="0" smtClean="0"/>
                        <a:t>("example.txt", "</a:t>
                      </a:r>
                      <a:r>
                        <a:rPr lang="en-IN" sz="2000" dirty="0" err="1" smtClean="0"/>
                        <a:t>rw</a:t>
                      </a:r>
                      <a:r>
                        <a:rPr lang="en-IN" sz="2000" dirty="0" smtClean="0"/>
                        <a:t>"))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// Writing data to the file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raf.writeUTF</a:t>
                      </a:r>
                      <a:r>
                        <a:rPr lang="en-IN" sz="2000" dirty="0" smtClean="0"/>
                        <a:t>("Hello, World!");  // Write a string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raf.writeInt</a:t>
                      </a:r>
                      <a:r>
                        <a:rPr lang="en-IN" sz="2000" dirty="0" smtClean="0"/>
                        <a:t>(42);               // Write an integer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raf.writeDouble</a:t>
                      </a:r>
                      <a:r>
                        <a:rPr lang="en-IN" sz="2000" dirty="0" smtClean="0"/>
                        <a:t>(3.14);          // Write a double</a:t>
                      </a:r>
                      <a:endParaRPr lang="en-IN" sz="2000" dirty="0" smtClean="0"/>
                    </a:p>
                    <a:p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// Seeking to the beginning of the file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raf.seek</a:t>
                      </a:r>
                      <a:r>
                        <a:rPr lang="en-IN" sz="2000" dirty="0" smtClean="0"/>
                        <a:t>(0);</a:t>
                      </a:r>
                      <a:endParaRPr lang="en-IN" sz="2000" dirty="0" smtClean="0"/>
                    </a:p>
                    <a:p>
                      <a:endParaRPr lang="en-IN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 // Reading data from the file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String message = </a:t>
                      </a:r>
                      <a:r>
                        <a:rPr lang="en-IN" sz="2000" dirty="0" err="1" smtClean="0"/>
                        <a:t>raf.readUTF</a:t>
                      </a:r>
                      <a:r>
                        <a:rPr lang="en-IN" sz="2000" dirty="0" smtClean="0"/>
                        <a:t>(); // Read the string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int</a:t>
                      </a:r>
                      <a:r>
                        <a:rPr lang="en-IN" sz="2000" dirty="0" smtClean="0"/>
                        <a:t> number = </a:t>
                      </a:r>
                      <a:r>
                        <a:rPr lang="en-IN" sz="2000" dirty="0" err="1" smtClean="0"/>
                        <a:t>raf.readInt</a:t>
                      </a:r>
                      <a:r>
                        <a:rPr lang="en-IN" sz="2000" dirty="0" smtClean="0"/>
                        <a:t>();     // Read the integer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double pi = </a:t>
                      </a:r>
                      <a:r>
                        <a:rPr lang="en-IN" sz="2000" dirty="0" err="1" smtClean="0"/>
                        <a:t>raf.readDouble</a:t>
                      </a:r>
                      <a:r>
                        <a:rPr lang="en-IN" sz="2000" dirty="0" smtClean="0"/>
                        <a:t>();   // Read the double</a:t>
                      </a:r>
                      <a:endParaRPr lang="en-IN" sz="2000" dirty="0" smtClean="0"/>
                    </a:p>
                    <a:p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("Message: " + message);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("Number: " + number);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("Value of Pi: " + pi);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} catch (Exception e)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("An error occurred: " + </a:t>
                      </a:r>
                      <a:r>
                        <a:rPr lang="en-IN" sz="2000" dirty="0" err="1" smtClean="0"/>
                        <a:t>e.getMessage</a:t>
                      </a:r>
                      <a:r>
                        <a:rPr lang="en-IN" sz="2000" dirty="0" smtClean="0"/>
                        <a:t>());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}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}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}</a:t>
                      </a:r>
                      <a:endParaRPr lang="en-IN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171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2: Modifying a Specific Part of a File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47240" y="1238250"/>
          <a:ext cx="11632556" cy="527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6278"/>
                <a:gridCol w="5816278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import </a:t>
                      </a:r>
                      <a:r>
                        <a:rPr lang="en-IN" sz="2000" dirty="0" err="1" smtClean="0"/>
                        <a:t>java.io.RandomAccessFile</a:t>
                      </a:r>
                      <a:r>
                        <a:rPr lang="en-IN" sz="2000" dirty="0" smtClean="0"/>
                        <a:t>;</a:t>
                      </a:r>
                      <a:endParaRPr lang="en-IN" sz="2000" dirty="0" smtClean="0"/>
                    </a:p>
                    <a:p>
                      <a:endParaRPr lang="en-IN" sz="2000" dirty="0" smtClean="0"/>
                    </a:p>
                    <a:p>
                      <a:r>
                        <a:rPr lang="en-IN" sz="2000" dirty="0" smtClean="0"/>
                        <a:t>public class </a:t>
                      </a:r>
                      <a:r>
                        <a:rPr lang="en-IN" sz="2000" dirty="0" err="1" smtClean="0"/>
                        <a:t>ModifyFileExample</a:t>
                      </a:r>
                      <a:r>
                        <a:rPr lang="en-IN" sz="2000" dirty="0" smtClean="0"/>
                        <a:t>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public static void main(String[] </a:t>
                      </a:r>
                      <a:r>
                        <a:rPr lang="en-IN" sz="2000" dirty="0" err="1" smtClean="0"/>
                        <a:t>args</a:t>
                      </a:r>
                      <a:r>
                        <a:rPr lang="en-IN" sz="2000" dirty="0" smtClean="0"/>
                        <a:t>)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try (</a:t>
                      </a:r>
                      <a:r>
                        <a:rPr lang="en-IN" sz="2000" dirty="0" err="1" smtClean="0"/>
                        <a:t>RandomAccessFile</a:t>
                      </a:r>
                      <a:r>
                        <a:rPr lang="en-IN" sz="2000" dirty="0" smtClean="0"/>
                        <a:t> </a:t>
                      </a:r>
                      <a:r>
                        <a:rPr lang="en-IN" sz="2000" dirty="0" err="1" smtClean="0"/>
                        <a:t>raf</a:t>
                      </a:r>
                      <a:r>
                        <a:rPr lang="en-IN" sz="2000" dirty="0" smtClean="0"/>
                        <a:t> = new </a:t>
                      </a:r>
                      <a:r>
                        <a:rPr lang="en-IN" sz="2000" dirty="0" err="1" smtClean="0"/>
                        <a:t>RandomAccessFile</a:t>
                      </a:r>
                      <a:r>
                        <a:rPr lang="en-IN" sz="2000" dirty="0" smtClean="0"/>
                        <a:t>("modify_example.txt", "</a:t>
                      </a:r>
                      <a:r>
                        <a:rPr lang="en-IN" sz="2000" dirty="0" err="1" smtClean="0"/>
                        <a:t>rw</a:t>
                      </a:r>
                      <a:r>
                        <a:rPr lang="en-IN" sz="2000" dirty="0" smtClean="0"/>
                        <a:t>"))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// Writing initial data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raf.writeUTF</a:t>
                      </a:r>
                      <a:r>
                        <a:rPr lang="en-IN" sz="2000" dirty="0" smtClean="0"/>
                        <a:t>("Initial Data");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raf.writeInt</a:t>
                      </a:r>
                      <a:r>
                        <a:rPr lang="en-IN" sz="2000" dirty="0" smtClean="0"/>
                        <a:t>(100);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raf.writeUTF</a:t>
                      </a:r>
                      <a:r>
                        <a:rPr lang="en-IN" sz="2000" dirty="0" smtClean="0"/>
                        <a:t>("Some other data");</a:t>
                      </a:r>
                      <a:endParaRPr lang="en-IN" sz="2000" dirty="0" smtClean="0"/>
                    </a:p>
                    <a:p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// Modify the integer at a specific position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raf.seek</a:t>
                      </a:r>
                      <a:r>
                        <a:rPr lang="en-IN" sz="2000" dirty="0" smtClean="0"/>
                        <a:t>(12); // Seek to the position where the integer is stored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raf.writeInt</a:t>
                      </a:r>
                      <a:r>
                        <a:rPr lang="en-IN" sz="2000" dirty="0" smtClean="0"/>
                        <a:t>(200); // Overwrite the integer</a:t>
                      </a:r>
                      <a:endParaRPr lang="en-IN" sz="2000" dirty="0" smtClean="0"/>
                    </a:p>
                    <a:p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// Read the file to verify the update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raf.seek</a:t>
                      </a:r>
                      <a:r>
                        <a:rPr lang="en-IN" sz="2000" dirty="0" smtClean="0"/>
                        <a:t>(0); // Go back to the beginning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("String 1: " + </a:t>
                      </a:r>
                      <a:r>
                        <a:rPr lang="en-IN" sz="2000" dirty="0" err="1" smtClean="0"/>
                        <a:t>raf.readUTF</a:t>
                      </a:r>
                      <a:r>
                        <a:rPr lang="en-IN" sz="2000" dirty="0" smtClean="0"/>
                        <a:t>());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("Updated Integer: " + </a:t>
                      </a:r>
                      <a:r>
                        <a:rPr lang="en-IN" sz="2000" dirty="0" err="1" smtClean="0"/>
                        <a:t>raf.readInt</a:t>
                      </a:r>
                      <a:r>
                        <a:rPr lang="en-IN" sz="2000" dirty="0" smtClean="0"/>
                        <a:t>());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("String 2: " + </a:t>
                      </a:r>
                      <a:r>
                        <a:rPr lang="en-IN" sz="2000" dirty="0" err="1" smtClean="0"/>
                        <a:t>raf.readUTF</a:t>
                      </a:r>
                      <a:r>
                        <a:rPr lang="en-IN" sz="2000" dirty="0" smtClean="0"/>
                        <a:t>());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} catch (Exception e)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("An error occurred: " + </a:t>
                      </a:r>
                      <a:r>
                        <a:rPr lang="en-IN" sz="2000" dirty="0" err="1" smtClean="0"/>
                        <a:t>e.getMessage</a:t>
                      </a:r>
                      <a:r>
                        <a:rPr lang="en-IN" sz="2000" dirty="0" smtClean="0"/>
                        <a:t>());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}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}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}</a:t>
                      </a:r>
                      <a:endParaRPr lang="en-IN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23188</Words>
  <Application>WPS Presentation</Application>
  <PresentationFormat>Widescreen</PresentationFormat>
  <Paragraphs>788</Paragraphs>
  <Slides>39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File Handling</vt:lpstr>
      <vt:lpstr>Introduction</vt:lpstr>
      <vt:lpstr>Create a file</vt:lpstr>
      <vt:lpstr>File class methods</vt:lpstr>
      <vt:lpstr>Read a file using Scanner class</vt:lpstr>
      <vt:lpstr>Write into a file</vt:lpstr>
      <vt:lpstr>Streams in Java</vt:lpstr>
      <vt:lpstr>Byte stream and Character stream</vt:lpstr>
      <vt:lpstr>Byte stream</vt:lpstr>
      <vt:lpstr>Byte Steam classes in java.io</vt:lpstr>
      <vt:lpstr>Character stream</vt:lpstr>
      <vt:lpstr>Character stream class</vt:lpstr>
      <vt:lpstr>The Predefined Streams</vt:lpstr>
      <vt:lpstr>Input Stream</vt:lpstr>
      <vt:lpstr>Example: Reading from a File Using FileInputStream</vt:lpstr>
      <vt:lpstr>Methods of InputStream</vt:lpstr>
      <vt:lpstr>Output Steam</vt:lpstr>
      <vt:lpstr>Example: Writing to a File Using FileOutputStream</vt:lpstr>
      <vt:lpstr>Methods of OutputStream</vt:lpstr>
      <vt:lpstr>File Read using Buffered Streams for Efficiency</vt:lpstr>
      <vt:lpstr>File Write using Buffered Streams </vt:lpstr>
      <vt:lpstr>Delete a file</vt:lpstr>
      <vt:lpstr>Filter stream</vt:lpstr>
      <vt:lpstr>Using DataOutputStream and DataInputStream</vt:lpstr>
      <vt:lpstr>Using ObjectOutputStream and ObjectInputStream</vt:lpstr>
      <vt:lpstr>PrintStream</vt:lpstr>
      <vt:lpstr>PrintStream</vt:lpstr>
      <vt:lpstr>Example 1: Writing to the Console</vt:lpstr>
      <vt:lpstr>Example 2: Writing to a File</vt:lpstr>
      <vt:lpstr>Example 3: Error Handling with checkError() </vt:lpstr>
      <vt:lpstr>Reader Class</vt:lpstr>
      <vt:lpstr>Writer Class</vt:lpstr>
      <vt:lpstr>Example 1: Reading from a File using Reader</vt:lpstr>
      <vt:lpstr>Example 2: Writing to a File using Writer</vt:lpstr>
      <vt:lpstr>Example 3: BufferedReader and BufferedWriter</vt:lpstr>
      <vt:lpstr>Random access files</vt:lpstr>
      <vt:lpstr>Random access files</vt:lpstr>
      <vt:lpstr>Example 1: Writing and Reading Using RandomAccessFile</vt:lpstr>
      <vt:lpstr>Example 2: Modifying a Specific Part of a File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</dc:title>
  <dc:creator>krishan</dc:creator>
  <cp:lastModifiedBy>testing arena</cp:lastModifiedBy>
  <cp:revision>198</cp:revision>
  <dcterms:created xsi:type="dcterms:W3CDTF">2024-12-06T08:53:23Z</dcterms:created>
  <dcterms:modified xsi:type="dcterms:W3CDTF">2024-12-06T08:53:23Z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BE5E07D5B01CE49B83BB5267FDCA1B6E_42</vt:lpwstr>
  </property>
  <property fmtid="{D5CDD505-2E9C-101B-9397-08002B2CF9AE}" pid="3" name="KSOProductBuildVer">
    <vt:lpwstr>1033-6.10.2.8397</vt:lpwstr>
  </property>
</Properties>
</file>